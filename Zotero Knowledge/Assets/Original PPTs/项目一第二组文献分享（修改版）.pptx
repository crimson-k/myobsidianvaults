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53.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54.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55.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56.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57.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58.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59.xml" ContentType="application/vnd.openxmlformats-officedocument.presentationml.notesSlide+xml"/>
  <Override PartName="/ppt/tags/tag107.xml" ContentType="application/vnd.openxmlformats-officedocument.presentationml.tags+xml"/>
  <Override PartName="/ppt/notesSlides/notesSlide60.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63.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64.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65.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notesSlides/notesSlide66.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890.xml" ContentType="application/vnd.openxmlformats-officedocument.presentationml.tags+xml"/>
  <Override PartName="/ppt/tags/tag910.xml" ContentType="application/vnd.openxmlformats-officedocument.presentationml.tags+xml"/>
  <Override PartName="/ppt/tags/tag1060.xml" ContentType="application/vnd.openxmlformats-officedocument.presentationml.tags+xml"/>
  <Override PartName="/ppt/tags/tag152.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 id="2147483666" r:id="rId3"/>
  </p:sldMasterIdLst>
  <p:notesMasterIdLst>
    <p:notesMasterId r:id="rId133"/>
  </p:notesMasterIdLst>
  <p:sldIdLst>
    <p:sldId id="256" r:id="rId4"/>
    <p:sldId id="257" r:id="rId5"/>
    <p:sldId id="258" r:id="rId6"/>
    <p:sldId id="259" r:id="rId7"/>
    <p:sldId id="260" r:id="rId8"/>
    <p:sldId id="262" r:id="rId9"/>
    <p:sldId id="263" r:id="rId10"/>
    <p:sldId id="265" r:id="rId11"/>
    <p:sldId id="266" r:id="rId12"/>
    <p:sldId id="2366" r:id="rId13"/>
    <p:sldId id="2367" r:id="rId14"/>
    <p:sldId id="2368" r:id="rId15"/>
    <p:sldId id="2369" r:id="rId16"/>
    <p:sldId id="2370" r:id="rId17"/>
    <p:sldId id="2371" r:id="rId18"/>
    <p:sldId id="2372" r:id="rId19"/>
    <p:sldId id="2373" r:id="rId20"/>
    <p:sldId id="2374" r:id="rId21"/>
    <p:sldId id="2375" r:id="rId22"/>
    <p:sldId id="2376" r:id="rId23"/>
    <p:sldId id="384" r:id="rId24"/>
    <p:sldId id="385" r:id="rId25"/>
    <p:sldId id="386" r:id="rId26"/>
    <p:sldId id="387" r:id="rId27"/>
    <p:sldId id="270" r:id="rId28"/>
    <p:sldId id="271" r:id="rId29"/>
    <p:sldId id="261" r:id="rId30"/>
    <p:sldId id="272" r:id="rId31"/>
    <p:sldId id="273" r:id="rId32"/>
    <p:sldId id="388" r:id="rId33"/>
    <p:sldId id="264" r:id="rId34"/>
    <p:sldId id="389" r:id="rId35"/>
    <p:sldId id="274" r:id="rId36"/>
    <p:sldId id="390" r:id="rId37"/>
    <p:sldId id="267" r:id="rId38"/>
    <p:sldId id="268" r:id="rId39"/>
    <p:sldId id="391" r:id="rId40"/>
    <p:sldId id="278" r:id="rId41"/>
    <p:sldId id="392" r:id="rId42"/>
    <p:sldId id="393" r:id="rId43"/>
    <p:sldId id="394" r:id="rId44"/>
    <p:sldId id="395" r:id="rId45"/>
    <p:sldId id="396" r:id="rId46"/>
    <p:sldId id="397" r:id="rId47"/>
    <p:sldId id="398" r:id="rId48"/>
    <p:sldId id="399" r:id="rId49"/>
    <p:sldId id="400" r:id="rId50"/>
    <p:sldId id="401" r:id="rId51"/>
    <p:sldId id="402" r:id="rId52"/>
    <p:sldId id="403" r:id="rId53"/>
    <p:sldId id="404" r:id="rId54"/>
    <p:sldId id="405" r:id="rId55"/>
    <p:sldId id="406" r:id="rId56"/>
    <p:sldId id="2293" r:id="rId57"/>
    <p:sldId id="2297" r:id="rId58"/>
    <p:sldId id="2305" r:id="rId59"/>
    <p:sldId id="2295" r:id="rId60"/>
    <p:sldId id="2313" r:id="rId61"/>
    <p:sldId id="2315" r:id="rId62"/>
    <p:sldId id="2314" r:id="rId63"/>
    <p:sldId id="2310" r:id="rId64"/>
    <p:sldId id="2296" r:id="rId65"/>
    <p:sldId id="2298" r:id="rId66"/>
    <p:sldId id="2304" r:id="rId67"/>
    <p:sldId id="2352" r:id="rId68"/>
    <p:sldId id="2353" r:id="rId69"/>
    <p:sldId id="2354" r:id="rId70"/>
    <p:sldId id="2355" r:id="rId71"/>
    <p:sldId id="2356" r:id="rId72"/>
    <p:sldId id="2357" r:id="rId73"/>
    <p:sldId id="2358" r:id="rId74"/>
    <p:sldId id="2359" r:id="rId75"/>
    <p:sldId id="2360" r:id="rId76"/>
    <p:sldId id="2361" r:id="rId77"/>
    <p:sldId id="2362" r:id="rId78"/>
    <p:sldId id="2363" r:id="rId79"/>
    <p:sldId id="2364" r:id="rId80"/>
    <p:sldId id="2365" r:id="rId81"/>
    <p:sldId id="2316" r:id="rId82"/>
    <p:sldId id="2317" r:id="rId83"/>
    <p:sldId id="2318" r:id="rId84"/>
    <p:sldId id="282" r:id="rId85"/>
    <p:sldId id="284" r:id="rId86"/>
    <p:sldId id="283" r:id="rId87"/>
    <p:sldId id="286" r:id="rId88"/>
    <p:sldId id="285" r:id="rId89"/>
    <p:sldId id="292" r:id="rId90"/>
    <p:sldId id="287" r:id="rId91"/>
    <p:sldId id="288" r:id="rId92"/>
    <p:sldId id="289" r:id="rId93"/>
    <p:sldId id="290" r:id="rId94"/>
    <p:sldId id="291" r:id="rId95"/>
    <p:sldId id="2319" r:id="rId96"/>
    <p:sldId id="2320" r:id="rId97"/>
    <p:sldId id="2321" r:id="rId98"/>
    <p:sldId id="2322" r:id="rId99"/>
    <p:sldId id="2323" r:id="rId100"/>
    <p:sldId id="2324" r:id="rId101"/>
    <p:sldId id="2325" r:id="rId102"/>
    <p:sldId id="2326" r:id="rId103"/>
    <p:sldId id="279" r:id="rId104"/>
    <p:sldId id="2327" r:id="rId105"/>
    <p:sldId id="280" r:id="rId106"/>
    <p:sldId id="2328" r:id="rId107"/>
    <p:sldId id="281" r:id="rId108"/>
    <p:sldId id="2329" r:id="rId109"/>
    <p:sldId id="276" r:id="rId110"/>
    <p:sldId id="2330" r:id="rId111"/>
    <p:sldId id="2340" r:id="rId112"/>
    <p:sldId id="2341" r:id="rId113"/>
    <p:sldId id="2342" r:id="rId114"/>
    <p:sldId id="2343" r:id="rId115"/>
    <p:sldId id="2344" r:id="rId116"/>
    <p:sldId id="2345" r:id="rId117"/>
    <p:sldId id="2346" r:id="rId118"/>
    <p:sldId id="2347" r:id="rId119"/>
    <p:sldId id="2348" r:id="rId120"/>
    <p:sldId id="2349" r:id="rId121"/>
    <p:sldId id="2350" r:id="rId122"/>
    <p:sldId id="2351" r:id="rId123"/>
    <p:sldId id="2331" r:id="rId124"/>
    <p:sldId id="2332" r:id="rId125"/>
    <p:sldId id="2333" r:id="rId126"/>
    <p:sldId id="2334" r:id="rId127"/>
    <p:sldId id="2335" r:id="rId128"/>
    <p:sldId id="2336" r:id="rId129"/>
    <p:sldId id="2337" r:id="rId130"/>
    <p:sldId id="2338" r:id="rId131"/>
    <p:sldId id="2339" r:id="rId1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张忠睿" id="{FD651880-DC20-4DAB-8A26-0D8EE247AEF8}">
          <p14:sldIdLst>
            <p14:sldId id="256"/>
            <p14:sldId id="257"/>
            <p14:sldId id="258"/>
            <p14:sldId id="259"/>
            <p14:sldId id="260"/>
            <p14:sldId id="262"/>
            <p14:sldId id="263"/>
            <p14:sldId id="265"/>
            <p14:sldId id="266"/>
          </p14:sldIdLst>
        </p14:section>
        <p14:section name="闵孟宇" id="{EAACFDC6-ACA7-4DDA-8060-E4594B2D38B8}">
          <p14:sldIdLst>
            <p14:sldId id="2366"/>
            <p14:sldId id="2367"/>
            <p14:sldId id="2368"/>
            <p14:sldId id="2369"/>
            <p14:sldId id="2370"/>
            <p14:sldId id="2371"/>
            <p14:sldId id="2372"/>
            <p14:sldId id="2373"/>
            <p14:sldId id="2374"/>
            <p14:sldId id="2375"/>
            <p14:sldId id="2376"/>
          </p14:sldIdLst>
        </p14:section>
        <p14:section name="肖颖" id="{E2E22EB3-674D-488A-8213-8DCF06630367}">
          <p14:sldIdLst>
            <p14:sldId id="384"/>
            <p14:sldId id="385"/>
            <p14:sldId id="386"/>
            <p14:sldId id="387"/>
            <p14:sldId id="270"/>
            <p14:sldId id="271"/>
            <p14:sldId id="261"/>
            <p14:sldId id="272"/>
            <p14:sldId id="273"/>
            <p14:sldId id="388"/>
            <p14:sldId id="264"/>
            <p14:sldId id="389"/>
            <p14:sldId id="274"/>
            <p14:sldId id="390"/>
            <p14:sldId id="267"/>
            <p14:sldId id="268"/>
            <p14:sldId id="391"/>
            <p14:sldId id="278"/>
          </p14:sldIdLst>
        </p14:section>
        <p14:section name="韩敬霄" id="{C23BAAE9-72E0-4855-B661-D9C1E6138630}">
          <p14:sldIdLst>
            <p14:sldId id="392"/>
            <p14:sldId id="393"/>
            <p14:sldId id="394"/>
            <p14:sldId id="395"/>
            <p14:sldId id="396"/>
            <p14:sldId id="397"/>
            <p14:sldId id="398"/>
            <p14:sldId id="399"/>
            <p14:sldId id="400"/>
            <p14:sldId id="401"/>
            <p14:sldId id="402"/>
            <p14:sldId id="403"/>
            <p14:sldId id="404"/>
            <p14:sldId id="405"/>
            <p14:sldId id="406"/>
          </p14:sldIdLst>
        </p14:section>
        <p14:section name="王滢" id="{8AF78B27-B3D7-4088-AC20-321C91879C29}">
          <p14:sldIdLst>
            <p14:sldId id="2293"/>
            <p14:sldId id="2297"/>
            <p14:sldId id="2305"/>
            <p14:sldId id="2295"/>
            <p14:sldId id="2313"/>
            <p14:sldId id="2315"/>
            <p14:sldId id="2314"/>
            <p14:sldId id="2310"/>
            <p14:sldId id="2296"/>
            <p14:sldId id="2298"/>
            <p14:sldId id="2304"/>
          </p14:sldIdLst>
        </p14:section>
        <p14:section name="张城" id="{13718C3E-0FBD-44D2-9BCA-C47685FEC76E}">
          <p14:sldIdLst>
            <p14:sldId id="2352"/>
            <p14:sldId id="2353"/>
            <p14:sldId id="2354"/>
            <p14:sldId id="2355"/>
            <p14:sldId id="2356"/>
            <p14:sldId id="2357"/>
            <p14:sldId id="2358"/>
            <p14:sldId id="2359"/>
            <p14:sldId id="2360"/>
            <p14:sldId id="2361"/>
            <p14:sldId id="2362"/>
            <p14:sldId id="2363"/>
            <p14:sldId id="2364"/>
            <p14:sldId id="2365"/>
          </p14:sldIdLst>
        </p14:section>
        <p14:section name="王语凡" id="{239DD896-9FB0-4618-9E1F-4EC61991F224}">
          <p14:sldIdLst>
            <p14:sldId id="2316"/>
            <p14:sldId id="2317"/>
            <p14:sldId id="2318"/>
            <p14:sldId id="282"/>
            <p14:sldId id="284"/>
            <p14:sldId id="283"/>
            <p14:sldId id="286"/>
            <p14:sldId id="285"/>
            <p14:sldId id="292"/>
            <p14:sldId id="287"/>
            <p14:sldId id="288"/>
            <p14:sldId id="289"/>
            <p14:sldId id="290"/>
            <p14:sldId id="291"/>
          </p14:sldIdLst>
        </p14:section>
        <p14:section name="黄鸾曦" id="{29C57BB9-AEBD-4BAF-B92B-F4951CBDFBD2}">
          <p14:sldIdLst>
            <p14:sldId id="2319"/>
            <p14:sldId id="2320"/>
            <p14:sldId id="2321"/>
            <p14:sldId id="2322"/>
            <p14:sldId id="2323"/>
            <p14:sldId id="2324"/>
            <p14:sldId id="2325"/>
            <p14:sldId id="2326"/>
            <p14:sldId id="279"/>
            <p14:sldId id="2327"/>
            <p14:sldId id="280"/>
            <p14:sldId id="2328"/>
            <p14:sldId id="281"/>
            <p14:sldId id="2329"/>
            <p14:sldId id="276"/>
            <p14:sldId id="2330"/>
          </p14:sldIdLst>
        </p14:section>
        <p14:section name="王郅杰" id="{C029732D-1BD2-4945-BAD6-702FD23A796A}">
          <p14:sldIdLst>
            <p14:sldId id="2340"/>
            <p14:sldId id="2341"/>
            <p14:sldId id="2342"/>
            <p14:sldId id="2343"/>
            <p14:sldId id="2344"/>
            <p14:sldId id="2345"/>
            <p14:sldId id="2346"/>
            <p14:sldId id="2347"/>
            <p14:sldId id="2348"/>
            <p14:sldId id="2349"/>
            <p14:sldId id="2350"/>
            <p14:sldId id="2351"/>
          </p14:sldIdLst>
        </p14:section>
        <p14:section name="袁珩翔" id="{BF1C2F20-EBD9-4829-B714-C3A9A57CB323}">
          <p14:sldIdLst>
            <p14:sldId id="2331"/>
            <p14:sldId id="2332"/>
            <p14:sldId id="2333"/>
            <p14:sldId id="2334"/>
            <p14:sldId id="2335"/>
            <p14:sldId id="2336"/>
            <p14:sldId id="2337"/>
            <p14:sldId id="2338"/>
            <p14:sldId id="233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A41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94FB33-E3AA-41EB-86F0-684685A4B0D7}" v="1" dt="2026-09-30T10:41:36.35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283" autoAdjust="0"/>
  </p:normalViewPr>
  <p:slideViewPr>
    <p:cSldViewPr snapToGrid="0">
      <p:cViewPr varScale="1">
        <p:scale>
          <a:sx n="87" d="100"/>
          <a:sy n="87" d="100"/>
        </p:scale>
        <p:origin x="85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tableStyles" Target="tableStyle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28" Type="http://schemas.openxmlformats.org/officeDocument/2006/relationships/slide" Target="slides/slide125.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134" Type="http://schemas.openxmlformats.org/officeDocument/2006/relationships/commentAuthors" Target="commentAuthors.xml"/><Relationship Id="rId139" Type="http://schemas.microsoft.com/office/2015/10/relationships/revisionInfo" Target="revisionInfo.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slide" Target="slides/slide121.xml"/><Relationship Id="rId129" Type="http://schemas.openxmlformats.org/officeDocument/2006/relationships/slide" Target="slides/slide126.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customXml" Target="../customXml/item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presProps" Target="pres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1.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2.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8FB213-88C2-49C0-9535-F6664604DB50}" type="datetimeFigureOut">
              <a:rPr lang="zh-CN" altLang="en-US" smtClean="0"/>
              <a:t>2026/9/30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813D7-362F-42CC-84E4-A49F8532A2D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b="0" dirty="0"/>
              <a:t>各位老师同学们，大家好，今天我汇报的论文是 Google Research 在 CVPR 2022 发表的 LiT: 基于固定图像的文本调整机制的零样本迁移技术</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76682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我主要会从以下四个方面介绍</a:t>
            </a: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11227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0" dirty="0"/>
              <a:t>首先来看这篇工作的研究动机。在计算机视觉中，Transfer Learning，也就是迁移学习，已经是一个非常成熟的范式。典型做法是先利用大规模数据训练一个模型，让模型获得比较通用的图像表征能力；然后面对一个具体下游任务，比如医学图像分类时，再利用这个任务自己的监督数据对模型进行 fine-tuning。对于下游任务来讲，迁移学习会比从头训练节省大量数据和计算成本，但是它仍然存在一个问题：每出现一个新的下游任务，我们通常还是需要收集这个任务的数据，并重新进行一次 fine-tuning。 </a:t>
            </a:r>
          </a:p>
          <a:p>
            <a:r>
              <a:rPr lang="zh-CN" altLang="zh-CN" b="0" dirty="0"/>
              <a:t>因此更理想的是进行零样本迁移。它希望模型面对新的任务时，不再需要针对这个任务额外收集监督样本和进行微调，而是直接利用预训练阶段学到的知识完成迁移。</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63715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在 LiT 之前，CLIP 和 ALIGN 已经证明了一种非常有效的零样本迁移的实现方案，也就是图文对比学习。它使用图文数据对来同时训练一个 Image Tower 和Text Tower，把图像和文本映射到同一个特征空间。对于匹配的图文对，让它们的</a:t>
            </a:r>
            <a:r>
              <a:rPr lang="zh-CN" altLang="en-US" dirty="0"/>
              <a:t>特征嵌入</a:t>
            </a:r>
            <a:r>
              <a:rPr lang="zh-CN" altLang="zh-CN" dirty="0"/>
              <a:t>更接近；对于不匹配的图文对，就让它们更加远离。这样训练完成以后，在进行比如猫狗分类的零样本迁移时，就可以把“a photo of a cat”or“a photo of a dog”这样的类别描述送入文本编码器，再把测试图片送入图像编码器，最后比较特征相似性，选择最相似的文本作为预测类别。</a:t>
            </a:r>
          </a:p>
          <a:p>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b="0" u="sng" dirty="0"/>
              <a:t>在CLIP和ALIGN中有一个基本设置是：Image Tower 和 Text Tower 同时训练，图文数据对会同时影响图像编码器和文本编码器。</a:t>
            </a:r>
            <a:r>
              <a:rPr lang="zh-CN" altLang="en-US" b="0" u="sng" dirty="0"/>
              <a:t>但两者真的需要同时训练吗？</a:t>
            </a:r>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99534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b="0" dirty="0"/>
              <a:t>这就自然引出了本文的方法部分。</a:t>
            </a:r>
          </a:p>
          <a:p>
            <a:r>
              <a:rPr lang="zh-CN" altLang="zh-CN" b="0" dirty="0"/>
              <a:t>作者</a:t>
            </a:r>
            <a:r>
              <a:rPr lang="zh-CN" altLang="en-US" b="0" dirty="0"/>
              <a:t>敏锐意识到</a:t>
            </a:r>
            <a:r>
              <a:rPr lang="zh-CN" altLang="zh-CN" b="0" dirty="0"/>
              <a:t>，</a:t>
            </a:r>
            <a:r>
              <a:rPr lang="zh-CN" altLang="en-US" b="0" dirty="0"/>
              <a:t>在当前研究问题中</a:t>
            </a:r>
            <a:r>
              <a:rPr lang="zh-CN" altLang="zh-CN" b="0" dirty="0"/>
              <a:t>实际上已经拥有</a:t>
            </a:r>
            <a:r>
              <a:rPr lang="zh-CN" altLang="en-US" b="0" dirty="0"/>
              <a:t>了</a:t>
            </a:r>
            <a:r>
              <a:rPr lang="zh-CN" altLang="zh-CN" b="0" dirty="0"/>
              <a:t>两类性质非常不同的数据</a:t>
            </a:r>
            <a:r>
              <a:rPr lang="zh-CN" altLang="en-US" b="0" dirty="0"/>
              <a:t>，两种数据各有所长。</a:t>
            </a:r>
            <a:endParaRPr lang="zh-CN" altLang="zh-CN" b="0" dirty="0"/>
          </a:p>
          <a:p>
            <a:r>
              <a:rPr lang="zh-CN" altLang="zh-CN" b="0" dirty="0"/>
              <a:t>经过整理的大规模纯图像数据。它们质量相对较高，因此很适合训练一个强而通用的</a:t>
            </a:r>
            <a:r>
              <a:rPr lang="zh-CN" altLang="en-US" b="0" dirty="0"/>
              <a:t>图像编码器</a:t>
            </a:r>
            <a:r>
              <a:rPr lang="zh-CN" altLang="zh-CN" b="0" dirty="0"/>
              <a:t>；</a:t>
            </a:r>
            <a:r>
              <a:rPr lang="zh-CN" altLang="en-US" b="0" dirty="0"/>
              <a:t>但它们</a:t>
            </a:r>
            <a:r>
              <a:rPr lang="zh-CN" altLang="zh-CN" b="0" dirty="0"/>
              <a:t>通常受到预定义类别的限制。</a:t>
            </a:r>
            <a:r>
              <a:rPr lang="zh-CN" altLang="en-US" b="0" dirty="0"/>
              <a:t>而</a:t>
            </a:r>
            <a:r>
              <a:rPr lang="zh-CN" altLang="zh-CN" b="0" dirty="0"/>
              <a:t>来源于网</a:t>
            </a:r>
            <a:r>
              <a:rPr lang="zh-CN" altLang="en-US" b="0" dirty="0"/>
              <a:t>络</a:t>
            </a:r>
            <a:r>
              <a:rPr lang="zh-CN" altLang="zh-CN" b="0" dirty="0"/>
              <a:t>的</a:t>
            </a:r>
            <a:r>
              <a:rPr lang="zh-CN" altLang="en-US" b="0" dirty="0"/>
              <a:t>图文数据对，</a:t>
            </a:r>
            <a:r>
              <a:rPr lang="zh-CN" altLang="zh-CN" b="0" dirty="0"/>
              <a:t>它们的优势是使用开放的自然语言，因此语义范围非常广，非常适合学习图像和语言之间的对应关系；但与此同时，这些数据更加 noisy，并不一定最适合重新学习纯</a:t>
            </a:r>
            <a:r>
              <a:rPr lang="zh-CN" altLang="en-US" b="0" dirty="0"/>
              <a:t>图像表征</a:t>
            </a:r>
            <a:r>
              <a:rPr lang="zh-CN" altLang="zh-CN" b="0" dirty="0"/>
              <a:t>。</a:t>
            </a:r>
          </a:p>
          <a:p>
            <a:r>
              <a:rPr lang="zh-CN" altLang="zh-CN" b="0" dirty="0"/>
              <a:t>作者</a:t>
            </a:r>
            <a:r>
              <a:rPr lang="zh-CN" altLang="en-US" b="0" dirty="0"/>
              <a:t>据此</a:t>
            </a:r>
            <a:r>
              <a:rPr lang="zh-CN" altLang="zh-CN" b="0" dirty="0"/>
              <a:t>提出了整篇论文最关键的问题：</a:t>
            </a:r>
          </a:p>
          <a:p>
            <a:r>
              <a:rPr lang="zh-CN" altLang="zh-CN" b="0" dirty="0"/>
              <a:t>如果我们已经通过高质量</a:t>
            </a:r>
            <a:r>
              <a:rPr lang="zh-CN" altLang="en-US" b="0" dirty="0"/>
              <a:t>图像</a:t>
            </a:r>
            <a:r>
              <a:rPr lang="zh-CN" altLang="zh-CN" b="0" dirty="0"/>
              <a:t>数据训练出了一个很强的</a:t>
            </a:r>
            <a:r>
              <a:rPr lang="zh-CN" altLang="en-US" b="0" dirty="0"/>
              <a:t>图像编码器</a:t>
            </a:r>
            <a:r>
              <a:rPr lang="zh-CN" altLang="zh-CN" b="0" dirty="0"/>
              <a:t>，为什么还要在 noisy 的网页图文数据上继续修改它？</a:t>
            </a:r>
          </a:p>
          <a:p>
            <a:r>
              <a:rPr lang="zh-CN" altLang="zh-CN" b="0" dirty="0"/>
              <a:t>LiT 给出的答案非常</a:t>
            </a:r>
            <a:r>
              <a:rPr lang="zh-CN" altLang="en-US" b="0" dirty="0"/>
              <a:t>地简单</a:t>
            </a:r>
            <a:r>
              <a:rPr lang="zh-CN" altLang="zh-CN" b="0" dirty="0"/>
              <a:t>直接</a:t>
            </a:r>
            <a:r>
              <a:rPr lang="zh-CN" altLang="en-US" b="0" dirty="0"/>
              <a:t>，就是我们可以直接</a:t>
            </a:r>
            <a:r>
              <a:rPr lang="zh-CN" altLang="zh-CN" b="0" dirty="0"/>
              <a:t>保护已经学好的 Image Tower，让 Text Tower 去“读懂”已有的视觉空间。</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09948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b="0" dirty="0"/>
              <a:t>这就引出了 LiT 最重要的方法思想——解耦。</a:t>
            </a:r>
          </a:p>
          <a:p>
            <a:r>
              <a:rPr lang="zh-CN" altLang="en-US" b="0" dirty="0"/>
              <a:t>作者认为，</a:t>
            </a:r>
            <a:r>
              <a:rPr lang="zh-CN" altLang="zh-CN" b="0" dirty="0"/>
              <a:t>传</a:t>
            </a:r>
            <a:r>
              <a:rPr lang="zh-CN" altLang="en-US" b="0" dirty="0"/>
              <a:t>统对比预训练</a:t>
            </a:r>
            <a:r>
              <a:rPr lang="zh-CN" altLang="zh-CN" b="0" dirty="0"/>
              <a:t>实际上同时在完成两个任务。</a:t>
            </a:r>
          </a:p>
          <a:p>
            <a:r>
              <a:rPr lang="zh-CN" altLang="zh-CN" b="0" dirty="0"/>
              <a:t>第一个是 </a:t>
            </a:r>
            <a:r>
              <a:rPr lang="zh-CN" altLang="en-US" b="0" dirty="0"/>
              <a:t>图像表征学习</a:t>
            </a:r>
            <a:r>
              <a:rPr lang="zh-CN" altLang="zh-CN" b="0" dirty="0"/>
              <a:t>，也就是学习什么样</a:t>
            </a:r>
            <a:r>
              <a:rPr lang="zh-CN" altLang="en-US" b="0" dirty="0"/>
              <a:t>图像表征</a:t>
            </a:r>
            <a:r>
              <a:rPr lang="zh-CN" altLang="zh-CN" b="0" dirty="0"/>
              <a:t>能够很好地描述图像。</a:t>
            </a:r>
          </a:p>
          <a:p>
            <a:r>
              <a:rPr lang="zh-CN" altLang="zh-CN" b="0" dirty="0"/>
              <a:t>第二个是</a:t>
            </a:r>
            <a:r>
              <a:rPr lang="zh-CN" altLang="en-US" b="0" dirty="0"/>
              <a:t>图文对齐</a:t>
            </a:r>
            <a:r>
              <a:rPr lang="zh-CN" altLang="zh-CN" b="0" dirty="0"/>
              <a:t>，也就是学习如何让文本表示进入这个视觉空间，并与相应图像对应。</a:t>
            </a:r>
          </a:p>
          <a:p>
            <a:r>
              <a:rPr lang="zh-CN" altLang="zh-CN" b="0" dirty="0"/>
              <a:t>传统方法使用同一份</a:t>
            </a:r>
            <a:r>
              <a:rPr lang="zh-CN" altLang="en-US" b="0" dirty="0"/>
              <a:t>图文数据对</a:t>
            </a:r>
            <a:r>
              <a:rPr lang="zh-CN" altLang="zh-CN" b="0" dirty="0"/>
              <a:t>，在一次训练中同时完成这两件事情。</a:t>
            </a:r>
          </a:p>
          <a:p>
            <a:r>
              <a:rPr lang="zh-CN" altLang="zh-CN" b="0" dirty="0"/>
              <a:t>而 LiT 提出</a:t>
            </a:r>
            <a:r>
              <a:rPr lang="zh-CN" altLang="en-US" b="0" dirty="0"/>
              <a:t>，</a:t>
            </a:r>
            <a:r>
              <a:rPr lang="zh-CN" altLang="zh-CN" b="0" dirty="0"/>
              <a:t>这两个目标并不一定必须绑定在一起。既然高质量纯图像数据更适合学习</a:t>
            </a:r>
            <a:r>
              <a:rPr lang="zh-CN" altLang="en-US" b="0" dirty="0"/>
              <a:t>图像表征</a:t>
            </a:r>
            <a:r>
              <a:rPr lang="zh-CN" altLang="zh-CN" b="0" dirty="0"/>
              <a:t>，就先用它获得一个强</a:t>
            </a:r>
            <a:r>
              <a:rPr lang="zh-CN" altLang="en-US" b="0" dirty="0"/>
              <a:t>图像编码器</a:t>
            </a:r>
            <a:r>
              <a:rPr lang="zh-CN" altLang="zh-CN" b="0" dirty="0"/>
              <a:t>；而开放图文数据更擅长提供语言语义，就让它专门负责学习跨模态 </a:t>
            </a:r>
            <a:r>
              <a:rPr lang="zh-CN" altLang="en-US" b="0" dirty="0"/>
              <a:t>对齐</a:t>
            </a:r>
            <a:r>
              <a:rPr lang="zh-CN" altLang="zh-CN" b="0" dirty="0"/>
              <a:t>。</a:t>
            </a:r>
            <a:r>
              <a:rPr lang="zh-CN" altLang="en-US" b="0" dirty="0"/>
              <a:t>两种数据扬长避短，各司其职。</a:t>
            </a:r>
            <a:endParaRPr lang="zh-CN" altLang="zh-CN" b="0"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50737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b="0" dirty="0"/>
              <a:t>在</a:t>
            </a:r>
            <a:r>
              <a:rPr lang="zh-CN" altLang="en-US" b="0" dirty="0"/>
              <a:t>此</a:t>
            </a:r>
            <a:r>
              <a:rPr lang="zh-CN" altLang="zh-CN" b="0" dirty="0"/>
              <a:t>基础上，作者提出了 Contrastive-tuning</a:t>
            </a:r>
            <a:r>
              <a:rPr lang="zh-CN" altLang="en-US" b="0" dirty="0"/>
              <a:t>，也就是对比学习调整</a:t>
            </a:r>
            <a:r>
              <a:rPr lang="zh-CN" altLang="zh-CN" b="0" dirty="0"/>
              <a:t>，系统研究图像</a:t>
            </a:r>
            <a:r>
              <a:rPr lang="zh-CN" altLang="en-US" b="0" dirty="0"/>
              <a:t>编码器</a:t>
            </a:r>
            <a:r>
              <a:rPr lang="zh-CN" altLang="zh-CN" b="0" dirty="0"/>
              <a:t>和文本</a:t>
            </a:r>
            <a:r>
              <a:rPr lang="zh-CN" altLang="en-US" b="0" dirty="0"/>
              <a:t>编码器</a:t>
            </a:r>
            <a:r>
              <a:rPr lang="zh-CN" altLang="zh-CN" b="0" dirty="0"/>
              <a:t>到底应该从哪里初始化、</a:t>
            </a:r>
            <a:r>
              <a:rPr lang="zh-CN" altLang="en-US" b="0" dirty="0"/>
              <a:t>以及参数是否需要更新</a:t>
            </a:r>
            <a:r>
              <a:rPr lang="zh-CN" altLang="zh-CN" b="0" dirty="0"/>
              <a:t>。</a:t>
            </a:r>
            <a:endParaRPr lang="en-US" altLang="zh-CN" b="0" dirty="0"/>
          </a:p>
          <a:p>
            <a:r>
              <a:rPr lang="zh-CN" altLang="zh-CN" b="0" dirty="0"/>
              <a:t>作者定义了三个符号。</a:t>
            </a:r>
          </a:p>
          <a:p>
            <a:r>
              <a:rPr lang="zh-CN" altLang="zh-CN" b="0" dirty="0"/>
              <a:t>L 表示模型已经预训练，并且参数 Locked，也就是完全冻结；</a:t>
            </a:r>
            <a:br>
              <a:rPr lang="zh-CN" altLang="zh-CN" b="0" dirty="0"/>
            </a:br>
            <a:r>
              <a:rPr lang="zh-CN" altLang="zh-CN" b="0" dirty="0"/>
              <a:t>U 表示模型已经预训练，但 Unlocked，可以继续更新；</a:t>
            </a:r>
            <a:br>
              <a:rPr lang="zh-CN" altLang="zh-CN" b="0" dirty="0"/>
            </a:br>
            <a:r>
              <a:rPr lang="zh-CN" altLang="zh-CN" b="0" dirty="0"/>
              <a:t>小写 u 表示模型没有预训练，从随机初始化开始学习。</a:t>
            </a:r>
            <a:endParaRPr lang="en-US" altLang="zh-CN" b="0" dirty="0"/>
          </a:p>
          <a:p>
            <a:r>
              <a:rPr lang="zh-CN" altLang="zh-CN" b="0" dirty="0"/>
              <a:t>而两个字符</a:t>
            </a:r>
            <a:r>
              <a:rPr lang="zh-CN" altLang="en-US" b="0" dirty="0"/>
              <a:t>先后</a:t>
            </a:r>
            <a:r>
              <a:rPr lang="zh-CN" altLang="zh-CN" b="0" dirty="0"/>
              <a:t>代表 </a:t>
            </a:r>
            <a:r>
              <a:rPr lang="zh-CN" altLang="en-US" b="0" dirty="0"/>
              <a:t>图像编码器</a:t>
            </a:r>
            <a:r>
              <a:rPr lang="zh-CN" altLang="zh-CN" b="0" dirty="0"/>
              <a:t>和 </a:t>
            </a:r>
            <a:r>
              <a:rPr lang="zh-CN" altLang="en-US" b="0" dirty="0"/>
              <a:t>文本编码器。</a:t>
            </a:r>
            <a:r>
              <a:rPr lang="zh-CN" altLang="zh-CN" b="0" dirty="0"/>
              <a:t>比如</a:t>
            </a:r>
            <a:r>
              <a:rPr lang="zh-CN" altLang="en-US" b="0" dirty="0"/>
              <a:t>像</a:t>
            </a:r>
            <a:r>
              <a:rPr lang="en-US" altLang="zh-CN" b="0" dirty="0"/>
              <a:t>CLIP</a:t>
            </a:r>
            <a:r>
              <a:rPr lang="zh-CN" altLang="en-US" b="0" dirty="0"/>
              <a:t>这样</a:t>
            </a:r>
            <a:r>
              <a:rPr lang="zh-CN" altLang="zh-CN" b="0" dirty="0"/>
              <a:t>从头进行图文对比学习可以写成 uu；如果 </a:t>
            </a:r>
            <a:r>
              <a:rPr lang="zh-CN" altLang="en-US" b="0" dirty="0"/>
              <a:t>图像编码器</a:t>
            </a:r>
            <a:r>
              <a:rPr lang="zh-CN" altLang="zh-CN" b="0" dirty="0"/>
              <a:t>是预训练的，但继续</a:t>
            </a:r>
            <a:r>
              <a:rPr lang="zh-CN" altLang="en-US" b="0" dirty="0"/>
              <a:t>微调 </a:t>
            </a:r>
            <a:r>
              <a:rPr lang="zh-CN" altLang="zh-CN" b="0" dirty="0"/>
              <a:t>，而 </a:t>
            </a:r>
            <a:r>
              <a:rPr lang="zh-CN" altLang="en-US" b="0" dirty="0"/>
              <a:t>文本编码器</a:t>
            </a:r>
            <a:r>
              <a:rPr lang="zh-CN" altLang="zh-CN" b="0" dirty="0"/>
              <a:t>从头训练，就是 Uu</a:t>
            </a:r>
            <a:r>
              <a:rPr lang="zh-CN" altLang="en-US" b="0" dirty="0"/>
              <a:t>。</a:t>
            </a:r>
            <a:r>
              <a:rPr lang="zh-CN" altLang="zh-CN" b="0" dirty="0"/>
              <a:t>而作者最终发现 Lu</a:t>
            </a:r>
            <a:r>
              <a:rPr lang="zh-CN" altLang="en-US" b="0" dirty="0"/>
              <a:t>效果最好，就是图像编码器</a:t>
            </a:r>
            <a:r>
              <a:rPr lang="zh-CN" altLang="zh-CN" b="0" dirty="0"/>
              <a:t>已经预训练并且完全锁定，而 </a:t>
            </a:r>
            <a:r>
              <a:rPr lang="zh-CN" altLang="en-US" b="0" dirty="0"/>
              <a:t>文本编码器</a:t>
            </a:r>
            <a:r>
              <a:rPr lang="zh-CN" altLang="zh-CN" b="0" dirty="0"/>
              <a:t> 从头学习。这个 Lu 就是论文最终提出的 Locked-image Tuning，也就是 LiT。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55148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接下来看一下这篇论文的实验设计</a:t>
            </a:r>
            <a:r>
              <a:rPr lang="zh-CN" altLang="en-US" dirty="0"/>
              <a:t>思路</a:t>
            </a:r>
            <a:r>
              <a:rPr lang="zh-CN" altLang="zh-CN" dirty="0"/>
              <a:t>。</a:t>
            </a:r>
            <a:r>
              <a:rPr lang="zh-CN" altLang="en-US" dirty="0"/>
              <a:t>其实本文提出的方法并不困难，但作者设计了非常严密的实验进行验证。</a:t>
            </a:r>
            <a:r>
              <a:rPr lang="zh-CN" altLang="zh-CN" dirty="0"/>
              <a:t>整体上可以概括成三个层次。</a:t>
            </a:r>
          </a:p>
          <a:p>
            <a:r>
              <a:rPr lang="zh-CN" altLang="zh-CN" b="0" dirty="0"/>
              <a:t>第一层是对外验证。 作者通过</a:t>
            </a:r>
            <a:r>
              <a:rPr lang="zh-CN" altLang="en-US" b="0" dirty="0"/>
              <a:t>与</a:t>
            </a:r>
            <a:r>
              <a:rPr lang="zh-CN" altLang="zh-CN" b="0" dirty="0"/>
              <a:t> SOTA </a:t>
            </a:r>
            <a:r>
              <a:rPr lang="zh-CN" altLang="en-US" b="0" dirty="0"/>
              <a:t>对比回答</a:t>
            </a:r>
            <a:r>
              <a:rPr lang="zh-CN" altLang="zh-CN" b="0" dirty="0"/>
              <a:t>LiT 作为一个完整方法</a:t>
            </a:r>
            <a:r>
              <a:rPr lang="zh-CN" altLang="en-US" b="0" dirty="0"/>
              <a:t>是否有竞争力</a:t>
            </a:r>
            <a:endParaRPr lang="zh-CN" altLang="zh-CN" b="0" dirty="0"/>
          </a:p>
          <a:p>
            <a:r>
              <a:rPr lang="zh-CN" altLang="zh-CN" b="0" dirty="0"/>
              <a:t>第二层是对内验证，而且遵循“从整体到局部”的逻辑。 首先系统比较 L、U、u 的不同组合，回答为什么最终选择 Lu；在确定整体方案以后，再</a:t>
            </a:r>
            <a:r>
              <a:rPr lang="zh-CN" altLang="en-US" b="0" dirty="0"/>
              <a:t>进一步探讨</a:t>
            </a:r>
            <a:r>
              <a:rPr lang="zh-CN" altLang="zh-CN" b="0" dirty="0"/>
              <a:t>什么样的图像</a:t>
            </a:r>
            <a:r>
              <a:rPr lang="zh-CN" altLang="en-US" b="0" dirty="0"/>
              <a:t>编码器</a:t>
            </a:r>
            <a:r>
              <a:rPr lang="zh-CN" altLang="zh-CN" b="0" dirty="0"/>
              <a:t>和文本</a:t>
            </a:r>
            <a:r>
              <a:rPr lang="zh-CN" altLang="en-US" b="0" dirty="0"/>
              <a:t>编码器</a:t>
            </a:r>
            <a:r>
              <a:rPr lang="zh-CN" altLang="zh-CN" b="0" dirty="0"/>
              <a:t>更适合 LiT。</a:t>
            </a:r>
          </a:p>
          <a:p>
            <a:r>
              <a:rPr lang="zh-CN" altLang="zh-CN" b="0" dirty="0"/>
              <a:t>第三层则验证方法的质量属性。 </a:t>
            </a:r>
            <a:r>
              <a:rPr lang="zh-CN" altLang="en-US" b="0" dirty="0"/>
              <a:t>包括数据泄露是否影响结果、工程上的优势、以及是否能扩展到其他语言，以此分别验证可靠性、高效性、扩展性。</a:t>
            </a:r>
            <a:r>
              <a:rPr lang="zh-CN" altLang="zh-CN" b="0" dirty="0"/>
              <a:t>这也是 LiT 很值得学习的一点：围绕核心</a:t>
            </a:r>
            <a:r>
              <a:rPr lang="zh-CN" altLang="en-US" b="0" dirty="0"/>
              <a:t>方法</a:t>
            </a:r>
            <a:r>
              <a:rPr lang="zh-CN" altLang="zh-CN" b="0" dirty="0"/>
              <a:t>构建一条逐层深入的证据链。</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159203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73EAC-C6FD-89F3-2934-4EAA6CA65A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23BC87-8D4F-CCE1-8B9C-5EB767255D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94A8C7-716A-8392-D4E0-835156D1C405}"/>
              </a:ext>
            </a:extLst>
          </p:cNvPr>
          <p:cNvSpPr>
            <a:spLocks noGrp="1"/>
          </p:cNvSpPr>
          <p:nvPr>
            <p:ph type="body" idx="1"/>
          </p:nvPr>
        </p:nvSpPr>
        <p:spPr/>
        <p:txBody>
          <a:bodyPr/>
          <a:lstStyle/>
          <a:p>
            <a:r>
              <a:rPr lang="zh-CN" altLang="zh-CN" b="0" dirty="0"/>
              <a:t>在看完方法和实验之后，再回过头来看 LiT，会发现这篇论文提出的方法其实非常简单。它没有</a:t>
            </a:r>
            <a:r>
              <a:rPr lang="zh-CN" altLang="en-US" b="0" dirty="0"/>
              <a:t>复杂公式，没有</a:t>
            </a:r>
            <a:r>
              <a:rPr lang="zh-CN" altLang="zh-CN" b="0" dirty="0"/>
              <a:t>设计</a:t>
            </a:r>
            <a:r>
              <a:rPr lang="zh-CN" altLang="en-US" b="0" dirty="0"/>
              <a:t>新的</a:t>
            </a:r>
            <a:r>
              <a:rPr lang="zh-CN" altLang="zh-CN" b="0" dirty="0"/>
              <a:t>网络结构，也没有提出新的 loss。作者真正做的事情，就是针对前面的问题，重新审视图文对比学习中一个习以为常的默认设置：Image Tower 和 Text Tower 真的都需要一起训练吗？围绕这个问题，作者提出了</a:t>
            </a:r>
            <a:r>
              <a:rPr lang="zh-CN" altLang="en-US" b="0" dirty="0"/>
              <a:t>对比学习调整</a:t>
            </a:r>
            <a:r>
              <a:rPr lang="zh-CN" altLang="zh-CN" b="0" dirty="0"/>
              <a:t>，系统考虑应该如何初始化、</a:t>
            </a:r>
            <a:r>
              <a:rPr lang="zh-CN" altLang="en-US" b="0" dirty="0"/>
              <a:t>参数是否需要更新</a:t>
            </a:r>
            <a:r>
              <a:rPr lang="zh-CN" altLang="zh-CN" b="0" dirty="0"/>
              <a:t>；最后得到的 LiT 甚至可以用一个非常简单的 Lu 来概括</a:t>
            </a:r>
            <a:r>
              <a:rPr lang="zh-CN" altLang="en-US" b="0" dirty="0"/>
              <a:t>。</a:t>
            </a:r>
            <a:r>
              <a:rPr lang="zh-CN" altLang="zh-CN" b="0" dirty="0"/>
              <a:t>所以从方法形式来看，LiT 确实非常简洁。但方法简单并不意味着这个方法很容易想到。真正困难的地方，不</a:t>
            </a:r>
            <a:r>
              <a:rPr lang="zh-CN" altLang="en-US" b="0" dirty="0"/>
              <a:t>在于</a:t>
            </a:r>
            <a:r>
              <a:rPr lang="zh-CN" altLang="zh-CN" b="0" dirty="0"/>
              <a:t>怎么把</a:t>
            </a:r>
            <a:r>
              <a:rPr lang="zh-CN" altLang="en-US" b="0" dirty="0"/>
              <a:t>图像编码器</a:t>
            </a:r>
            <a:r>
              <a:rPr lang="zh-CN" altLang="zh-CN" b="0" dirty="0"/>
              <a:t>冻住，而是为什么会想到“不再训练它”。</a:t>
            </a:r>
          </a:p>
          <a:p>
            <a:r>
              <a:rPr lang="zh-CN" altLang="zh-CN" b="0" dirty="0"/>
              <a:t>这背后其实体现了两个更重要的思想。</a:t>
            </a:r>
            <a:endParaRPr lang="en-US" altLang="zh-CN" b="0" dirty="0"/>
          </a:p>
          <a:p>
            <a:r>
              <a:rPr lang="zh-CN" altLang="zh-CN" b="0" dirty="0"/>
              <a:t>第一个是 Decouple，也就是问题解耦。传统图文对比学习默认把 </a:t>
            </a:r>
            <a:r>
              <a:rPr lang="zh-CN" altLang="en-US" b="0" dirty="0"/>
              <a:t>图像表征学习</a:t>
            </a:r>
            <a:r>
              <a:rPr lang="zh-CN" altLang="zh-CN" b="0" dirty="0"/>
              <a:t>和 </a:t>
            </a:r>
            <a:r>
              <a:rPr lang="zh-CN" altLang="en-US" b="0" dirty="0"/>
              <a:t>图文对齐学习</a:t>
            </a:r>
            <a:r>
              <a:rPr lang="zh-CN" altLang="zh-CN" b="0" dirty="0"/>
              <a:t>放在一次训练中共同完成。作者把它们拆开：先利用高质量</a:t>
            </a:r>
            <a:r>
              <a:rPr lang="zh-CN" altLang="en-US" b="0" dirty="0"/>
              <a:t>图像</a:t>
            </a:r>
            <a:r>
              <a:rPr lang="zh-CN" altLang="zh-CN" b="0" dirty="0"/>
              <a:t>数据获得强</a:t>
            </a:r>
            <a:r>
              <a:rPr lang="zh-CN" altLang="en-US" b="0" dirty="0"/>
              <a:t>图像编码器</a:t>
            </a:r>
            <a:r>
              <a:rPr lang="zh-CN" altLang="zh-CN" b="0" dirty="0"/>
              <a:t>，再利用开放的</a:t>
            </a:r>
            <a:r>
              <a:rPr lang="zh-CN" altLang="en-US" b="0" dirty="0"/>
              <a:t>图文数据对</a:t>
            </a:r>
            <a:r>
              <a:rPr lang="zh-CN" altLang="zh-CN" b="0" dirty="0"/>
              <a:t>专门学习</a:t>
            </a:r>
            <a:r>
              <a:rPr lang="zh-CN" altLang="en-US" b="0" dirty="0"/>
              <a:t>对齐</a:t>
            </a:r>
            <a:r>
              <a:rPr lang="zh-CN" altLang="zh-CN" b="0" dirty="0"/>
              <a:t>。也就是说，面对一个复杂问题，不一定要设计一个更复杂的模型同时解决所有事情，也可以先识别其中不同的子问题，再让不同的数据和学习过程各司其职。</a:t>
            </a:r>
          </a:p>
          <a:p>
            <a:r>
              <a:rPr lang="zh-CN" altLang="zh-CN" b="0" dirty="0"/>
              <a:t>第二个是 Reuse，也就是模型复用。过去我们很容易把</a:t>
            </a:r>
            <a:r>
              <a:rPr lang="zh-CN" altLang="en-US" b="0" dirty="0"/>
              <a:t>预训练模型</a:t>
            </a:r>
            <a:r>
              <a:rPr lang="zh-CN" altLang="zh-CN" b="0" dirty="0"/>
              <a:t>看成一个更好的</a:t>
            </a:r>
            <a:r>
              <a:rPr lang="zh-CN" altLang="en-US" b="0" dirty="0"/>
              <a:t>初始化</a:t>
            </a:r>
            <a:r>
              <a:rPr lang="zh-CN" altLang="zh-CN" b="0" dirty="0"/>
              <a:t>，然后拿到新任务以后继续</a:t>
            </a:r>
            <a:r>
              <a:rPr lang="zh-CN" altLang="en-US" b="0" dirty="0"/>
              <a:t>微调</a:t>
            </a:r>
            <a:r>
              <a:rPr lang="zh-CN" altLang="zh-CN" b="0" dirty="0"/>
              <a:t>。但 LiT 提供了另一种思路：如果一个模型已经把某种能力学得足够好了，我们为什么还要重新学习它？因此</a:t>
            </a:r>
            <a:r>
              <a:rPr lang="zh-CN" altLang="en-US" b="0" dirty="0"/>
              <a:t>预训练</a:t>
            </a:r>
            <a:r>
              <a:rPr lang="zh-CN" altLang="zh-CN" b="0" dirty="0"/>
              <a:t>也可以被看成已经积累好的</a:t>
            </a:r>
            <a:r>
              <a:rPr lang="zh-CN" altLang="en-US" b="0" dirty="0"/>
              <a:t>知识资产</a:t>
            </a:r>
            <a:r>
              <a:rPr lang="zh-CN" altLang="zh-CN" b="0" dirty="0"/>
              <a:t>。对于已经具备的能力，</a:t>
            </a:r>
            <a:r>
              <a:rPr lang="zh-CN" altLang="en-US" b="0" dirty="0"/>
              <a:t>可以</a:t>
            </a:r>
            <a:r>
              <a:rPr lang="zh-CN" altLang="zh-CN" b="0" dirty="0"/>
              <a:t>尽可能保护和复用；只针对新任务真正缺失的能力进行学习。</a:t>
            </a:r>
          </a:p>
          <a:p>
            <a:r>
              <a:rPr lang="zh-CN" altLang="zh-CN" b="0" dirty="0"/>
              <a:t>所以我认为，LiT 的创新可以分成两个层次：表面上，它通过</a:t>
            </a:r>
            <a:r>
              <a:rPr lang="zh-CN" altLang="en-US" b="0" dirty="0"/>
              <a:t>对比学习调整</a:t>
            </a:r>
            <a:r>
              <a:rPr lang="zh-CN" altLang="zh-CN" b="0" dirty="0"/>
              <a:t> 和 LiT 重新设计了“谁需要训练”；但更深层次上，它通过 </a:t>
            </a:r>
            <a:r>
              <a:rPr lang="zh-CN" altLang="en-US" b="0" dirty="0"/>
              <a:t>解耦</a:t>
            </a:r>
            <a:r>
              <a:rPr lang="zh-CN" altLang="zh-CN" b="0" dirty="0"/>
              <a:t>和 </a:t>
            </a:r>
            <a:r>
              <a:rPr lang="zh-CN" altLang="en-US" b="0" dirty="0"/>
              <a:t>复用</a:t>
            </a:r>
            <a:r>
              <a:rPr lang="zh-CN" altLang="zh-CN" b="0" dirty="0"/>
              <a:t> 重新思考了“什么东西真的还需要学习”。</a:t>
            </a:r>
          </a:p>
          <a:p>
            <a:r>
              <a:rPr lang="zh-CN" altLang="zh-CN" b="0" dirty="0"/>
              <a:t>LiT 的方法很简单，但真正有价值的地方，恰恰是作者发现：一个大家习惯去做的步骤，可能根本没有必要继续做。</a:t>
            </a:r>
          </a:p>
          <a:p>
            <a:endParaRPr lang="zh-CN" altLang="en-US" dirty="0"/>
          </a:p>
        </p:txBody>
      </p:sp>
      <p:sp>
        <p:nvSpPr>
          <p:cNvPr id="4" name="灯片编号占位符 3">
            <a:extLst>
              <a:ext uri="{FF2B5EF4-FFF2-40B4-BE49-F238E27FC236}">
                <a16:creationId xmlns:a16="http://schemas.microsoft.com/office/drawing/2014/main" id="{32597745-63DA-F5F2-686B-F48EB47221D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596909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17A67-FCAA-CAC6-CEE5-D7D75F1360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938385-0136-3DBD-15E8-4019656960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1E4533-0F37-E2A0-8D5D-888F213121F6}"/>
              </a:ext>
            </a:extLst>
          </p:cNvPr>
          <p:cNvSpPr>
            <a:spLocks noGrp="1"/>
          </p:cNvSpPr>
          <p:nvPr>
            <p:ph type="body" idx="1"/>
          </p:nvPr>
        </p:nvSpPr>
        <p:spPr/>
        <p:txBody>
          <a:bodyPr/>
          <a:lstStyle/>
          <a:p>
            <a:r>
              <a:rPr lang="zh-CN" altLang="zh-CN" dirty="0"/>
              <a:t>最后看一下 LiT 之后的研究演进。</a:t>
            </a:r>
          </a:p>
          <a:p>
            <a:r>
              <a:rPr lang="zh-CN" altLang="en-US" dirty="0"/>
              <a:t>在</a:t>
            </a:r>
            <a:r>
              <a:rPr lang="en-US" altLang="zh-CN" dirty="0" err="1"/>
              <a:t>LiT</a:t>
            </a:r>
            <a:r>
              <a:rPr lang="zh-CN" altLang="en-US" dirty="0"/>
              <a:t>的基础上，</a:t>
            </a:r>
            <a:r>
              <a:rPr lang="zh-CN" altLang="zh-CN" dirty="0"/>
              <a:t>后续工作大致可以看到几个方向。</a:t>
            </a:r>
          </a:p>
          <a:p>
            <a:r>
              <a:rPr lang="zh-CN" altLang="zh-CN" dirty="0"/>
              <a:t>一类工作像 </a:t>
            </a:r>
            <a:r>
              <a:rPr lang="zh-CN" altLang="zh-CN" b="1" dirty="0"/>
              <a:t>SigLiT</a:t>
            </a:r>
            <a:r>
              <a:rPr lang="zh-CN" altLang="zh-CN" dirty="0"/>
              <a:t>，继续重新审视图文对比学习中已有的默认设计，进一步简化训练目标；另一类像 </a:t>
            </a:r>
            <a:r>
              <a:rPr lang="zh-CN" altLang="zh-CN" b="1" dirty="0"/>
              <a:t>LiT-Decoder</a:t>
            </a:r>
            <a:r>
              <a:rPr lang="zh-CN" altLang="zh-CN" dirty="0"/>
              <a:t>，尝试把 </a:t>
            </a:r>
            <a:r>
              <a:rPr lang="en-US" altLang="zh-CN" dirty="0" err="1"/>
              <a:t>LiT</a:t>
            </a:r>
            <a:r>
              <a:rPr lang="zh-CN" altLang="zh-CN" dirty="0"/>
              <a:t>扩展到VQA 等更复杂的任务；而像 </a:t>
            </a:r>
            <a:r>
              <a:rPr lang="zh-CN" altLang="zh-CN" b="1" dirty="0"/>
              <a:t>BLIP-2</a:t>
            </a:r>
            <a:r>
              <a:rPr lang="zh-CN" altLang="zh-CN" dirty="0"/>
              <a:t> 这样的工作，则体现了更广泛的</a:t>
            </a:r>
            <a:r>
              <a:rPr lang="zh-CN" altLang="en-US" dirty="0"/>
              <a:t>解耦复用</a:t>
            </a:r>
            <a:r>
              <a:rPr lang="zh-CN" altLang="zh-CN" dirty="0"/>
              <a:t>思路——当视觉模型和语言模型都已经足够强时，可以尽量复用两端已有能力，只学习它们之间必要的连接。</a:t>
            </a:r>
          </a:p>
          <a:p>
            <a:r>
              <a:rPr lang="zh-CN" altLang="zh-CN" dirty="0"/>
              <a:t>所以如果把这些工作放在一起看，后续演进的重点</a:t>
            </a:r>
            <a:r>
              <a:rPr lang="zh-CN" altLang="en-US" dirty="0"/>
              <a:t>主要是探索，</a:t>
            </a:r>
            <a:r>
              <a:rPr lang="zh-CN" altLang="zh-CN" b="0" dirty="0"/>
              <a:t>面对越来越强的pretrained model，我们究竟应该保留什么、适配什么，以及怎样用尽可能小的代价获得新的能力？</a:t>
            </a:r>
            <a:r>
              <a:rPr lang="zh-CN" altLang="zh-CN" dirty="0"/>
              <a:t>LiT 锁住的是一个</a:t>
            </a:r>
            <a:r>
              <a:rPr lang="zh-CN" altLang="en-US" dirty="0"/>
              <a:t>图像编码器</a:t>
            </a:r>
            <a:r>
              <a:rPr lang="zh-CN" altLang="zh-CN" dirty="0"/>
              <a:t>，但它真正打开的，是一种“做减法”的研究思路。</a:t>
            </a:r>
          </a:p>
          <a:p>
            <a:endParaRPr lang="zh-CN" altLang="en-US" b="1" dirty="0"/>
          </a:p>
        </p:txBody>
      </p:sp>
      <p:sp>
        <p:nvSpPr>
          <p:cNvPr id="4" name="灯片编号占位符 3">
            <a:extLst>
              <a:ext uri="{FF2B5EF4-FFF2-40B4-BE49-F238E27FC236}">
                <a16:creationId xmlns:a16="http://schemas.microsoft.com/office/drawing/2014/main" id="{F55C8743-71F2-8730-A828-8D89403DA3D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07B8332-413A-49A7-A67D-12917428D18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18754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各位老师、同学好，我今天汇报的论文是 </a:t>
            </a:r>
            <a:r>
              <a:rPr lang="en-US" altLang="zh-CN"/>
              <a:t>MultiLoReFT，</a:t>
            </a:r>
            <a:r>
              <a:rPr lang="zh-CN" altLang="en-US"/>
              <a:t>研究的是如何通过低秩表示微调，把多模态数据中的共享信息和模态特异信息分开。</a:t>
            </a:r>
          </a:p>
          <a:p>
            <a:r>
              <a:rPr lang="zh-CN" altLang="en-US"/>
              <a:t>这篇工作的核心问题是：多个模态融合以后，模型究竟学到了哪些共同信息，又保留了哪些各自独有的信息？作者希望在冻结单模态预训练模型的基础上，用额外的表示微调模块实现这种分解，同时保持下游预测能力。</a:t>
            </a:r>
          </a:p>
          <a:p>
            <a:r>
              <a:rPr lang="zh-CN" altLang="en-US"/>
              <a:t>下面我按照研究动机、现存问题、方法设计和实验结果展开介绍，最后总结创新点和启发。</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引言把现实动机落在两点：成对多模态样本难以规模化获取；普通融合虽能用于预测，却不容易解释每个模态贡献了什么。作者因此复用已预训练的单模态编码器，把新增学习限制在低秩表征更新上。来源：论文第1–2页。</a:t>
            </a:r>
          </a:p>
          <a:p>
            <a:endParaRPr/>
          </a:p>
          <a:p>
            <a:r>
              <a:t>来源：Tonekaboni, S., Schuster, V., &amp; Uhler, C. “MultiLoReFT: Decoupling Shared and Modality-Specific Subspaces in Multimodal Learning via Low-Rank Representation Fine-Tuning.” ICML 2026, PMLR 306. 论文第1–2页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多模态学习的价值在于，不同模态既有共同内容，也能提供互补线索。比如一张图片及其文字描述，都可能表达“一个人在切木头”，但图片还包含纹理和背景，文字还包含语言种类等信息。</a:t>
            </a:r>
          </a:p>
          <a:p>
            <a:r>
              <a:rPr lang="zh-CN" altLang="en-US"/>
              <a:t>现实中有两个困难。首先，配对数据不容易获得，尤其在医疗场景中，很难为每个样本同时收集完整、对齐的多种数据。其次，即使融合模型能够完成预测，我们也不容易看清楚，它到底依赖了哪些信息。</a:t>
            </a:r>
          </a:p>
          <a:p>
            <a:r>
              <a:rPr lang="zh-CN" altLang="en-US"/>
              <a:t>与此同时，现有单模态预训练模型已经积累了较强的特征提取能力。因此作者提出：能不能复用这些模型，用较少的可训练参数，把共同信息和各模态独有的信息分开表示？这就是本文的出发点。</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ea typeface="宋体" pitchFamily="2" charset="-122"/>
              </a:rPr>
              <a:t>针对前面的问题，作者提出了 </a:t>
            </a:r>
            <a:r>
              <a:rPr lang="en-US" altLang="zh-CN">
                <a:ea typeface="宋体" pitchFamily="2" charset="-122"/>
              </a:rPr>
              <a:t>MultiLoReFT。</a:t>
            </a:r>
            <a:r>
              <a:rPr lang="zh-CN" altLang="en-US">
                <a:ea typeface="宋体" pitchFamily="2" charset="-122"/>
              </a:rPr>
              <a:t>整体思路是：冻结两个单模态预训练编码器，只在输出表示上学习低秩更新，并将信息划分到共享和模态特异子空间中。</a:t>
            </a:r>
          </a:p>
          <a:p>
            <a:r>
              <a:rPr lang="zh-CN" altLang="en-US">
                <a:ea typeface="宋体" pitchFamily="2" charset="-122"/>
              </a:rPr>
              <a:t>具体来看，这张图分为左右两部分。左边展示如何更新表示，右边展示更新后的信息如何分解。</a:t>
            </a:r>
          </a:p>
          <a:p>
            <a:endParaRPr lang="zh-CN" altLang="en-US">
              <a:ea typeface="宋体" pitchFamily="2"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ea typeface="宋体" pitchFamily="2" charset="-122"/>
                <a:sym typeface="+mn-ea"/>
              </a:rPr>
              <a:t>[指左图底部]</a:t>
            </a:r>
            <a:r>
              <a:rPr lang="en-US" altLang="zh-CN">
                <a:ea typeface="宋体" pitchFamily="2" charset="-122"/>
                <a:sym typeface="+mn-ea"/>
              </a:rPr>
              <a:t> </a:t>
            </a:r>
            <a:r>
              <a:rPr lang="zh-CN" altLang="en-US">
                <a:ea typeface="宋体" pitchFamily="2" charset="-122"/>
                <a:sym typeface="+mn-ea"/>
              </a:rPr>
              <a:t>从左图底部开始，两个冻结的编码器分别输出 </a:t>
            </a:r>
            <a:r>
              <a:rPr lang="en-US" altLang="zh-CN">
                <a:ea typeface="宋体" pitchFamily="2" charset="-122"/>
                <a:sym typeface="+mn-ea"/>
              </a:rPr>
              <a:t>h1 </a:t>
            </a:r>
            <a:r>
              <a:rPr lang="zh-CN" altLang="en-US">
                <a:ea typeface="宋体" pitchFamily="2" charset="-122"/>
                <a:sym typeface="+mn-ea"/>
              </a:rPr>
              <a:t>和 </a:t>
            </a:r>
            <a:r>
              <a:rPr lang="en-US" altLang="zh-CN">
                <a:ea typeface="宋体" pitchFamily="2" charset="-122"/>
                <a:sym typeface="+mn-ea"/>
              </a:rPr>
              <a:t>h2。</a:t>
            </a:r>
            <a:r>
              <a:rPr lang="zh-CN" altLang="en-US">
                <a:ea typeface="宋体" pitchFamily="2" charset="-122"/>
                <a:sym typeface="+mn-ea"/>
              </a:rPr>
              <a:t>每个表示进入两条分支：一条处理共享信息，另一条处理本模态的特异信息。</a:t>
            </a:r>
            <a:endParaRPr lang="zh-CN" altLang="en-US">
              <a:ea typeface="宋体" pitchFamily="2" charset="-122"/>
            </a:endParaRPr>
          </a:p>
          <a:p>
            <a:r>
              <a:rPr lang="zh-CN" altLang="en-US">
                <a:ea typeface="宋体" pitchFamily="2" charset="-122"/>
                <a:sym typeface="+mn-ea"/>
              </a:rPr>
              <a:t>[指中央和两侧] 中间的共享投影矩阵 </a:t>
            </a:r>
            <a:r>
              <a:rPr lang="en-US" altLang="zh-CN">
                <a:ea typeface="宋体" pitchFamily="2" charset="-122"/>
                <a:sym typeface="+mn-ea"/>
              </a:rPr>
              <a:t>Rs </a:t>
            </a:r>
            <a:r>
              <a:rPr lang="zh-CN" altLang="en-US">
                <a:ea typeface="宋体" pitchFamily="2" charset="-122"/>
                <a:sym typeface="+mn-ea"/>
              </a:rPr>
              <a:t>由两个模态共同使用，两侧的 </a:t>
            </a:r>
            <a:r>
              <a:rPr lang="en-US" altLang="zh-CN">
                <a:ea typeface="宋体" pitchFamily="2" charset="-122"/>
                <a:sym typeface="+mn-ea"/>
              </a:rPr>
              <a:t>Rm1 </a:t>
            </a:r>
            <a:r>
              <a:rPr lang="zh-CN" altLang="en-US">
                <a:ea typeface="宋体" pitchFamily="2" charset="-122"/>
                <a:sym typeface="+mn-ea"/>
              </a:rPr>
              <a:t>和 </a:t>
            </a:r>
            <a:r>
              <a:rPr lang="en-US" altLang="zh-CN">
                <a:ea typeface="宋体" pitchFamily="2" charset="-122"/>
                <a:sym typeface="+mn-ea"/>
              </a:rPr>
              <a:t>Rm2 </a:t>
            </a:r>
            <a:r>
              <a:rPr lang="zh-CN" altLang="en-US">
                <a:ea typeface="宋体" pitchFamily="2" charset="-122"/>
                <a:sym typeface="+mn-ea"/>
              </a:rPr>
              <a:t>分别负责各自模态。共享的含义是采用同一组投影方向，但两个模态使用各自的变换函数 </a:t>
            </a:r>
            <a:r>
              <a:rPr lang="en-US" altLang="zh-CN">
                <a:ea typeface="宋体" pitchFamily="2" charset="-122"/>
                <a:sym typeface="+mn-ea"/>
              </a:rPr>
              <a:t>fs1 </a:t>
            </a:r>
            <a:r>
              <a:rPr lang="zh-CN" altLang="en-US">
                <a:ea typeface="宋体" pitchFamily="2" charset="-122"/>
                <a:sym typeface="+mn-ea"/>
              </a:rPr>
              <a:t>和 </a:t>
            </a:r>
            <a:r>
              <a:rPr lang="en-US" altLang="zh-CN">
                <a:ea typeface="宋体" pitchFamily="2" charset="-122"/>
                <a:sym typeface="+mn-ea"/>
              </a:rPr>
              <a:t>fs2。</a:t>
            </a:r>
            <a:endParaRPr lang="en-US" altLang="zh-CN">
              <a:ea typeface="宋体" pitchFamily="2" charset="-122"/>
            </a:endParaRPr>
          </a:p>
          <a:p>
            <a:r>
              <a:rPr lang="zh-CN" altLang="en-US">
                <a:ea typeface="宋体" pitchFamily="2" charset="-122"/>
                <a:sym typeface="+mn-ea"/>
              </a:rPr>
              <a:t>每条分支先在低维空间中计算需要修改的量，再映射回原表示空间，加到原始表示上，得到微调后的 </a:t>
            </a:r>
            <a:r>
              <a:rPr lang="en-US" altLang="zh-CN">
                <a:ea typeface="宋体" pitchFamily="2" charset="-122"/>
                <a:sym typeface="+mn-ea"/>
              </a:rPr>
              <a:t>Φ1 </a:t>
            </a:r>
            <a:r>
              <a:rPr lang="zh-CN" altLang="en-US">
                <a:ea typeface="宋体" pitchFamily="2" charset="-122"/>
                <a:sym typeface="+mn-ea"/>
              </a:rPr>
              <a:t>和 </a:t>
            </a:r>
            <a:r>
              <a:rPr lang="en-US" altLang="zh-CN">
                <a:ea typeface="宋体" pitchFamily="2" charset="-122"/>
                <a:sym typeface="+mn-ea"/>
              </a:rPr>
              <a:t>Φ2。</a:t>
            </a:r>
            <a:endParaRPr lang="zh-CN">
              <a:ea typeface="宋体" pitchFamily="2"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ea typeface="宋体" pitchFamily="2" charset="-122"/>
              </a:rPr>
              <a:t>得到 </a:t>
            </a:r>
            <a:r>
              <a:rPr lang="en-US" altLang="zh-CN">
                <a:ea typeface="宋体" pitchFamily="2" charset="-122"/>
              </a:rPr>
              <a:t>Φ1 </a:t>
            </a:r>
            <a:r>
              <a:rPr lang="zh-CN" altLang="en-US">
                <a:ea typeface="宋体" pitchFamily="2" charset="-122"/>
              </a:rPr>
              <a:t>和 </a:t>
            </a:r>
            <a:r>
              <a:rPr lang="en-US" altLang="zh-CN">
                <a:ea typeface="宋体" pitchFamily="2" charset="-122"/>
              </a:rPr>
              <a:t>Φ2 </a:t>
            </a:r>
            <a:r>
              <a:rPr lang="zh-CN" altLang="en-US">
                <a:ea typeface="宋体" pitchFamily="2" charset="-122"/>
              </a:rPr>
              <a:t>以后，就可以读取各个分量。</a:t>
            </a:r>
          </a:p>
          <a:p>
            <a:r>
              <a:rPr lang="zh-CN" altLang="en-US">
                <a:ea typeface="宋体" pitchFamily="2" charset="-122"/>
              </a:rPr>
              <a:t>将 </a:t>
            </a:r>
            <a:r>
              <a:rPr lang="en-US" altLang="zh-CN">
                <a:ea typeface="宋体" pitchFamily="2" charset="-122"/>
              </a:rPr>
              <a:t>Φ1、Φ2 </a:t>
            </a:r>
            <a:r>
              <a:rPr lang="zh-CN" altLang="en-US">
                <a:ea typeface="宋体" pitchFamily="2" charset="-122"/>
              </a:rPr>
              <a:t>分别乘以同一个 </a:t>
            </a:r>
            <a:r>
              <a:rPr lang="en-US" altLang="zh-CN">
                <a:ea typeface="宋体" pitchFamily="2" charset="-122"/>
              </a:rPr>
              <a:t>Rs，</a:t>
            </a:r>
            <a:r>
              <a:rPr lang="zh-CN" altLang="en-US">
                <a:ea typeface="宋体" pitchFamily="2" charset="-122"/>
              </a:rPr>
              <a:t>得到 </a:t>
            </a:r>
            <a:r>
              <a:rPr lang="en-US" altLang="zh-CN">
                <a:ea typeface="宋体" pitchFamily="2" charset="-122"/>
              </a:rPr>
              <a:t>zs1 </a:t>
            </a:r>
            <a:r>
              <a:rPr lang="zh-CN" altLang="en-US">
                <a:ea typeface="宋体" pitchFamily="2" charset="-122"/>
              </a:rPr>
              <a:t>和 </a:t>
            </a:r>
            <a:r>
              <a:rPr lang="en-US" altLang="zh-CN">
                <a:ea typeface="宋体" pitchFamily="2" charset="-122"/>
              </a:rPr>
              <a:t>zs2，</a:t>
            </a:r>
            <a:r>
              <a:rPr lang="zh-CN" altLang="en-US">
                <a:ea typeface="宋体" pitchFamily="2" charset="-122"/>
              </a:rPr>
              <a:t>它们是从两个模态各自提取的共享表示。再分别乘以 </a:t>
            </a:r>
            <a:r>
              <a:rPr lang="en-US" altLang="zh-CN">
                <a:ea typeface="宋体" pitchFamily="2" charset="-122"/>
              </a:rPr>
              <a:t>Rm1 </a:t>
            </a:r>
            <a:r>
              <a:rPr lang="zh-CN" altLang="en-US">
                <a:ea typeface="宋体" pitchFamily="2" charset="-122"/>
              </a:rPr>
              <a:t>和 </a:t>
            </a:r>
            <a:r>
              <a:rPr lang="en-US" altLang="zh-CN">
                <a:ea typeface="宋体" pitchFamily="2" charset="-122"/>
              </a:rPr>
              <a:t>Rm2，</a:t>
            </a:r>
            <a:r>
              <a:rPr lang="zh-CN" altLang="en-US">
                <a:ea typeface="宋体" pitchFamily="2" charset="-122"/>
              </a:rPr>
              <a:t>就得到 </a:t>
            </a:r>
            <a:r>
              <a:rPr lang="en-US" altLang="zh-CN">
                <a:ea typeface="宋体" pitchFamily="2" charset="-122"/>
              </a:rPr>
              <a:t>zm1 </a:t>
            </a:r>
            <a:r>
              <a:rPr lang="zh-CN" altLang="en-US">
                <a:ea typeface="宋体" pitchFamily="2" charset="-122"/>
              </a:rPr>
              <a:t>和 </a:t>
            </a:r>
            <a:r>
              <a:rPr lang="en-US" altLang="zh-CN">
                <a:ea typeface="宋体" pitchFamily="2" charset="-122"/>
              </a:rPr>
              <a:t>zm2，</a:t>
            </a:r>
            <a:r>
              <a:rPr lang="zh-CN" altLang="en-US">
                <a:ea typeface="宋体" pitchFamily="2" charset="-122"/>
              </a:rPr>
              <a:t>也就是各自的特异表示。</a:t>
            </a:r>
          </a:p>
          <a:p>
            <a:r>
              <a:rPr lang="zh-CN" altLang="en-US">
                <a:ea typeface="宋体" pitchFamily="2" charset="-122"/>
              </a:rPr>
              <a:t>当两个模态都存在时，作者对两份共享表示取平均，得到最终的 </a:t>
            </a:r>
            <a:r>
              <a:rPr lang="en-US" altLang="zh-CN">
                <a:ea typeface="宋体" pitchFamily="2" charset="-122"/>
              </a:rPr>
              <a:t>zs。</a:t>
            </a:r>
            <a:r>
              <a:rPr lang="zh-CN" altLang="en-US">
                <a:ea typeface="宋体" pitchFamily="2" charset="-122"/>
              </a:rPr>
              <a:t>如果推理时只剩一个模态，就直接使用这个模态的共享投影。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只有三个子空间，还不能保证模型真的按预期分工。因此作者使用三类损失。</a:t>
            </a:r>
          </a:p>
          <a:p>
            <a:r>
              <a:rPr lang="zh-CN" altLang="en-US"/>
              <a:t>第一类是独立损失，使用 </a:t>
            </a:r>
            <a:r>
              <a:rPr lang="en-US" altLang="zh-CN"/>
              <a:t>HSIC </a:t>
            </a:r>
            <a:r>
              <a:rPr lang="zh-CN" altLang="en-US"/>
              <a:t>衡量不同分量之间的统计依赖。训练时降低共享与各自特异分量之间的依赖，也降低两个特异分量之间的依赖，减少同一种信息重复出现在不同位置。</a:t>
            </a:r>
          </a:p>
          <a:p>
            <a:r>
              <a:rPr lang="zh-CN" altLang="en-US"/>
              <a:t>第二类是正交损失。它约束共享投影与两个特异投影之间的内积，让它们尽量使用不同的几何方向。独立损失关注的是“内容之间是否相关”，正交损失关注的是“投影方向是否重叠”，两者作用不同。</a:t>
            </a:r>
          </a:p>
          <a:p>
            <a:r>
              <a:rPr lang="zh-CN" altLang="en-US"/>
              <a:t>第三类是互信息保留损失，采用 </a:t>
            </a:r>
            <a:r>
              <a:rPr lang="en-US" altLang="zh-CN"/>
              <a:t>InfoNCE </a:t>
            </a:r>
            <a:r>
              <a:rPr lang="zh-CN" altLang="en-US"/>
              <a:t>形式。如果只要求各部分互不相关，模型可能把有用信息也丢掉，所以还需要约束分解后的表示保留原始内容。</a:t>
            </a:r>
          </a:p>
          <a:p>
            <a:r>
              <a:rPr lang="zh-CN" altLang="en-US"/>
              <a:t>总损失等于三个损失乘以权重相加。</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接下来要解决的是，每个子空间到底需要多少维。如果维度太少，装不下必要信息；如果太多，又容易冗余，让信息混到不该出现的位置。</a:t>
            </a:r>
          </a:p>
          <a:p>
            <a:r>
              <a:rPr lang="zh-CN" altLang="en-US"/>
              <a:t>作者采用自适应剪枝。先给子空间一个初始维度，再在训练过程中逐渐压缩。</a:t>
            </a:r>
          </a:p>
          <a:p>
            <a:r>
              <a:rPr lang="zh-CN" altLang="en-US"/>
              <a:t>[指算法第 2—5 行] 首先，对每个投影矩阵做奇异值分解，也就是 </a:t>
            </a:r>
            <a:r>
              <a:rPr lang="en-US" altLang="zh-CN"/>
              <a:t>SVD。</a:t>
            </a:r>
            <a:r>
              <a:rPr lang="zh-CN" altLang="en-US"/>
              <a:t>奇异值反映相应方向在矩阵中的强弱，作者把低于阈值的方向作为待删除对象。每次最多删除当前 </a:t>
            </a:r>
            <a:r>
              <a:rPr lang="en-US" altLang="zh-CN"/>
              <a:t>rank </a:t>
            </a:r>
            <a:r>
              <a:rPr lang="zh-CN" altLang="en-US"/>
              <a:t>的百分之十，避免突然压缩过多。</a:t>
            </a:r>
          </a:p>
          <a:p>
            <a:r>
              <a:rPr lang="zh-CN" altLang="en-US"/>
              <a:t>[指第 6—8 行] 然后，利用保留下来的主要方向构建新的投影矩阵。对应变换函数的最后一层也要同步降维，并旋转到新的坐标基下，否则变换输出就不能和新的投影对应。</a:t>
            </a:r>
          </a:p>
          <a:p>
            <a:r>
              <a:rPr lang="zh-CN" altLang="en-US">
                <a:cs typeface="Arial" panose="020B0604020202090204" pitchFamily="34" charset="0"/>
                <a:sym typeface="+mn-ea"/>
              </a:rPr>
              <a:t>这样设计的意义是保留主要信息方向，删除冗余维度，在不明显损失表示质量的前提下降低参数量，并减少信息泄漏。</a:t>
            </a:r>
            <a:endParaRPr lang="zh-CN" alt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ea typeface="宋体" pitchFamily="2" charset="-122"/>
              </a:rPr>
              <a:t>算法</a:t>
            </a:r>
            <a:r>
              <a:rPr lang="en-US" altLang="zh-CN">
                <a:ea typeface="宋体" pitchFamily="2" charset="-122"/>
              </a:rPr>
              <a:t>2</a:t>
            </a:r>
            <a:r>
              <a:rPr lang="zh-CN" altLang="en-US">
                <a:ea typeface="宋体" pitchFamily="2" charset="-122"/>
              </a:rPr>
              <a:t>是完整的训练流程。</a:t>
            </a:r>
          </a:p>
          <a:p>
            <a:r>
              <a:rPr lang="zh-CN" altLang="en-US">
                <a:ea typeface="宋体" pitchFamily="2" charset="-122"/>
              </a:rPr>
              <a:t>首先用冻结的编码器提取 </a:t>
            </a:r>
            <a:r>
              <a:rPr lang="en-US" altLang="zh-CN">
                <a:ea typeface="宋体" pitchFamily="2" charset="-122"/>
              </a:rPr>
              <a:t>h1 </a:t>
            </a:r>
            <a:r>
              <a:rPr lang="zh-CN" altLang="en-US">
                <a:ea typeface="宋体" pitchFamily="2" charset="-122"/>
              </a:rPr>
              <a:t>和 </a:t>
            </a:r>
            <a:r>
              <a:rPr lang="en-US" altLang="zh-CN">
                <a:ea typeface="宋体" pitchFamily="2" charset="-122"/>
              </a:rPr>
              <a:t>h2，</a:t>
            </a:r>
            <a:r>
              <a:rPr lang="zh-CN" altLang="en-US">
                <a:ea typeface="宋体" pitchFamily="2" charset="-122"/>
              </a:rPr>
              <a:t>再通过刚才的低秩更新公式得到 </a:t>
            </a:r>
            <a:r>
              <a:rPr lang="en-US" altLang="zh-CN">
                <a:ea typeface="宋体" pitchFamily="2" charset="-122"/>
              </a:rPr>
              <a:t>Φ1 </a:t>
            </a:r>
            <a:r>
              <a:rPr lang="zh-CN" altLang="en-US">
                <a:ea typeface="宋体" pitchFamily="2" charset="-122"/>
              </a:rPr>
              <a:t>和 </a:t>
            </a:r>
            <a:r>
              <a:rPr lang="en-US" altLang="zh-CN">
                <a:ea typeface="宋体" pitchFamily="2" charset="-122"/>
              </a:rPr>
              <a:t>Φ2，</a:t>
            </a:r>
            <a:r>
              <a:rPr lang="zh-CN" altLang="en-US">
                <a:ea typeface="宋体" pitchFamily="2" charset="-122"/>
              </a:rPr>
              <a:t>随后投影得到共享和特异分量。</a:t>
            </a:r>
          </a:p>
          <a:p>
            <a:r>
              <a:rPr lang="zh-CN" altLang="en-US">
                <a:ea typeface="宋体" pitchFamily="2" charset="-122"/>
              </a:rPr>
              <a:t>接着计算三种损失，使用 </a:t>
            </a:r>
            <a:r>
              <a:rPr lang="en-US" altLang="zh-CN">
                <a:ea typeface="宋体" pitchFamily="2" charset="-122"/>
              </a:rPr>
              <a:t>GradNorm </a:t>
            </a:r>
            <a:r>
              <a:rPr lang="zh-CN" altLang="en-US">
                <a:ea typeface="宋体" pitchFamily="2" charset="-122"/>
              </a:rPr>
              <a:t>平衡它们的梯度贡献，更新投影矩阵和变换函数。编码器在这个过程中始终保持冻结，而且表示学习阶段不使用下游任务标签。</a:t>
            </a:r>
          </a:p>
          <a:p>
            <a:r>
              <a:rPr lang="zh-CN" altLang="en-US">
                <a:ea typeface="宋体" pitchFamily="2" charset="-122"/>
              </a:rPr>
              <a:t>每个 </a:t>
            </a:r>
            <a:r>
              <a:rPr lang="en-US" altLang="zh-CN">
                <a:ea typeface="宋体" pitchFamily="2" charset="-122"/>
              </a:rPr>
              <a:t>epoch </a:t>
            </a:r>
            <a:r>
              <a:rPr lang="zh-CN" altLang="en-US">
                <a:ea typeface="宋体" pitchFamily="2" charset="-122"/>
              </a:rPr>
              <a:t>结束后，模型在验证集上检查损失。前 50 个 </a:t>
            </a:r>
            <a:r>
              <a:rPr lang="en-US" altLang="zh-CN">
                <a:ea typeface="宋体" pitchFamily="2" charset="-122"/>
              </a:rPr>
              <a:t>epoch </a:t>
            </a:r>
            <a:r>
              <a:rPr lang="zh-CN" altLang="en-US">
                <a:ea typeface="宋体" pitchFamily="2" charset="-122"/>
              </a:rPr>
              <a:t>先正常训练，之后只有当验证集互信息损失处于历史最佳值的百分之一范围内，才调用上一页的剪枝算法。</a:t>
            </a:r>
          </a:p>
          <a:p>
            <a:r>
              <a:rPr lang="zh-CN" altLang="en-US">
                <a:ea typeface="宋体" pitchFamily="2" charset="-122"/>
              </a:rPr>
              <a:t>这样做是先让表示学得相对稳定，再尝试压缩。无论这一轮有没有剪枝，后面都会继续训练，直到满足停止条件。</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作者的实验主要回答三个问题：能否把信息分开，分开以后能否用于预测，以及缺少一个模态时有没有帮助。</a:t>
            </a:r>
          </a:p>
          <a:p>
            <a:r>
              <a:rPr lang="zh-CN" altLang="en-US"/>
              <a:t>首先使用两组合成数据，因为生成过程已知，可以明确知道哪些因素属于共享信息，哪些属于模态特异信息。其中第二组还引入因素之间的依赖，增加解耦难度。</a:t>
            </a:r>
          </a:p>
          <a:p>
            <a:r>
              <a:rPr lang="zh-CN" altLang="en-US"/>
              <a:t>随后使用真实数据。</a:t>
            </a:r>
            <a:r>
              <a:rPr lang="en-US" altLang="zh-CN"/>
              <a:t>Flickr30K-Multi </a:t>
            </a:r>
            <a:r>
              <a:rPr lang="zh-CN" altLang="en-US"/>
              <a:t>是图像和文本，用语言类别检查文本特异信息；</a:t>
            </a:r>
            <a:r>
              <a:rPr lang="en-US" altLang="zh-CN"/>
              <a:t>CREMA-D </a:t>
            </a:r>
            <a:r>
              <a:rPr lang="zh-CN" altLang="en-US"/>
              <a:t>是视频和音频，可以检查语句身份、年龄等属性；</a:t>
            </a:r>
            <a:r>
              <a:rPr lang="en-US" altLang="zh-CN"/>
              <a:t>UR-FUNNY </a:t>
            </a:r>
            <a:r>
              <a:rPr lang="zh-CN" altLang="en-US"/>
              <a:t>用于幽默预测。</a:t>
            </a:r>
          </a:p>
          <a:p>
            <a:r>
              <a:rPr lang="zh-CN" altLang="en-US"/>
              <a:t>评价方法是，表示学好后，在各个子空间上训练简单的预测器，检查某种属性在哪个子空间最容易被预测。分类标签使用逻辑回归，年龄这样的连续属性则看回归误差。标签用于事后评估，不参与前面的表示学习。</a:t>
            </a:r>
          </a:p>
          <a:p>
            <a:r>
              <a:rPr lang="zh-CN" altLang="en-US"/>
              <a:t>为了让对比尽量公平，作者让各基线使用同一组预训练单模态嵌入。这样差异主要来自后面的融合或解耦模块。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这张图来自第一组合成数据。从上到下，分别是模态 1 特异空间、共享空间、模态 2 特异空间；从左到右，分别按照共享标签、模态 1 标签和模态 2 标签给点上色。每张图都是对应表示的二维 </a:t>
            </a:r>
            <a:r>
              <a:rPr lang="en-US" altLang="zh-CN"/>
              <a:t>PCA </a:t>
            </a:r>
            <a:r>
              <a:rPr lang="zh-CN" altLang="en-US"/>
              <a:t>投影。</a:t>
            </a:r>
          </a:p>
          <a:p>
            <a:r>
              <a:rPr lang="zh-CN" altLang="en-US">
                <a:solidFill>
                  <a:srgbClr val="172B3A"/>
                </a:solidFill>
                <a:ea typeface="Arial" panose="020B0604020202090204"/>
                <a:cs typeface="Arial" panose="020B0604020202090204" pitchFamily="34" charset="0"/>
                <a:sym typeface="+mn-ea"/>
              </a:rPr>
              <a:t>实验目的是验证 </a:t>
            </a:r>
            <a:r>
              <a:rPr lang="en-US" altLang="zh-CN">
                <a:solidFill>
                  <a:srgbClr val="172B3A"/>
                </a:solidFill>
                <a:ea typeface="Arial" panose="020B0604020202090204"/>
                <a:cs typeface="Arial" panose="020B0604020202090204" pitchFamily="34" charset="0"/>
                <a:sym typeface="+mn-ea"/>
              </a:rPr>
              <a:t>MultiLoReFT </a:t>
            </a:r>
            <a:r>
              <a:rPr lang="zh-CN" altLang="en-US">
                <a:solidFill>
                  <a:srgbClr val="172B3A"/>
                </a:solidFill>
                <a:ea typeface="Arial" panose="020B0604020202090204"/>
                <a:cs typeface="Arial" panose="020B0604020202090204" pitchFamily="34" charset="0"/>
                <a:sym typeface="+mn-ea"/>
              </a:rPr>
              <a:t>是否真的把 </a:t>
            </a:r>
            <a:r>
              <a:rPr lang="en-US" altLang="zh-CN">
                <a:solidFill>
                  <a:srgbClr val="172B3A"/>
                </a:solidFill>
                <a:ea typeface="Arial" panose="020B0604020202090204"/>
                <a:cs typeface="Arial" panose="020B0604020202090204" pitchFamily="34" charset="0"/>
                <a:sym typeface="+mn-ea"/>
              </a:rPr>
              <a:t>shared information </a:t>
            </a:r>
            <a:r>
              <a:rPr lang="zh-CN" altLang="en-US">
                <a:solidFill>
                  <a:srgbClr val="172B3A"/>
                </a:solidFill>
                <a:ea typeface="Arial" panose="020B0604020202090204"/>
                <a:cs typeface="Arial" panose="020B0604020202090204" pitchFamily="34" charset="0"/>
                <a:sym typeface="+mn-ea"/>
              </a:rPr>
              <a:t>和 </a:t>
            </a:r>
            <a:r>
              <a:rPr lang="en-US" altLang="zh-CN">
                <a:solidFill>
                  <a:srgbClr val="172B3A"/>
                </a:solidFill>
                <a:ea typeface="Arial" panose="020B0604020202090204"/>
                <a:cs typeface="Arial" panose="020B0604020202090204" pitchFamily="34" charset="0"/>
                <a:sym typeface="+mn-ea"/>
              </a:rPr>
              <a:t>modality-specific information </a:t>
            </a:r>
            <a:r>
              <a:rPr lang="zh-CN" altLang="en-US">
                <a:solidFill>
                  <a:srgbClr val="172B3A"/>
                </a:solidFill>
                <a:ea typeface="Arial" panose="020B0604020202090204"/>
                <a:cs typeface="Arial" panose="020B0604020202090204" pitchFamily="34" charset="0"/>
                <a:sym typeface="+mn-ea"/>
              </a:rPr>
              <a:t>分开。从图上来看，各个</a:t>
            </a:r>
            <a:r>
              <a:rPr lang="en-US" altLang="zh-CN">
                <a:solidFill>
                  <a:srgbClr val="172B3A"/>
                </a:solidFill>
                <a:ea typeface="Arial" panose="020B0604020202090204"/>
                <a:cs typeface="Arial" panose="020B0604020202090204" pitchFamily="34" charset="0"/>
                <a:sym typeface="+mn-ea"/>
              </a:rPr>
              <a:t>label</a:t>
            </a:r>
            <a:r>
              <a:rPr lang="zh-CN" altLang="en-US">
                <a:solidFill>
                  <a:srgbClr val="172B3A"/>
                </a:solidFill>
                <a:ea typeface="Arial" panose="020B0604020202090204"/>
                <a:cs typeface="Arial" panose="020B0604020202090204" pitchFamily="34" charset="0"/>
                <a:sym typeface="+mn-ea"/>
              </a:rPr>
              <a:t>都是在各自子空间形成明显聚类。这说明不同类型的信息被集中到对应子空间中，说明 </a:t>
            </a:r>
            <a:r>
              <a:rPr lang="en-US" altLang="zh-CN">
                <a:solidFill>
                  <a:srgbClr val="172B3A"/>
                </a:solidFill>
                <a:ea typeface="Arial" panose="020B0604020202090204"/>
                <a:cs typeface="Arial" panose="020B0604020202090204" pitchFamily="34" charset="0"/>
                <a:sym typeface="+mn-ea"/>
              </a:rPr>
              <a:t>MultiLoReFT </a:t>
            </a:r>
            <a:r>
              <a:rPr lang="zh-CN" altLang="en-US">
                <a:solidFill>
                  <a:srgbClr val="172B3A"/>
                </a:solidFill>
                <a:ea typeface="Arial" panose="020B0604020202090204"/>
                <a:cs typeface="Arial" panose="020B0604020202090204" pitchFamily="34" charset="0"/>
                <a:sym typeface="+mn-ea"/>
              </a:rPr>
              <a:t>能减少 </a:t>
            </a:r>
            <a:r>
              <a:rPr lang="en-US" altLang="zh-CN">
                <a:solidFill>
                  <a:srgbClr val="172B3A"/>
                </a:solidFill>
                <a:ea typeface="Arial" panose="020B0604020202090204"/>
                <a:cs typeface="Arial" panose="020B0604020202090204" pitchFamily="34" charset="0"/>
                <a:sym typeface="+mn-ea"/>
              </a:rPr>
              <a:t>information leakage，</a:t>
            </a:r>
            <a:r>
              <a:rPr lang="zh-CN" altLang="en-US">
                <a:solidFill>
                  <a:srgbClr val="172B3A"/>
                </a:solidFill>
                <a:ea typeface="Arial" panose="020B0604020202090204"/>
                <a:cs typeface="Arial" panose="020B0604020202090204" pitchFamily="34" charset="0"/>
                <a:sym typeface="+mn-ea"/>
              </a:rPr>
              <a:t>实现显式 </a:t>
            </a:r>
            <a:r>
              <a:rPr lang="en-US" altLang="zh-CN">
                <a:solidFill>
                  <a:srgbClr val="172B3A"/>
                </a:solidFill>
                <a:ea typeface="Arial" panose="020B0604020202090204"/>
                <a:cs typeface="Arial" panose="020B0604020202090204" pitchFamily="34" charset="0"/>
                <a:sym typeface="+mn-ea"/>
              </a:rPr>
              <a:t>disentanglement。</a:t>
            </a:r>
            <a:endParaRPr lang="en-US" altLang="zh-CN" b="0">
              <a:solidFill>
                <a:srgbClr val="172B3A"/>
              </a:solidFill>
              <a:latin typeface="Arial" panose="020B0604020202090204" pitchFamily="34" charset="0"/>
              <a:ea typeface="Arial" panose="020B0604020202090204"/>
              <a:cs typeface="Arial" panose="020B0604020202090204" pitchFamily="34" charset="0"/>
            </a:endParaRPr>
          </a:p>
          <a:p>
            <a:endParaRPr lang="zh-CN" altLang="en-US" b="0">
              <a:solidFill>
                <a:srgbClr val="172B3A"/>
              </a:solidFill>
              <a:latin typeface="Arial" panose="020B0604020202090204" pitchFamily="34" charset="0"/>
              <a:ea typeface="Arial" panose="020B0604020202090204"/>
              <a:cs typeface="Arial" panose="020B0604020202090204" pitchFamily="34" charset="0"/>
            </a:endParaRPr>
          </a:p>
          <a:p>
            <a:endParaRPr lang="zh-CN" alt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ea typeface="宋体" pitchFamily="2" charset="-122"/>
              </a:rPr>
              <a:t>这张图是在真实数据上的</a:t>
            </a:r>
            <a:r>
              <a:rPr lang="en-US" altLang="zh-CN">
                <a:ea typeface="宋体" pitchFamily="2" charset="-122"/>
              </a:rPr>
              <a:t>PCA</a:t>
            </a:r>
            <a:r>
              <a:rPr lang="zh-CN" altLang="en-US">
                <a:ea typeface="宋体" pitchFamily="2" charset="-122"/>
              </a:rPr>
              <a:t>可视化。</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真实数据上，Flickr 的共享表示与文本私有表示分别可读出语义和语言特异因素；示例检索也显示，共享空间邻居在高层动作语义上相似，图像私有空间邻居更受木材、树木等视觉内容影响。CREMA-D中，作者用语句ID、年龄、种族、性别等元数据验证音视频的属性分工。</a:t>
            </a:r>
          </a:p>
          <a:p>
            <a:endParaRPr/>
          </a:p>
          <a:p>
            <a:r>
              <a:t>来源：Tonekaboni, S., Schuster, V., &amp; Uhler, C. “MultiLoReFT: Decoupling Shared and Modality-Specific Subspaces in Multimodal Learning via Low-Rank Representation Fine-Tuning.” ICML 2026, PMLR 306. 论文 Fig. 3、Table 2，第7–8页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ea typeface="宋体" pitchFamily="2" charset="-122"/>
              </a:rPr>
              <a:t>这张表格是</a:t>
            </a:r>
            <a:r>
              <a:rPr lang="zh-CN" altLang="en-US">
                <a:ea typeface="宋体" pitchFamily="2" charset="-122"/>
              </a:rPr>
              <a:t>作者把微调后的 </a:t>
            </a:r>
            <a:r>
              <a:rPr lang="en-US" altLang="zh-CN">
                <a:ea typeface="宋体" pitchFamily="2" charset="-122"/>
              </a:rPr>
              <a:t>Φ1 </a:t>
            </a:r>
            <a:r>
              <a:rPr lang="zh-CN" altLang="en-US">
                <a:ea typeface="宋体" pitchFamily="2" charset="-122"/>
              </a:rPr>
              <a:t>和 </a:t>
            </a:r>
            <a:r>
              <a:rPr lang="en-US" altLang="zh-CN">
                <a:ea typeface="宋体" pitchFamily="2" charset="-122"/>
              </a:rPr>
              <a:t>Φ2 </a:t>
            </a:r>
            <a:r>
              <a:rPr lang="zh-CN" altLang="en-US">
                <a:ea typeface="宋体" pitchFamily="2" charset="-122"/>
              </a:rPr>
              <a:t>直接拼接，再训练一个轻量的逻辑回归分类器进行下游分类。从表中看，</a:t>
            </a:r>
            <a:r>
              <a:rPr lang="en-US" altLang="zh-CN">
                <a:ea typeface="宋体" pitchFamily="2" charset="-122"/>
              </a:rPr>
              <a:t>MultiLoReFT </a:t>
            </a:r>
            <a:r>
              <a:rPr lang="zh-CN" altLang="en-US">
                <a:ea typeface="宋体" pitchFamily="2" charset="-122"/>
              </a:rPr>
              <a:t>在四组设置上的平均准确率都最高。但优势大小因任务而异。例如在</a:t>
            </a:r>
            <a:r>
              <a:rPr b="1">
                <a:solidFill>
                  <a:srgbClr val="172B3A"/>
                </a:solidFill>
                <a:latin typeface="Arial" panose="020B0604020202090204"/>
                <a:ea typeface="Arial" panose="020B0604020202090204"/>
                <a:cs typeface="Arial" panose="020B0604020202090204"/>
                <a:sym typeface="+mn-ea"/>
              </a:rPr>
              <a:t>UR-FUNNY</a:t>
            </a:r>
            <a:r>
              <a:rPr lang="zh-CN" altLang="en-US">
                <a:ea typeface="宋体" pitchFamily="2" charset="-122"/>
              </a:rPr>
              <a:t> </a:t>
            </a:r>
            <a:r>
              <a:rPr lang="en-US" altLang="zh-CN">
                <a:ea typeface="宋体" pitchFamily="2" charset="-122"/>
              </a:rPr>
              <a:t>raw-video</a:t>
            </a:r>
            <a:r>
              <a:rPr lang="zh-CN" altLang="en-US">
                <a:ea typeface="宋体" pitchFamily="2" charset="-122"/>
              </a:rPr>
              <a:t>数据上，</a:t>
            </a:r>
            <a:r>
              <a:rPr lang="en-US" altLang="zh-CN">
                <a:ea typeface="宋体" pitchFamily="2" charset="-122"/>
              </a:rPr>
              <a:t>MultiLoReFT </a:t>
            </a:r>
            <a:r>
              <a:rPr lang="zh-CN" altLang="en-US">
                <a:ea typeface="宋体" pitchFamily="2" charset="-122"/>
              </a:rPr>
              <a:t>是</a:t>
            </a:r>
            <a:r>
              <a:rPr lang="en-US" altLang="zh-CN">
                <a:ea typeface="宋体" pitchFamily="2" charset="-122"/>
              </a:rPr>
              <a:t>58.3</a:t>
            </a:r>
            <a:r>
              <a:rPr lang="zh-CN" altLang="en-US">
                <a:ea typeface="宋体" pitchFamily="2" charset="-122"/>
              </a:rPr>
              <a:t>，</a:t>
            </a:r>
            <a:r>
              <a:rPr lang="en-US" altLang="zh-CN">
                <a:ea typeface="宋体" pitchFamily="2" charset="-122"/>
              </a:rPr>
              <a:t>cross-attention </a:t>
            </a:r>
            <a:r>
              <a:rPr lang="zh-CN" altLang="en-US">
                <a:ea typeface="宋体" pitchFamily="2" charset="-122"/>
              </a:rPr>
              <a:t>是</a:t>
            </a:r>
            <a:r>
              <a:rPr lang="en-US" altLang="zh-CN">
                <a:ea typeface="宋体" pitchFamily="2" charset="-122"/>
              </a:rPr>
              <a:t>58.2</a:t>
            </a:r>
            <a:r>
              <a:rPr lang="zh-CN" altLang="en-US">
                <a:ea typeface="宋体" pitchFamily="2" charset="-122"/>
              </a:rPr>
              <a:t>，两者非常接近</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横坐标：</a:t>
            </a:r>
            <a:r>
              <a:rPr lang="en-US" altLang="zh-CN"/>
              <a:t>M1 missing </a:t>
            </a:r>
            <a:r>
              <a:rPr lang="zh-CN" altLang="en-US"/>
              <a:t>表示移除模态 1，只使用模态 2；</a:t>
            </a:r>
            <a:r>
              <a:rPr lang="en-US" altLang="zh-CN"/>
              <a:t>M2 missing </a:t>
            </a:r>
            <a:r>
              <a:rPr lang="zh-CN" altLang="en-US"/>
              <a:t>则相反。蓝色柱是剩余模态的原始表示 </a:t>
            </a:r>
            <a:r>
              <a:rPr lang="en-US" altLang="zh-CN"/>
              <a:t>h，</a:t>
            </a:r>
            <a:r>
              <a:rPr lang="zh-CN" altLang="en-US"/>
              <a:t>绿色柱是它经过 </a:t>
            </a:r>
            <a:r>
              <a:rPr lang="en-US" altLang="zh-CN"/>
              <a:t>MultiLoReFT </a:t>
            </a:r>
            <a:r>
              <a:rPr lang="zh-CN" altLang="en-US"/>
              <a:t>更新后的表示 </a:t>
            </a:r>
            <a:r>
              <a:rPr lang="en-US" altLang="zh-CN"/>
              <a:t>Φ。</a:t>
            </a:r>
          </a:p>
          <a:p>
            <a:r>
              <a:rPr lang="zh-CN" altLang="en-US"/>
              <a:t>三个数据集、两种缺失方向中，绿色柱都高于蓝色柱，说明微调后的单模态表示能够提供更好的预测信号。</a:t>
            </a:r>
          </a:p>
          <a:p>
            <a:r>
              <a:rPr lang="zh-CN" altLang="en-US"/>
              <a:t>原因可以从训练目标理解：训练时虽然用到了配对数据，但模型会鼓励每个模态的表示保留跨模态可预测的信息。因此，推理时即使只有一个模态，也能使用训练中学到的这种关联。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户要求区分理论、方法、场景和性能创新。需要严谨：论文主要贡献是方法框架与表征可解释性，理论上是把HSIC、几何正交和InfoNCE组合为训练目标，没有建立新的统计理论。性能创新体现在实验有效性，不代表每个任务都有大幅提升。</a:t>
            </a:r>
          </a:p>
          <a:p>
            <a:endParaRPr/>
          </a:p>
          <a:p>
            <a:r>
              <a:t>来源：Tonekaboni, S., Schuster, V., &amp; Uhler, C. “MultiLoReFT: Decoupling Shared and Modality-Specific Subspaces in Multimodal Learning via Low-Rank Representation Fine-Tuning.” ICML 2026, PMLR 306. 论文摘要、方法第3–5页、结果第6–9页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总结时同时讲贡献和边界。作者在附录CMU-MOSI展示三模态扩展，但缺乏共享/私有真值，无法直接验证更细的解耦；主文因此聚焦双模态。冻结编码器让框架效率高，也带来上限：如果预训练表征没有任务所需因素，低秩微调很难凭空补足。可将“预测指标 + 信息分解指标 + 缺失模态测试”作为后续研究的联合评价思路。</a:t>
            </a:r>
          </a:p>
          <a:p>
            <a:endParaRPr/>
          </a:p>
          <a:p>
            <a:r>
              <a:t>来源：Tonekaboni, S., Schuster, V., &amp; Uhler, C. “MultiLoReFT: Decoupling Shared and Modality-Specific Subspaces in Multimodal Learning via Low-Rank Representation Fine-Tuning.” ICML 2026, PMLR 306. 论文第9页及附录第15–16页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开场（约 20 秒）：这篇文章只改了一个东西——图文对比学习的损失函数。它把 CLIP 的 softmax 换成 sigmoid，顺带推翻了「对比学习必须用超大 batch」这个常识。全程没有改模型结构。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地图页（约 40 秒）：告诉听众后面三块内容分别对应这三行。讲完这页，大家就知道后面的实验数据是在支撑哪一个结论，而不是孤立地看表格。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背景（约 45 秒）：先用这张 4×4 的表把「正对 / 负对」讲清楚，这是全场的地基。强调负对不是标注出来的，是假设出来的——论文自己都承认这个假设 noisy and imperfect，所以后面才会有负例掩码和噪声鲁棒性那两组实验。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动机（约 40 秒）：这三条代价逐层递进。可以问听众一句：如果损失函数本身不再需要「看全 batch」，会怎样？这就是下一页。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核心页（约 50 秒）：不要念公式。只讲三件事——softmax 那行分母里有 Σⱼ，跨越整个 batch；sigmoid 这行没有任何跨样本的项；加号两边合并成一次，这就是对称和不加 1/2 的原因。最后落到下面那张对照表。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方法细节（约 40 秒）：这一页回答「b = −10 是不是拍脑袋」。核心是 1:16384 的失衡：不加偏置时模型开局就在做错误的过度纠正。如果时间紧，这页可以压到 20 秒，只讲失衡比和默认值。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工程（约 45 秒）：这一页的关键因果是——不是因为模型变大才省显存，而是因为「每对独立」这个数学性质，损失才允许拆开算。这是能训到一百万 batch 的技术前提。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实验地图（约 50 秒）：这是全场最重要的一页之一。先给四个问题，再给三个指标怎么读。讲完这页，后面每一组数字都挂在某个问题上，听众就不会迷路。建议说完停顿一下再翻页。</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实验一（约</a:t>
            </a:r>
            <a:r>
              <a:rPr dirty="0"/>
              <a:t> 50 秒）：</a:t>
            </a:r>
            <a:r>
              <a:rPr dirty="0" err="1"/>
              <a:t>先抛问题</a:t>
            </a:r>
            <a:r>
              <a:rPr dirty="0"/>
              <a:t>——「</a:t>
            </a:r>
            <a:r>
              <a:rPr dirty="0" err="1"/>
              <a:t>换掉损失，效果会不会变差</a:t>
            </a:r>
            <a:r>
              <a:rPr dirty="0"/>
              <a:t>？」</a:t>
            </a:r>
            <a:r>
              <a:rPr dirty="0" err="1"/>
              <a:t>答案是正好相反，batch</a:t>
            </a:r>
            <a:r>
              <a:rPr dirty="0"/>
              <a:t> </a:t>
            </a:r>
            <a:r>
              <a:rPr dirty="0" err="1"/>
              <a:t>越小</a:t>
            </a:r>
            <a:r>
              <a:rPr dirty="0"/>
              <a:t> sigmoid </a:t>
            </a:r>
            <a:r>
              <a:rPr dirty="0" err="1"/>
              <a:t>越好。重点讲</a:t>
            </a:r>
            <a:r>
              <a:rPr dirty="0"/>
              <a:t> 512 batch 那 2.6 </a:t>
            </a:r>
            <a:r>
              <a:rPr dirty="0" err="1"/>
              <a:t>分的差距，以及「差距随</a:t>
            </a:r>
            <a:r>
              <a:rPr dirty="0"/>
              <a:t> batch </a:t>
            </a:r>
            <a:r>
              <a:rPr dirty="0" err="1"/>
              <a:t>变大而收窄</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实验二（约 65 秒，全场最重要的证据）：先问「对比学习一直被认为需要大 batch，真是这样吗？」再放图。左图讲 sigmoid 峰值更早、softmax 峰值更晚且更低；30 秒后翻到右边三条结论。最后一定要补 Figure 3 那个限定，否则会被追问「那为什么早期工作都用大 batch」。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实验三（约</a:t>
            </a:r>
            <a:r>
              <a:rPr dirty="0"/>
              <a:t> 50 秒）：</a:t>
            </a:r>
            <a:r>
              <a:rPr dirty="0" err="1"/>
              <a:t>这页回答「省下来的资源真能用上吗</a:t>
            </a:r>
            <a:r>
              <a:rPr dirty="0"/>
              <a:t>」。</a:t>
            </a:r>
            <a:r>
              <a:rPr dirty="0" err="1"/>
              <a:t>重点讲</a:t>
            </a:r>
            <a:r>
              <a:rPr dirty="0"/>
              <a:t> 4 </a:t>
            </a:r>
            <a:r>
              <a:rPr dirty="0" err="1"/>
              <a:t>张卡</a:t>
            </a:r>
            <a:r>
              <a:rPr dirty="0"/>
              <a:t> 2 天 84.5%，</a:t>
            </a:r>
            <a:r>
              <a:rPr dirty="0" err="1"/>
              <a:t>但必须主动说明冻结图像塔</a:t>
            </a:r>
            <a:r>
              <a:rPr dirty="0"/>
              <a:t> + </a:t>
            </a:r>
            <a:r>
              <a:rPr dirty="0" err="1"/>
              <a:t>预计算嵌入这个前提，否则会被认为是端到端训练</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实验四（约 40 秒，时间紧可跳过）：这两组实验的价值在于承认边界。负对本来就是凑出来的、网络文本本来就很脏，而 sigmoid 恰好在这两件事上更抗造。最后一句要讲：作者自己说难负例挖掘「有希望但不简单」，也就是没有解决。</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放大后的成绩（约 30 秒）：一页就够，只说一句——注意最后一行，400M 的 SoViT 超过了 5B 的 EVA-CLIP。然后立刻加限定：跨论文比较，只能当量级参照。数据出自论文 Table 3，本页只保留 8 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总结（约 45 秒）：回到第二页的三行，逐条对上。局限部分要讲出来，这是加分项——说明你不是在复述宣传材料。最后落在那条清单上。</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延伸（约 45 秒）：先声明这部分不在论文里，上台前建议逐条核实。讲一个反差——它的影响不是让后来的人都去用 sigmoid，而是它训出来的编码器被大量 VLM 直接拿去当视觉塔。最后一句作为落点。</a:t>
            </a:r>
          </a:p>
          <a:p>
            <a:endParaRPr/>
          </a:p>
          <a:p>
            <a:r>
              <a:t>出处说明：OpenVLA 使用 DINOv2 + SigLIP 融合编码器这一点，已在你本地的 OpenVLA 论文（Kim et al., 2024）正文中核对（第 1、4 页：「fuses pretrained features from DINOv2 and SigLIP」，并用低层空间信息来自 DINOv2、高层语义来自 SigLIP 解释这个分工）。SigLIP 2 的具体手段（captioning、自蒸馏、TIPS、NaFlex）与 PaliGemma / Idefics2 / Gemma 3 的用法来自背景知识，本次没有原文可核对，建议自行确认后再讲。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ctr">
              <a:lnSpc>
                <a:spcPct val="130000"/>
              </a:lnSpc>
            </a:pPr>
            <a:r>
              <a:rPr lang="zh-CN" altLang="en-US" dirty="0"/>
              <a:t>老师、同学们大家好，我是王滢。今天我汇报的论文是《</a:t>
            </a:r>
            <a:r>
              <a:rPr lang="en-US" altLang="zh-CN" dirty="0"/>
              <a:t>AGFT: </a:t>
            </a:r>
            <a:r>
              <a:rPr lang="zh-CN" altLang="en-US" b="1" dirty="0">
                <a:solidFill>
                  <a:schemeClr val="bg1"/>
                </a:solidFill>
                <a:latin typeface="微软雅黑" panose="020B0503020204020204" pitchFamily="34" charset="-122"/>
                <a:ea typeface="微软雅黑" panose="020B0503020204020204" pitchFamily="34" charset="-122"/>
                <a:sym typeface="+mn-ea"/>
              </a:rPr>
              <a:t>用于视觉语言模型零样本对抗鲁棒性的</a:t>
            </a:r>
            <a:endParaRPr lang="zh-CN" altLang="en-US" b="1" dirty="0">
              <a:solidFill>
                <a:schemeClr val="bg1"/>
              </a:solidFill>
              <a:latin typeface="微软雅黑" panose="020B0503020204020204" pitchFamily="34" charset="-122"/>
              <a:ea typeface="微软雅黑" panose="020B0503020204020204" pitchFamily="34" charset="-122"/>
            </a:endParaRPr>
          </a:p>
          <a:p>
            <a:pPr algn="ctr">
              <a:lnSpc>
                <a:spcPct val="130000"/>
              </a:lnSpc>
            </a:pPr>
            <a:r>
              <a:rPr lang="zh-CN" altLang="en-US" b="1" dirty="0">
                <a:solidFill>
                  <a:schemeClr val="bg1"/>
                </a:solidFill>
                <a:latin typeface="微软雅黑" panose="020B0503020204020204" pitchFamily="34" charset="-122"/>
                <a:ea typeface="微软雅黑" panose="020B0503020204020204" pitchFamily="34" charset="-122"/>
                <a:sym typeface="+mn-ea"/>
              </a:rPr>
              <a:t>对齐引导微调</a:t>
            </a:r>
            <a:r>
              <a:rPr lang="en-US" altLang="zh-CN" dirty="0"/>
              <a:t>》，</a:t>
            </a:r>
            <a:r>
              <a:rPr lang="zh-CN" altLang="en-US" dirty="0"/>
              <a:t>发表在</a:t>
            </a:r>
            <a:r>
              <a:rPr lang="en-US" altLang="zh-CN" dirty="0"/>
              <a:t>CVPR 2026。</a:t>
            </a:r>
            <a:r>
              <a:rPr lang="zh-CN" altLang="en-US" dirty="0"/>
              <a:t>下面我开始汇报。</a:t>
            </a:r>
          </a:p>
        </p:txBody>
      </p:sp>
      <p:sp>
        <p:nvSpPr>
          <p:cNvPr id="4" name="灯片编号占位符 3"/>
          <p:cNvSpPr>
            <a:spLocks noGrp="1"/>
          </p:cNvSpPr>
          <p:nvPr>
            <p:ph type="sldNum" sz="quarter" idx="10"/>
          </p:nvPr>
        </p:nvSpPr>
        <p:spPr/>
        <p:txBody>
          <a:bodyPr/>
          <a:lstStyle/>
          <a:p>
            <a:fld id="{41E0E0E2-7263-44C4-AAA9-733DBA7BD205}" type="slidenum">
              <a:rPr lang="zh-CN" altLang="en-US" smtClean="0"/>
              <a:t>54</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以</a:t>
            </a:r>
            <a:r>
              <a:rPr lang="en-US" altLang="zh-CN" dirty="0"/>
              <a:t>CLIP</a:t>
            </a:r>
            <a:r>
              <a:rPr lang="zh-CN" altLang="en-US" dirty="0"/>
              <a:t>为代表的预训练视觉语言模型通过大规模图文对学习，</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构建了共享嵌入空间，</a:t>
            </a:r>
            <a:r>
              <a:rPr lang="zh-CN" altLang="en-US" dirty="0"/>
              <a:t>实现了视觉特征与文本语义的对齐。这类模型具备出色的零样本泛化能力，可直接迁移到图像分类、语义分割等多种下游任务，而无需下游数据标注。</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然而，与传统深度神经网络类似，</a:t>
            </a:r>
            <a:r>
              <a:rPr lang="en-US" altLang="zh-CN" dirty="0"/>
              <a:t>VLM</a:t>
            </a:r>
            <a:r>
              <a:rPr lang="zh-CN" altLang="en-US" dirty="0"/>
              <a:t>易受对抗样本攻击。微小且人眼不可感知的扰动即可导致模型预测完全错误，下面这张图展示了干净图像和对抗性的图像分别作为输入时</a:t>
            </a:r>
            <a:r>
              <a:rPr lang="en-US" altLang="zh-CN" dirty="0"/>
              <a:t>CLIP</a:t>
            </a:r>
            <a:r>
              <a:rPr lang="zh-CN" altLang="en-US" dirty="0"/>
              <a:t>在图像识别任务中的表现，可以看到，对抗攻击下</a:t>
            </a:r>
            <a:r>
              <a:rPr lang="en-US" altLang="zh-CN" dirty="0"/>
              <a:t>CLIP</a:t>
            </a:r>
            <a:r>
              <a:rPr lang="zh-CN" altLang="en-US" dirty="0"/>
              <a:t>准确率急剧下降。这在实际应用中引发了严重的可靠性危机，因此，提升</a:t>
            </a:r>
            <a:r>
              <a:rPr lang="en-US" altLang="zh-CN" dirty="0"/>
              <a:t>VLM</a:t>
            </a:r>
            <a:r>
              <a:rPr lang="zh-CN" altLang="en-US" dirty="0"/>
              <a:t>的对抗鲁棒性是必要的。</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而零样本场景下的对抗鲁棒性，简称</a:t>
            </a:r>
            <a:r>
              <a:rPr lang="en-US" altLang="zh-CN" dirty="0"/>
              <a:t>ZSAR</a:t>
            </a:r>
            <a:r>
              <a:rPr lang="zh-CN" altLang="en-US" dirty="0"/>
              <a:t>则更加具有挑战性：模型不仅要抵抗对抗扰动，还要保留预训练阶段学到的跨模态对齐能力，从而支撑超越监督类别的泛化。</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但这里有一个关键问题是，刚刚提到的</a:t>
            </a:r>
            <a:r>
              <a:rPr lang="en-US" altLang="zh-CN" dirty="0">
                <a:sym typeface="+mn-ea"/>
              </a:rPr>
              <a:t>VLM</a:t>
            </a:r>
            <a:r>
              <a:rPr lang="zh-CN" altLang="en-US" dirty="0">
                <a:sym typeface="+mn-ea"/>
              </a:rPr>
              <a:t>的零样本泛化是依赖于跨模态对齐的，而对抗鲁棒性的提升往往以破坏这种对齐为代价。那么，现有方法究要怎么处理这一矛盾呢？</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（预训练视觉语言模型（如</a:t>
            </a:r>
            <a:r>
              <a:rPr lang="en-US" altLang="zh-CN" dirty="0"/>
              <a:t>CLIP）</a:t>
            </a:r>
            <a:r>
              <a:rPr lang="zh-CN" altLang="en-US" dirty="0"/>
              <a:t>具备强大的零样本泛化能力，已成为多模态理解的基础模型，但与传统深度神经网络类似，其极易受到对抗扰动的影响，存在严重的安全隐患。而视觉语言模型的零样本对抗鲁棒性（</a:t>
            </a:r>
            <a:r>
              <a:rPr lang="en-US" altLang="zh-CN" dirty="0"/>
              <a:t>ZSAR） </a:t>
            </a:r>
            <a:r>
              <a:rPr lang="zh-CN" altLang="en-US" dirty="0"/>
              <a:t>是更具挑战性的核心问题：鲁棒的零样本</a:t>
            </a:r>
            <a:r>
              <a:rPr lang="en-US" altLang="zh-CN" dirty="0"/>
              <a:t>VLM</a:t>
            </a:r>
            <a:r>
              <a:rPr lang="zh-CN" altLang="en-US" dirty="0"/>
              <a:t>需要在抵抗对抗扰动的同时，保留预训练阶段学习到的跨模态对齐关系，从而支撑</a:t>
            </a:r>
            <a:r>
              <a:rPr lang="zh-CN" altLang="en-US" dirty="0">
                <a:latin typeface="微软雅黑" panose="020B0503020204020204" pitchFamily="34" charset="-122"/>
                <a:ea typeface="微软雅黑" panose="020B0503020204020204" pitchFamily="34" charset="-122"/>
                <a:sym typeface="+mn-ea"/>
              </a:rPr>
              <a:t>超越监督类别的泛化</a:t>
            </a:r>
            <a:r>
              <a:rPr lang="zh-CN" altLang="en-US" dirty="0"/>
              <a:t>，这对构建可信多模态系统至关重要。）</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t>55</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当前主流方法是采用标签监督的对抗微调范式：将预训练</a:t>
            </a:r>
            <a:r>
              <a:rPr lang="en-US" altLang="zh-CN" dirty="0"/>
              <a:t>VLM</a:t>
            </a:r>
            <a:r>
              <a:rPr lang="zh-CN" altLang="en-US" dirty="0"/>
              <a:t>当作传统分类器，使用硬标签监督微调图像编码器，让特征向目标类别靠拢、抑制其他类别。</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这种做法带来了两大核心痛点。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痛点一：破坏预训练跨模态对齐。 硬标签监督只关注单目标类匹配，忽略了图像与所有文本概念之间的相似性关系，改变了预训练学到的跨模态相似性对应关系，直接导致零样本泛化性能下降。</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痛点二：预测分布不匹配。 对抗微调导致鲁棒模型的预测分布与原始预训练分布不一致，扰乱了固有的跨模态语义关系，加剧零样本泛化能力退化。</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现有主流的分类引导方法就像考试只告诉学生“正确答案是</a:t>
            </a:r>
            <a:r>
              <a:rPr lang="en-US" altLang="zh-CN" dirty="0"/>
              <a:t>A”，</a:t>
            </a:r>
            <a:r>
              <a:rPr lang="zh-CN" altLang="en-US" dirty="0"/>
              <a:t>却不告诉他</a:t>
            </a:r>
            <a:r>
              <a:rPr lang="en-US" altLang="zh-CN" dirty="0"/>
              <a:t>A</a:t>
            </a:r>
            <a:r>
              <a:rPr lang="zh-CN" altLang="en-US" dirty="0"/>
              <a:t>和</a:t>
            </a:r>
            <a:r>
              <a:rPr lang="en-US" altLang="zh-CN" dirty="0"/>
              <a:t>B、C、D</a:t>
            </a:r>
            <a:r>
              <a:rPr lang="zh-CN" altLang="en-US" dirty="0"/>
              <a:t>之间的区别。我们理想的对齐引导方法是用原始模型的概率分布作为软监督，保留了图像与多个文本概念的相对相似性。</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t>56</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ym typeface="+mn-ea"/>
              </a:rPr>
              <a:t>CLIP</a:t>
            </a:r>
            <a:r>
              <a:rPr lang="zh-CN" altLang="en-US" dirty="0">
                <a:sym typeface="+mn-ea"/>
              </a:rPr>
              <a:t>的核心思想是：语义相关的图文在共享嵌入空间中彼此靠近。</a:t>
            </a:r>
            <a:r>
              <a:rPr lang="en-US" altLang="zh-CN" dirty="0">
                <a:sym typeface="+mn-ea"/>
              </a:rPr>
              <a:t>CLIP</a:t>
            </a:r>
            <a:r>
              <a:rPr lang="zh-CN" altLang="en-US" dirty="0">
                <a:sym typeface="+mn-ea"/>
              </a:rPr>
              <a:t>用</a:t>
            </a:r>
            <a:r>
              <a:rPr lang="en-US" altLang="zh-CN" dirty="0">
                <a:sym typeface="+mn-ea"/>
              </a:rPr>
              <a:t>InfoNCE</a:t>
            </a:r>
            <a:r>
              <a:rPr lang="zh-CN" altLang="en-US" dirty="0">
                <a:sym typeface="+mn-ea"/>
              </a:rPr>
              <a:t>损失预训练，拉近匹配图文、推远不匹配图文，这是它零样本泛化能力的来源。</a:t>
            </a:r>
          </a:p>
          <a:p>
            <a:r>
              <a:rPr lang="zh-CN" altLang="en-US" dirty="0">
                <a:sym typeface="+mn-ea"/>
              </a:rPr>
              <a:t>对抗攻击，前面提到了，如下图所示，对熊猫图像施加微小扰动后，模型以99.3%置信度误判为长臂猿，而扰动本身人眼几乎不可察觉。</a:t>
            </a:r>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57</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latin typeface="Cambria" panose="02040503050406030204"/>
                <a:ea typeface="Cambria" panose="02040503050406030204"/>
                <a:sym typeface="+mn-ea"/>
              </a:rPr>
              <a:t>ZSAR</a:t>
            </a:r>
            <a:r>
              <a:rPr lang="zh-CN" altLang="en-US">
                <a:latin typeface="Cambria" panose="02040503050406030204"/>
                <a:ea typeface="Cambria" panose="02040503050406030204"/>
                <a:sym typeface="+mn-ea"/>
              </a:rPr>
              <a:t>的对抗训练通常被建模为</a:t>
            </a:r>
            <a:r>
              <a:rPr lang="en-US" altLang="zh-CN">
                <a:latin typeface="Cambria" panose="02040503050406030204"/>
                <a:ea typeface="Cambria" panose="02040503050406030204"/>
                <a:sym typeface="+mn-ea"/>
              </a:rPr>
              <a:t>min-max</a:t>
            </a:r>
            <a:r>
              <a:rPr lang="zh-CN" altLang="en-US">
                <a:latin typeface="Cambria" panose="02040503050406030204"/>
                <a:ea typeface="Cambria" panose="02040503050406030204"/>
                <a:sym typeface="+mn-ea"/>
              </a:rPr>
              <a:t>优化问题：生成对抗样本最大化训练损失，同时优化模型参数提升鲁棒性。</a:t>
            </a:r>
          </a:p>
          <a:p>
            <a:r>
              <a:rPr lang="zh-CN" altLang="en-US">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至于对抗攻击，</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论文主要考虑白盒威胁模型，例如</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PGD</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投影梯度下降（</a:t>
            </a:r>
            <a:r>
              <a:rPr lang="en-US" altLang="zh-C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PGD）</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是白盒设定下最强大的攻击模型之一。</a:t>
            </a:r>
            <a:endParaRPr lang="en-US" altLang="zh-CN">
              <a:latin typeface="Cambria" panose="02040503050406030204"/>
              <a:ea typeface="Cambria" panose="02040503050406030204"/>
              <a:sym typeface="+mn-ea"/>
            </a:endParaRPr>
          </a:p>
          <a:p>
            <a:r>
              <a:rPr lang="zh-CN" altLang="en-US">
                <a:latin typeface="Cambria" panose="02040503050406030204"/>
                <a:ea typeface="Cambria" panose="02040503050406030204"/>
                <a:sym typeface="+mn-ea"/>
              </a:rPr>
              <a:t>传统对抗微调以</a:t>
            </a:r>
            <a:r>
              <a:rPr lang="en-US" altLang="zh-CN">
                <a:latin typeface="Cambria" panose="02040503050406030204"/>
                <a:ea typeface="Cambria" panose="02040503050406030204"/>
                <a:sym typeface="+mn-ea"/>
              </a:rPr>
              <a:t>TeCoA</a:t>
            </a:r>
            <a:r>
              <a:rPr lang="zh-CN" altLang="en-US">
                <a:latin typeface="Cambria" panose="02040503050406030204"/>
                <a:ea typeface="Cambria" panose="02040503050406030204"/>
                <a:sym typeface="+mn-ea"/>
              </a:rPr>
              <a:t>为例。使用类别标签构造文本提示，微调</a:t>
            </a:r>
            <a:r>
              <a:rPr lang="en-US" altLang="zh-CN">
                <a:latin typeface="Cambria" panose="02040503050406030204"/>
                <a:ea typeface="Cambria" panose="02040503050406030204"/>
                <a:sym typeface="+mn-ea"/>
              </a:rPr>
              <a:t>CLIP</a:t>
            </a:r>
            <a:r>
              <a:rPr lang="zh-CN" altLang="en-US">
                <a:latin typeface="Cambria" panose="02040503050406030204"/>
                <a:ea typeface="Cambria" panose="02040503050406030204"/>
                <a:sym typeface="+mn-ea"/>
              </a:rPr>
              <a:t>图像编码器，训练目标基于交叉熵优化。</a:t>
            </a:r>
            <a:endParaRPr lang="en-US" altLang="zh-CN">
              <a:latin typeface="Cambria" panose="02040503050406030204"/>
              <a:ea typeface="Cambria" panose="02040503050406030204"/>
              <a:sym typeface="+mn-ea"/>
            </a:endParaRPr>
          </a:p>
          <a:p>
            <a:r>
              <a:rPr lang="zh-CN" altLang="en-US">
                <a:latin typeface="Cambria" panose="02040503050406030204"/>
                <a:ea typeface="Cambria" panose="02040503050406030204"/>
                <a:sym typeface="+mn-ea"/>
              </a:rPr>
              <a:t>从公式可以看出，传统对抗微调使用的硬标签监督只关注目标类，却忽视了图像与其他文本概念之间的相对相似性关系，导致跨模态对齐被破坏。这正是</a:t>
            </a:r>
            <a:r>
              <a:rPr lang="en-US" altLang="zh-CN">
                <a:latin typeface="Cambria" panose="02040503050406030204"/>
                <a:ea typeface="Cambria" panose="02040503050406030204"/>
                <a:sym typeface="+mn-ea"/>
              </a:rPr>
              <a:t>AGFT</a:t>
            </a:r>
            <a:r>
              <a:rPr lang="zh-CN" altLang="en-US">
                <a:latin typeface="Cambria" panose="02040503050406030204"/>
                <a:ea typeface="Cambria" panose="02040503050406030204"/>
                <a:sym typeface="+mn-ea"/>
              </a:rPr>
              <a:t>要解决的核心问题。</a:t>
            </a:r>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58</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核心目标是：在提升对抗鲁棒性的同时，保留预训练模型的跨模态语义对齐结构，避免传统分类引导方法对零样本泛化能力的破坏。</a:t>
            </a:r>
          </a:p>
          <a:p>
            <a:r>
              <a:rPr lang="zh-CN" altLang="en-US" dirty="0"/>
              <a:t>左边是</a:t>
            </a:r>
            <a:r>
              <a:rPr lang="en-US" altLang="zh-CN" dirty="0"/>
              <a:t>AGFT</a:t>
            </a:r>
            <a:r>
              <a:rPr lang="zh-CN" altLang="en-US" dirty="0"/>
              <a:t>的整体流程图。输入干净图像和文本后，先用冻结的预训练模型计算软预测分布，再经过温度缩放校准得到目标分布，最后用这个校准后的分布作为软监督，进行对抗训练。</a:t>
            </a:r>
            <a:endParaRPr lang="en-US" altLang="zh-CN" dirty="0"/>
          </a:p>
          <a:p>
            <a:r>
              <a:rPr lang="zh-CN" altLang="en-US" dirty="0"/>
              <a:t>右边是简化流程</a:t>
            </a:r>
            <a:endParaRPr lang="en-US" altLang="zh-CN" dirty="0"/>
          </a:p>
          <a:p>
            <a:r>
              <a:rPr lang="zh-CN" altLang="en-US" dirty="0"/>
              <a:t>底部的核心思路可以概括为三步：用预训练模型的软概率分布替代硬标签；通过温度缩放</a:t>
            </a:r>
            <a:r>
              <a:rPr lang="en-US" altLang="zh-CN" dirty="0"/>
              <a:t>γ</a:t>
            </a:r>
            <a:r>
              <a:rPr lang="zh-CN" altLang="en-US" dirty="0"/>
              <a:t>校准得到目标分布；在</a:t>
            </a:r>
            <a:r>
              <a:rPr lang="en-US" altLang="zh-CN" dirty="0"/>
              <a:t>min-max</a:t>
            </a:r>
            <a:r>
              <a:rPr lang="zh-CN" altLang="en-US" dirty="0"/>
              <a:t>框架下进行对抗训练。</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t>59</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下面具体看两个核心组件。</a:t>
            </a:r>
            <a:endParaRPr lang="en-US" altLang="zh-CN" dirty="0"/>
          </a:p>
          <a:p>
            <a:r>
              <a:rPr lang="zh-CN" altLang="en-US" dirty="0"/>
              <a:t>组件一：文本引导的对抗训练。 用预训练</a:t>
            </a:r>
            <a:r>
              <a:rPr lang="en-US" altLang="zh-CN" dirty="0"/>
              <a:t>CLIP</a:t>
            </a:r>
            <a:r>
              <a:rPr lang="zh-CN" altLang="en-US" dirty="0"/>
              <a:t>的概率预测作为软监督，替代硬标签，保留跨模态相似性。</a:t>
            </a:r>
          </a:p>
          <a:p>
            <a:r>
              <a:rPr lang="zh-CN" altLang="en-US" dirty="0"/>
              <a:t>但是，虽然文本引导的对抗训练已优于硬标签监督，但直接匹配</a:t>
            </a:r>
            <a:r>
              <a:rPr lang="en-US" altLang="zh-CN" dirty="0"/>
              <a:t>p_orig</a:t>
            </a:r>
            <a:r>
              <a:rPr lang="zh-CN" altLang="en-US" dirty="0"/>
              <a:t>仍非最优。因为</a:t>
            </a:r>
            <a:r>
              <a:rPr lang="en-US" altLang="zh-CN" dirty="0"/>
              <a:t>p_orig</a:t>
            </a:r>
            <a:r>
              <a:rPr lang="zh-CN" altLang="en-US" dirty="0"/>
              <a:t>同时包含两个因素：相似性结构和置信度尺度。前者期望保留，后者可能不匹配鲁棒特征空间。</a:t>
            </a:r>
            <a:endParaRPr lang="en-US" altLang="zh-CN" dirty="0"/>
          </a:p>
          <a:p>
            <a:r>
              <a:rPr lang="zh-CN" altLang="en-US" dirty="0"/>
              <a:t>组件二：分布一致性校准。 校准的目标是：保持图像与多个文本之间的相对语义关系一致，但允许置信度尺度灵活调整。具体做法是引入缩放温度</a:t>
            </a:r>
            <a:r>
              <a:rPr lang="en-US" altLang="zh-CN" dirty="0"/>
              <a:t>τ/γ，</a:t>
            </a:r>
            <a:r>
              <a:rPr lang="zh-CN" altLang="en-US" dirty="0"/>
              <a:t>降低过度自信的预测，</a:t>
            </a:r>
            <a:r>
              <a:rPr lang="zh-CN" altLang="en-US" dirty="0">
                <a:sym typeface="+mn-ea"/>
              </a:rPr>
              <a:t>使模型关注稳定的语义特征而非对抗扰动。校准后的目标分布更好地匹配鲁棒特征空间，保留全局跨模态语义结构。</a:t>
            </a:r>
          </a:p>
          <a:p>
            <a:r>
              <a:rPr lang="zh-CN" altLang="en-US" dirty="0"/>
              <a:t>最终目标函数是一个</a:t>
            </a:r>
            <a:r>
              <a:rPr lang="en-US" altLang="zh-CN" dirty="0"/>
              <a:t>min-max</a:t>
            </a:r>
            <a:r>
              <a:rPr lang="zh-CN" altLang="en-US" dirty="0"/>
              <a:t>问题：在内层生成对抗样本，在外层用校准分布</a:t>
            </a:r>
            <a:r>
              <a:rPr lang="en-US" altLang="zh-CN" dirty="0"/>
              <a:t>p_rob</a:t>
            </a:r>
            <a:r>
              <a:rPr lang="zh-CN" altLang="en-US" dirty="0"/>
              <a:t>做监督，优化模型参数。</a:t>
            </a:r>
          </a:p>
          <a:p>
            <a:endParaRPr lang="zh-CN" altLang="en-US" dirty="0"/>
          </a:p>
        </p:txBody>
      </p:sp>
      <p:sp>
        <p:nvSpPr>
          <p:cNvPr id="4" name="灯片编号占位符 3"/>
          <p:cNvSpPr>
            <a:spLocks noGrp="1"/>
          </p:cNvSpPr>
          <p:nvPr>
            <p:ph type="sldNum" sz="quarter" idx="5"/>
          </p:nvPr>
        </p:nvSpPr>
        <p:spPr/>
        <p:txBody>
          <a:bodyPr/>
          <a:lstStyle/>
          <a:p>
            <a:fld id="{AD80470A-4597-4319-87FD-3AB9665446AB}" type="slidenum">
              <a:rPr lang="zh-CN" altLang="en-US" smtClean="0"/>
              <a:t>60</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AGFT</a:t>
            </a:r>
            <a:r>
              <a:rPr lang="zh-CN" altLang="en-US" dirty="0"/>
              <a:t>从对齐引导而非分类引导的视角重新审视</a:t>
            </a:r>
            <a:r>
              <a:rPr lang="en-US" altLang="zh-CN" dirty="0"/>
              <a:t>ZSAR</a:t>
            </a:r>
            <a:r>
              <a:rPr lang="zh-CN" altLang="en-US" dirty="0"/>
              <a:t>问题，指出跨模态对齐的保留是零样本泛化的关键。</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它的核心创新是在方法上用校准后的软分布替代硬标签作为对抗微调的监督信号。具体分两步：第一步，软分布替代硬标签，用预训练模型的概率预测作为监督信号，保留图像与所有文本概念的细粒度相似性关系；第二步，温度缩放校准，引入温度缩放比例</a:t>
            </a:r>
            <a:r>
              <a:rPr lang="en-US" altLang="zh-CN" dirty="0"/>
              <a:t>γ，</a:t>
            </a:r>
            <a:r>
              <a:rPr lang="zh-CN" altLang="en-US" dirty="0"/>
              <a:t>解耦相似性结构与置信度尺度，使目标分布匹配鲁棒特征空间。</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相比已有方法，</a:t>
            </a:r>
            <a:r>
              <a:rPr lang="en-US" altLang="zh-CN" dirty="0"/>
              <a:t>AGFT</a:t>
            </a:r>
            <a:r>
              <a:rPr lang="zh-CN" altLang="en-US" dirty="0"/>
              <a:t>用校准软分布，保留跨模态对齐，零样本泛化保持甚至提升。</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t>61</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实验部分分为四层：主实验、强化实验、机制验证、效率验证。</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主实验回答“整体效果如何”。在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ImageNet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上对抗微调，与四个代表性基线方法在15个零样本数据集上对比干净准确率和鲁棒准确率。结果是：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AGFT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鲁棒准确率超越最强基线3.1%，干净准确率超越1.0%，相比</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TeCoA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分别提升8.1%和4.4%。这证明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AGFT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能够兼顾鲁棒性与泛化性。</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强化实验回答“在不同条件下是否依然有效”。在不同扰动预算、更强白盒攻击、多样未见攻击（15种攻击设置）、跨架构、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OOD</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场景下，与四个基线对比干净准确率和鲁棒准确率。结论是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AGFT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的鲁棒性泛化能力在多种条件下均成立。</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机制验证回答“为什么有效”。通过三组实验：超参数消融，验证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γ</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和1/</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τ</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共同控制鲁棒性与泛化性的权衡，发现存在最优平衡点；分布校准实证，对比各方法的置信度和相似度，验证温度缩放是否真的改善分布匹配；语义结构保留，用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Top-5 IoU</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定量对比、</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t-SNE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定性可视化，验证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AGFT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真的保留了跨模态语义结构。</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效率验证回答“代价是否可接受”。与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TeCoA、PMG-AFT、TGA-ZSR</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对比前向/反向传播次数和训练时间。</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AGFT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仅需1次额外前向传播，训练时间远低于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PMG-AFT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TGA-ZSR，</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以较低的计算代价取得显著性能提升，具备实际部署的可行性。</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t>62</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一句话总结就是</a:t>
            </a:r>
            <a:r>
              <a:rPr lang="en-US" altLang="zh-CN" dirty="0"/>
              <a:t>AGFT</a:t>
            </a:r>
            <a:r>
              <a:rPr lang="zh-CN" altLang="en-US" dirty="0"/>
              <a:t>用预训练模型的概率预测替代基于标签的监督，在提升</a:t>
            </a:r>
            <a:r>
              <a:rPr lang="en-US" altLang="zh-CN" dirty="0"/>
              <a:t>ZSAR</a:t>
            </a:r>
            <a:r>
              <a:rPr lang="zh-CN" altLang="en-US" dirty="0"/>
              <a:t>性能的同时保留跨模态对齐信息，解决了传统对抗微调破坏图文对齐、导致零样本泛化能力下降的问题。</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论文对视觉语言模型的贡献有三点：</a:t>
            </a:r>
            <a:r>
              <a:rPr lang="en-US" altLang="zh-CN" dirty="0"/>
              <a:t>AGFT</a:t>
            </a:r>
            <a:r>
              <a:rPr lang="zh-CN" altLang="en-US" dirty="0"/>
              <a:t>框架为</a:t>
            </a:r>
            <a:r>
              <a:rPr lang="en-US" altLang="zh-CN" dirty="0"/>
              <a:t>VLM</a:t>
            </a:r>
            <a:r>
              <a:rPr lang="zh-CN" altLang="en-US" dirty="0"/>
              <a:t>微调提供了一种新的有效方法；分析了对抗微调破坏跨模态对齐的原因，为方法设计提供了理论依据；泛化性强、计算效率高，具备实际应用价值，可扩展至更广泛的</a:t>
            </a:r>
            <a:r>
              <a:rPr lang="en-US" altLang="zh-CN" dirty="0"/>
              <a:t>VLM</a:t>
            </a:r>
            <a:r>
              <a:rPr lang="zh-CN" altLang="en-US" dirty="0"/>
              <a:t>下游任务。</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方法设计的启示：软分布替代硬标签的策略为多模态监督信号设计提供了新思路，可推广到其他需要保留结构信息的任务。</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未来工作方向：扩展威胁模型，从</a:t>
            </a:r>
            <a:r>
              <a:rPr lang="en-US" altLang="en-US" dirty="0"/>
              <a:t>ℓ∞</a:t>
            </a:r>
            <a:r>
              <a:rPr lang="zh-CN" altLang="en-US" dirty="0"/>
              <a:t>扩展到</a:t>
            </a:r>
            <a:r>
              <a:rPr lang="en-US" altLang="en-US" dirty="0"/>
              <a:t>ℓ₂、</a:t>
            </a:r>
            <a:r>
              <a:rPr lang="zh-CN" altLang="en-US" dirty="0"/>
              <a:t>文本级攻击、联合文本-图像攻击；扩展模型架构，从</a:t>
            </a:r>
            <a:r>
              <a:rPr lang="en-US" altLang="zh-CN" dirty="0"/>
              <a:t>CLIP</a:t>
            </a:r>
            <a:r>
              <a:rPr lang="zh-CN" altLang="en-US" dirty="0"/>
              <a:t>扩展到其他跨模态模型和</a:t>
            </a:r>
            <a:r>
              <a:rPr lang="en-US" altLang="zh-CN" dirty="0"/>
              <a:t>Transformer</a:t>
            </a:r>
            <a:r>
              <a:rPr lang="zh-CN" altLang="en-US" dirty="0"/>
              <a:t>架构；扩展下游任务，从零样本分类扩展到视觉问答、图像描述等。</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由于该论文是</a:t>
            </a:r>
            <a:r>
              <a:rPr lang="en-US" altLang="zh-CN" dirty="0"/>
              <a:t>26</a:t>
            </a:r>
            <a:r>
              <a:rPr lang="zh-CN" altLang="en-US" dirty="0"/>
              <a:t>年的，比较新，上述这些扩展方向尚未被充分探索，可作为未来研究的重要方向。</a:t>
            </a:r>
          </a:p>
        </p:txBody>
      </p:sp>
      <p:sp>
        <p:nvSpPr>
          <p:cNvPr id="4" name="灯片编号占位符 3"/>
          <p:cNvSpPr>
            <a:spLocks noGrp="1"/>
          </p:cNvSpPr>
          <p:nvPr>
            <p:ph type="sldNum" sz="quarter" idx="5"/>
          </p:nvPr>
        </p:nvSpPr>
        <p:spPr/>
        <p:txBody>
          <a:bodyPr/>
          <a:lstStyle/>
          <a:p>
            <a:fld id="{AD80470A-4597-4319-87FD-3AB9665446AB}" type="slidenum">
              <a:rPr lang="zh-CN" altLang="en-US" smtClean="0"/>
              <a:t>63</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64</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各位老师、同学们，大家上午好！我是计算机科学与技术专业的桂欣远。</a:t>
            </a:r>
          </a:p>
          <a:p>
            <a:r>
              <a:rPr lang="zh-CN" dirty="0"/>
              <a:t>今天我为大家带来的文献汇报是自监督对比学习领域的奠基之作——ICML 2020 的经典论文《SimCLR》。</a:t>
            </a:r>
          </a:p>
          <a:p>
            <a:r>
              <a:rPr lang="zh-CN" dirty="0"/>
              <a:t>本次汇报我将聚焦于“视觉表征学习与几何空间结构”这一核心主线，深入剖析其设计机理与数学本质。</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整场分成三部分。第一部分只解决动机，第二部分是重点，第三部分用实验验证方法的必要性和有效性。</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把配对样本拉近、未配对样本推远。网页数据越大，错误监督越难避免，于是错误关系也会被写入模型。</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把配对样本拉近、未配对样本推远。网页数据越大，错误监督越难避免，于是错误关系也会被写入模型。</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把配对样本拉近、未配对样本推远。网页数据越大，错误监督越难避免，于是错误关系也会被写入模型。</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PPT实际第1页｜封面</a:t>
            </a:r>
          </a:p>
          <a:p>
            <a:r>
              <a:t>页脚：封面｜0:00—0:15（目标15秒）</a:t>
            </a:r>
          </a:p>
          <a:p>
            <a:endParaRPr/>
          </a:p>
          <a:p>
            <a:r>
              <a:t>指图提示（不读）：说出论文简称和研究问题，不逐字念英文长标题。</a:t>
            </a:r>
          </a:p>
          <a:p>
            <a:endParaRPr/>
          </a:p>
          <a:p>
            <a:r>
              <a:t>主讲正文</a:t>
            </a:r>
          </a:p>
          <a:p>
            <a:r>
              <a:t>大家好，我是黄鸾曦。今天汇报的是 ICLR 2024 的 C³。它研究一个问题：能不能主要用文字训练一个描述模型，测试时却让它看图说话？</a:t>
            </a:r>
          </a:p>
          <a:p>
            <a:endParaRPr/>
          </a:p>
          <a:p>
            <a:r>
              <a:t>备忘（不读）：作者：Yuhui Zhang、Elaine Sui、Serena Yeung-Levy。单模态的限定范围在第3页解释；此处不声称整个系统从未接触图像。</a:t>
            </a:r>
          </a:p>
          <a:p>
            <a:r>
              <a:t>依据：原文首页、§1–2。</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PPT实际第2页｜论文问题：能匹配，为什么还不能直接互换？</a:t>
            </a:r>
          </a:p>
          <a:p>
            <a:r>
              <a:t>页脚：01 / 14｜0:15—0:40（目标25秒）</a:t>
            </a:r>
          </a:p>
          <a:p>
            <a:endParaRPr/>
          </a:p>
          <a:p>
            <a:r>
              <a:t>指图提示（不读）：指向“同一个解码器”；右侧公式暂不展开。</a:t>
            </a:r>
          </a:p>
          <a:p>
            <a:endParaRPr/>
          </a:p>
          <a:p>
            <a:r>
              <a:t>主讲正文</a:t>
            </a:r>
          </a:p>
          <a:p>
            <a:r>
              <a:t>先解释表征：编码器把图片或文字变成一串数字，解码器再根据这些数字生成句子。CLIP 已经能让狗的图片和狗的描述相互匹配，但只用文字向量训练的解码器，换成图片向量后，仍可能说错。本文关心的就是：能匹配的表征，为什么还不能直接替换使用？</a:t>
            </a:r>
          </a:p>
          <a:p>
            <a:endParaRPr/>
          </a:p>
          <a:p>
            <a:r>
              <a:t>备忘（不读）：共享空间表示维度与语义联系可比较，不等于对应图文的每个坐标都相同。</a:t>
            </a:r>
          </a:p>
          <a:p>
            <a:r>
              <a:t>依据：§1–2；Figure 1–2。</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PPT实际第3页｜研究动机：利用单模态数据，完成跨模态生成</a:t>
            </a:r>
          </a:p>
          <a:p>
            <a:r>
              <a:t>页脚：02 / 14｜0:40—1:45（目标65秒）</a:t>
            </a:r>
          </a:p>
          <a:p>
            <a:endParaRPr/>
          </a:p>
          <a:p>
            <a:r>
              <a:t>指图提示（不读）：先讲左侧“需求—机会—设想”，再指右侧两条流程。</a:t>
            </a:r>
          </a:p>
          <a:p>
            <a:endParaRPr/>
          </a:p>
          <a:p>
            <a:r>
              <a:t>主讲正文</a:t>
            </a:r>
          </a:p>
          <a:p>
            <a:r>
              <a:t>先看为什么要研究这个问题。常规看图说话，需要很多图片和对应描述，尤其在专业领域，配对标注不容易获得。相比之下，单独的文字往往更容易收集。作者希望借助已有模型，减少下游任务对配对数据的依赖。</a:t>
            </a:r>
          </a:p>
          <a:p>
            <a:endParaRPr/>
          </a:p>
          <a:p>
            <a:r>
              <a:t>机会来自预训练的 CLIP：它已经学过图文之间的语义联系。于是可以先输入“一只狗在草地上跑”，把句子编码成向量，让解码器从向量重建原句。如果狗的图片向量能有效替代这句话的向量，测试时就有希望看图生成描述。</a:t>
            </a:r>
          </a:p>
          <a:p>
            <a:endParaRPr/>
          </a:p>
          <a:p>
            <a:r>
              <a:t>这里的单模态主要限定解码器的训练：用文字重建来优化它。CLIP 的预训练使用过图文数据，后面估计均值也需要两种模态各自的样本。因此，具体省掉的是下游配对训练需求。</a:t>
            </a:r>
          </a:p>
          <a:p>
            <a:endParaRPr/>
          </a:p>
          <a:p>
            <a:r>
              <a:t>备忘（不读）：这不是从零、全流程、完全不接触图像。Algorithm 1 明确要求两个未配对的模态集合。集合来源及验证集选模是独立的协议问题，不能凭“单模态”三个字略去。</a:t>
            </a:r>
          </a:p>
          <a:p>
            <a:r>
              <a:t>依据：§2；Appendix D，Algorithm 1，PDF第19页。</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PPT实际第4页｜现有研究痛点：相似度排名正确，仍不保证输入可互换</a:t>
            </a:r>
          </a:p>
          <a:p>
            <a:r>
              <a:t>页脚：03 / 14｜1:45—2:50（目标65秒）</a:t>
            </a:r>
          </a:p>
          <a:p>
            <a:endParaRPr/>
          </a:p>
          <a:p>
            <a:r>
              <a:t>指图提示（不读）：用狗与汽车的例子解释排名；不朗读对比损失公式。</a:t>
            </a:r>
          </a:p>
          <a:p>
            <a:endParaRPr/>
          </a:p>
          <a:p>
            <a:r>
              <a:t>主讲正文</a:t>
            </a:r>
          </a:p>
          <a:p>
            <a:r>
              <a:t>这个设想卡在哪里？对 CLIP 来说，狗的图片比汽车的文字更接近狗的描述，就能完成正确匹配。它不要求图片向量与正确文字向量的每个坐标都相同。</a:t>
            </a:r>
          </a:p>
          <a:p>
            <a:endParaRPr/>
          </a:p>
          <a:p>
            <a:r>
              <a:t>检索主要关心谁排在前面，生成器却要把一个具体向量解释成句子。如果图片向量落在训练时不熟悉的位置，即使语义匹配正确，也可能生成错误内容。这就是作者抓住的关键假设：共享空间里的向量，究竟能在多大程度上互换？</a:t>
            </a:r>
          </a:p>
          <a:p>
            <a:endParaRPr/>
          </a:p>
          <a:p>
            <a:r>
              <a:t>已有工作已经尝试用单模态数据完成跨模态任务，也有加噪等办法。C³ 进一步追问：两种模态的差异有没有可分析的结构？这些操作为什么有效，又还缺少哪一步？因此，下一步先分析空间中的差异，再设计处理方法。</a:t>
            </a:r>
          </a:p>
          <a:p>
            <a:endParaRPr/>
          </a:p>
          <a:p>
            <a:r>
              <a:t>备忘（不读）：主讲用 CapDec 对应的图像描述方向作为例子即可。若追问 LAFITE：其 language-free 设置用图像训练，测试时由文字条件生成图像。不能把所有前作概括为“硬用”或完全缺少解释。</a:t>
            </a:r>
          </a:p>
          <a:p>
            <a:r>
              <a:t>依据：原文§1、§6、Appendix A；LAFITE 原文（CVPR 2022）。</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PPT实际第5页｜本文发现：整体模态间隙与样本级对齐噪声</a:t>
            </a:r>
          </a:p>
          <a:p>
            <a:r>
              <a:t>页脚：04 / 14｜2:50—3:25（目标35秒）</a:t>
            </a:r>
          </a:p>
          <a:p>
            <a:endParaRPr/>
          </a:p>
          <a:p>
            <a:r>
              <a:t>指图提示（不读）：指两片点云，再指一对对应点；不逐一朗读统计量。</a:t>
            </a:r>
          </a:p>
          <a:p>
            <a:endParaRPr/>
          </a:p>
          <a:p>
            <a:r>
              <a:t>主讲正文</a:t>
            </a:r>
          </a:p>
          <a:p>
            <a:r>
              <a:t>作者把差异分成两层。第一层是两群点整体错开，叫模态间隙；第二层是把中心移到一起后，对应图文之间仍有偏差，叫对齐噪声。</a:t>
            </a:r>
          </a:p>
          <a:p>
            <a:endParaRPr/>
          </a:p>
          <a:p>
            <a:r>
              <a:t>所以公式可以读成：对应图文的差，约等于共同偏移，加上随样本变化的残差。论文用统计量检查偏移是否稳定、方向是否一致，为这个几何解释提供支持；其中的分布近似仍有适用条件。</a:t>
            </a:r>
          </a:p>
          <a:p>
            <a:endParaRPr/>
          </a:p>
          <a:p>
            <a:r>
              <a:t>备忘（不读）：正交针对模态内部样本差向量张成的方向，不是说每一对图像与文字互相垂直。Table 1 是统计支持，不足以单独证明完整高斯分布。</a:t>
            </a:r>
          </a:p>
          <a:p>
            <a:r>
              <a:t>依据：§3，Proposition 1、Table 1；PDF第3–6页。</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PPT实际第6页｜理论解释：对比优化为什么没有自动消除差异？</a:t>
            </a:r>
          </a:p>
          <a:p>
            <a:r>
              <a:t>页脚：05 / 14｜3:25—4:10（目标45秒）</a:t>
            </a:r>
          </a:p>
          <a:p>
            <a:endParaRPr/>
          </a:p>
          <a:p>
            <a:r>
              <a:t>指图提示（不读）：左右各讲一个原因；梯度公式和温度细节留给提问。</a:t>
            </a:r>
          </a:p>
          <a:p>
            <a:endParaRPr/>
          </a:p>
          <a:p>
            <a:r>
              <a:t>主讲正文</a:t>
            </a:r>
          </a:p>
          <a:p>
            <a:r>
              <a:t>为什么这两种差异能留下来？先看整体偏移。作者分析随机初始化的 CLIP，发现表征虽有很多维，主要变化却集中在部分方向。在论文的条件下，表征梯度由另一模态的样本差向量组合而成，共同偏移方向可能缺少直接消除它的梯度。</a:t>
            </a:r>
          </a:p>
          <a:p>
            <a:endParaRPr/>
          </a:p>
          <a:p>
            <a:r>
              <a:t>再看残差。当正确描述已经明显领先错误描述时，损失就可以很小，不必继续把对应向量推到同一个点。因此，低损失允许一片区域，给逐样本误差留下了空间。这是本文的条件解释，不能直接当作所有网络训练的普遍定理。</a:t>
            </a:r>
          </a:p>
          <a:p>
            <a:endParaRPr/>
          </a:p>
          <a:p>
            <a:r>
              <a:t>备忘（不读）：Fig.3 分析随机初始化的 CLIP；Fig.4 使用合成表征优化。梯度结论针对表征层：图像表征梯度与文本差向量相关，反之亦然；不能直接改写为所有网络参数更新都受同一子空间限制。</a:t>
            </a:r>
          </a:p>
          <a:p>
            <a:r>
              <a:t>依据：§3.1–3.2；Figures 3–5；Appendix B。</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PPT实际第7页｜解决方案总览：三步如何改善表征的可互换性？</a:t>
            </a:r>
          </a:p>
          <a:p>
            <a:r>
              <a:t>页脚：06 / 14｜4:10—4:40（目标30秒）</a:t>
            </a:r>
          </a:p>
          <a:p>
            <a:endParaRPr/>
          </a:p>
          <a:p>
            <a:r>
              <a:t>指图提示（不读）：依次指三个模块；明确输入侧操作与参数更新范围。</a:t>
            </a:r>
          </a:p>
          <a:p>
            <a:endParaRPr/>
          </a:p>
          <a:p>
            <a:r>
              <a:t>主讲正文</a:t>
            </a:r>
          </a:p>
          <a:p>
            <a:r>
              <a:t>方法由三步组成。Connect 复用预训练编码器，获得已有的语义联系。Collapse 减去各自模态的均值，校准整体位置。Corrupt 扰动训练输入，让解码器学会容忍邻近偏差。</a:t>
            </a:r>
          </a:p>
          <a:p>
            <a:endParaRPr/>
          </a:p>
          <a:p>
            <a:r>
              <a:t>以图像描述为例，CLIP 保持冻结，训练的是后面的映射网络和语言解码器。下面重点解释去均值和加噪为什么有用。</a:t>
            </a:r>
          </a:p>
          <a:p>
            <a:endParaRPr/>
          </a:p>
          <a:p>
            <a:r>
              <a:t>备忘（不读）：Corrupt 的作用不限于样本残差：未做 Collapse 时，噪声中的 gap 方向分量也可能降低对整体偏移的敏感性。三步不是互不重叠的功能分区。</a:t>
            </a:r>
          </a:p>
          <a:p>
            <a:r>
              <a:t>依据：§4；Algorithm 1；Appendix E.1。</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PPT实际第8页｜Collapse：分别去均值，为什么能处理整体偏移？</a:t>
            </a:r>
          </a:p>
          <a:p>
            <a:r>
              <a:t>页脚：07 / 14｜4:40—6:00（目标80秒）</a:t>
            </a:r>
          </a:p>
          <a:p>
            <a:endParaRPr/>
          </a:p>
          <a:p>
            <a:r>
              <a:t>指图提示（不读）：先解释平均向量，再指示例的第三维；不逐个读完所有坐标。</a:t>
            </a:r>
          </a:p>
          <a:p>
            <a:endParaRPr/>
          </a:p>
          <a:p>
            <a:r>
              <a:t>主讲正文</a:t>
            </a:r>
          </a:p>
          <a:p>
            <a:r>
              <a:t>均值怎么求？把很多图片的向量排成一张表，每行是一个样本，每列是一个特征维度，逐列求平均，得到的仍然是一个向量。文字也一样。随后，每个图片向量减图像均值，每个文字向量减文字均值。</a:t>
            </a:r>
          </a:p>
          <a:p>
            <a:endParaRPr/>
          </a:p>
          <a:p>
            <a:r>
              <a:t>为什么有效？假如两种模态主要差一个共同偏移，那么各自的中心也会包含这个偏移。把两群点的中心移到同一原点，就能减掉这部分差异。看右侧例子，图片在第三维比文字多了三；减去各自均值后，第三维的差消失了，但前两维的小误差还在。</a:t>
            </a:r>
          </a:p>
          <a:p>
            <a:endParaRPr/>
          </a:p>
          <a:p>
            <a:r>
              <a:t>这也解释了为什么不会把所有样本压成一个点：同一模态的每个点减去同一个向量，两个样本之间的差不变。它保留了内部相对位置，却不保证对应图文逐点重合。</a:t>
            </a:r>
          </a:p>
          <a:p>
            <a:endParaRPr/>
          </a:p>
          <a:p>
            <a:r>
              <a:t>这里有一个条件：两批校准数据的内容组成需要相容。如果图片主要是猫，文字主要是汽车，均值差还包含内容差异，不能都当成模态偏移。</a:t>
            </a:r>
          </a:p>
          <a:p>
            <a:endParaRPr/>
          </a:p>
          <a:p>
            <a:r>
              <a:t>备忘（不读）：三维数值是教学示例，不是论文实测点。单纯平移保留差向量与欧氏距离，不保证与原点有关的余弦相似度不变；若随后再做长度归一化，需重新分析距离。中心对齐不等于完整分布对齐。</a:t>
            </a:r>
          </a:p>
          <a:p>
            <a:r>
              <a:t>依据：§4 Collapse；Algorithm 1；类别组成的影响属于统计解释与适用条件分析。</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PPT实际第9页｜Corrupt：为什么输入加噪声，反而有利于正确生成？</a:t>
            </a:r>
          </a:p>
          <a:p>
            <a:r>
              <a:t>页脚：08 / 14｜6:00—7:20（目标80秒）</a:t>
            </a:r>
          </a:p>
          <a:p>
            <a:endParaRPr/>
          </a:p>
          <a:p>
            <a:r>
              <a:t>指图提示（不读）：先指蓝色文字点及邻近扰动点，再指橙色图像点；明确示意图不是实测。</a:t>
            </a:r>
          </a:p>
          <a:p>
            <a:endParaRPr/>
          </a:p>
          <a:p>
            <a:r>
              <a:t>主讲正文</a:t>
            </a:r>
          </a:p>
          <a:p>
            <a:r>
              <a:t>去掉共同偏移后，图片和对应文字仍有小差别，但没有配对数据，就无法逐一计算这些误差。作者换了一个处理角度：让解码器对输入偏差不那么敏感。</a:t>
            </a:r>
          </a:p>
          <a:p>
            <a:endParaRPr/>
          </a:p>
          <a:p>
            <a:r>
              <a:t>例如，“一只狗在跑”的文字向量，训练时每次加一点不同的高斯扰动，但输出目标始终是原句。图里蓝色中心点是文字表征，周围浅色点是扰动后的输入。模型需要学会把这些邻近输入都解释成相同内容。</a:t>
            </a:r>
          </a:p>
          <a:p>
            <a:endParaRPr/>
          </a:p>
          <a:p>
            <a:r>
              <a:t>测试时，橙色的图像表征虽然不与文字点完全重合，只要偏差处在模型学会容忍的范围内，就更有机会正确生成。这是在训练解码器的局部鲁棒性，并没有测出真实误差再把它抵消。</a:t>
            </a:r>
          </a:p>
          <a:p>
            <a:endParaRPr/>
          </a:p>
          <a:p>
            <a:r>
              <a:t>扰动不能越大越好：太小，覆盖不了偏差；太大，可能破坏语义。测试时只去均值，不再主动加训练噪声。另外，噪声也能降低对整体偏移的敏感性，所以两步作用存在重叠。</a:t>
            </a:r>
          </a:p>
          <a:p>
            <a:endParaRPr/>
          </a:p>
          <a:p>
            <a:r>
              <a:t>备忘（不读）：本页二维点图仅解释训练逻辑，不表示实测分布、严格决策边界或高斯噪声有界。人工噪声记为 η，真实图文残差记为 ε；二者不是同一次采样。噪声方向消融的数值移至备讲第21页。</a:t>
            </a:r>
          </a:p>
          <a:p>
            <a:r>
              <a:t>依据：§4 Corrupt；Algorithm 1（PDF第19页）；Appendix H、Table 7（第24页）。二维图为教学示意。</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PPT实际第10页｜完整流程：训练更新哪些参数，测试替换哪一环？</a:t>
            </a:r>
          </a:p>
          <a:p>
            <a:r>
              <a:t>页脚：09 / 14｜7:20—8:30（目标70秒）</a:t>
            </a:r>
          </a:p>
          <a:p>
            <a:endParaRPr/>
          </a:p>
          <a:p>
            <a:r>
              <a:t>指图提示（不读）：先走上方训练流程，再走下方测试流程，最后指右上损失。</a:t>
            </a:r>
          </a:p>
          <a:p>
            <a:endParaRPr/>
          </a:p>
          <a:p>
            <a:r>
              <a:t>主讲正文</a:t>
            </a:r>
          </a:p>
          <a:p>
            <a:r>
              <a:t>把流程连起来。训练时，句子经过冻结的 CLIP 文本编码器，得到表征，减均值、加噪声，再进入 MLP。MLP 把它转换成 GPT-2 能接收的一段前缀向量，为生成提供内容条件。</a:t>
            </a:r>
          </a:p>
          <a:p>
            <a:endParaRPr/>
          </a:p>
          <a:p>
            <a:r>
              <a:t>GPT-2 逐个预测 token，也就是文本单元。训练时给真实前文，要求它预测下一个单元；正确答案的概率越低，损失越大。反向传播更新 MLP 和 GPT-2，CLIP 保持不变。</a:t>
            </a:r>
          </a:p>
          <a:p>
            <a:endParaRPr/>
          </a:p>
          <a:p>
            <a:r>
              <a:t>测试时，把前端换成图像编码器。图片表征减去图像均值，送入同一套 MLP 和 GPT-2。此时没有真实描述，模型依靠已经生成的前文继续输出。</a:t>
            </a:r>
          </a:p>
          <a:p>
            <a:endParaRPr/>
          </a:p>
          <a:p>
            <a:r>
              <a:t>因此，这个方法有两个配合的改变：去均值让训练和测试的输入位置更接近；扰动训练让同一个解码器容忍剩余偏差。两者都服务于表征的可互换性。</a:t>
            </a:r>
          </a:p>
          <a:p>
            <a:endParaRPr/>
          </a:p>
          <a:p>
            <a:r>
              <a:t>备忘（不读）：本页只讲图像描述。MLP 将512维 CLIP 向量转换成前缀嵌入序列，每个位置768维；不等于只输出单个768维向量。文生图采用 LAFITE／StyleGAN2 及其 GAN 目标，不能套用本页文本交叉熵流程。</a:t>
            </a:r>
          </a:p>
          <a:p>
            <a:r>
              <a:t>依据：§5.1；Appendix E.1，PDF第19–20页；文生图见 Appendix F。</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PPT实际第11页｜核心创新：把“可互换”的假设变成可分析、可改进的问题</a:t>
            </a:r>
          </a:p>
          <a:p>
            <a:r>
              <a:t>页脚：10 / 14｜8:30—9:35（目标65秒）</a:t>
            </a:r>
          </a:p>
          <a:p>
            <a:endParaRPr/>
          </a:p>
          <a:p>
            <a:r>
              <a:t>指图提示（不读）：先概括左侧三项贡献，再用右侧链条解释增量。</a:t>
            </a:r>
          </a:p>
          <a:p>
            <a:endParaRPr/>
          </a:p>
          <a:p>
            <a:r>
              <a:t>主讲正文</a:t>
            </a:r>
          </a:p>
          <a:p>
            <a:r>
              <a:t>我把论文的核心贡献概括为三点。第一是认识和理论：作者抓住了一个容易被默认的假设——图文能匹配，是否就能作为同一个生成器的输入？它把这个问题细化为共同偏移与逐样本残差，并分析两者为什么存在。</a:t>
            </a:r>
          </a:p>
          <a:p>
            <a:endParaRPr/>
          </a:p>
          <a:p>
            <a:r>
              <a:t>第二是方法：根据这个解释，一方面移动输入分布的中心，另一方面训练解码器容忍偏差，将两种处理结合起来。方法很简单，但选择操作有明确依据。</a:t>
            </a:r>
          </a:p>
          <a:p>
            <a:endParaRPr/>
          </a:p>
          <a:p>
            <a:r>
              <a:t>第三是适用性：除了图像描述，还在音频、视频描述以及文字生成图像中验证，说明这套思路不只针对一种输入输出方向。</a:t>
            </a:r>
          </a:p>
          <a:p>
            <a:endParaRPr/>
          </a:p>
          <a:p>
            <a:r>
              <a:t>去均值和加噪本身有前作基础，本文的增量在于几何解释、据此组合的方法，以及相应验证。对我来说，值得学习的是先找清假设的缺口，再让方法回答这个缺口。</a:t>
            </a:r>
          </a:p>
          <a:p>
            <a:endParaRPr/>
          </a:p>
          <a:p>
            <a:r>
              <a:t>备忘（不读）：贡献的第三项是跨任务应用与效果证据，不把“实验组织得好”单独包装为算法创新。结果限定于论文报告的任务、基线和协议，不宣称所有指标领先。</a:t>
            </a:r>
          </a:p>
          <a:p>
            <a:r>
              <a:t>依据：§1 contributions；§4；§6。</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PPT实际第12页｜实验逻辑：围绕五个问题组织证据</a:t>
            </a:r>
          </a:p>
          <a:p>
            <a:r>
              <a:t>页脚：11 / 14｜9:35—10:25（目标50秒）</a:t>
            </a:r>
          </a:p>
          <a:p>
            <a:endParaRPr/>
          </a:p>
          <a:p>
            <a:r>
              <a:t>指图提示（不读）：按表格第一列概括五类问题，不读模型和训练超参数。</a:t>
            </a:r>
          </a:p>
          <a:p>
            <a:endParaRPr/>
          </a:p>
          <a:p>
            <a:r>
              <a:t>主讲正文</a:t>
            </a:r>
          </a:p>
          <a:p>
            <a:r>
              <a:t>实验重点看它从哪些方面验证。第一，几何现象是否存在：测偏移、方向和残差。第二，方法是否有效：比较图像描述和文生图结果。第三，组件贡献是什么：固定 Connect，分别开关去均值和加噪。</a:t>
            </a:r>
          </a:p>
          <a:p>
            <a:endParaRPr/>
          </a:p>
          <a:p>
            <a:r>
              <a:t>第四，适用范围多大：改变配对数据量，并换到音频、视频等模态。第五，解释是否站得住：人为改变表征位置，或者去掉噪声的某个方向，检查结果是否符合预期。</a:t>
            </a:r>
          </a:p>
          <a:p>
            <a:endParaRPr/>
          </a:p>
          <a:p>
            <a:r>
              <a:t>对写论文的启发是，主表只能回答整体效果。若还要解释为什么有效，就需要组件和机制对照；若声称适用范围更广，就要补充相应条件下的实验。</a:t>
            </a:r>
          </a:p>
          <a:p>
            <a:endParaRPr/>
          </a:p>
          <a:p>
            <a:r>
              <a:t>备忘（不读）：五类问题是汇报者对实验的归纳。消融固定 Connect，并没有独立移除 Connect 的同框架对照。机制实验为解释提供支持，不等于完全排除所有其他机制。</a:t>
            </a:r>
          </a:p>
          <a:p>
            <a:r>
              <a:t>依据：原文 Tables 1–7、Figures 3–6、10–11；五类问题是本讲稿的归纳。</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PPT实际第13页｜主要结果：四种并列配置与结论边界</a:t>
            </a:r>
          </a:p>
          <a:p>
            <a:r>
              <a:t>页脚：12 / 14｜10:25—11:05（目标40秒）</a:t>
            </a:r>
          </a:p>
          <a:p>
            <a:endParaRPr/>
          </a:p>
          <a:p>
            <a:r>
              <a:t>指图提示（不读）：先说四行均保留 Connect，指“去均值／加噪”两列；数字只读 CIDEr。</a:t>
            </a:r>
          </a:p>
          <a:p>
            <a:endParaRPr/>
          </a:p>
          <a:p>
            <a:r>
              <a:t>主讲正文</a:t>
            </a:r>
          </a:p>
          <a:p>
            <a:r>
              <a:t>这四行是并列配置，全部使用 Connect。只用 Connect，描述分数是十三；只加去均值，是二十五点二；只加噪声，是八十七点六；两者都加，是九十三点三。它支持组合有效，也说明这个设置中加噪的贡献很大。</a:t>
            </a:r>
          </a:p>
          <a:p>
            <a:endParaRPr/>
          </a:p>
          <a:p>
            <a:r>
              <a:t>右侧说明，有少量配对数据时，先做这种训练仍然有用。但完整方法没有在所有指标和数据量下都最好。因此，结论应限定在具体比较中，不能把分数差一概说成显著提升。</a:t>
            </a:r>
          </a:p>
          <a:p>
            <a:endParaRPr/>
          </a:p>
          <a:p>
            <a:r>
              <a:t>备忘（不读）：CIDEr 不是准确率百分比。FID来自文生图任务，越低越好；两列不是同一任务的两种准确率。C³描述 CIDEr为93.3±0.3；FID相对只加噪仅降低0.2，不能据此判断显著性。1%配对微调时仅加噪已达96.3，完整C³为96.4，不能把其相对ClipCap的全部差值归因于去均值。</a:t>
            </a:r>
          </a:p>
          <a:p>
            <a:r>
              <a:t>依据：Table 2–3，PDF第8页；Table 5，PDF第20页。</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PPT实际第14页｜结果边界：数据条件与尚未验证的问题</a:t>
            </a:r>
          </a:p>
          <a:p>
            <a:r>
              <a:t>页脚：13 / 14｜11:05—11:30（目标25秒）</a:t>
            </a:r>
          </a:p>
          <a:p>
            <a:endParaRPr/>
          </a:p>
          <a:p>
            <a:r>
              <a:t>指图提示（不读）：只概括三个边界，详细协议放入备答。</a:t>
            </a:r>
          </a:p>
          <a:p>
            <a:endParaRPr/>
          </a:p>
          <a:p>
            <a:r>
              <a:t>主讲正文</a:t>
            </a:r>
          </a:p>
          <a:p>
            <a:r>
              <a:t>最后保留三个边界：单模态训练仍借用了多模态预训练和校准数据；几何模型及生成指标都不能覆盖所有领域和语义错误；本文也没有持续学习的任务序列，因此还不能直接说这套方法能够防遗忘。</a:t>
            </a:r>
          </a:p>
          <a:p>
            <a:endParaRPr/>
          </a:p>
          <a:p>
            <a:r>
              <a:t>备忘（不读）：关于数据组成、分布假设和持续学习的界限，应区分原文协议与汇报者据此作出的范围判断。</a:t>
            </a:r>
          </a:p>
          <a:p>
            <a:r>
              <a:t>依据：Algorithm 1；§3–5；Appendix E–F；持续学习界限为汇报者判断。</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PPT实际第15页｜论文总结与研究演进：后续文献如何承接 C³？</a:t>
            </a:r>
          </a:p>
          <a:p>
            <a:r>
              <a:t>页脚：14 / 14｜11:30—12:10（目标40秒）</a:t>
            </a:r>
          </a:p>
          <a:p>
            <a:endParaRPr/>
          </a:p>
          <a:p>
            <a:r>
              <a:t>指图提示（不读）：左侧一句总结，右侧每篇只讲承接点；不逐行朗读。</a:t>
            </a:r>
          </a:p>
          <a:p>
            <a:endParaRPr/>
          </a:p>
          <a:p>
            <a:r>
              <a:t>主讲正文</a:t>
            </a:r>
          </a:p>
          <a:p>
            <a:r>
              <a:t>后续工作沿着这个问题继续推进。Diffusion Bridge 从容忍残差，走向学习表征的去噪映射；Diffusion-Link 扩展到音频，但桥接训练使用了配对数据；ReAlign 和 ReVision 则研究方向相关的残差与统计对齐，并用于多模态大模型训练。</a:t>
            </a:r>
          </a:p>
          <a:p>
            <a:endParaRPr/>
          </a:p>
          <a:p>
            <a:r>
              <a:t>对我的启发是：进入新的场景，先测失配主要发生在中心位置、局部残差，还是解码器敏感性，再决定改哪一环。这比直接套用一种校准操作，更能形成有依据的研究问题。</a:t>
            </a:r>
          </a:p>
          <a:p>
            <a:endParaRPr/>
          </a:p>
          <a:p>
            <a:r>
              <a:t>备忘（不读）：右侧为后续文献，不是 C³ 原文贡献。ReAlign／ReVision 是同一论文中的方案，其后续阶段仍使用真实图像指令微调。两篇 arXiv 工作按所读v1讲述，不推断最新录用状态。</a:t>
            </a:r>
          </a:p>
          <a:p>
            <a:r>
              <a:t>依据：Diffusion Bridge，CVPR 2025；arXiv:2510.11330v1；arXiv:2602.07026v1。</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PPT实际第16页｜感谢聆听</a:t>
            </a:r>
          </a:p>
          <a:p>
            <a:r>
              <a:t>页脚：结束页｜12:10—12:18（目标8秒）</a:t>
            </a:r>
          </a:p>
          <a:p>
            <a:endParaRPr/>
          </a:p>
          <a:p>
            <a:r>
              <a:t>指图提示（不读）：停在结束页；有追问再跳转备讲页。</a:t>
            </a:r>
          </a:p>
          <a:p>
            <a:endParaRPr/>
          </a:p>
          <a:p>
            <a:r>
              <a:t>主讲正文</a:t>
            </a:r>
          </a:p>
          <a:p>
            <a:r>
              <a:t>以上就是我的汇报。谢谢各位老师和同学，欢迎批评指正。</a:t>
            </a:r>
          </a:p>
          <a:p>
            <a:endParaRPr/>
          </a:p>
          <a:p>
            <a:r>
              <a:t>备忘（不读）：如果被问细节，再按后面的备答索引切换到第17–22页；正式汇报不继续顺次朗读备讲页。</a:t>
            </a:r>
          </a:p>
          <a:p>
            <a:r>
              <a:t>依据：汇报结束语。</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这篇 CVPR 2025 论文由 Songlong Xing、Zhengyu Zhao 和 Nicu Sebe 撰写，研究 CLIP 的对抗鲁棒性。标题下方列的是论文作者与单位；左下角单独标出本次汇报人。主线是从 False Stability 的观察出发，在测试时利用 CLIP 自身的视觉表示生成 counterattack，且不更新模型参数。右侧图片取自论文 Figure 1，仅作为主题提示。</a:t>
            </a:r>
          </a:p>
          <a:p>
            <a:endParaRPr/>
          </a:p>
          <a:p>
            <a:r>
              <a:t>来源：Xing, Zhao &amp; Sebe, arXiv:2503.03613v1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CLIP 的两条编码路径在共同的 embedding space 汇合。图像经 vision encoder 得到图像表示，类别的 text prompt 经 text encoder 得到文本表示；模型比较余弦相似度后做零样本预测。右侧论文 Figure 1 展示了攻击使 screwdriver 被误判成 lighter，以及测试时反击的示意。这里没有使用虚构的相似度分数。</a:t>
            </a:r>
          </a:p>
          <a:p>
            <a:endParaRPr/>
          </a:p>
          <a:p>
            <a:r>
              <a:t>来源：Xing, Zhao &amp; Sebe, arXiv:2503.03613v1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已有防御主要靠额外训练。AFT 利用对抗图像更新 vision encoder，APT 更新文本提示词；这些方法有效，但训练成本、跨数据集泛化和干净样本准确率都需要权衡。CLIP 已是强大的预训练基础模型，作者因此追问是否可以复用已有表示，在推理时防御。右侧小表清楚区分三个方法各自优化的对象和阶段，TTC 到下一页才展开。</a:t>
            </a:r>
          </a:p>
          <a:p>
            <a:endParaRPr/>
          </a:p>
          <a:p>
            <a:r>
              <a:t>来源：Xing, Zhao &amp; Sebe, arXiv:2503.03613v1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作者分别对 clean image 和 adversarial image 加入小随机噪声，然后用 τ 衡量 CLIP 表示的相对漂移。论文 Figure 4 中，在 1/255 和 4/255 的小噪声范围，adv. 柱低于 clean 柱；这是一项实验观察，不意味着每个 τ 低的输入都是攻击图像。作者推测对抗样本可能停留在错误的局部区域，由此产生主动推开当前表示的设计直觉。</a:t>
            </a:r>
          </a:p>
          <a:p>
            <a:endParaRPr/>
          </a:p>
          <a:p>
            <a:r>
              <a:t>来源：Xing, Zhao &amp; Sebe, arXiv:2503.03613v1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TTC 没有 ground-truth label，因此不能简单把图像推向正确类别。测试图像先施加初始随机扰动，用 τ 判断是否呈现低漂移。若 τ 高于阈值，就不再做后续 counterattack；若 τ 低，则在冻结的视觉编码器上用 PGD 更新输入扰动。多步结果加权后得到最终输入，再交给 CLIP 分类。论文 Figure 3 提供直观示意；核心目标是让新的 embedding 远离当前 embedding。</a:t>
            </a:r>
          </a:p>
          <a:p>
            <a:endParaRPr/>
          </a:p>
          <a:p>
            <a:r>
              <a:t>来源：Xing, Zhao &amp; Sebe, arXiv:2503.03613v1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这一页只讲创新逻辑，方法比较已经留在研究动机页。作者先观察到对抗图像的 False Stability，并推测攻击样本可能位于错误但局部稳定的表示区域。右侧 latent-space 图只是对该假设的直观示意，不是严格证明。基于这个推测，TTC 最大化 embedding drift，并用测试时梯度优化输入。PGD 是求解工具；研究范围是最大化 CLIP 分类损失的攻击。</a:t>
            </a:r>
          </a:p>
          <a:p>
            <a:endParaRPr/>
          </a:p>
          <a:p>
            <a:r>
              <a:t>来源：Xing, Zhao &amp; Sebe, arXiv:2503.03613v1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实验先讲设计，再看数字。作者用 16 个分类数据集检查方法是否依赖特定数据分布，其中包括物体、细粒度、场景和专业领域。随后改变攻击类型与预算，检查强攻击条件下是否仍有效。对照方法分为测试时防御和经过对抗微调的 CLIP。最后通过步数、τ 阈值、加权参数的消融，以及和 TeCoA、PMG-AFT、FARE 的组合，检验机制与兼容性。下一页才看代表性结果。</a:t>
            </a:r>
          </a:p>
          <a:p>
            <a:endParaRPr/>
          </a:p>
          <a:p>
            <a:r>
              <a:t>来源：Xing, Zhao &amp; Sebe, arXiv:2503.03613v1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上一页说明了怎么验证，这一页看三项代表性证据。左侧选取论文 Table 1 的平均结果：在 PGD 预算 1/255 下，TTC 的鲁棒准确率为 39.17%，比原始 CLIP 高 36.47 个百分点，而干净准确率只低 1.76 个百分点。右上论文 Table 2 显示攻击预算增大到 4/255 后仍有明显鲁棒收益。右下是 Figure 5 的 CIFAR10 和 ImageNet 曲线，用来说明反击步数 N 对鲁棒性和干净准确率的权衡。</a:t>
            </a:r>
          </a:p>
          <a:p>
            <a:endParaRPr/>
          </a:p>
          <a:p>
            <a:r>
              <a:t>来源：Xing, Zhao &amp; Sebe, arXiv:2503.03613v1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这项工作的研究闭环是：观察到 False Stability，提出 TTC，得到鲁棒性收益，同时把计算成本转移到推理阶段。三项要点分别是异常局部行为、无需训练的测试时反击，以及 CLIP 自身表示参与防御。局限包括额外梯度计算、步数和阈值调节，以及自适应攻击的潜在绕过。从系统部署角度，应把鲁棒性收益与延迟、吞吐共同评估。</a:t>
            </a:r>
          </a:p>
          <a:p>
            <a:endParaRPr/>
          </a:p>
          <a:p>
            <a:r>
              <a:t>来源：Xing, Zhao &amp; Sebe, arXiv:2503.03613v1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Master" Target="../slideMasters/slideMaster1.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pptmon.com/" TargetMode="External"/><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pptmon.com/" TargetMode="External"/><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AC6E4EC-26C9-4859-AD45-C7CB691F2B6C}" type="datetimeFigureOut">
              <a:rPr lang="zh-CN" altLang="en-US" smtClean="0"/>
              <a:t>2026/9/30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10E0F91-9937-46A5-B505-AD832632D488}"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板式">
    <p:spTree>
      <p:nvGrpSpPr>
        <p:cNvPr id="1" name=""/>
        <p:cNvGrpSpPr/>
        <p:nvPr/>
      </p:nvGrpSpPr>
      <p:grpSpPr>
        <a:xfrm>
          <a:off x="0" y="0"/>
          <a:ext cx="0" cy="0"/>
          <a:chOff x="0" y="0"/>
          <a:chExt cx="0" cy="0"/>
        </a:xfrm>
      </p:grpSpPr>
      <p:sp>
        <p:nvSpPr>
          <p:cNvPr id="4" name="矩形 3"/>
          <p:cNvSpPr/>
          <p:nvPr userDrawn="1"/>
        </p:nvSpPr>
        <p:spPr>
          <a:xfrm>
            <a:off x="0" y="0"/>
            <a:ext cx="249428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研究背景与问题</a:t>
            </a:r>
          </a:p>
        </p:txBody>
      </p:sp>
      <p:sp>
        <p:nvSpPr>
          <p:cNvPr id="6" name="矩形 5"/>
          <p:cNvSpPr/>
          <p:nvPr userDrawn="1"/>
        </p:nvSpPr>
        <p:spPr>
          <a:xfrm>
            <a:off x="2494280" y="0"/>
            <a:ext cx="241808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解决方案</a:t>
            </a:r>
          </a:p>
        </p:txBody>
      </p:sp>
      <p:sp>
        <p:nvSpPr>
          <p:cNvPr id="7" name="矩形 6"/>
          <p:cNvSpPr/>
          <p:nvPr userDrawn="1"/>
        </p:nvSpPr>
        <p:spPr>
          <a:xfrm>
            <a:off x="9679940" y="0"/>
            <a:ext cx="254508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结论与启发</a:t>
            </a:r>
          </a:p>
        </p:txBody>
      </p:sp>
      <p:sp>
        <p:nvSpPr>
          <p:cNvPr id="10" name="灯片编号占位符 4"/>
          <p:cNvSpPr>
            <a:spLocks noGrp="1"/>
          </p:cNvSpPr>
          <p:nvPr>
            <p:ph type="sldNum" sz="quarter" idx="12"/>
          </p:nvPr>
        </p:nvSpPr>
        <p:spPr>
          <a:xfrm>
            <a:off x="9291669" y="6356350"/>
            <a:ext cx="2743200" cy="365125"/>
          </a:xfrm>
        </p:spPr>
        <p:txBody>
          <a:bodyPr/>
          <a:lstStyle>
            <a:lvl1pPr>
              <a:defRPr sz="1600" b="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stStyle>
          <a:p>
            <a:fld id="{5E2EABFD-C142-48D2-8272-3C2D8BEF2F38}" type="slidenum">
              <a:rPr lang="zh-CN" altLang="en-US" smtClean="0"/>
              <a:t>‹#›</a:t>
            </a:fld>
            <a:endParaRPr lang="zh-CN" altLang="en-US" dirty="0"/>
          </a:p>
        </p:txBody>
      </p:sp>
      <p:sp>
        <p:nvSpPr>
          <p:cNvPr id="2" name="矩形 1"/>
          <p:cNvSpPr/>
          <p:nvPr userDrawn="1"/>
        </p:nvSpPr>
        <p:spPr>
          <a:xfrm>
            <a:off x="4912360" y="0"/>
            <a:ext cx="232791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核心创新点</a:t>
            </a:r>
          </a:p>
        </p:txBody>
      </p:sp>
      <p:sp>
        <p:nvSpPr>
          <p:cNvPr id="3" name="矩形 2"/>
          <p:cNvSpPr/>
          <p:nvPr userDrawn="1"/>
        </p:nvSpPr>
        <p:spPr>
          <a:xfrm>
            <a:off x="7240270" y="0"/>
            <a:ext cx="2439670" cy="65405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lIns="36000" rIns="36000" rtlCol="0" anchor="ctr"/>
          <a:lstStyle/>
          <a:p>
            <a:pPr algn="ct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cs typeface="Calibri" panose="020F0502020204030204" pitchFamily="34" charset="0"/>
              </a:rPr>
              <a:t>实验逻辑</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6355080"/>
            <a:ext cx="11064240" cy="0"/>
          </a:xfrm>
          <a:prstGeom prst="line">
            <a:avLst/>
          </a:prstGeom>
          <a:noFill/>
          <a:ln w="15240">
            <a:solidFill>
              <a:srgbClr val="E9822F"/>
            </a:solidFill>
            <a:prstDash val="solid"/>
          </a:ln>
        </p:spPr>
      </p:sp>
      <p:sp>
        <p:nvSpPr>
          <p:cNvPr id="3" name="Text 1"/>
          <p:cNvSpPr/>
          <p:nvPr/>
        </p:nvSpPr>
        <p:spPr>
          <a:xfrm>
            <a:off x="594360" y="6473952"/>
            <a:ext cx="7315200" cy="164592"/>
          </a:xfrm>
          <a:prstGeom prst="rect">
            <a:avLst/>
          </a:prstGeom>
          <a:noFill/>
        </p:spPr>
        <p:txBody>
          <a:bodyPr wrap="square" lIns="0" tIns="0" rIns="0" bIns="0" rtlCol="0" anchor="ctr"/>
          <a:lstStyle/>
          <a:p>
            <a:pPr marL="0" indent="0">
              <a:buNone/>
            </a:pPr>
            <a:r>
              <a:rPr lang="en-US" sz="800" dirty="0">
                <a:solidFill>
                  <a:srgbClr val="64748B"/>
                </a:solidFill>
              </a:rPr>
              <a:t>Unlearning the Noisy Correspondence Makes CLIP More Robust</a:t>
            </a:r>
            <a:endParaRPr lang="en-US" sz="8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3" name="任意多边形 22"/>
          <p:cNvSpPr/>
          <p:nvPr userDrawn="1">
            <p:custDataLst>
              <p:tags r:id="rId1"/>
            </p:custDataLst>
          </p:nvPr>
        </p:nvSpPr>
        <p:spPr>
          <a:xfrm>
            <a:off x="-14605" y="-1"/>
            <a:ext cx="6006465" cy="6858001"/>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cs typeface="MiSans Normal" panose="00000500000000000000" charset="-122"/>
            </a:endParaRPr>
          </a:p>
        </p:txBody>
      </p:sp>
      <p:sp>
        <p:nvSpPr>
          <p:cNvPr id="24" name="任意多边形 23"/>
          <p:cNvSpPr/>
          <p:nvPr userDrawn="1">
            <p:custDataLst>
              <p:tags r:id="rId2"/>
            </p:custDataLst>
          </p:nvPr>
        </p:nvSpPr>
        <p:spPr>
          <a:xfrm rot="16200000">
            <a:off x="-1383664" y="1369058"/>
            <a:ext cx="6858000"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26" name="任意多边形 25"/>
          <p:cNvSpPr/>
          <p:nvPr userDrawn="1">
            <p:custDataLst>
              <p:tags r:id="rId3"/>
            </p:custDataLst>
          </p:nvPr>
        </p:nvSpPr>
        <p:spPr>
          <a:xfrm rot="16200000">
            <a:off x="-1336642" y="2318743"/>
            <a:ext cx="4864351" cy="222027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30" name="圆角矩形 29"/>
          <p:cNvSpPr/>
          <p:nvPr userDrawn="1">
            <p:custDataLst>
              <p:tags r:id="rId4"/>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cxnSp>
        <p:nvCxnSpPr>
          <p:cNvPr id="32" name="直接连接符 31"/>
          <p:cNvCxnSpPr/>
          <p:nvPr userDrawn="1">
            <p:custDataLst>
              <p:tags r:id="rId5"/>
            </p:custDataLst>
          </p:nvPr>
        </p:nvCxnSpPr>
        <p:spPr>
          <a:xfrm>
            <a:off x="11197590" y="298132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custDataLst>
              <p:tags r:id="rId6"/>
            </p:custDataLst>
          </p:nvPr>
        </p:nvCxnSpPr>
        <p:spPr>
          <a:xfrm>
            <a:off x="11305540" y="191262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7"/>
            </p:custDataLst>
          </p:nvPr>
        </p:nvCxnSpPr>
        <p:spPr>
          <a:xfrm>
            <a:off x="11305540" y="345503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7" name="椭圆 36"/>
          <p:cNvSpPr/>
          <p:nvPr userDrawn="1">
            <p:custDataLst>
              <p:tags r:id="rId8"/>
            </p:custDataLst>
          </p:nvPr>
        </p:nvSpPr>
        <p:spPr>
          <a:xfrm>
            <a:off x="10016490" y="4434205"/>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iSans Normal" panose="00000500000000000000" charset="-122"/>
            </a:endParaRPr>
          </a:p>
        </p:txBody>
      </p:sp>
      <p:sp>
        <p:nvSpPr>
          <p:cNvPr id="38" name="椭圆 37"/>
          <p:cNvSpPr/>
          <p:nvPr userDrawn="1">
            <p:custDataLst>
              <p:tags r:id="rId9"/>
            </p:custDataLst>
          </p:nvPr>
        </p:nvSpPr>
        <p:spPr>
          <a:xfrm>
            <a:off x="10123170" y="4540885"/>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ctr"/>
            <a:endParaRPr lang="zh-CN" altLang="en-US">
              <a:cs typeface="MiSans Normal" panose="00000500000000000000" charset="-122"/>
            </a:endParaRPr>
          </a:p>
        </p:txBody>
      </p:sp>
      <p:sp>
        <p:nvSpPr>
          <p:cNvPr id="39" name="向下箭头"/>
          <p:cNvSpPr/>
          <p:nvPr userDrawn="1">
            <p:custDataLst>
              <p:tags r:id="rId10"/>
            </p:custDataLst>
          </p:nvPr>
        </p:nvSpPr>
        <p:spPr>
          <a:xfrm>
            <a:off x="10227310" y="4633595"/>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44" name="任意多边形 43"/>
          <p:cNvSpPr/>
          <p:nvPr userDrawn="1">
            <p:custDataLst>
              <p:tags r:id="rId11"/>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txBox="1">
            <a:spLocks noGrp="1"/>
          </p:cNvSpPr>
          <p:nvPr>
            <p:ph type="title" idx="1" hasCustomPrompt="1"/>
            <p:custDataLst>
              <p:tags r:id="rId12"/>
            </p:custDataLst>
          </p:nvPr>
        </p:nvSpPr>
        <p:spPr>
          <a:xfrm>
            <a:off x="2418715" y="1901190"/>
            <a:ext cx="8250555" cy="170561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en-US" altLang="zh-CN" sz="7200" b="0" i="0" u="none" strike="noStrike" kern="1200" cap="none" spc="0" normalizeH="0" baseline="0" noProof="1">
                <a:solidFill>
                  <a:schemeClr val="tx1">
                    <a:lumMod val="85000"/>
                    <a:lumOff val="15000"/>
                  </a:schemeClr>
                </a:solidFill>
                <a:latin typeface="+mj-ea"/>
                <a:ea typeface="+mj-ea"/>
                <a:cs typeface="MiSans Heavy" panose="00000A00000000000000" charset="-122"/>
                <a:sym typeface="+mn-ea"/>
              </a:defRPr>
            </a:lvl1pPr>
          </a:lstStyle>
          <a:p>
            <a:pPr lvl="0" algn="r">
              <a:buClrTx/>
              <a:buSzTx/>
              <a:buFontTx/>
            </a:pPr>
            <a:r>
              <a:rPr>
                <a:sym typeface="+mn-ea"/>
              </a:rPr>
              <a:t>单击此处编辑标题</a:t>
            </a:r>
          </a:p>
        </p:txBody>
      </p:sp>
      <p:sp>
        <p:nvSpPr>
          <p:cNvPr id="4" name="日期占位符 3"/>
          <p:cNvSpPr>
            <a:spLocks noGrp="1"/>
          </p:cNvSpPr>
          <p:nvPr>
            <p:ph type="dt" sz="half" idx="10"/>
            <p:custDataLst>
              <p:tags r:id="rId13"/>
            </p:custDataLst>
          </p:nvPr>
        </p:nvSpPr>
        <p:spPr>
          <a:xfrm>
            <a:off x="612000" y="6314400"/>
            <a:ext cx="2700000" cy="316800"/>
          </a:xfrm>
        </p:spPr>
        <p:txBody>
          <a:bodyPr/>
          <a:lstStyle/>
          <a:p>
            <a:fld id="{760FBDFE-C587-4B4C-A407-44438C67B59E}" type="datetimeFigureOut">
              <a:rPr lang="zh-CN" altLang="en-US" smtClean="0"/>
              <a:t>2026/9/30</a:t>
            </a:fld>
            <a:endParaRPr lang="zh-CN" altLang="en-US"/>
          </a:p>
        </p:txBody>
      </p:sp>
      <p:sp>
        <p:nvSpPr>
          <p:cNvPr id="5" name="页脚占位符 4"/>
          <p:cNvSpPr>
            <a:spLocks noGrp="1"/>
          </p:cNvSpPr>
          <p:nvPr>
            <p:ph type="ftr" sz="quarter" idx="11"/>
            <p:custDataLst>
              <p:tags r:id="rId1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5"/>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
        <p:nvSpPr>
          <p:cNvPr id="18" name="署名占位符 10"/>
          <p:cNvSpPr>
            <a:spLocks noGrp="1"/>
          </p:cNvSpPr>
          <p:nvPr>
            <p:ph type="body" sz="quarter" idx="17" hasCustomPrompt="1"/>
            <p:custDataLst>
              <p:tags r:id="rId16"/>
            </p:custDataLst>
          </p:nvPr>
        </p:nvSpPr>
        <p:spPr>
          <a:xfrm>
            <a:off x="2418715" y="4375145"/>
            <a:ext cx="7444103" cy="656600"/>
          </a:xfrm>
        </p:spPr>
        <p:txBody>
          <a:bodyPr wrap="square" anchor="ctr">
            <a:normAutofit/>
          </a:bodyPr>
          <a:lstStyle>
            <a:lvl1pPr marL="0" indent="0" algn="r">
              <a:lnSpc>
                <a:spcPct val="100000"/>
              </a:lnSpc>
              <a:buNone/>
              <a:defRPr sz="2000" b="0">
                <a:solidFill>
                  <a:schemeClr val="tx1"/>
                </a:solidFill>
                <a:latin typeface="+mj-ea"/>
                <a:ea typeface="+mj-ea"/>
              </a:defRPr>
            </a:lvl1pPr>
          </a:lstStyle>
          <a:p>
            <a:pPr lvl="0"/>
            <a:r>
              <a:rPr lang="zh-CN" altLang="en-US" dirty="0"/>
              <a:t>署名</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45224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41843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4475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35236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192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62532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0064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07926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160329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66423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29417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PTMON title">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D28F93B9-8CAB-40F7-A02D-DCFD76D05C07}"/>
              </a:ext>
            </a:extLst>
          </p:cNvPr>
          <p:cNvSpPr/>
          <p:nvPr userDrawn="1"/>
        </p:nvSpPr>
        <p:spPr>
          <a:xfrm>
            <a:off x="0" y="5849257"/>
            <a:ext cx="12192000" cy="1008743"/>
          </a:xfrm>
          <a:prstGeom prst="rect">
            <a:avLst/>
          </a:prstGeom>
          <a:solidFill>
            <a:schemeClr val="tx2">
              <a:lumMod val="75000"/>
            </a:schemeClr>
          </a:solidFill>
          <a:ln w="9525" cap="flat">
            <a:noFill/>
            <a:prstDash val="solid"/>
            <a:miter/>
          </a:ln>
        </p:spPr>
        <p:txBody>
          <a:bodyPr rtlCol="0" anchor="ctr"/>
          <a:lstStyle/>
          <a:p>
            <a:pPr algn="ctr"/>
            <a:endParaRPr lang="en-US" altLang="ko-KR" sz="2400" dirty="0">
              <a:solidFill>
                <a:srgbClr val="F7F7F7"/>
              </a:solidFill>
              <a:latin typeface="+mj-lt"/>
            </a:endParaRPr>
          </a:p>
        </p:txBody>
      </p:sp>
      <p:pic>
        <p:nvPicPr>
          <p:cNvPr id="5" name="Graphic 3">
            <a:hlinkClick r:id="rId2"/>
            <a:extLst>
              <a:ext uri="{FF2B5EF4-FFF2-40B4-BE49-F238E27FC236}">
                <a16:creationId xmlns:a16="http://schemas.microsoft.com/office/drawing/2014/main" id="{9599E330-81D7-49BC-B118-180B66F684CF}"/>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85391"/>
            <a:ext cx="2239204" cy="246221"/>
          </a:xfrm>
          <a:prstGeom prst="rect">
            <a:avLst/>
          </a:prstGeom>
        </p:spPr>
      </p:pic>
      <p:sp>
        <p:nvSpPr>
          <p:cNvPr id="6" name="TextBox 5">
            <a:hlinkClick r:id="rId5"/>
            <a:extLst>
              <a:ext uri="{FF2B5EF4-FFF2-40B4-BE49-F238E27FC236}">
                <a16:creationId xmlns:a16="http://schemas.microsoft.com/office/drawing/2014/main" id="{04062254-2091-4B62-8E88-D92CDF86AD96}"/>
              </a:ext>
            </a:extLst>
          </p:cNvPr>
          <p:cNvSpPr txBox="1"/>
          <p:nvPr userDrawn="1"/>
        </p:nvSpPr>
        <p:spPr>
          <a:xfrm>
            <a:off x="4181605" y="6931487"/>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41390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PPTMON slide">
    <p:spTree>
      <p:nvGrpSpPr>
        <p:cNvPr id="1" name=""/>
        <p:cNvGrpSpPr/>
        <p:nvPr/>
      </p:nvGrpSpPr>
      <p:grpSpPr>
        <a:xfrm>
          <a:off x="0" y="0"/>
          <a:ext cx="0" cy="0"/>
          <a:chOff x="0" y="0"/>
          <a:chExt cx="0" cy="0"/>
        </a:xfrm>
      </p:grpSpPr>
      <p:sp>
        <p:nvSpPr>
          <p:cNvPr id="2" name="액자 1">
            <a:extLst>
              <a:ext uri="{FF2B5EF4-FFF2-40B4-BE49-F238E27FC236}">
                <a16:creationId xmlns:a16="http://schemas.microsoft.com/office/drawing/2014/main" id="{1CFE79DC-AACA-4427-9F93-97230FD86448}"/>
              </a:ext>
            </a:extLst>
          </p:cNvPr>
          <p:cNvSpPr/>
          <p:nvPr userDrawn="1"/>
        </p:nvSpPr>
        <p:spPr>
          <a:xfrm>
            <a:off x="0" y="0"/>
            <a:ext cx="12192000" cy="6858000"/>
          </a:xfrm>
          <a:prstGeom prst="frame">
            <a:avLst>
              <a:gd name="adj1" fmla="val 3161"/>
            </a:avLst>
          </a:prstGeom>
          <a:solidFill>
            <a:schemeClr val="tx2">
              <a:lumMod val="75000"/>
            </a:schemeClr>
          </a:solidFill>
          <a:ln w="9525" cap="flat">
            <a:noFill/>
            <a:prstDash val="solid"/>
            <a:miter/>
          </a:ln>
        </p:spPr>
        <p:txBody>
          <a:bodyPr rtlCol="0" anchor="ctr"/>
          <a:lstStyle/>
          <a:p>
            <a:pPr algn="l"/>
            <a:endParaRPr lang="ko-KR" altLang="en-US"/>
          </a:p>
        </p:txBody>
      </p:sp>
      <p:pic>
        <p:nvPicPr>
          <p:cNvPr id="5" name="Graphic 3">
            <a:hlinkClick r:id="rId2"/>
            <a:extLst>
              <a:ext uri="{FF2B5EF4-FFF2-40B4-BE49-F238E27FC236}">
                <a16:creationId xmlns:a16="http://schemas.microsoft.com/office/drawing/2014/main" id="{0D8996A0-DB3B-40BE-BBDB-934E19EEEA1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p:blipFill>
        <p:spPr>
          <a:xfrm>
            <a:off x="5771192" y="6885391"/>
            <a:ext cx="2239204" cy="246221"/>
          </a:xfrm>
          <a:prstGeom prst="rect">
            <a:avLst/>
          </a:prstGeom>
        </p:spPr>
      </p:pic>
      <p:sp>
        <p:nvSpPr>
          <p:cNvPr id="6" name="TextBox 5">
            <a:hlinkClick r:id="rId5"/>
            <a:extLst>
              <a:ext uri="{FF2B5EF4-FFF2-40B4-BE49-F238E27FC236}">
                <a16:creationId xmlns:a16="http://schemas.microsoft.com/office/drawing/2014/main" id="{E1E8800B-2B4B-4C90-B089-EB9C2015485A}"/>
              </a:ext>
            </a:extLst>
          </p:cNvPr>
          <p:cNvSpPr txBox="1"/>
          <p:nvPr userDrawn="1"/>
        </p:nvSpPr>
        <p:spPr>
          <a:xfrm>
            <a:off x="4181605" y="6931487"/>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92717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C6E4EC-26C9-4859-AD45-C7CB691F2B6C}" type="datetimeFigureOut">
              <a:rPr lang="zh-CN" altLang="en-US" smtClean="0"/>
              <a:t>2026/9/30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0E0F91-9937-46A5-B505-AD832632D48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6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6981309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1.xml"/><Relationship Id="rId3" Type="http://schemas.openxmlformats.org/officeDocument/2006/relationships/tags" Target="../tags/tag19.xml"/><Relationship Id="rId7" Type="http://schemas.openxmlformats.org/officeDocument/2006/relationships/slideLayout" Target="../slideLayouts/slideLayout12.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2.xml"/><Relationship Id="rId3" Type="http://schemas.openxmlformats.org/officeDocument/2006/relationships/tags" Target="../tags/tag25.xml"/><Relationship Id="rId7" Type="http://schemas.openxmlformats.org/officeDocument/2006/relationships/slideLayout" Target="../slideLayouts/slideLayout1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image" Target="../media/image21.png"/><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image" Target="../media/image20.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image" Target="../media/image19.png"/><Relationship Id="rId5" Type="http://schemas.openxmlformats.org/officeDocument/2006/relationships/tags" Target="../tags/tag33.xml"/><Relationship Id="rId10" Type="http://schemas.openxmlformats.org/officeDocument/2006/relationships/notesSlide" Target="../notesSlides/notesSlide26.xml"/><Relationship Id="rId4" Type="http://schemas.openxmlformats.org/officeDocument/2006/relationships/tags" Target="../tags/tag32.xml"/><Relationship Id="rId9"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tags" Target="../tags/tag44.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10" Type="http://schemas.openxmlformats.org/officeDocument/2006/relationships/notesSlide" Target="../notesSlides/notesSlide29.xml"/><Relationship Id="rId4" Type="http://schemas.openxmlformats.org/officeDocument/2006/relationships/tags" Target="../tags/tag40.xml"/><Relationship Id="rId9"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10" Type="http://schemas.openxmlformats.org/officeDocument/2006/relationships/notesSlide" Target="../notesSlides/notesSlide35.xml"/><Relationship Id="rId4" Type="http://schemas.openxmlformats.org/officeDocument/2006/relationships/tags" Target="../tags/tag48.xml"/><Relationship Id="rId9"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7" Type="http://schemas.openxmlformats.org/officeDocument/2006/relationships/hyperlink" Target="https://arxiv.org/pdf/2212.07016" TargetMode="External"/><Relationship Id="rId2" Type="http://schemas.openxmlformats.org/officeDocument/2006/relationships/slideLayout" Target="../slideLayouts/slideLayout13.xml"/><Relationship Id="rId1" Type="http://schemas.openxmlformats.org/officeDocument/2006/relationships/tags" Target="../tags/tag54.xml"/><Relationship Id="rId6" Type="http://schemas.openxmlformats.org/officeDocument/2006/relationships/image" Target="../media/image40.png"/><Relationship Id="rId5" Type="http://schemas.openxmlformats.org/officeDocument/2006/relationships/hyperlink" Target="https://proceedings.mlr.press/v139/radford21a/radford21a.pdf" TargetMode="External"/><Relationship Id="rId4" Type="http://schemas.openxmlformats.org/officeDocument/2006/relationships/image" Target="../media/image39.png"/></Relationships>
</file>

<file path=ppt/slides/_rels/slide5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57.xml"/><Relationship Id="rId7" Type="http://schemas.openxmlformats.org/officeDocument/2006/relationships/image" Target="../media/image4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notesSlide" Target="../notesSlides/notesSlide54.xml"/><Relationship Id="rId5" Type="http://schemas.openxmlformats.org/officeDocument/2006/relationships/slideLayout" Target="../slideLayouts/slideLayout13.xml"/><Relationship Id="rId4" Type="http://schemas.openxmlformats.org/officeDocument/2006/relationships/tags" Target="../tags/tag58.xml"/></Relationships>
</file>

<file path=ppt/slides/_rels/slide57.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18" Type="http://schemas.openxmlformats.org/officeDocument/2006/relationships/oleObject" Target="../embeddings/oleObject1.bin"/><Relationship Id="rId26" Type="http://schemas.openxmlformats.org/officeDocument/2006/relationships/image" Target="../media/image47.jpeg"/><Relationship Id="rId3" Type="http://schemas.openxmlformats.org/officeDocument/2006/relationships/tags" Target="../tags/tag61.xml"/><Relationship Id="rId21" Type="http://schemas.openxmlformats.org/officeDocument/2006/relationships/hyperlink" Target="https://proceedings.mlr.press/v139/radford21a/radford21a.pdf" TargetMode="External"/><Relationship Id="rId7" Type="http://schemas.openxmlformats.org/officeDocument/2006/relationships/tags" Target="../tags/tag65.xml"/><Relationship Id="rId12" Type="http://schemas.openxmlformats.org/officeDocument/2006/relationships/tags" Target="../tags/tag70.xml"/><Relationship Id="rId17" Type="http://schemas.openxmlformats.org/officeDocument/2006/relationships/notesSlide" Target="../notesSlides/notesSlide55.xml"/><Relationship Id="rId25" Type="http://schemas.openxmlformats.org/officeDocument/2006/relationships/image" Target="../media/image46.jpeg"/><Relationship Id="rId2" Type="http://schemas.openxmlformats.org/officeDocument/2006/relationships/tags" Target="../tags/tag60.xml"/><Relationship Id="rId16" Type="http://schemas.openxmlformats.org/officeDocument/2006/relationships/slideLayout" Target="../slideLayouts/slideLayout13.xml"/><Relationship Id="rId20" Type="http://schemas.openxmlformats.org/officeDocument/2006/relationships/image" Target="../media/image39.png"/><Relationship Id="rId29" Type="http://schemas.openxmlformats.org/officeDocument/2006/relationships/image" Target="../media/image50.png"/><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24" Type="http://schemas.openxmlformats.org/officeDocument/2006/relationships/image" Target="../media/image45.jpeg"/><Relationship Id="rId5" Type="http://schemas.openxmlformats.org/officeDocument/2006/relationships/tags" Target="../tags/tag63.xml"/><Relationship Id="rId15" Type="http://schemas.openxmlformats.org/officeDocument/2006/relationships/tags" Target="../tags/tag73.xml"/><Relationship Id="rId23" Type="http://schemas.openxmlformats.org/officeDocument/2006/relationships/image" Target="../media/image44.jpeg"/><Relationship Id="rId28" Type="http://schemas.openxmlformats.org/officeDocument/2006/relationships/image" Target="../media/image49.jpeg"/><Relationship Id="rId10" Type="http://schemas.openxmlformats.org/officeDocument/2006/relationships/tags" Target="../tags/tag68.xml"/><Relationship Id="rId19" Type="http://schemas.openxmlformats.org/officeDocument/2006/relationships/image" Target="../media/image43.wmf"/><Relationship Id="rId31" Type="http://schemas.openxmlformats.org/officeDocument/2006/relationships/hyperlink" Target="https://ieeexplore.ieee.org/stamp/stamp.jsp?tp=&amp;arnumber=8842663" TargetMode="Externa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 Id="rId22" Type="http://schemas.openxmlformats.org/officeDocument/2006/relationships/image" Target="../media/image44.png"/><Relationship Id="rId27" Type="http://schemas.openxmlformats.org/officeDocument/2006/relationships/image" Target="../media/image48.jpeg"/><Relationship Id="rId30" Type="http://schemas.openxmlformats.org/officeDocument/2006/relationships/image" Target="../media/image51.png"/></Relationships>
</file>

<file path=ppt/slides/_rels/slide58.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image" Target="../media/image43.wmf"/><Relationship Id="rId18" Type="http://schemas.openxmlformats.org/officeDocument/2006/relationships/image" Target="../media/image56.jpeg"/><Relationship Id="rId3" Type="http://schemas.openxmlformats.org/officeDocument/2006/relationships/tags" Target="../tags/tag76.xml"/><Relationship Id="rId21" Type="http://schemas.openxmlformats.org/officeDocument/2006/relationships/image" Target="../media/image59.jpeg"/><Relationship Id="rId7" Type="http://schemas.openxmlformats.org/officeDocument/2006/relationships/tags" Target="../tags/tag80.xml"/><Relationship Id="rId12" Type="http://schemas.openxmlformats.org/officeDocument/2006/relationships/oleObject" Target="../embeddings/oleObject1.bin"/><Relationship Id="rId17" Type="http://schemas.openxmlformats.org/officeDocument/2006/relationships/image" Target="../media/image55.jpeg"/><Relationship Id="rId25" Type="http://schemas.openxmlformats.org/officeDocument/2006/relationships/image" Target="../media/image48.jpeg"/><Relationship Id="rId2" Type="http://schemas.openxmlformats.org/officeDocument/2006/relationships/tags" Target="../tags/tag75.xml"/><Relationship Id="rId16" Type="http://schemas.openxmlformats.org/officeDocument/2006/relationships/image" Target="../media/image54.jpeg"/><Relationship Id="rId20" Type="http://schemas.openxmlformats.org/officeDocument/2006/relationships/image" Target="../media/image58.jpeg"/><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notesSlide" Target="../notesSlides/notesSlide56.xml"/><Relationship Id="rId24" Type="http://schemas.openxmlformats.org/officeDocument/2006/relationships/image" Target="../media/image60.jpeg"/><Relationship Id="rId5" Type="http://schemas.openxmlformats.org/officeDocument/2006/relationships/tags" Target="../tags/tag78.xml"/><Relationship Id="rId15" Type="http://schemas.openxmlformats.org/officeDocument/2006/relationships/image" Target="../media/image53.jpeg"/><Relationship Id="rId23" Type="http://schemas.openxmlformats.org/officeDocument/2006/relationships/image" Target="../media/image62.png"/><Relationship Id="rId10" Type="http://schemas.openxmlformats.org/officeDocument/2006/relationships/slideLayout" Target="../slideLayouts/slideLayout13.xml"/><Relationship Id="rId19" Type="http://schemas.openxmlformats.org/officeDocument/2006/relationships/image" Target="../media/image57.jpeg"/><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image" Target="../media/image52.jpeg"/><Relationship Id="rId22" Type="http://schemas.openxmlformats.org/officeDocument/2006/relationships/image" Target="../media/image61.png"/></Relationships>
</file>

<file path=ppt/slides/_rels/slide59.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slideLayout" Target="../slideLayouts/slideLayout13.xml"/><Relationship Id="rId18" Type="http://schemas.openxmlformats.org/officeDocument/2006/relationships/tags" Target="../tags/tag910.xml"/><Relationship Id="rId3" Type="http://schemas.openxmlformats.org/officeDocument/2006/relationships/tags" Target="../tags/tag85.xml"/><Relationship Id="rId21" Type="http://schemas.openxmlformats.org/officeDocument/2006/relationships/image" Target="../media/image68.png"/><Relationship Id="rId7" Type="http://schemas.openxmlformats.org/officeDocument/2006/relationships/tags" Target="../tags/tag89.xml"/><Relationship Id="rId12" Type="http://schemas.openxmlformats.org/officeDocument/2006/relationships/tags" Target="../tags/tag94.xml"/><Relationship Id="rId17" Type="http://schemas.openxmlformats.org/officeDocument/2006/relationships/image" Target="../media/image65.png"/><Relationship Id="rId2" Type="http://schemas.openxmlformats.org/officeDocument/2006/relationships/tags" Target="../tags/tag84.xml"/><Relationship Id="rId16" Type="http://schemas.openxmlformats.org/officeDocument/2006/relationships/tags" Target="../tags/tag890.xml"/><Relationship Id="rId20" Type="http://schemas.openxmlformats.org/officeDocument/2006/relationships/image" Target="../media/image67.png"/><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5" Type="http://schemas.openxmlformats.org/officeDocument/2006/relationships/tags" Target="../tags/tag87.xml"/><Relationship Id="rId15" Type="http://schemas.openxmlformats.org/officeDocument/2006/relationships/image" Target="../media/image63.png"/><Relationship Id="rId10" Type="http://schemas.openxmlformats.org/officeDocument/2006/relationships/tags" Target="../tags/tag92.xml"/><Relationship Id="rId19" Type="http://schemas.openxmlformats.org/officeDocument/2006/relationships/image" Target="../media/image66.png"/><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notesSlide" Target="../notesSlides/notesSlide57.xml"/><Relationship Id="rId22" Type="http://schemas.openxmlformats.org/officeDocument/2006/relationships/image" Target="../media/image69.png"/></Relationships>
</file>

<file path=ppt/slides/_rels/slide60.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72.png"/><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image" Target="../media/image71.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image" Target="../media/image70.png"/><Relationship Id="rId5" Type="http://schemas.openxmlformats.org/officeDocument/2006/relationships/tags" Target="../tags/tag99.xml"/><Relationship Id="rId15" Type="http://schemas.openxmlformats.org/officeDocument/2006/relationships/image" Target="../media/image75.png"/><Relationship Id="rId10" Type="http://schemas.openxmlformats.org/officeDocument/2006/relationships/image" Target="../media/image64.png"/><Relationship Id="rId4" Type="http://schemas.openxmlformats.org/officeDocument/2006/relationships/tags" Target="../tags/tag98.xml"/><Relationship Id="rId9" Type="http://schemas.openxmlformats.org/officeDocument/2006/relationships/notesSlide" Target="../notesSlides/notesSlide58.xml"/><Relationship Id="rId14" Type="http://schemas.openxmlformats.org/officeDocument/2006/relationships/image" Target="../media/image73.png"/></Relationships>
</file>

<file path=ppt/slides/_rels/slide61.xml.rels><?xml version="1.0" encoding="UTF-8" standalone="yes"?>
<Relationships xmlns="http://schemas.openxmlformats.org/package/2006/relationships"><Relationship Id="rId8" Type="http://schemas.openxmlformats.org/officeDocument/2006/relationships/tags" Target="../tags/tag1060.xml"/><Relationship Id="rId13" Type="http://schemas.openxmlformats.org/officeDocument/2006/relationships/image" Target="../media/image41.png"/><Relationship Id="rId3" Type="http://schemas.openxmlformats.org/officeDocument/2006/relationships/tags" Target="../tags/tag104.xml"/><Relationship Id="rId7" Type="http://schemas.openxmlformats.org/officeDocument/2006/relationships/notesSlide" Target="../notesSlides/notesSlide59.xml"/><Relationship Id="rId12" Type="http://schemas.openxmlformats.org/officeDocument/2006/relationships/image" Target="../media/image78.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slideLayout" Target="../slideLayouts/slideLayout13.xml"/><Relationship Id="rId11" Type="http://schemas.openxmlformats.org/officeDocument/2006/relationships/image" Target="../media/image74.png"/><Relationship Id="rId5" Type="http://schemas.openxmlformats.org/officeDocument/2006/relationships/tags" Target="../tags/tag106.xml"/><Relationship Id="rId10" Type="http://schemas.openxmlformats.org/officeDocument/2006/relationships/image" Target="../media/image77.png"/><Relationship Id="rId4" Type="http://schemas.openxmlformats.org/officeDocument/2006/relationships/tags" Target="../tags/tag105.xml"/><Relationship Id="rId9" Type="http://schemas.openxmlformats.org/officeDocument/2006/relationships/image" Target="../media/image76.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107.xml"/></Relationships>
</file>

<file path=ppt/slides/_rels/slide63.xml.rels><?xml version="1.0" encoding="UTF-8" standalone="yes"?>
<Relationships xmlns="http://schemas.openxmlformats.org/package/2006/relationships"><Relationship Id="rId8" Type="http://schemas.openxmlformats.org/officeDocument/2006/relationships/tags" Target="../tags/tag115.xml"/><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notesSlide" Target="../notesSlides/notesSlide61.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slideLayout" Target="../slideLayouts/slideLayout13.xml"/><Relationship Id="rId5" Type="http://schemas.openxmlformats.org/officeDocument/2006/relationships/tags" Target="../tags/tag11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4"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2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69.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slideLayout" Target="../slideLayouts/slideLayout2.xml"/><Relationship Id="rId1" Type="http://schemas.openxmlformats.org/officeDocument/2006/relationships/tags" Target="../tags/tag124.xml"/><Relationship Id="rId6" Type="http://schemas.openxmlformats.org/officeDocument/2006/relationships/image" Target="../media/image82.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7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7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7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7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7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slideLayout" Target="../slideLayouts/slideLayout2.xml"/><Relationship Id="rId1" Type="http://schemas.openxmlformats.org/officeDocument/2006/relationships/tags" Target="../tags/tag129.xml"/></Relationships>
</file>

<file path=ppt/slides/_rels/slide75.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slideLayout" Target="../slideLayouts/slideLayout2.xml"/><Relationship Id="rId1" Type="http://schemas.openxmlformats.org/officeDocument/2006/relationships/tags" Target="../tags/tag130.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1.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2.xml"/></Relationships>
</file>

<file path=ppt/slides/_rels/slide78.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slideLayout" Target="../slideLayouts/slideLayout14.xml"/><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tags" Target="../tags/tag147.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tags" Target="../tags/tag146.xml"/><Relationship Id="rId5" Type="http://schemas.openxmlformats.org/officeDocument/2006/relationships/tags" Target="../tags/tag140.xml"/><Relationship Id="rId10" Type="http://schemas.openxmlformats.org/officeDocument/2006/relationships/tags" Target="../tags/tag145.xml"/><Relationship Id="rId4" Type="http://schemas.openxmlformats.org/officeDocument/2006/relationships/tags" Target="../tags/tag139.xml"/><Relationship Id="rId9" Type="http://schemas.openxmlformats.org/officeDocument/2006/relationships/tags" Target="../tags/tag144.xml"/><Relationship Id="rId14"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image" Target="../media/image99.png"/><Relationship Id="rId5" Type="http://schemas.openxmlformats.org/officeDocument/2006/relationships/tags" Target="../tags/tag152.xml"/><Relationship Id="rId4"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51.xml"/><Relationship Id="rId1" Type="http://schemas.openxmlformats.org/officeDocument/2006/relationships/tags" Target="../tags/tag150.xml"/><Relationship Id="rId4"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8.xml"/><Relationship Id="rId1" Type="http://schemas.openxmlformats.org/officeDocument/2006/relationships/slideLayout" Target="../slideLayouts/slideLayout14.xml"/><Relationship Id="rId4" Type="http://schemas.openxmlformats.org/officeDocument/2006/relationships/image" Target="../media/image98.png"/></Relationships>
</file>

<file path=ppt/slides/_rels/slide84.xml.rels><?xml version="1.0" encoding="UTF-8" standalone="yes"?>
<Relationships xmlns="http://schemas.openxmlformats.org/package/2006/relationships"><Relationship Id="rId3" Type="http://schemas.openxmlformats.org/officeDocument/2006/relationships/image" Target="../media/image980.png"/><Relationship Id="rId7" Type="http://schemas.openxmlformats.org/officeDocument/2006/relationships/image" Target="../media/image104.png"/><Relationship Id="rId2" Type="http://schemas.openxmlformats.org/officeDocument/2006/relationships/notesSlide" Target="../notesSlides/notesSlide69.xml"/><Relationship Id="rId1" Type="http://schemas.openxmlformats.org/officeDocument/2006/relationships/slideLayout" Target="../slideLayouts/slideLayout14.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8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4.xml"/><Relationship Id="rId4" Type="http://schemas.openxmlformats.org/officeDocument/2006/relationships/image" Target="../media/image111.png"/></Relationships>
</file>

<file path=ppt/slides/_rels/slide8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tags" Target="../tags/tag155.xml"/><Relationship Id="rId7" Type="http://schemas.openxmlformats.org/officeDocument/2006/relationships/tags" Target="../tags/tag159.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tags" Target="../tags/tag158.xml"/><Relationship Id="rId5" Type="http://schemas.openxmlformats.org/officeDocument/2006/relationships/tags" Target="../tags/tag157.xml"/><Relationship Id="rId10" Type="http://schemas.openxmlformats.org/officeDocument/2006/relationships/image" Target="../media/image110.png"/><Relationship Id="rId4" Type="http://schemas.openxmlformats.org/officeDocument/2006/relationships/tags" Target="../tags/tag156.xml"/><Relationship Id="rId9" Type="http://schemas.openxmlformats.org/officeDocument/2006/relationships/image" Target="../media/image109.png"/></Relationships>
</file>

<file path=ppt/slides/_rels/slide89.xml.rels><?xml version="1.0" encoding="UTF-8" standalone="yes"?>
<Relationships xmlns="http://schemas.openxmlformats.org/package/2006/relationships"><Relationship Id="rId8" Type="http://schemas.openxmlformats.org/officeDocument/2006/relationships/tags" Target="../tags/tag167.xml"/><Relationship Id="rId3" Type="http://schemas.openxmlformats.org/officeDocument/2006/relationships/tags" Target="../tags/tag162.xml"/><Relationship Id="rId7" Type="http://schemas.openxmlformats.org/officeDocument/2006/relationships/tags" Target="../tags/tag166.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image" Target="../media/image115.png"/><Relationship Id="rId5" Type="http://schemas.openxmlformats.org/officeDocument/2006/relationships/tags" Target="../tags/tag164.xml"/><Relationship Id="rId10" Type="http://schemas.openxmlformats.org/officeDocument/2006/relationships/image" Target="../media/image114.png"/><Relationship Id="rId4" Type="http://schemas.openxmlformats.org/officeDocument/2006/relationships/tags" Target="../tags/tag163.xml"/><Relationship Id="rId9"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8" Type="http://schemas.openxmlformats.org/officeDocument/2006/relationships/tags" Target="../tags/tag175.xml"/><Relationship Id="rId3" Type="http://schemas.openxmlformats.org/officeDocument/2006/relationships/tags" Target="../tags/tag170.xml"/><Relationship Id="rId7" Type="http://schemas.openxmlformats.org/officeDocument/2006/relationships/tags" Target="../tags/tag174.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image" Target="../media/image117.png"/><Relationship Id="rId5" Type="http://schemas.openxmlformats.org/officeDocument/2006/relationships/tags" Target="../tags/tag172.xml"/><Relationship Id="rId10" Type="http://schemas.openxmlformats.org/officeDocument/2006/relationships/image" Target="../media/image116.png"/><Relationship Id="rId4" Type="http://schemas.openxmlformats.org/officeDocument/2006/relationships/tags" Target="../tags/tag171.xml"/><Relationship Id="rId9"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5" Type="http://schemas.openxmlformats.org/officeDocument/2006/relationships/image" Target="../media/image118.png"/><Relationship Id="rId4"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120.png"/></Relationships>
</file>

<file path=ppt/slides/_rels/slide9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72.xml"/><Relationship Id="rId1" Type="http://schemas.openxmlformats.org/officeDocument/2006/relationships/slideLayout" Target="../slideLayouts/slideLayout7.xml"/><Relationship Id="rId4" Type="http://schemas.openxmlformats.org/officeDocument/2006/relationships/image" Target="../media/image122.png"/></Relationships>
</file>

<file path=ppt/slides/_rels/slide9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74.xml"/><Relationship Id="rId1" Type="http://schemas.openxmlformats.org/officeDocument/2006/relationships/slideLayout" Target="../slideLayouts/slideLayout7.xml"/><Relationship Id="rId5" Type="http://schemas.openxmlformats.org/officeDocument/2006/relationships/image" Target="../media/image119.png"/><Relationship Id="rId4" Type="http://schemas.openxmlformats.org/officeDocument/2006/relationships/image" Target="../media/image124.png"/></Relationships>
</file>

<file path=ppt/slides/_rels/slide98.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image" Target="../media/image129.png"/><Relationship Id="rId2" Type="http://schemas.openxmlformats.org/officeDocument/2006/relationships/notesSlide" Target="../notesSlides/notesSlide75.xml"/><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9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76.xml"/><Relationship Id="rId1" Type="http://schemas.openxmlformats.org/officeDocument/2006/relationships/slideLayout" Target="../slideLayouts/slideLayout7.xml"/><Relationship Id="rId5" Type="http://schemas.openxmlformats.org/officeDocument/2006/relationships/image" Target="../media/image131.png"/><Relationship Id="rId4" Type="http://schemas.openxmlformats.org/officeDocument/2006/relationships/image" Target="../media/image130.png"/></Relationships>
</file>

<file path=ppt/slides/_rels/slide10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77.xml"/><Relationship Id="rId1" Type="http://schemas.openxmlformats.org/officeDocument/2006/relationships/slideLayout" Target="../slideLayouts/slideLayout7.xml"/><Relationship Id="rId5" Type="http://schemas.openxmlformats.org/officeDocument/2006/relationships/image" Target="../media/image133.png"/><Relationship Id="rId4" Type="http://schemas.openxmlformats.org/officeDocument/2006/relationships/image" Target="../media/image130.png"/></Relationships>
</file>

<file path=ppt/slides/_rels/slide10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78.xml"/><Relationship Id="rId1" Type="http://schemas.openxmlformats.org/officeDocument/2006/relationships/slideLayout" Target="../slideLayouts/slideLayout7.xml"/><Relationship Id="rId4" Type="http://schemas.openxmlformats.org/officeDocument/2006/relationships/image" Target="../media/image134.png"/></Relationships>
</file>

<file path=ppt/slides/_rels/slide10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hyperlink" Target="https://openaccess.thecvf.com/content/CVPR2025/papers/Lee_Diffusion_Bridge_Leveraging_Diffusion_Model_to_Reduce_the_Modality_Gap_CVPR_2025_paper.pdf" TargetMode="External"/><Relationship Id="rId2" Type="http://schemas.openxmlformats.org/officeDocument/2006/relationships/notesSlide" Target="../notesSlides/notesSlide84.xml"/><Relationship Id="rId1" Type="http://schemas.openxmlformats.org/officeDocument/2006/relationships/slideLayout" Target="../slideLayouts/slideLayout7.xml"/><Relationship Id="rId5" Type="http://schemas.openxmlformats.org/officeDocument/2006/relationships/hyperlink" Target="https://arxiv.org/html/2602.07026v1" TargetMode="External"/><Relationship Id="rId4" Type="http://schemas.openxmlformats.org/officeDocument/2006/relationships/hyperlink" Target="https://arxiv.org/html/2510.11330v1" TargetMode="Externa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9.xml"/><Relationship Id="rId1" Type="http://schemas.openxmlformats.org/officeDocument/2006/relationships/slideLayout" Target="../slideLayouts/slideLayout12.xml"/><Relationship Id="rId4" Type="http://schemas.openxmlformats.org/officeDocument/2006/relationships/image" Target="../media/image141.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93.xml"/><Relationship Id="rId1" Type="http://schemas.openxmlformats.org/officeDocument/2006/relationships/slideLayout" Target="../slideLayouts/slideLayout12.xml"/><Relationship Id="rId4" Type="http://schemas.openxmlformats.org/officeDocument/2006/relationships/image" Target="../media/image145.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05.xml"/><Relationship Id="rId1" Type="http://schemas.openxmlformats.org/officeDocument/2006/relationships/slideLayout" Target="../slideLayouts/slideLayout12.xml"/><Relationship Id="rId4" Type="http://schemas.openxmlformats.org/officeDocument/2006/relationships/image" Target="../media/image150.pn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7"/>
          <p:cNvPicPr>
            <a:picLocks noChangeAspect="1"/>
          </p:cNvPicPr>
          <p:nvPr/>
        </p:nvPicPr>
        <p:blipFill>
          <a:blip r:embed="rId3"/>
          <a:srcRect t="16821" b="16821"/>
          <a:stretch>
            <a:fillRect/>
          </a:stretch>
        </p:blipFill>
        <p:spPr>
          <a:xfrm>
            <a:off x="191346" y="116631"/>
            <a:ext cx="11809309" cy="5226782"/>
          </a:xfrm>
          <a:prstGeom prst="rect">
            <a:avLst/>
          </a:prstGeom>
        </p:spPr>
      </p:pic>
      <p:sp>
        <p:nvSpPr>
          <p:cNvPr id="7" name="矩形 6"/>
          <p:cNvSpPr>
            <a:spLocks noGrp="1"/>
          </p:cNvSpPr>
          <p:nvPr/>
        </p:nvSpPr>
        <p:spPr>
          <a:xfrm>
            <a:off x="191345" y="116631"/>
            <a:ext cx="11809309" cy="5226782"/>
          </a:xfrm>
          <a:prstGeom prst="rect">
            <a:avLst/>
          </a:prstGeom>
          <a:solidFill>
            <a:srgbClr val="024282">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pic>
        <p:nvPicPr>
          <p:cNvPr id="38" name="图片 19"/>
          <p:cNvPicPr>
            <a:picLocks noChangeAspect="1"/>
          </p:cNvPicPr>
          <p:nvPr/>
        </p:nvPicPr>
        <p:blipFill>
          <a:blip r:embed="rId4"/>
          <a:srcRect/>
          <a:stretch>
            <a:fillRect/>
          </a:stretch>
        </p:blipFill>
        <p:spPr>
          <a:xfrm>
            <a:off x="2952540" y="730777"/>
            <a:ext cx="6117528" cy="6117528"/>
          </a:xfrm>
          <a:prstGeom prst="rect">
            <a:avLst/>
          </a:prstGeom>
        </p:spPr>
      </p:pic>
      <p:sp>
        <p:nvSpPr>
          <p:cNvPr id="10" name="平行四边形 9"/>
          <p:cNvSpPr>
            <a:spLocks noGrp="1"/>
          </p:cNvSpPr>
          <p:nvPr/>
        </p:nvSpPr>
        <p:spPr>
          <a:xfrm>
            <a:off x="4949527" y="5155867"/>
            <a:ext cx="2292946" cy="38382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11" name="平行四边形 10"/>
          <p:cNvSpPr>
            <a:spLocks noGrp="1"/>
          </p:cNvSpPr>
          <p:nvPr/>
        </p:nvSpPr>
        <p:spPr>
          <a:xfrm>
            <a:off x="7606443" y="5818312"/>
            <a:ext cx="3177514"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15" name="文本占位符 30"/>
          <p:cNvSpPr>
            <a:spLocks noGrp="1"/>
          </p:cNvSpPr>
          <p:nvPr/>
        </p:nvSpPr>
        <p:spPr>
          <a:xfrm>
            <a:off x="7890275" y="5913658"/>
            <a:ext cx="2609850" cy="296545"/>
          </a:xfrm>
          <a:prstGeom prst="rect">
            <a:avLst/>
          </a:prstGeom>
        </p:spPr>
        <p:txBody>
          <a:bodyPr vert="horz" lIns="91440" tIns="45720" rIns="91440" bIns="45720">
            <a:noAutofit/>
          </a:bodyPr>
          <a:lstStyle>
            <a:lvl1pPr marL="0" indent="0" algn="ctr" defTabSz="914400">
              <a:lnSpc>
                <a:spcPct val="90000"/>
              </a:lnSpc>
              <a:spcBef>
                <a:spcPts val="1000"/>
              </a:spcBef>
              <a:buFontTx/>
              <a:buNone/>
              <a:defRPr sz="1800" kern="1200">
                <a:solidFill>
                  <a:schemeClr val="bg1"/>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ctr" defTabSz="914400">
              <a:lnSpc>
                <a:spcPct val="90000"/>
              </a:lnSpc>
              <a:spcBef>
                <a:spcPts val="1000"/>
              </a:spcBef>
              <a:spcAft>
                <a:spcPts val="0"/>
              </a:spcAft>
              <a:buClrTx/>
              <a:buSzTx/>
              <a:buFontTx/>
              <a:buNone/>
              <a:defRPr sz="1575" b="0">
                <a:solidFill>
                  <a:srgbClr val="FFFFFF"/>
                </a:solidFill>
                <a:latin typeface="微软雅黑"/>
                <a:ea typeface="微软雅黑"/>
                <a:cs typeface="微软雅黑"/>
              </a:defRPr>
            </a:pPr>
            <a:r>
              <a:rPr lang="zh-CN" altLang="en-US" sz="1575" b="0" i="0" u="none" cap="none" spc="0" dirty="0">
                <a:ln>
                  <a:noFill/>
                </a:ln>
                <a:solidFill>
                  <a:srgbClr val="FFFFFF"/>
                </a:solidFill>
                <a:latin typeface="微软雅黑"/>
                <a:ea typeface="微软雅黑"/>
                <a:cs typeface="微软雅黑"/>
              </a:rPr>
              <a:t>汇报人：张忠睿 </a:t>
            </a:r>
            <a:r>
              <a:rPr lang="en-US" altLang="zh-CN" sz="1575" b="0" i="0" u="none" cap="none" spc="0" dirty="0">
                <a:ln>
                  <a:noFill/>
                </a:ln>
                <a:solidFill>
                  <a:srgbClr val="FFFFFF"/>
                </a:solidFill>
                <a:latin typeface="微软雅黑"/>
                <a:ea typeface="微软雅黑"/>
                <a:cs typeface="微软雅黑"/>
              </a:rPr>
              <a:t>2612125</a:t>
            </a:r>
            <a:endParaRPr sz="1800" b="0" i="0" u="none" kern="1200" cap="none" spc="0" baseline="0" dirty="0">
              <a:ln>
                <a:noFill/>
              </a:ln>
              <a:solidFill>
                <a:sysClr val="window" lastClr="FFFFFF"/>
              </a:solidFill>
              <a:latin typeface="微软雅黑"/>
              <a:ea typeface="微软雅黑"/>
              <a:cs typeface="微软雅黑"/>
            </a:endParaRPr>
          </a:p>
        </p:txBody>
      </p:sp>
      <p:sp>
        <p:nvSpPr>
          <p:cNvPr id="17" name="文本占位符 32"/>
          <p:cNvSpPr>
            <a:spLocks noGrp="1"/>
          </p:cNvSpPr>
          <p:nvPr/>
        </p:nvSpPr>
        <p:spPr>
          <a:xfrm>
            <a:off x="4791075" y="5213102"/>
            <a:ext cx="2609850" cy="296545"/>
          </a:xfrm>
          <a:prstGeom prst="rect">
            <a:avLst/>
          </a:prstGeom>
        </p:spPr>
        <p:txBody>
          <a:bodyPr vert="horz" lIns="91440" tIns="45720" rIns="91440" bIns="45720">
            <a:noAutofit/>
          </a:bodyPr>
          <a:lstStyle>
            <a:lvl1pPr marL="0" indent="0" algn="ctr" defTabSz="914400">
              <a:lnSpc>
                <a:spcPct val="90000"/>
              </a:lnSpc>
              <a:spcBef>
                <a:spcPts val="1000"/>
              </a:spcBef>
              <a:buFontTx/>
              <a:buNone/>
              <a:defRPr sz="1800" kern="1200">
                <a:solidFill>
                  <a:srgbClr val="024282"/>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ctr" defTabSz="914400">
              <a:lnSpc>
                <a:spcPct val="90000"/>
              </a:lnSpc>
              <a:spcBef>
                <a:spcPts val="1000"/>
              </a:spcBef>
              <a:spcAft>
                <a:spcPts val="0"/>
              </a:spcAft>
              <a:buClrTx/>
              <a:buSzTx/>
              <a:buFontTx/>
              <a:buNone/>
              <a:defRPr sz="1575" b="0">
                <a:solidFill>
                  <a:srgbClr val="084B80"/>
                </a:solidFill>
                <a:latin typeface="微软雅黑"/>
                <a:ea typeface="微软雅黑"/>
                <a:cs typeface="微软雅黑"/>
              </a:defRPr>
            </a:pPr>
            <a:r>
              <a:rPr sz="1575" b="0" i="0" u="none" cap="none" spc="0" dirty="0">
                <a:ln>
                  <a:noFill/>
                </a:ln>
                <a:solidFill>
                  <a:srgbClr val="084B80"/>
                </a:solidFill>
                <a:latin typeface="微软雅黑"/>
                <a:ea typeface="微软雅黑"/>
                <a:cs typeface="微软雅黑"/>
              </a:rPr>
              <a:t>2026年9月</a:t>
            </a:r>
            <a:r>
              <a:rPr lang="en-US" sz="1575" dirty="0">
                <a:solidFill>
                  <a:srgbClr val="084B80"/>
                </a:solidFill>
                <a:latin typeface="微软雅黑"/>
                <a:ea typeface="微软雅黑"/>
                <a:cs typeface="微软雅黑"/>
              </a:rPr>
              <a:t>30</a:t>
            </a:r>
            <a:r>
              <a:rPr sz="1575" b="0" i="0" u="none" cap="none" spc="0" dirty="0">
                <a:ln>
                  <a:noFill/>
                </a:ln>
                <a:solidFill>
                  <a:srgbClr val="084B80"/>
                </a:solidFill>
                <a:latin typeface="微软雅黑"/>
                <a:ea typeface="微软雅黑"/>
                <a:cs typeface="微软雅黑"/>
              </a:rPr>
              <a:t>日</a:t>
            </a:r>
            <a:endParaRPr sz="1800" b="0" i="0" u="none" kern="1200" cap="none" spc="0" baseline="0" dirty="0">
              <a:ln>
                <a:noFill/>
              </a:ln>
              <a:solidFill>
                <a:srgbClr val="024282"/>
              </a:solidFill>
              <a:latin typeface="微软雅黑"/>
              <a:ea typeface="微软雅黑"/>
              <a:cs typeface="微软雅黑"/>
            </a:endParaRPr>
          </a:p>
        </p:txBody>
      </p:sp>
      <p:sp>
        <p:nvSpPr>
          <p:cNvPr id="24" name="文本占位符 24"/>
          <p:cNvSpPr>
            <a:spLocks noGrp="1"/>
          </p:cNvSpPr>
          <p:nvPr/>
        </p:nvSpPr>
        <p:spPr>
          <a:xfrm>
            <a:off x="515378" y="2218964"/>
            <a:ext cx="11161239" cy="2133712"/>
          </a:xfrm>
          <a:prstGeom prst="rect">
            <a:avLst/>
          </a:prstGeom>
        </p:spPr>
        <p:txBody>
          <a:bodyPr vert="horz" lIns="91440" tIns="45720" rIns="91440" bIns="45720">
            <a:noAutofit/>
          </a:bodyPr>
          <a:lstStyle>
            <a:lvl1pPr marL="0" indent="0" algn="ctr" defTabSz="914400">
              <a:lnSpc>
                <a:spcPct val="90000"/>
              </a:lnSpc>
              <a:spcBef>
                <a:spcPts val="1000"/>
              </a:spcBef>
              <a:buFont typeface="Arial" panose="020B0604020202090204"/>
              <a:buNone/>
              <a:defRPr sz="5400" b="1" kern="1200">
                <a:solidFill>
                  <a:schemeClr val="bg1"/>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lvl="0">
              <a:defRPr sz="1725" b="0">
                <a:solidFill>
                  <a:srgbClr val="FFFFFF"/>
                </a:solidFill>
                <a:latin typeface="微软雅黑"/>
                <a:ea typeface="微软雅黑"/>
                <a:cs typeface="微软雅黑"/>
              </a:defRPr>
            </a:pPr>
            <a:r>
              <a:rPr lang="en-US" altLang="zh-CN" sz="3600" b="0" dirty="0">
                <a:solidFill>
                  <a:srgbClr val="FFFFFF"/>
                </a:solidFill>
                <a:latin typeface="微软雅黑"/>
                <a:ea typeface="微软雅黑"/>
                <a:cs typeface="微软雅黑"/>
              </a:rPr>
              <a:t>Learning Transferable Visual Models From Natural Language Supervision</a:t>
            </a:r>
            <a:r>
              <a:rPr lang="zh-CN" altLang="en-US" sz="3600" b="0" dirty="0">
                <a:solidFill>
                  <a:srgbClr val="FFFFFF"/>
                </a:solidFill>
                <a:latin typeface="微软雅黑"/>
                <a:ea typeface="微软雅黑"/>
                <a:cs typeface="微软雅黑"/>
              </a:rPr>
              <a:t>（</a:t>
            </a:r>
            <a:r>
              <a:rPr lang="en-US" altLang="zh-CN" sz="3600" b="0" dirty="0">
                <a:solidFill>
                  <a:srgbClr val="FFFFFF"/>
                </a:solidFill>
                <a:latin typeface="微软雅黑"/>
                <a:ea typeface="微软雅黑"/>
                <a:cs typeface="微软雅黑"/>
              </a:rPr>
              <a:t>CLIP</a:t>
            </a:r>
            <a:r>
              <a:rPr lang="zh-CN" altLang="en-US" sz="3600" b="0" dirty="0">
                <a:solidFill>
                  <a:srgbClr val="FFFFFF"/>
                </a:solidFill>
                <a:latin typeface="微软雅黑"/>
                <a:ea typeface="微软雅黑"/>
                <a:cs typeface="微软雅黑"/>
              </a:rPr>
              <a:t>）</a:t>
            </a:r>
            <a:endParaRPr lang="en-US" altLang="zh-CN" sz="3200" b="0" dirty="0">
              <a:solidFill>
                <a:sysClr val="window" lastClr="FFFFFF"/>
              </a:solidFill>
            </a:endParaRPr>
          </a:p>
        </p:txBody>
      </p:sp>
      <p:sp>
        <p:nvSpPr>
          <p:cNvPr id="25" name="文本占位符 27"/>
          <p:cNvSpPr>
            <a:spLocks noGrp="1"/>
          </p:cNvSpPr>
          <p:nvPr/>
        </p:nvSpPr>
        <p:spPr>
          <a:xfrm>
            <a:off x="1166827" y="4542358"/>
            <a:ext cx="9858345" cy="296546"/>
          </a:xfrm>
          <a:prstGeom prst="rect">
            <a:avLst/>
          </a:prstGeom>
        </p:spPr>
        <p:txBody>
          <a:bodyPr vert="horz" lIns="91440" tIns="45720" rIns="91440" bIns="45720">
            <a:noAutofit/>
          </a:bodyPr>
          <a:lstStyle>
            <a:lvl1pPr marL="0" indent="0" algn="ctr" defTabSz="914400">
              <a:lnSpc>
                <a:spcPct val="90000"/>
              </a:lnSpc>
              <a:spcBef>
                <a:spcPts val="1000"/>
              </a:spcBef>
              <a:buFont typeface="Arial" panose="020B0604020202090204"/>
              <a:buNone/>
              <a:defRPr sz="1600" b="0" kern="1200">
                <a:solidFill>
                  <a:schemeClr val="bg1"/>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lvl="0" algn="ctr">
              <a:buNone/>
              <a:defRPr sz="1725" b="0">
                <a:solidFill>
                  <a:srgbClr val="FFFFFF"/>
                </a:solidFill>
                <a:latin typeface="微软雅黑"/>
                <a:ea typeface="微软雅黑"/>
                <a:cs typeface="微软雅黑"/>
              </a:defRPr>
            </a:pPr>
            <a:r>
              <a:rPr lang="zh-CN" altLang="en-US" sz="2000" kern="1200" baseline="0" dirty="0">
                <a:solidFill>
                  <a:srgbClr val="FFFFFF"/>
                </a:solidFill>
                <a:latin typeface="微软雅黑"/>
                <a:ea typeface="微软雅黑"/>
              </a:rPr>
              <a:t>通过“图片</a:t>
            </a:r>
            <a:r>
              <a:rPr lang="en-US" altLang="zh-CN" sz="2000" kern="1200" baseline="0" dirty="0">
                <a:solidFill>
                  <a:srgbClr val="FFFFFF"/>
                </a:solidFill>
                <a:latin typeface="微软雅黑"/>
                <a:ea typeface="微软雅黑"/>
              </a:rPr>
              <a:t>——</a:t>
            </a:r>
            <a:r>
              <a:rPr lang="zh-CN" altLang="en-US" sz="2000" kern="1200" baseline="0" dirty="0">
                <a:solidFill>
                  <a:srgbClr val="FFFFFF"/>
                </a:solidFill>
                <a:latin typeface="微软雅黑"/>
                <a:ea typeface="微软雅黑"/>
              </a:rPr>
              <a:t>文本对”让模型学习到可迁移的视觉概念</a:t>
            </a:r>
            <a:endParaRPr sz="2000" b="0" i="0" u="none" kern="1200" cap="none" spc="0" baseline="0" dirty="0">
              <a:ln>
                <a:noFill/>
              </a:ln>
              <a:solidFill>
                <a:sysClr val="window" lastClr="FFFFFF"/>
              </a:solidFill>
              <a:latin typeface="微软雅黑"/>
              <a:ea typeface="微软雅黑"/>
              <a:cs typeface="微软雅黑"/>
            </a:endParaRPr>
          </a:p>
        </p:txBody>
      </p:sp>
      <p:sp>
        <p:nvSpPr>
          <p:cNvPr id="31" name="直接连接符 30"/>
          <p:cNvSpPr>
            <a:spLocks noGrp="1"/>
          </p:cNvSpPr>
          <p:nvPr/>
        </p:nvSpPr>
        <p:spPr>
          <a:xfrm>
            <a:off x="2207568" y="4392452"/>
            <a:ext cx="763284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pic>
        <p:nvPicPr>
          <p:cNvPr id="48" name="图片 18"/>
          <p:cNvPicPr>
            <a:picLocks noChangeAspect="1"/>
          </p:cNvPicPr>
          <p:nvPr/>
        </p:nvPicPr>
        <p:blipFill>
          <a:blip r:embed="rId5"/>
          <a:stretch>
            <a:fillRect/>
          </a:stretch>
        </p:blipFill>
        <p:spPr>
          <a:xfrm>
            <a:off x="3848863" y="751289"/>
            <a:ext cx="1318787" cy="1317770"/>
          </a:xfrm>
          <a:prstGeom prst="rect">
            <a:avLst/>
          </a:prstGeom>
        </p:spPr>
      </p:pic>
      <p:pic>
        <p:nvPicPr>
          <p:cNvPr id="49" name="图片 20"/>
          <p:cNvPicPr>
            <a:picLocks noChangeAspect="1"/>
          </p:cNvPicPr>
          <p:nvPr/>
        </p:nvPicPr>
        <p:blipFill>
          <a:blip r:embed="rId6"/>
          <a:stretch>
            <a:fillRect/>
          </a:stretch>
        </p:blipFill>
        <p:spPr>
          <a:xfrm>
            <a:off x="5371134" y="809376"/>
            <a:ext cx="2963148" cy="924501"/>
          </a:xfrm>
          <a:prstGeom prst="rect">
            <a:avLst/>
          </a:prstGeom>
        </p:spPr>
      </p:pic>
      <p:sp>
        <p:nvSpPr>
          <p:cNvPr id="22" name="文本框 21"/>
          <p:cNvSpPr>
            <a:spLocks noGrp="1"/>
          </p:cNvSpPr>
          <p:nvPr/>
        </p:nvSpPr>
        <p:spPr>
          <a:xfrm>
            <a:off x="5266404" y="1692915"/>
            <a:ext cx="3076725" cy="230832"/>
          </a:xfrm>
          <a:prstGeom prst="rect">
            <a:avLst/>
          </a:prstGeom>
          <a:noFill/>
        </p:spPr>
        <p:txBody>
          <a:bodyPr wrap="square">
            <a:spAutoFit/>
          </a:bodyPr>
          <a:lstStyle/>
          <a:p>
            <a:pPr>
              <a:buNone/>
            </a:pPr>
            <a:r>
              <a:rPr sz="900" b="1" spc="200">
                <a:solidFill>
                  <a:prstClr val="white"/>
                </a:solidFill>
                <a:latin typeface="Calibri Light"/>
                <a:ea typeface="Calibri Light"/>
                <a:cs typeface="Calibri Light"/>
              </a:rPr>
              <a:t>TONGJI UNIVERSITY</a:t>
            </a:r>
          </a:p>
        </p:txBody>
      </p:sp>
      <p:sp>
        <p:nvSpPr>
          <p:cNvPr id="3" name="文本框 2"/>
          <p:cNvSpPr txBox="1"/>
          <p:nvPr/>
        </p:nvSpPr>
        <p:spPr>
          <a:xfrm>
            <a:off x="1619487" y="3475445"/>
            <a:ext cx="8783634" cy="634789"/>
          </a:xfrm>
          <a:prstGeom prst="rect">
            <a:avLst/>
          </a:prstGeom>
          <a:noFill/>
        </p:spPr>
        <p:txBody>
          <a:bodyPr wrap="square">
            <a:spAutoFit/>
          </a:bodyPr>
          <a:lstStyle/>
          <a:p>
            <a:pPr marR="0" lvl="0" algn="ctr" defTabSz="914400">
              <a:lnSpc>
                <a:spcPct val="100000"/>
              </a:lnSpc>
              <a:spcBef>
                <a:spcPts val="1000"/>
              </a:spcBef>
              <a:spcAft>
                <a:spcPts val="0"/>
              </a:spcAft>
              <a:buClrTx/>
              <a:buSzTx/>
              <a:buFont typeface="Arial" panose="020B0604020202090204"/>
              <a:buNone/>
              <a:defRPr sz="3525" b="1">
                <a:solidFill>
                  <a:srgbClr val="FFFFFF"/>
                </a:solidFill>
                <a:latin typeface="微软雅黑"/>
                <a:ea typeface="微软雅黑"/>
                <a:cs typeface="微软雅黑"/>
              </a:defRPr>
            </a:pPr>
            <a:r>
              <a:rPr lang="zh-CN" altLang="en-US" sz="3525" b="1" i="0" u="none" cap="none" spc="0" dirty="0">
                <a:ln>
                  <a:noFill/>
                </a:ln>
                <a:solidFill>
                  <a:srgbClr val="FFFFFF"/>
                </a:solidFill>
                <a:latin typeface="微软雅黑"/>
                <a:ea typeface="微软雅黑"/>
                <a:cs typeface="微软雅黑"/>
              </a:rPr>
              <a:t>从自然语言监督中学习可迁移的视觉模型</a:t>
            </a:r>
            <a:endParaRPr lang="zh-CN" altLang="en-US" sz="5400" b="1" i="0" u="none" kern="1200" cap="none" spc="0" baseline="0" dirty="0">
              <a:ln>
                <a:noFill/>
              </a:ln>
              <a:solidFill>
                <a:sysClr val="window" lastClr="FFFFFF"/>
              </a:solidFill>
              <a:latin typeface="微软雅黑"/>
              <a:ea typeface="微软雅黑"/>
              <a:cs typeface="微软雅黑"/>
            </a:endParaRPr>
          </a:p>
        </p:txBody>
      </p:sp>
      <p:sp>
        <p:nvSpPr>
          <p:cNvPr id="5" name="平行四边形 4"/>
          <p:cNvSpPr>
            <a:spLocks noGrp="1"/>
          </p:cNvSpPr>
          <p:nvPr/>
        </p:nvSpPr>
        <p:spPr>
          <a:xfrm>
            <a:off x="2164413" y="5818312"/>
            <a:ext cx="3177514" cy="487239"/>
          </a:xfrm>
          <a:prstGeom prst="parallelogram">
            <a:avLst/>
          </a:prstGeom>
          <a:solidFill>
            <a:srgbClr val="02428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8" name="文本占位符 30"/>
          <p:cNvSpPr>
            <a:spLocks noGrp="1"/>
          </p:cNvSpPr>
          <p:nvPr/>
        </p:nvSpPr>
        <p:spPr>
          <a:xfrm>
            <a:off x="2448245" y="5913658"/>
            <a:ext cx="2609850" cy="296545"/>
          </a:xfrm>
          <a:prstGeom prst="rect">
            <a:avLst/>
          </a:prstGeom>
        </p:spPr>
        <p:txBody>
          <a:bodyPr vert="horz" lIns="91440" tIns="45720" rIns="91440" bIns="45720">
            <a:noAutofit/>
          </a:bodyPr>
          <a:lstStyle>
            <a:lvl1pPr marL="0" indent="0" algn="ctr" defTabSz="914400">
              <a:lnSpc>
                <a:spcPct val="90000"/>
              </a:lnSpc>
              <a:spcBef>
                <a:spcPts val="1000"/>
              </a:spcBef>
              <a:buFontTx/>
              <a:buNone/>
              <a:defRPr sz="1800" kern="1200">
                <a:solidFill>
                  <a:schemeClr val="bg1"/>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ctr" defTabSz="914400">
              <a:lnSpc>
                <a:spcPct val="90000"/>
              </a:lnSpc>
              <a:spcBef>
                <a:spcPts val="1000"/>
              </a:spcBef>
              <a:spcAft>
                <a:spcPts val="0"/>
              </a:spcAft>
              <a:buClrTx/>
              <a:buSzTx/>
              <a:buFontTx/>
              <a:buNone/>
              <a:defRPr sz="1575" b="0">
                <a:solidFill>
                  <a:srgbClr val="FFFFFF"/>
                </a:solidFill>
                <a:latin typeface="微软雅黑"/>
                <a:ea typeface="微软雅黑"/>
                <a:cs typeface="微软雅黑"/>
              </a:defRPr>
            </a:pPr>
            <a:r>
              <a:rPr lang="en-US" altLang="zh-CN" sz="1575" b="0" i="0" u="none" cap="none" spc="0" dirty="0">
                <a:ln>
                  <a:noFill/>
                </a:ln>
                <a:solidFill>
                  <a:srgbClr val="FFFFFF"/>
                </a:solidFill>
                <a:latin typeface="微软雅黑"/>
                <a:ea typeface="微软雅黑"/>
                <a:cs typeface="微软雅黑"/>
              </a:rPr>
              <a:t>ICML 2021</a:t>
            </a:r>
            <a:endParaRPr sz="1800" b="0" i="0" u="none" kern="1200" cap="none" spc="0" baseline="0" dirty="0">
              <a:ln>
                <a:noFill/>
              </a:ln>
              <a:solidFill>
                <a:sysClr val="window" lastClr="FFFFFF"/>
              </a:solidFill>
              <a:latin typeface="微软雅黑"/>
              <a:ea typeface="微软雅黑"/>
              <a:cs typeface="微软雅黑"/>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a:spLocks noGrp="1"/>
          </p:cNvSpPr>
          <p:nvPr/>
        </p:nvSpPr>
        <p:spPr>
          <a:xfrm>
            <a:off x="335361" y="116633"/>
            <a:ext cx="573023" cy="557721"/>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6" name="平行四边形 5"/>
          <p:cNvSpPr>
            <a:spLocks noGrp="1"/>
          </p:cNvSpPr>
          <p:nvPr/>
        </p:nvSpPr>
        <p:spPr>
          <a:xfrm>
            <a:off x="392209" y="171680"/>
            <a:ext cx="573023" cy="557721"/>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7" name="直接连接符 6"/>
          <p:cNvSpPr>
            <a:spLocks noGrp="1"/>
          </p:cNvSpPr>
          <p:nvPr/>
        </p:nv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sp>
      <p:sp>
        <p:nvSpPr>
          <p:cNvPr id="10" name="文本占位符 5"/>
          <p:cNvSpPr>
            <a:spLocks noGrp="1"/>
          </p:cNvSpPr>
          <p:nvPr/>
        </p:nvSpPr>
        <p:spPr>
          <a:xfrm>
            <a:off x="1123950" y="190500"/>
            <a:ext cx="8524875" cy="609600"/>
          </a:xfrm>
          <a:prstGeom prst="rect">
            <a:avLst/>
          </a:prstGeom>
        </p:spPr>
        <p:txBody>
          <a:bodyPr vert="horz" lIns="91440" tIns="45720" rIns="91440" bIns="45720">
            <a:normAutofit/>
          </a:bodyPr>
          <a:lstStyle>
            <a:lvl1pPr marL="0" indent="0" algn="l" defTabSz="914400">
              <a:lnSpc>
                <a:spcPct val="90000"/>
              </a:lnSpc>
              <a:spcBef>
                <a:spcPts val="1000"/>
              </a:spcBef>
              <a:buFont typeface="Arial" panose="020B0604020202090204"/>
              <a:buNone/>
              <a:defRPr sz="3200" b="1" kern="1200">
                <a:solidFill>
                  <a:srgbClr val="024282"/>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l" defTabSz="914400">
              <a:lnSpc>
                <a:spcPct val="90000"/>
              </a:lnSpc>
              <a:spcBef>
                <a:spcPts val="1000"/>
              </a:spcBef>
              <a:spcAft>
                <a:spcPts val="0"/>
              </a:spcAft>
              <a:buClrTx/>
              <a:buSzTx/>
              <a:buFont typeface="Arial" panose="020B0604020202090204"/>
              <a:buNone/>
              <a:defRPr sz="2775" b="1">
                <a:solidFill>
                  <a:srgbClr val="084B80"/>
                </a:solidFill>
                <a:latin typeface="微软雅黑"/>
                <a:ea typeface="微软雅黑"/>
                <a:cs typeface="微软雅黑"/>
              </a:defRPr>
            </a:pPr>
            <a:r>
              <a:rPr sz="2775" b="1" i="0" u="none" cap="none" spc="0" dirty="0">
                <a:ln>
                  <a:noFill/>
                </a:ln>
                <a:solidFill>
                  <a:srgbClr val="084B80"/>
                </a:solidFill>
                <a:latin typeface="微软雅黑"/>
                <a:ea typeface="微软雅黑"/>
                <a:cs typeface="微软雅黑"/>
              </a:rPr>
              <a:t>研究动机：固定类别监督的局限</a:t>
            </a:r>
            <a:endParaRPr sz="3200" b="1" i="0" u="none" kern="1200" cap="none" spc="0" baseline="0" dirty="0">
              <a:ln>
                <a:noFill/>
              </a:ln>
              <a:solidFill>
                <a:srgbClr val="024282"/>
              </a:solidFill>
              <a:latin typeface="微软雅黑"/>
              <a:ea typeface="微软雅黑"/>
              <a:cs typeface="微软雅黑"/>
            </a:endParaRPr>
          </a:p>
        </p:txBody>
      </p:sp>
      <p:sp>
        <p:nvSpPr>
          <p:cNvPr id="17" name="文本框 16"/>
          <p:cNvSpPr>
            <a:spLocks noGrp="1"/>
          </p:cNvSpPr>
          <p:nvPr/>
        </p:nvSpPr>
        <p:spPr>
          <a:xfrm>
            <a:off x="10813677" y="6398695"/>
            <a:ext cx="798617" cy="300082"/>
          </a:xfrm>
          <a:prstGeom prst="rect">
            <a:avLst/>
          </a:prstGeom>
          <a:noFill/>
        </p:spPr>
        <p:txBody>
          <a:bodyPr wrap="none">
            <a:spAutoFit/>
          </a:bodyPr>
          <a:lstStyle/>
          <a:p>
            <a:pPr marL="0" marR="0" lvl="0" indent="0" algn="l" defTabSz="914400">
              <a:lnSpc>
                <a:spcPct val="100000"/>
              </a:lnSpc>
              <a:spcBef>
                <a:spcPts val="0"/>
              </a:spcBef>
              <a:spcAft>
                <a:spcPts val="0"/>
              </a:spcAft>
              <a:buClrTx/>
              <a:buSzTx/>
              <a:buFontTx/>
              <a:buNone/>
              <a:defRPr sz="1350">
                <a:solidFill>
                  <a:srgbClr val="183D61"/>
                </a:solidFill>
                <a:latin typeface="微软雅黑"/>
                <a:ea typeface="微软雅黑"/>
                <a:cs typeface="微软雅黑"/>
              </a:defRPr>
            </a:pPr>
            <a:r>
              <a:rPr sz="1350" b="1" i="0" u="none" cap="none" spc="0" dirty="0">
                <a:ln>
                  <a:noFill/>
                </a:ln>
                <a:solidFill>
                  <a:srgbClr val="183D61"/>
                </a:solidFill>
                <a:latin typeface="微软雅黑"/>
                <a:ea typeface="微软雅黑"/>
                <a:cs typeface="微软雅黑"/>
              </a:rPr>
              <a:t>02 / </a:t>
            </a:r>
            <a:r>
              <a:rPr lang="en-US" sz="1350" b="1" dirty="0">
                <a:solidFill>
                  <a:srgbClr val="183D61"/>
                </a:solidFill>
                <a:latin typeface="微软雅黑"/>
                <a:ea typeface="微软雅黑"/>
                <a:cs typeface="微软雅黑"/>
              </a:rPr>
              <a:t>09</a:t>
            </a:r>
            <a:endParaRPr sz="1800" b="1" i="0" u="none" kern="1200" cap="none" spc="0" baseline="30000" dirty="0">
              <a:ln>
                <a:noFill/>
              </a:ln>
              <a:solidFill>
                <a:prstClr val="white">
                  <a:lumMod val="75000"/>
                </a:prstClr>
              </a:solidFill>
              <a:latin typeface="Calibri"/>
              <a:ea typeface="Calibri"/>
              <a:cs typeface="Calibri"/>
            </a:endParaRPr>
          </a:p>
        </p:txBody>
      </p:sp>
      <p:sp>
        <p:nvSpPr>
          <p:cNvPr id="19" name="矩形 18"/>
          <p:cNvSpPr>
            <a:spLocks noGrp="1"/>
          </p:cNvSpPr>
          <p:nvPr/>
        </p:nvSpPr>
        <p:spPr>
          <a:xfrm>
            <a:off x="428625" y="1085850"/>
            <a:ext cx="5457825" cy="466725"/>
          </a:xfrm>
          <a:prstGeom prst="rect">
            <a:avLst/>
          </a:prstGeom>
          <a:solidFill>
            <a:srgbClr val="084B80"/>
          </a:solidFill>
          <a:ln w="0">
            <a:noFill/>
          </a:ln>
        </p:spPr>
        <p:txBody>
          <a:bodyPr>
            <a:noAutofit/>
          </a:bodyPr>
          <a:lstStyle/>
          <a:p>
            <a:pPr>
              <a:defRPr sz="2100" b="1">
                <a:solidFill>
                  <a:srgbClr val="FFFFFF"/>
                </a:solidFill>
                <a:latin typeface="微软雅黑"/>
                <a:ea typeface="微软雅黑"/>
                <a:cs typeface="微软雅黑"/>
              </a:defRPr>
            </a:pPr>
            <a:r>
              <a:rPr sz="2100" b="1" dirty="0">
                <a:solidFill>
                  <a:srgbClr val="FFFFFF"/>
                </a:solidFill>
                <a:latin typeface="微软雅黑"/>
                <a:ea typeface="微软雅黑"/>
                <a:cs typeface="微软雅黑"/>
              </a:rPr>
              <a:t>已有范式：类别先确定，再收集标注</a:t>
            </a:r>
          </a:p>
        </p:txBody>
      </p:sp>
      <p:sp>
        <p:nvSpPr>
          <p:cNvPr id="20" name="矩形 19"/>
          <p:cNvSpPr>
            <a:spLocks noGrp="1"/>
          </p:cNvSpPr>
          <p:nvPr/>
        </p:nvSpPr>
        <p:spPr>
          <a:xfrm>
            <a:off x="6153150" y="1085850"/>
            <a:ext cx="5572125" cy="466725"/>
          </a:xfrm>
          <a:prstGeom prst="rect">
            <a:avLst/>
          </a:prstGeom>
          <a:solidFill>
            <a:srgbClr val="084B80"/>
          </a:solidFill>
          <a:ln w="0">
            <a:noFill/>
          </a:ln>
        </p:spPr>
        <p:txBody>
          <a:bodyPr>
            <a:noAutofit/>
          </a:bodyPr>
          <a:lstStyle/>
          <a:p>
            <a:pPr>
              <a:defRPr sz="2100" b="1">
                <a:solidFill>
                  <a:srgbClr val="FFFFFF"/>
                </a:solidFill>
                <a:latin typeface="微软雅黑"/>
                <a:ea typeface="微软雅黑"/>
                <a:cs typeface="微软雅黑"/>
              </a:defRPr>
            </a:pPr>
            <a:r>
              <a:rPr sz="2100" b="1" dirty="0">
                <a:solidFill>
                  <a:srgbClr val="FFFFFF"/>
                </a:solidFill>
                <a:latin typeface="微软雅黑"/>
                <a:ea typeface="微软雅黑"/>
                <a:cs typeface="微软雅黑"/>
              </a:rPr>
              <a:t>研究目标：让语言描述参与视觉学习</a:t>
            </a:r>
          </a:p>
        </p:txBody>
      </p:sp>
      <p:sp>
        <p:nvSpPr>
          <p:cNvPr id="21" name="矩形 20"/>
          <p:cNvSpPr>
            <a:spLocks noGrp="1"/>
          </p:cNvSpPr>
          <p:nvPr/>
        </p:nvSpPr>
        <p:spPr>
          <a:xfrm>
            <a:off x="533400" y="1762125"/>
            <a:ext cx="525780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问题一：监督信息受固定标签限制</a:t>
            </a:r>
          </a:p>
        </p:txBody>
      </p:sp>
      <p:sp>
        <p:nvSpPr>
          <p:cNvPr id="22" name="矩形 21"/>
          <p:cNvSpPr>
            <a:spLocks noGrp="1"/>
          </p:cNvSpPr>
          <p:nvPr/>
        </p:nvSpPr>
        <p:spPr>
          <a:xfrm>
            <a:off x="533400" y="2190750"/>
            <a:ext cx="5257800" cy="1143000"/>
          </a:xfrm>
          <a:prstGeom prst="rect">
            <a:avLst/>
          </a:prstGeom>
          <a:noFill/>
          <a:ln w="0">
            <a:noFill/>
          </a:ln>
        </p:spPr>
        <p:txBody>
          <a:bodyPr>
            <a:noAutofit/>
          </a:bodyPr>
          <a:lstStyle/>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传统分类将“猫、狗、汽车”编码为离散标签。</a:t>
            </a:r>
          </a:p>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类别之间的语义关系，以及图片中的属性、动作和背景信息，难以通过单一类别标签充分表达。</a:t>
            </a:r>
          </a:p>
        </p:txBody>
      </p:sp>
      <p:sp>
        <p:nvSpPr>
          <p:cNvPr id="23" name="矩形 22"/>
          <p:cNvSpPr>
            <a:spLocks noGrp="1"/>
          </p:cNvSpPr>
          <p:nvPr/>
        </p:nvSpPr>
        <p:spPr>
          <a:xfrm>
            <a:off x="533400" y="3724275"/>
            <a:ext cx="525780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问题二：换任务往往需要重新标注</a:t>
            </a:r>
          </a:p>
        </p:txBody>
      </p:sp>
      <p:sp>
        <p:nvSpPr>
          <p:cNvPr id="24" name="矩形 23"/>
          <p:cNvSpPr>
            <a:spLocks noGrp="1"/>
          </p:cNvSpPr>
          <p:nvPr/>
        </p:nvSpPr>
        <p:spPr>
          <a:xfrm>
            <a:off x="533400" y="4152900"/>
            <a:ext cx="5257800" cy="1143000"/>
          </a:xfrm>
          <a:prstGeom prst="rect">
            <a:avLst/>
          </a:prstGeom>
          <a:noFill/>
          <a:ln w="0">
            <a:noFill/>
          </a:ln>
        </p:spPr>
        <p:txBody>
          <a:bodyPr>
            <a:noAutofit/>
          </a:bodyPr>
          <a:lstStyle/>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食物识别、遥感分类或细粒度识别有不同的类别体系。</a:t>
            </a:r>
          </a:p>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为每个任务收集训练数据、拟合分类头，会限制模型的迁移范围与使用灵活性。</a:t>
            </a:r>
          </a:p>
        </p:txBody>
      </p:sp>
      <p:sp>
        <p:nvSpPr>
          <p:cNvPr id="25" name="矩形 24"/>
          <p:cNvSpPr>
            <a:spLocks noGrp="1"/>
          </p:cNvSpPr>
          <p:nvPr/>
        </p:nvSpPr>
        <p:spPr>
          <a:xfrm>
            <a:off x="6267450" y="1762125"/>
            <a:ext cx="531495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监督来源：互联网已有的图像与文字</a:t>
            </a:r>
          </a:p>
        </p:txBody>
      </p:sp>
      <p:sp>
        <p:nvSpPr>
          <p:cNvPr id="26" name="矩形 25"/>
          <p:cNvSpPr>
            <a:spLocks noGrp="1"/>
          </p:cNvSpPr>
          <p:nvPr/>
        </p:nvSpPr>
        <p:spPr>
          <a:xfrm>
            <a:off x="6267450" y="2190750"/>
            <a:ext cx="5314950" cy="1143000"/>
          </a:xfrm>
          <a:prstGeom prst="rect">
            <a:avLst/>
          </a:prstGeom>
          <a:noFill/>
          <a:ln w="0">
            <a:noFill/>
          </a:ln>
        </p:spPr>
        <p:txBody>
          <a:bodyPr>
            <a:noAutofit/>
          </a:bodyPr>
          <a:lstStyle/>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标题、描述和相关文本能够提供更丰富的概念信息。</a:t>
            </a:r>
          </a:p>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将自然语言作为学习信号，减少对专门人工类别标注的依赖。</a:t>
            </a:r>
          </a:p>
        </p:txBody>
      </p:sp>
      <p:sp>
        <p:nvSpPr>
          <p:cNvPr id="27" name="矩形 26"/>
          <p:cNvSpPr>
            <a:spLocks noGrp="1"/>
          </p:cNvSpPr>
          <p:nvPr/>
        </p:nvSpPr>
        <p:spPr>
          <a:xfrm>
            <a:off x="6267450" y="3724275"/>
            <a:ext cx="531495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任务接口：用文字告诉模型识别什么</a:t>
            </a:r>
          </a:p>
        </p:txBody>
      </p:sp>
      <p:sp>
        <p:nvSpPr>
          <p:cNvPr id="28" name="矩形 27"/>
          <p:cNvSpPr>
            <a:spLocks noGrp="1"/>
          </p:cNvSpPr>
          <p:nvPr/>
        </p:nvSpPr>
        <p:spPr>
          <a:xfrm>
            <a:off x="6267450" y="4152900"/>
            <a:ext cx="5314950" cy="1143000"/>
          </a:xfrm>
          <a:prstGeom prst="rect">
            <a:avLst/>
          </a:prstGeom>
          <a:noFill/>
          <a:ln w="0">
            <a:noFill/>
          </a:ln>
        </p:spPr>
        <p:txBody>
          <a:bodyPr>
            <a:noAutofit/>
          </a:bodyPr>
          <a:lstStyle/>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预训练后，把候选类别写成文本，与图像表示比较。</a:t>
            </a:r>
          </a:p>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核心问题是：自然语言监督能否形成可迁移的视觉表示，并支持零样本分类？</a:t>
            </a:r>
          </a:p>
        </p:txBody>
      </p:sp>
      <p:sp>
        <p:nvSpPr>
          <p:cNvPr id="3" name="文本框 2"/>
          <p:cNvSpPr txBox="1"/>
          <p:nvPr/>
        </p:nvSpPr>
        <p:spPr>
          <a:xfrm>
            <a:off x="1462648" y="5686425"/>
            <a:ext cx="9024377" cy="738664"/>
          </a:xfrm>
          <a:prstGeom prst="rect">
            <a:avLst/>
          </a:prstGeom>
          <a:noFill/>
        </p:spPr>
        <p:txBody>
          <a:bodyPr wrap="square">
            <a:spAutoFit/>
          </a:bodyPr>
          <a:lstStyle/>
          <a:p>
            <a:pPr>
              <a:defRPr sz="2100" b="1">
                <a:solidFill>
                  <a:srgbClr val="084B80"/>
                </a:solidFill>
                <a:latin typeface="微软雅黑"/>
                <a:ea typeface="微软雅黑"/>
                <a:cs typeface="微软雅黑"/>
              </a:defRPr>
            </a:pPr>
            <a:r>
              <a:rPr lang="en-US" altLang="zh-CN" sz="2100" b="1" dirty="0">
                <a:solidFill>
                  <a:srgbClr val="084B80"/>
                </a:solidFill>
                <a:latin typeface="微软雅黑"/>
                <a:ea typeface="微软雅黑"/>
              </a:rPr>
              <a:t>本文的研究动机不只是提高一个数据集上的准确率，而是研究：自然语言监督能否形成可迁移的视觉表示，让同一个模型支持不同任务？</a:t>
            </a:r>
            <a:endParaRPr lang="zh-CN" altLang="en-US" sz="2100" b="1" dirty="0">
              <a:solidFill>
                <a:srgbClr val="084B80"/>
              </a:solidFill>
              <a:latin typeface="微软雅黑"/>
              <a:ea typeface="微软雅黑"/>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a:spLocks noGrp="1"/>
          </p:cNvSpPr>
          <p:nvPr/>
        </p:nvSpPr>
        <p:spPr>
          <a:xfrm>
            <a:off x="335361" y="116633"/>
            <a:ext cx="573023" cy="557721"/>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6" name="平行四边形 5"/>
          <p:cNvSpPr>
            <a:spLocks noGrp="1"/>
          </p:cNvSpPr>
          <p:nvPr/>
        </p:nvSpPr>
        <p:spPr>
          <a:xfrm>
            <a:off x="392209" y="171680"/>
            <a:ext cx="573023" cy="557721"/>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7" name="直接连接符 6"/>
          <p:cNvSpPr>
            <a:spLocks noGrp="1"/>
          </p:cNvSpPr>
          <p:nvPr/>
        </p:nv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sp>
      <p:sp>
        <p:nvSpPr>
          <p:cNvPr id="10" name="文本占位符 5"/>
          <p:cNvSpPr>
            <a:spLocks noGrp="1"/>
          </p:cNvSpPr>
          <p:nvPr/>
        </p:nvSpPr>
        <p:spPr>
          <a:xfrm>
            <a:off x="1123950" y="190500"/>
            <a:ext cx="8524875" cy="609600"/>
          </a:xfrm>
          <a:prstGeom prst="rect">
            <a:avLst/>
          </a:prstGeom>
        </p:spPr>
        <p:txBody>
          <a:bodyPr vert="horz" lIns="91440" tIns="45720" rIns="91440" bIns="45720">
            <a:normAutofit/>
          </a:bodyPr>
          <a:lstStyle>
            <a:lvl1pPr marL="0" indent="0" algn="l" defTabSz="914400">
              <a:lnSpc>
                <a:spcPct val="90000"/>
              </a:lnSpc>
              <a:spcBef>
                <a:spcPts val="1000"/>
              </a:spcBef>
              <a:buFont typeface="Arial" panose="020B0604020202090204"/>
              <a:buNone/>
              <a:defRPr sz="3200" b="1" kern="1200">
                <a:solidFill>
                  <a:srgbClr val="024282"/>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l" defTabSz="914400">
              <a:lnSpc>
                <a:spcPct val="90000"/>
              </a:lnSpc>
              <a:spcBef>
                <a:spcPts val="1000"/>
              </a:spcBef>
              <a:spcAft>
                <a:spcPts val="0"/>
              </a:spcAft>
              <a:buClrTx/>
              <a:buSzTx/>
              <a:buFont typeface="Arial" panose="020B0604020202090204"/>
              <a:buNone/>
              <a:defRPr sz="2775" b="1">
                <a:solidFill>
                  <a:srgbClr val="084B80"/>
                </a:solidFill>
                <a:latin typeface="微软雅黑"/>
                <a:ea typeface="微软雅黑"/>
                <a:cs typeface="微软雅黑"/>
              </a:defRPr>
            </a:pPr>
            <a:r>
              <a:rPr sz="2775" b="1" i="0" u="none" cap="none" spc="0" dirty="0">
                <a:ln>
                  <a:noFill/>
                </a:ln>
                <a:solidFill>
                  <a:srgbClr val="084B80"/>
                </a:solidFill>
                <a:latin typeface="微软雅黑"/>
                <a:ea typeface="微软雅黑"/>
                <a:cs typeface="微软雅黑"/>
              </a:rPr>
              <a:t>方法选择：为什么采用对比学习</a:t>
            </a:r>
            <a:endParaRPr sz="3200" b="1" i="0" u="none" kern="1200" cap="none" spc="0" baseline="0" dirty="0">
              <a:ln>
                <a:noFill/>
              </a:ln>
              <a:solidFill>
                <a:srgbClr val="024282"/>
              </a:solidFill>
              <a:latin typeface="微软雅黑"/>
              <a:ea typeface="微软雅黑"/>
              <a:cs typeface="微软雅黑"/>
            </a:endParaRPr>
          </a:p>
        </p:txBody>
      </p:sp>
      <p:sp>
        <p:nvSpPr>
          <p:cNvPr id="17" name="文本框 16"/>
          <p:cNvSpPr>
            <a:spLocks noGrp="1"/>
          </p:cNvSpPr>
          <p:nvPr/>
        </p:nvSpPr>
        <p:spPr>
          <a:xfrm>
            <a:off x="10813677" y="6398695"/>
            <a:ext cx="798617" cy="300082"/>
          </a:xfrm>
          <a:prstGeom prst="rect">
            <a:avLst/>
          </a:prstGeom>
          <a:noFill/>
        </p:spPr>
        <p:txBody>
          <a:bodyPr wrap="none">
            <a:spAutoFit/>
          </a:bodyPr>
          <a:lstStyle/>
          <a:p>
            <a:pPr marL="0" marR="0" lvl="0" indent="0" algn="l" defTabSz="914400">
              <a:lnSpc>
                <a:spcPct val="100000"/>
              </a:lnSpc>
              <a:spcBef>
                <a:spcPts val="0"/>
              </a:spcBef>
              <a:spcAft>
                <a:spcPts val="0"/>
              </a:spcAft>
              <a:buClrTx/>
              <a:buSzTx/>
              <a:buFontTx/>
              <a:buNone/>
              <a:defRPr sz="1350">
                <a:solidFill>
                  <a:srgbClr val="183D61"/>
                </a:solidFill>
                <a:latin typeface="微软雅黑"/>
                <a:ea typeface="微软雅黑"/>
                <a:cs typeface="微软雅黑"/>
              </a:defRPr>
            </a:pPr>
            <a:r>
              <a:rPr sz="1350" b="1" i="0" u="none" cap="none" spc="0" dirty="0">
                <a:ln>
                  <a:noFill/>
                </a:ln>
                <a:solidFill>
                  <a:srgbClr val="183D61"/>
                </a:solidFill>
                <a:latin typeface="微软雅黑"/>
                <a:ea typeface="微软雅黑"/>
                <a:cs typeface="微软雅黑"/>
              </a:rPr>
              <a:t>03 / </a:t>
            </a:r>
            <a:r>
              <a:rPr lang="en-US" sz="1350" b="1" dirty="0">
                <a:solidFill>
                  <a:srgbClr val="183D61"/>
                </a:solidFill>
                <a:latin typeface="微软雅黑"/>
                <a:ea typeface="微软雅黑"/>
                <a:cs typeface="微软雅黑"/>
              </a:rPr>
              <a:t>09</a:t>
            </a:r>
            <a:endParaRPr sz="1800" b="1" i="0" u="none" kern="1200" cap="none" spc="0" baseline="30000" dirty="0">
              <a:ln>
                <a:noFill/>
              </a:ln>
              <a:solidFill>
                <a:prstClr val="white">
                  <a:lumMod val="75000"/>
                </a:prstClr>
              </a:solidFill>
              <a:latin typeface="Calibri"/>
              <a:ea typeface="Calibri"/>
              <a:cs typeface="Calibri"/>
            </a:endParaRPr>
          </a:p>
        </p:txBody>
      </p:sp>
      <p:sp>
        <p:nvSpPr>
          <p:cNvPr id="19" name="矩形 18"/>
          <p:cNvSpPr>
            <a:spLocks noGrp="1"/>
          </p:cNvSpPr>
          <p:nvPr/>
        </p:nvSpPr>
        <p:spPr>
          <a:xfrm>
            <a:off x="428625" y="1181100"/>
            <a:ext cx="550545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lang="zh-CN" altLang="en-US" sz="2100" b="1" dirty="0">
                <a:solidFill>
                  <a:srgbClr val="084B80"/>
                </a:solidFill>
                <a:latin typeface="微软雅黑"/>
                <a:ea typeface="微软雅黑"/>
                <a:cs typeface="微软雅黑"/>
              </a:rPr>
              <a:t>让模型学什么？</a:t>
            </a:r>
            <a:endParaRPr lang="en-US" altLang="zh-CN" sz="2100" b="1" dirty="0">
              <a:solidFill>
                <a:srgbClr val="084B80"/>
              </a:solidFill>
              <a:latin typeface="微软雅黑"/>
              <a:ea typeface="微软雅黑"/>
              <a:cs typeface="微软雅黑"/>
            </a:endParaRPr>
          </a:p>
          <a:p>
            <a:pPr>
              <a:defRPr sz="2100" b="1">
                <a:solidFill>
                  <a:srgbClr val="084B80"/>
                </a:solidFill>
                <a:latin typeface="微软雅黑"/>
                <a:ea typeface="微软雅黑"/>
                <a:cs typeface="微软雅黑"/>
              </a:defRPr>
            </a:pPr>
            <a:r>
              <a:rPr lang="en-US" altLang="zh-CN" sz="2100" b="1" dirty="0">
                <a:solidFill>
                  <a:srgbClr val="084B80"/>
                </a:solidFill>
                <a:latin typeface="微软雅黑"/>
                <a:ea typeface="微软雅黑"/>
                <a:cs typeface="微软雅黑"/>
              </a:rPr>
              <a:t>    ——</a:t>
            </a:r>
            <a:r>
              <a:rPr sz="2100" b="1" dirty="0">
                <a:solidFill>
                  <a:srgbClr val="084B80"/>
                </a:solidFill>
                <a:latin typeface="微软雅黑"/>
                <a:ea typeface="微软雅黑"/>
                <a:cs typeface="微软雅黑"/>
              </a:rPr>
              <a:t>直接生成描述，学习目标过于复杂</a:t>
            </a:r>
          </a:p>
        </p:txBody>
      </p:sp>
      <p:sp>
        <p:nvSpPr>
          <p:cNvPr id="20" name="矩形 19"/>
          <p:cNvSpPr>
            <a:spLocks noGrp="1"/>
          </p:cNvSpPr>
          <p:nvPr/>
        </p:nvSpPr>
        <p:spPr>
          <a:xfrm>
            <a:off x="428625" y="1933525"/>
            <a:ext cx="5505450"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同一张图片可以对应多种正确表述。逐词预测不仅要理解图像，还要学习措辞与句子顺序，训练效率成为扩大规模的限制。</a:t>
            </a:r>
          </a:p>
        </p:txBody>
      </p:sp>
      <p:sp>
        <p:nvSpPr>
          <p:cNvPr id="21" name="矩形 20"/>
          <p:cNvSpPr>
            <a:spLocks noGrp="1"/>
          </p:cNvSpPr>
          <p:nvPr/>
        </p:nvSpPr>
        <p:spPr>
          <a:xfrm>
            <a:off x="428625" y="3048000"/>
            <a:ext cx="550545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对比学习只判断“哪一对相互匹配”</a:t>
            </a:r>
          </a:p>
        </p:txBody>
      </p:sp>
      <p:sp>
        <p:nvSpPr>
          <p:cNvPr id="22" name="矩形 21"/>
          <p:cNvSpPr>
            <a:spLocks noGrp="1"/>
          </p:cNvSpPr>
          <p:nvPr/>
        </p:nvSpPr>
        <p:spPr>
          <a:xfrm>
            <a:off x="428625" y="3476625"/>
            <a:ext cx="5505450"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保留整段文本的语义作为监督，不要求模型逐字生成描述。通过匹配与不匹配图文的比较，学习可用于识别的共同表示。</a:t>
            </a:r>
          </a:p>
        </p:txBody>
      </p:sp>
      <p:sp>
        <p:nvSpPr>
          <p:cNvPr id="23" name="矩形 22"/>
          <p:cNvSpPr>
            <a:spLocks noGrp="1"/>
          </p:cNvSpPr>
          <p:nvPr/>
        </p:nvSpPr>
        <p:spPr>
          <a:xfrm>
            <a:off x="466725" y="5238750"/>
            <a:ext cx="5800260" cy="771525"/>
          </a:xfrm>
          <a:prstGeom prst="rect">
            <a:avLst/>
          </a:prstGeom>
          <a:noFill/>
          <a:ln w="0">
            <a:noFill/>
          </a:ln>
        </p:spPr>
        <p:txBody>
          <a:bodyPr>
            <a:noAutofit/>
          </a:bodyPr>
          <a:lstStyle/>
          <a:p>
            <a:pPr>
              <a:defRPr sz="2025" b="1">
                <a:solidFill>
                  <a:srgbClr val="084B80"/>
                </a:solidFill>
                <a:latin typeface="微软雅黑"/>
                <a:ea typeface="微软雅黑"/>
                <a:cs typeface="微软雅黑"/>
              </a:defRPr>
            </a:pPr>
            <a:r>
              <a:rPr sz="2025" b="1" dirty="0">
                <a:solidFill>
                  <a:srgbClr val="084B80"/>
                </a:solidFill>
                <a:latin typeface="微软雅黑"/>
                <a:ea typeface="微软雅黑"/>
                <a:cs typeface="微软雅黑"/>
              </a:rPr>
              <a:t>方法选择依据：优先提高视觉迁移的学习效率，</a:t>
            </a:r>
          </a:p>
          <a:p>
            <a:pPr>
              <a:defRPr sz="2025" b="1">
                <a:solidFill>
                  <a:srgbClr val="084B80"/>
                </a:solidFill>
                <a:latin typeface="微软雅黑"/>
                <a:ea typeface="微软雅黑"/>
                <a:cs typeface="微软雅黑"/>
              </a:defRPr>
            </a:pPr>
            <a:r>
              <a:rPr sz="2025" b="1" dirty="0">
                <a:solidFill>
                  <a:srgbClr val="084B80"/>
                </a:solidFill>
                <a:latin typeface="微软雅黑"/>
                <a:ea typeface="微软雅黑"/>
                <a:cs typeface="微软雅黑"/>
              </a:rPr>
              <a:t>使自然语言监督能够扩展到大规模图文数据。</a:t>
            </a:r>
          </a:p>
        </p:txBody>
      </p:sp>
      <p:pic>
        <p:nvPicPr>
          <p:cNvPr id="37" name="图片 36"/>
          <p:cNvPicPr>
            <a:picLocks noChangeAspect="1"/>
          </p:cNvPicPr>
          <p:nvPr/>
        </p:nvPicPr>
        <p:blipFill>
          <a:blip r:embed="rId3"/>
          <a:stretch>
            <a:fillRect/>
          </a:stretch>
        </p:blipFill>
        <p:spPr>
          <a:xfrm>
            <a:off x="6257927" y="1275204"/>
            <a:ext cx="5095875" cy="3498016"/>
          </a:xfrm>
          <a:prstGeom prst="rect">
            <a:avLst/>
          </a:prstGeom>
        </p:spPr>
      </p:pic>
      <p:sp>
        <p:nvSpPr>
          <p:cNvPr id="25" name="矩形 24"/>
          <p:cNvSpPr>
            <a:spLocks noGrp="1"/>
          </p:cNvSpPr>
          <p:nvPr/>
        </p:nvSpPr>
        <p:spPr>
          <a:xfrm>
            <a:off x="6315075" y="5181600"/>
            <a:ext cx="5248275" cy="933450"/>
          </a:xfrm>
          <a:prstGeom prst="rect">
            <a:avLst/>
          </a:prstGeom>
          <a:noFill/>
          <a:ln w="0">
            <a:noFill/>
          </a:ln>
        </p:spPr>
        <p:txBody>
          <a:bodyPr>
            <a:noAutofit/>
          </a:bodyPr>
          <a:lstStyle/>
          <a:p>
            <a:pPr>
              <a:defRPr sz="1800" b="0">
                <a:solidFill>
                  <a:srgbClr val="202020"/>
                </a:solidFill>
                <a:latin typeface="微软雅黑"/>
                <a:ea typeface="微软雅黑"/>
                <a:cs typeface="微软雅黑"/>
              </a:defRPr>
            </a:pPr>
            <a:r>
              <a:rPr sz="1800" b="0" dirty="0">
                <a:solidFill>
                  <a:srgbClr val="202020"/>
                </a:solidFill>
                <a:latin typeface="微软雅黑"/>
                <a:ea typeface="微软雅黑"/>
                <a:cs typeface="微软雅黑"/>
              </a:rPr>
              <a:t>读图：同样处理图片数量下，对比目标的零样本准确率更高。</a:t>
            </a:r>
          </a:p>
          <a:p>
            <a:pPr>
              <a:defRPr sz="1800" b="0">
                <a:solidFill>
                  <a:srgbClr val="202020"/>
                </a:solidFill>
                <a:latin typeface="微软雅黑"/>
                <a:ea typeface="微软雅黑"/>
                <a:cs typeface="微软雅黑"/>
              </a:defRPr>
            </a:pPr>
            <a:r>
              <a:rPr sz="1800" b="0" dirty="0">
                <a:solidFill>
                  <a:srgbClr val="202020"/>
                </a:solidFill>
                <a:latin typeface="微软雅黑"/>
                <a:ea typeface="微软雅黑"/>
                <a:cs typeface="微软雅黑"/>
              </a:rPr>
              <a:t>4× 指相对于词袋预测基线的样本效率。</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a:spLocks noGrp="1"/>
          </p:cNvSpPr>
          <p:nvPr/>
        </p:nvSpPr>
        <p:spPr>
          <a:xfrm>
            <a:off x="335361" y="116633"/>
            <a:ext cx="573023" cy="557721"/>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6" name="平行四边形 5"/>
          <p:cNvSpPr>
            <a:spLocks noGrp="1"/>
          </p:cNvSpPr>
          <p:nvPr/>
        </p:nvSpPr>
        <p:spPr>
          <a:xfrm>
            <a:off x="392209" y="171680"/>
            <a:ext cx="573023" cy="557721"/>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7" name="直接连接符 6"/>
          <p:cNvSpPr>
            <a:spLocks noGrp="1"/>
          </p:cNvSpPr>
          <p:nvPr/>
        </p:nv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sp>
      <p:sp>
        <p:nvSpPr>
          <p:cNvPr id="10" name="文本占位符 5"/>
          <p:cNvSpPr>
            <a:spLocks noGrp="1"/>
          </p:cNvSpPr>
          <p:nvPr/>
        </p:nvSpPr>
        <p:spPr>
          <a:xfrm>
            <a:off x="1123950" y="190500"/>
            <a:ext cx="8524875" cy="609600"/>
          </a:xfrm>
          <a:prstGeom prst="rect">
            <a:avLst/>
          </a:prstGeom>
        </p:spPr>
        <p:txBody>
          <a:bodyPr vert="horz" lIns="91440" tIns="45720" rIns="91440" bIns="45720">
            <a:normAutofit/>
          </a:bodyPr>
          <a:lstStyle>
            <a:lvl1pPr marL="0" indent="0" algn="l" defTabSz="914400">
              <a:lnSpc>
                <a:spcPct val="90000"/>
              </a:lnSpc>
              <a:spcBef>
                <a:spcPts val="1000"/>
              </a:spcBef>
              <a:buFont typeface="Arial" panose="020B0604020202090204"/>
              <a:buNone/>
              <a:defRPr sz="3200" b="1" kern="1200">
                <a:solidFill>
                  <a:srgbClr val="024282"/>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l" defTabSz="914400">
              <a:lnSpc>
                <a:spcPct val="90000"/>
              </a:lnSpc>
              <a:spcBef>
                <a:spcPts val="1000"/>
              </a:spcBef>
              <a:spcAft>
                <a:spcPts val="0"/>
              </a:spcAft>
              <a:buClrTx/>
              <a:buSzTx/>
              <a:buFont typeface="Arial" panose="020B0604020202090204"/>
              <a:buNone/>
              <a:defRPr sz="2775" b="1">
                <a:solidFill>
                  <a:srgbClr val="084B80"/>
                </a:solidFill>
                <a:latin typeface="微软雅黑"/>
                <a:ea typeface="微软雅黑"/>
                <a:cs typeface="微软雅黑"/>
              </a:defRPr>
            </a:pPr>
            <a:r>
              <a:rPr lang="zh-CN" altLang="en-US" sz="2775" b="1" i="0" u="none" cap="none" spc="0" dirty="0">
                <a:ln>
                  <a:noFill/>
                </a:ln>
                <a:solidFill>
                  <a:srgbClr val="084B80"/>
                </a:solidFill>
                <a:latin typeface="微软雅黑"/>
                <a:ea typeface="微软雅黑"/>
                <a:cs typeface="微软雅黑"/>
              </a:rPr>
              <a:t>预训练</a:t>
            </a:r>
            <a:r>
              <a:rPr sz="2775" b="1" i="0" u="none" cap="none" spc="0" dirty="0">
                <a:ln>
                  <a:noFill/>
                </a:ln>
                <a:solidFill>
                  <a:srgbClr val="084B80"/>
                </a:solidFill>
                <a:latin typeface="微软雅黑"/>
                <a:ea typeface="微软雅黑"/>
                <a:cs typeface="微软雅黑"/>
              </a:rPr>
              <a:t>数据基础：用网络图文扩大监督</a:t>
            </a:r>
            <a:endParaRPr sz="3200" b="1" i="0" u="none" kern="1200" cap="none" spc="0" baseline="0" dirty="0">
              <a:ln>
                <a:noFill/>
              </a:ln>
              <a:solidFill>
                <a:srgbClr val="024282"/>
              </a:solidFill>
              <a:latin typeface="微软雅黑"/>
              <a:ea typeface="微软雅黑"/>
              <a:cs typeface="微软雅黑"/>
            </a:endParaRPr>
          </a:p>
        </p:txBody>
      </p:sp>
      <p:sp>
        <p:nvSpPr>
          <p:cNvPr id="17" name="文本框 16"/>
          <p:cNvSpPr>
            <a:spLocks noGrp="1"/>
          </p:cNvSpPr>
          <p:nvPr/>
        </p:nvSpPr>
        <p:spPr>
          <a:xfrm>
            <a:off x="10813677" y="6398695"/>
            <a:ext cx="798617" cy="300082"/>
          </a:xfrm>
          <a:prstGeom prst="rect">
            <a:avLst/>
          </a:prstGeom>
          <a:noFill/>
        </p:spPr>
        <p:txBody>
          <a:bodyPr wrap="none">
            <a:spAutoFit/>
          </a:bodyPr>
          <a:lstStyle/>
          <a:p>
            <a:pPr marL="0" marR="0" lvl="0" indent="0" algn="l" defTabSz="914400">
              <a:lnSpc>
                <a:spcPct val="100000"/>
              </a:lnSpc>
              <a:spcBef>
                <a:spcPts val="0"/>
              </a:spcBef>
              <a:spcAft>
                <a:spcPts val="0"/>
              </a:spcAft>
              <a:buClrTx/>
              <a:buSzTx/>
              <a:buFontTx/>
              <a:buNone/>
              <a:defRPr sz="1350">
                <a:solidFill>
                  <a:srgbClr val="183D61"/>
                </a:solidFill>
                <a:latin typeface="微软雅黑"/>
                <a:ea typeface="微软雅黑"/>
                <a:cs typeface="微软雅黑"/>
              </a:defRPr>
            </a:pPr>
            <a:r>
              <a:rPr sz="1350" b="1" i="0" u="none" cap="none" spc="0" dirty="0">
                <a:ln>
                  <a:noFill/>
                </a:ln>
                <a:solidFill>
                  <a:srgbClr val="183D61"/>
                </a:solidFill>
                <a:latin typeface="微软雅黑"/>
                <a:ea typeface="微软雅黑"/>
                <a:cs typeface="微软雅黑"/>
              </a:rPr>
              <a:t>04 / </a:t>
            </a:r>
            <a:r>
              <a:rPr lang="en-US" sz="1350" b="1" dirty="0">
                <a:solidFill>
                  <a:srgbClr val="183D61"/>
                </a:solidFill>
                <a:latin typeface="微软雅黑"/>
                <a:ea typeface="微软雅黑"/>
                <a:cs typeface="微软雅黑"/>
              </a:rPr>
              <a:t>09</a:t>
            </a:r>
            <a:endParaRPr sz="1800" b="1" i="0" u="none" kern="1200" cap="none" spc="0" baseline="30000" dirty="0">
              <a:ln>
                <a:noFill/>
              </a:ln>
              <a:solidFill>
                <a:prstClr val="white">
                  <a:lumMod val="75000"/>
                </a:prstClr>
              </a:solidFill>
              <a:latin typeface="Calibri"/>
              <a:ea typeface="Calibri"/>
              <a:cs typeface="Calibri"/>
            </a:endParaRPr>
          </a:p>
        </p:txBody>
      </p:sp>
      <p:sp>
        <p:nvSpPr>
          <p:cNvPr id="19" name="矩形 18"/>
          <p:cNvSpPr>
            <a:spLocks noGrp="1"/>
          </p:cNvSpPr>
          <p:nvPr/>
        </p:nvSpPr>
        <p:spPr>
          <a:xfrm>
            <a:off x="447675" y="1133475"/>
            <a:ext cx="11239500" cy="504825"/>
          </a:xfrm>
          <a:prstGeom prst="rect">
            <a:avLst/>
          </a:prstGeom>
          <a:noFill/>
          <a:ln w="0">
            <a:noFill/>
          </a:ln>
        </p:spPr>
        <p:txBody>
          <a:bodyPr>
            <a:noAutofit/>
          </a:bodyPr>
          <a:lstStyle/>
          <a:p>
            <a:pPr>
              <a:defRPr sz="2625" b="1">
                <a:solidFill>
                  <a:srgbClr val="084B80"/>
                </a:solidFill>
                <a:latin typeface="微软雅黑"/>
                <a:ea typeface="微软雅黑"/>
                <a:cs typeface="微软雅黑"/>
              </a:defRPr>
            </a:pPr>
            <a:r>
              <a:rPr sz="2625" b="1" dirty="0">
                <a:solidFill>
                  <a:srgbClr val="084B80"/>
                </a:solidFill>
                <a:latin typeface="微软雅黑"/>
                <a:ea typeface="微软雅黑"/>
                <a:cs typeface="微软雅黑"/>
              </a:rPr>
              <a:t>WIT：4 亿个图文对</a:t>
            </a:r>
          </a:p>
        </p:txBody>
      </p:sp>
      <p:sp>
        <p:nvSpPr>
          <p:cNvPr id="20" name="矩形 19"/>
          <p:cNvSpPr>
            <a:spLocks noGrp="1"/>
          </p:cNvSpPr>
          <p:nvPr/>
        </p:nvSpPr>
        <p:spPr>
          <a:xfrm>
            <a:off x="457200" y="1876425"/>
            <a:ext cx="525780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如何构建</a:t>
            </a:r>
          </a:p>
        </p:txBody>
      </p:sp>
      <p:sp>
        <p:nvSpPr>
          <p:cNvPr id="21" name="矩形 20"/>
          <p:cNvSpPr>
            <a:spLocks noGrp="1"/>
          </p:cNvSpPr>
          <p:nvPr/>
        </p:nvSpPr>
        <p:spPr>
          <a:xfrm>
            <a:off x="457200" y="2305050"/>
            <a:ext cx="5257800" cy="1143000"/>
          </a:xfrm>
          <a:prstGeom prst="rect">
            <a:avLst/>
          </a:prstGeom>
          <a:noFill/>
          <a:ln w="0">
            <a:noFill/>
          </a:ln>
        </p:spPr>
        <p:txBody>
          <a:bodyPr>
            <a:noAutofit/>
          </a:bodyPr>
          <a:lstStyle/>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从公开互联网收集图像及相关文本。约 50 万个查询词扩大概念覆盖，每个查询最多保留 2 万对，进行近似平衡。</a:t>
            </a:r>
          </a:p>
        </p:txBody>
      </p:sp>
      <p:sp>
        <p:nvSpPr>
          <p:cNvPr id="22" name="矩形 21"/>
          <p:cNvSpPr>
            <a:spLocks noGrp="1"/>
          </p:cNvSpPr>
          <p:nvPr/>
        </p:nvSpPr>
        <p:spPr>
          <a:xfrm>
            <a:off x="457200" y="3762375"/>
            <a:ext cx="525780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为什么需要更大规模</a:t>
            </a:r>
          </a:p>
        </p:txBody>
      </p:sp>
      <p:sp>
        <p:nvSpPr>
          <p:cNvPr id="23" name="矩形 22"/>
          <p:cNvSpPr>
            <a:spLocks noGrp="1"/>
          </p:cNvSpPr>
          <p:nvPr/>
        </p:nvSpPr>
        <p:spPr>
          <a:xfrm>
            <a:off x="457200" y="4191000"/>
            <a:ext cx="5257800" cy="1143000"/>
          </a:xfrm>
          <a:prstGeom prst="rect">
            <a:avLst/>
          </a:prstGeom>
          <a:noFill/>
          <a:ln w="0">
            <a:noFill/>
          </a:ln>
        </p:spPr>
        <p:txBody>
          <a:bodyPr>
            <a:noAutofit/>
          </a:bodyPr>
          <a:lstStyle/>
          <a:p>
            <a:pPr>
              <a:defRPr sz="1950" b="0">
                <a:solidFill>
                  <a:srgbClr val="202020"/>
                </a:solidFill>
                <a:latin typeface="微软雅黑"/>
                <a:ea typeface="微软雅黑"/>
                <a:cs typeface="微软雅黑"/>
              </a:defRPr>
            </a:pPr>
            <a:r>
              <a:rPr sz="1950" b="0" dirty="0">
                <a:solidFill>
                  <a:srgbClr val="202020"/>
                </a:solidFill>
                <a:latin typeface="微软雅黑"/>
                <a:ea typeface="微软雅黑"/>
                <a:cs typeface="微软雅黑"/>
              </a:rPr>
              <a:t>COCO、Visual Genome 的图片规模约十万量级。YFCC100M 过滤出英文自然语言标题或描述后，约剩 1500 万张。</a:t>
            </a:r>
          </a:p>
        </p:txBody>
      </p:sp>
      <p:graphicFrame>
        <p:nvGraphicFramePr>
          <p:cNvPr id="37" name="表格 36"/>
          <p:cNvGraphicFramePr/>
          <p:nvPr/>
        </p:nvGraphicFramePr>
        <p:xfrm>
          <a:off x="6057900" y="1933575"/>
          <a:ext cx="5572125" cy="3095624"/>
        </p:xfrm>
        <a:graphic>
          <a:graphicData uri="http://schemas.openxmlformats.org/drawingml/2006/table">
            <a:tbl>
              <a:tblPr/>
              <a:tblGrid>
                <a:gridCol w="1790700">
                  <a:extLst>
                    <a:ext uri="{9D8B030D-6E8A-4147-A177-3AD203B41FA5}">
                      <a16:colId xmlns:a16="http://schemas.microsoft.com/office/drawing/2014/main" val="20000"/>
                    </a:ext>
                  </a:extLst>
                </a:gridCol>
                <a:gridCol w="3781425">
                  <a:extLst>
                    <a:ext uri="{9D8B030D-6E8A-4147-A177-3AD203B41FA5}">
                      <a16:colId xmlns:a16="http://schemas.microsoft.com/office/drawing/2014/main" val="20001"/>
                    </a:ext>
                  </a:extLst>
                </a:gridCol>
              </a:tblGrid>
              <a:tr h="773906">
                <a:tc>
                  <a:txBody>
                    <a:bodyPr/>
                    <a:lstStyle/>
                    <a:p>
                      <a:r>
                        <a:rPr sz="1800" b="1" dirty="0">
                          <a:solidFill>
                            <a:srgbClr val="FFFFFF"/>
                          </a:solidFill>
                          <a:latin typeface="微软雅黑"/>
                          <a:ea typeface="微软雅黑"/>
                          <a:cs typeface="微软雅黑"/>
                        </a:rPr>
                        <a:t>数据角色</a:t>
                      </a:r>
                    </a:p>
                  </a:txBody>
                  <a:tcPr>
                    <a:solidFill>
                      <a:srgbClr val="084B80"/>
                    </a:solidFill>
                  </a:tcPr>
                </a:tc>
                <a:tc>
                  <a:txBody>
                    <a:bodyPr/>
                    <a:lstStyle/>
                    <a:p>
                      <a:r>
                        <a:rPr sz="1800" b="1" dirty="0">
                          <a:solidFill>
                            <a:srgbClr val="FFFFFF"/>
                          </a:solidFill>
                          <a:latin typeface="微软雅黑"/>
                          <a:ea typeface="微软雅黑"/>
                          <a:cs typeface="微软雅黑"/>
                        </a:rPr>
                        <a:t>用途与代表任务</a:t>
                      </a:r>
                    </a:p>
                  </a:txBody>
                  <a:tcPr>
                    <a:solidFill>
                      <a:srgbClr val="084B80"/>
                    </a:solidFill>
                  </a:tcPr>
                </a:tc>
                <a:extLst>
                  <a:ext uri="{0D108BD9-81ED-4DB2-BD59-A6C34878D82A}">
                    <a16:rowId xmlns:a16="http://schemas.microsoft.com/office/drawing/2014/main" val="10000"/>
                  </a:ext>
                </a:extLst>
              </a:tr>
              <a:tr h="773906">
                <a:tc>
                  <a:txBody>
                    <a:bodyPr/>
                    <a:lstStyle/>
                    <a:p>
                      <a:r>
                        <a:rPr sz="1800" b="0" dirty="0">
                          <a:solidFill>
                            <a:srgbClr val="202020"/>
                          </a:solidFill>
                          <a:latin typeface="微软雅黑"/>
                          <a:ea typeface="微软雅黑"/>
                          <a:cs typeface="微软雅黑"/>
                        </a:rPr>
                        <a:t>预训练：WIT</a:t>
                      </a:r>
                    </a:p>
                  </a:txBody>
                  <a:tcPr>
                    <a:solidFill>
                      <a:srgbClr val="EDF4F9"/>
                    </a:solidFill>
                  </a:tcPr>
                </a:tc>
                <a:tc>
                  <a:txBody>
                    <a:bodyPr/>
                    <a:lstStyle/>
                    <a:p>
                      <a:r>
                        <a:rPr sz="1800" b="0" dirty="0">
                          <a:solidFill>
                            <a:srgbClr val="202020"/>
                          </a:solidFill>
                          <a:latin typeface="微软雅黑"/>
                          <a:ea typeface="微软雅黑"/>
                          <a:cs typeface="微软雅黑"/>
                        </a:rPr>
                        <a:t>学习图像与文本的语义对应</a:t>
                      </a:r>
                    </a:p>
                  </a:txBody>
                  <a:tcPr>
                    <a:solidFill>
                      <a:srgbClr val="EDF4F9"/>
                    </a:solidFill>
                  </a:tcPr>
                </a:tc>
                <a:extLst>
                  <a:ext uri="{0D108BD9-81ED-4DB2-BD59-A6C34878D82A}">
                    <a16:rowId xmlns:a16="http://schemas.microsoft.com/office/drawing/2014/main" val="10001"/>
                  </a:ext>
                </a:extLst>
              </a:tr>
              <a:tr h="773906">
                <a:tc>
                  <a:txBody>
                    <a:bodyPr/>
                    <a:lstStyle/>
                    <a:p>
                      <a:r>
                        <a:rPr sz="1800" b="0" dirty="0">
                          <a:solidFill>
                            <a:srgbClr val="202020"/>
                          </a:solidFill>
                          <a:latin typeface="微软雅黑"/>
                          <a:ea typeface="微软雅黑"/>
                          <a:cs typeface="微软雅黑"/>
                        </a:rPr>
                        <a:t>下游评测</a:t>
                      </a:r>
                    </a:p>
                  </a:txBody>
                  <a:tcPr>
                    <a:solidFill>
                      <a:srgbClr val="FFFFFF"/>
                    </a:solidFill>
                  </a:tcPr>
                </a:tc>
                <a:tc>
                  <a:txBody>
                    <a:bodyPr/>
                    <a:lstStyle/>
                    <a:p>
                      <a:r>
                        <a:rPr sz="1800" b="0" dirty="0">
                          <a:solidFill>
                            <a:srgbClr val="202020"/>
                          </a:solidFill>
                          <a:latin typeface="微软雅黑"/>
                          <a:ea typeface="微软雅黑"/>
                          <a:cs typeface="微软雅黑"/>
                        </a:rPr>
                        <a:t>ImageNet、Food101、Cars 等分类任务</a:t>
                      </a:r>
                    </a:p>
                  </a:txBody>
                  <a:tcPr>
                    <a:solidFill>
                      <a:srgbClr val="FFFFFF"/>
                    </a:solidFill>
                  </a:tcPr>
                </a:tc>
                <a:extLst>
                  <a:ext uri="{0D108BD9-81ED-4DB2-BD59-A6C34878D82A}">
                    <a16:rowId xmlns:a16="http://schemas.microsoft.com/office/drawing/2014/main" val="10002"/>
                  </a:ext>
                </a:extLst>
              </a:tr>
              <a:tr h="773906">
                <a:tc>
                  <a:txBody>
                    <a:bodyPr/>
                    <a:lstStyle/>
                    <a:p>
                      <a:r>
                        <a:rPr sz="1800" b="0" dirty="0">
                          <a:solidFill>
                            <a:srgbClr val="202020"/>
                          </a:solidFill>
                          <a:latin typeface="微软雅黑"/>
                          <a:ea typeface="微软雅黑"/>
                          <a:cs typeface="微软雅黑"/>
                        </a:rPr>
                        <a:t>跨领域评测</a:t>
                      </a:r>
                    </a:p>
                  </a:txBody>
                  <a:tcPr>
                    <a:solidFill>
                      <a:srgbClr val="EDF4F9"/>
                    </a:solidFill>
                  </a:tcPr>
                </a:tc>
                <a:tc>
                  <a:txBody>
                    <a:bodyPr/>
                    <a:lstStyle/>
                    <a:p>
                      <a:r>
                        <a:rPr sz="1800" b="0" dirty="0">
                          <a:solidFill>
                            <a:srgbClr val="202020"/>
                          </a:solidFill>
                          <a:latin typeface="微软雅黑"/>
                          <a:ea typeface="微软雅黑"/>
                          <a:cs typeface="微软雅黑"/>
                        </a:rPr>
                        <a:t>EuroSAT、文字识别、动作识别等</a:t>
                      </a:r>
                    </a:p>
                  </a:txBody>
                  <a:tcPr>
                    <a:solidFill>
                      <a:srgbClr val="EDF4F9"/>
                    </a:solidFill>
                  </a:tcPr>
                </a:tc>
                <a:extLst>
                  <a:ext uri="{0D108BD9-81ED-4DB2-BD59-A6C34878D82A}">
                    <a16:rowId xmlns:a16="http://schemas.microsoft.com/office/drawing/2014/main" val="10003"/>
                  </a:ext>
                </a:extLst>
              </a:tr>
            </a:tbl>
          </a:graphicData>
        </a:graphic>
      </p:graphicFrame>
      <p:sp>
        <p:nvSpPr>
          <p:cNvPr id="25" name="矩形 24"/>
          <p:cNvSpPr>
            <a:spLocks noGrp="1"/>
          </p:cNvSpPr>
          <p:nvPr/>
        </p:nvSpPr>
        <p:spPr>
          <a:xfrm>
            <a:off x="6086475" y="5219700"/>
            <a:ext cx="5524500" cy="981075"/>
          </a:xfrm>
          <a:prstGeom prst="rect">
            <a:avLst/>
          </a:prstGeom>
          <a:noFill/>
          <a:ln w="0">
            <a:noFill/>
          </a:ln>
        </p:spPr>
        <p:txBody>
          <a:bodyPr>
            <a:noAutofit/>
          </a:bodyPr>
          <a:lstStyle/>
          <a:p>
            <a:pPr>
              <a:defRPr sz="1875" b="1">
                <a:solidFill>
                  <a:srgbClr val="084B80"/>
                </a:solidFill>
                <a:latin typeface="微软雅黑"/>
                <a:ea typeface="微软雅黑"/>
                <a:cs typeface="微软雅黑"/>
              </a:defRPr>
            </a:pPr>
            <a:r>
              <a:rPr sz="1875" b="1" dirty="0">
                <a:solidFill>
                  <a:srgbClr val="084B80"/>
                </a:solidFill>
                <a:latin typeface="微软雅黑"/>
                <a:ea typeface="微软雅黑"/>
                <a:cs typeface="微软雅黑"/>
              </a:rPr>
              <a:t>零样本的准确含义：</a:t>
            </a:r>
          </a:p>
          <a:p>
            <a:pPr>
              <a:defRPr sz="1875" b="1">
                <a:solidFill>
                  <a:srgbClr val="084B80"/>
                </a:solidFill>
                <a:latin typeface="微软雅黑"/>
                <a:ea typeface="微软雅黑"/>
                <a:cs typeface="微软雅黑"/>
              </a:defRPr>
            </a:pPr>
            <a:r>
              <a:rPr sz="1875" b="1" dirty="0">
                <a:solidFill>
                  <a:srgbClr val="084B80"/>
                </a:solidFill>
                <a:latin typeface="微软雅黑"/>
                <a:ea typeface="微软雅黑"/>
                <a:cs typeface="微软雅黑"/>
              </a:rPr>
              <a:t>不使用目标数据集的标注图片拟合分类器。</a:t>
            </a:r>
          </a:p>
          <a:p>
            <a:pPr>
              <a:defRPr sz="1875" b="1">
                <a:solidFill>
                  <a:srgbClr val="084B80"/>
                </a:solidFill>
                <a:latin typeface="微软雅黑"/>
                <a:ea typeface="微软雅黑"/>
                <a:cs typeface="微软雅黑"/>
              </a:defRPr>
            </a:pPr>
            <a:r>
              <a:rPr sz="1875" b="1" dirty="0">
                <a:solidFill>
                  <a:srgbClr val="084B80"/>
                </a:solidFill>
                <a:latin typeface="微软雅黑"/>
                <a:ea typeface="微软雅黑"/>
                <a:cs typeface="微软雅黑"/>
              </a:rPr>
              <a:t>它不保证预训练从未见过相关概念或近似图片。</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a:spLocks noGrp="1"/>
          </p:cNvSpPr>
          <p:nvPr/>
        </p:nvSpPr>
        <p:spPr>
          <a:xfrm>
            <a:off x="335361" y="116633"/>
            <a:ext cx="573023" cy="557721"/>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6" name="平行四边形 5"/>
          <p:cNvSpPr>
            <a:spLocks noGrp="1"/>
          </p:cNvSpPr>
          <p:nvPr/>
        </p:nvSpPr>
        <p:spPr>
          <a:xfrm>
            <a:off x="392209" y="171680"/>
            <a:ext cx="573023" cy="557721"/>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7" name="直接连接符 6"/>
          <p:cNvSpPr>
            <a:spLocks noGrp="1"/>
          </p:cNvSpPr>
          <p:nvPr/>
        </p:nv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sp>
      <p:sp>
        <p:nvSpPr>
          <p:cNvPr id="10" name="文本占位符 5"/>
          <p:cNvSpPr>
            <a:spLocks noGrp="1"/>
          </p:cNvSpPr>
          <p:nvPr/>
        </p:nvSpPr>
        <p:spPr>
          <a:xfrm>
            <a:off x="1123950" y="190500"/>
            <a:ext cx="8524875" cy="609600"/>
          </a:xfrm>
          <a:prstGeom prst="rect">
            <a:avLst/>
          </a:prstGeom>
        </p:spPr>
        <p:txBody>
          <a:bodyPr vert="horz" lIns="91440" tIns="45720" rIns="91440" bIns="45720">
            <a:normAutofit/>
          </a:bodyPr>
          <a:lstStyle>
            <a:lvl1pPr marL="0" indent="0" algn="l" defTabSz="914400">
              <a:lnSpc>
                <a:spcPct val="90000"/>
              </a:lnSpc>
              <a:spcBef>
                <a:spcPts val="1000"/>
              </a:spcBef>
              <a:buFont typeface="Arial" panose="020B0604020202090204"/>
              <a:buNone/>
              <a:defRPr sz="3200" b="1" kern="1200">
                <a:solidFill>
                  <a:srgbClr val="024282"/>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l" defTabSz="914400">
              <a:lnSpc>
                <a:spcPct val="90000"/>
              </a:lnSpc>
              <a:spcBef>
                <a:spcPts val="1000"/>
              </a:spcBef>
              <a:spcAft>
                <a:spcPts val="0"/>
              </a:spcAft>
              <a:buClrTx/>
              <a:buSzTx/>
              <a:buFont typeface="Arial" panose="020B0604020202090204"/>
              <a:buNone/>
              <a:defRPr sz="2775" b="1">
                <a:solidFill>
                  <a:srgbClr val="084B80"/>
                </a:solidFill>
                <a:latin typeface="微软雅黑"/>
                <a:ea typeface="微软雅黑"/>
                <a:cs typeface="微软雅黑"/>
              </a:defRPr>
            </a:pPr>
            <a:r>
              <a:rPr sz="2775" b="1" i="0" u="none" cap="none" spc="0" dirty="0">
                <a:ln>
                  <a:noFill/>
                </a:ln>
                <a:solidFill>
                  <a:srgbClr val="084B80"/>
                </a:solidFill>
                <a:latin typeface="微软雅黑"/>
                <a:ea typeface="微软雅黑"/>
                <a:cs typeface="微软雅黑"/>
              </a:rPr>
              <a:t>方法框架：训练对齐，推理匹配</a:t>
            </a:r>
            <a:endParaRPr sz="3200" b="1" i="0" u="none" kern="1200" cap="none" spc="0" baseline="0" dirty="0">
              <a:ln>
                <a:noFill/>
              </a:ln>
              <a:solidFill>
                <a:srgbClr val="024282"/>
              </a:solidFill>
              <a:latin typeface="微软雅黑"/>
              <a:ea typeface="微软雅黑"/>
              <a:cs typeface="微软雅黑"/>
            </a:endParaRPr>
          </a:p>
        </p:txBody>
      </p:sp>
      <p:sp>
        <p:nvSpPr>
          <p:cNvPr id="17" name="文本框 16"/>
          <p:cNvSpPr>
            <a:spLocks noGrp="1"/>
          </p:cNvSpPr>
          <p:nvPr/>
        </p:nvSpPr>
        <p:spPr>
          <a:xfrm>
            <a:off x="10813677" y="6398695"/>
            <a:ext cx="798617" cy="300082"/>
          </a:xfrm>
          <a:prstGeom prst="rect">
            <a:avLst/>
          </a:prstGeom>
          <a:noFill/>
        </p:spPr>
        <p:txBody>
          <a:bodyPr wrap="none">
            <a:spAutoFit/>
          </a:bodyPr>
          <a:lstStyle/>
          <a:p>
            <a:pPr marL="0" marR="0" lvl="0" indent="0" algn="l" defTabSz="914400">
              <a:lnSpc>
                <a:spcPct val="100000"/>
              </a:lnSpc>
              <a:spcBef>
                <a:spcPts val="0"/>
              </a:spcBef>
              <a:spcAft>
                <a:spcPts val="0"/>
              </a:spcAft>
              <a:buClrTx/>
              <a:buSzTx/>
              <a:buFontTx/>
              <a:buNone/>
              <a:defRPr sz="1350">
                <a:solidFill>
                  <a:srgbClr val="183D61"/>
                </a:solidFill>
                <a:latin typeface="微软雅黑"/>
                <a:ea typeface="微软雅黑"/>
                <a:cs typeface="微软雅黑"/>
              </a:defRPr>
            </a:pPr>
            <a:r>
              <a:rPr sz="1350" b="1" i="0" u="none" cap="none" spc="0" dirty="0">
                <a:ln>
                  <a:noFill/>
                </a:ln>
                <a:solidFill>
                  <a:srgbClr val="183D61"/>
                </a:solidFill>
                <a:latin typeface="微软雅黑"/>
                <a:ea typeface="微软雅黑"/>
                <a:cs typeface="微软雅黑"/>
              </a:rPr>
              <a:t>05 / </a:t>
            </a:r>
            <a:r>
              <a:rPr lang="en-US" sz="1350" b="1" dirty="0">
                <a:solidFill>
                  <a:srgbClr val="183D61"/>
                </a:solidFill>
                <a:latin typeface="微软雅黑"/>
                <a:ea typeface="微软雅黑"/>
                <a:cs typeface="微软雅黑"/>
              </a:rPr>
              <a:t>09</a:t>
            </a:r>
            <a:endParaRPr sz="1800" b="1" i="0" u="none" kern="1200" cap="none" spc="0" baseline="30000" dirty="0">
              <a:ln>
                <a:noFill/>
              </a:ln>
              <a:solidFill>
                <a:prstClr val="white">
                  <a:lumMod val="75000"/>
                </a:prstClr>
              </a:solidFill>
              <a:latin typeface="Calibri"/>
              <a:ea typeface="Calibri"/>
              <a:cs typeface="Calibri"/>
            </a:endParaRPr>
          </a:p>
        </p:txBody>
      </p:sp>
      <p:pic>
        <p:nvPicPr>
          <p:cNvPr id="30" name="图片 29"/>
          <p:cNvPicPr>
            <a:picLocks noChangeAspect="1"/>
          </p:cNvPicPr>
          <p:nvPr/>
        </p:nvPicPr>
        <p:blipFill>
          <a:blip r:embed="rId3"/>
          <a:stretch>
            <a:fillRect/>
          </a:stretch>
        </p:blipFill>
        <p:spPr>
          <a:xfrm>
            <a:off x="1275613" y="1076325"/>
            <a:ext cx="9450273" cy="3476625"/>
          </a:xfrm>
          <a:prstGeom prst="rect">
            <a:avLst/>
          </a:prstGeom>
        </p:spPr>
      </p:pic>
      <p:sp>
        <p:nvSpPr>
          <p:cNvPr id="20" name="矩形 19"/>
          <p:cNvSpPr>
            <a:spLocks noGrp="1"/>
          </p:cNvSpPr>
          <p:nvPr/>
        </p:nvSpPr>
        <p:spPr>
          <a:xfrm>
            <a:off x="447675" y="4743450"/>
            <a:ext cx="550545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预训练：学习图文共同表示</a:t>
            </a:r>
          </a:p>
        </p:txBody>
      </p:sp>
      <p:sp>
        <p:nvSpPr>
          <p:cNvPr id="21" name="矩形 20"/>
          <p:cNvSpPr>
            <a:spLocks noGrp="1"/>
          </p:cNvSpPr>
          <p:nvPr/>
        </p:nvSpPr>
        <p:spPr>
          <a:xfrm>
            <a:off x="447675" y="5172075"/>
            <a:ext cx="5505450"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图像和文本分别编码，投影到同一维度并归一化。</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比较批内所有图文组合，提高真实配对的相似度。</a:t>
            </a:r>
          </a:p>
        </p:txBody>
      </p:sp>
      <p:sp>
        <p:nvSpPr>
          <p:cNvPr id="22" name="矩形 21"/>
          <p:cNvSpPr>
            <a:spLocks noGrp="1"/>
          </p:cNvSpPr>
          <p:nvPr/>
        </p:nvSpPr>
        <p:spPr>
          <a:xfrm>
            <a:off x="6238875" y="4743450"/>
            <a:ext cx="5476875"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推理：候选文字成为分类器</a:t>
            </a:r>
          </a:p>
        </p:txBody>
      </p:sp>
      <p:sp>
        <p:nvSpPr>
          <p:cNvPr id="23" name="矩形 22"/>
          <p:cNvSpPr>
            <a:spLocks noGrp="1"/>
          </p:cNvSpPr>
          <p:nvPr/>
        </p:nvSpPr>
        <p:spPr>
          <a:xfrm>
            <a:off x="6238875" y="5172075"/>
            <a:ext cx="5476875"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将类别写成句子，编码为类别向量。</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新图片与这些向量比较，选出最匹配的类别。</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a:spLocks noGrp="1"/>
          </p:cNvSpPr>
          <p:nvPr/>
        </p:nvSpPr>
        <p:spPr>
          <a:xfrm>
            <a:off x="335361" y="116633"/>
            <a:ext cx="573023" cy="557721"/>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6" name="平行四边形 5"/>
          <p:cNvSpPr>
            <a:spLocks noGrp="1"/>
          </p:cNvSpPr>
          <p:nvPr/>
        </p:nvSpPr>
        <p:spPr>
          <a:xfrm>
            <a:off x="392209" y="171680"/>
            <a:ext cx="573023" cy="557721"/>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7" name="直接连接符 6"/>
          <p:cNvSpPr>
            <a:spLocks noGrp="1"/>
          </p:cNvSpPr>
          <p:nvPr/>
        </p:nv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sp>
      <p:sp>
        <p:nvSpPr>
          <p:cNvPr id="10" name="文本占位符 5"/>
          <p:cNvSpPr>
            <a:spLocks noGrp="1"/>
          </p:cNvSpPr>
          <p:nvPr/>
        </p:nvSpPr>
        <p:spPr>
          <a:xfrm>
            <a:off x="1123950" y="190500"/>
            <a:ext cx="8524875" cy="609600"/>
          </a:xfrm>
          <a:prstGeom prst="rect">
            <a:avLst/>
          </a:prstGeom>
        </p:spPr>
        <p:txBody>
          <a:bodyPr vert="horz" lIns="91440" tIns="45720" rIns="91440" bIns="45720">
            <a:normAutofit/>
          </a:bodyPr>
          <a:lstStyle>
            <a:lvl1pPr marL="0" indent="0" algn="l" defTabSz="914400">
              <a:lnSpc>
                <a:spcPct val="90000"/>
              </a:lnSpc>
              <a:spcBef>
                <a:spcPts val="1000"/>
              </a:spcBef>
              <a:buFont typeface="Arial" panose="020B0604020202090204"/>
              <a:buNone/>
              <a:defRPr sz="3200" b="1" kern="1200">
                <a:solidFill>
                  <a:srgbClr val="024282"/>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l" defTabSz="914400">
              <a:lnSpc>
                <a:spcPct val="90000"/>
              </a:lnSpc>
              <a:spcBef>
                <a:spcPts val="1000"/>
              </a:spcBef>
              <a:spcAft>
                <a:spcPts val="0"/>
              </a:spcAft>
              <a:buClrTx/>
              <a:buSzTx/>
              <a:buFont typeface="Arial" panose="020B0604020202090204"/>
              <a:buNone/>
              <a:defRPr sz="2775" b="1">
                <a:solidFill>
                  <a:srgbClr val="084B80"/>
                </a:solidFill>
                <a:latin typeface="微软雅黑"/>
                <a:ea typeface="微软雅黑"/>
                <a:cs typeface="微软雅黑"/>
              </a:defRPr>
            </a:pPr>
            <a:r>
              <a:rPr sz="2775" b="1" i="0" u="none" cap="none" spc="0" dirty="0">
                <a:ln>
                  <a:noFill/>
                </a:ln>
                <a:solidFill>
                  <a:srgbClr val="084B80"/>
                </a:solidFill>
                <a:latin typeface="微软雅黑"/>
                <a:ea typeface="微软雅黑"/>
                <a:cs typeface="微软雅黑"/>
              </a:rPr>
              <a:t>架构设计：两个编码器如何协同</a:t>
            </a:r>
            <a:endParaRPr sz="3200" b="1" i="0" u="none" kern="1200" cap="none" spc="0" baseline="0" dirty="0">
              <a:ln>
                <a:noFill/>
              </a:ln>
              <a:solidFill>
                <a:srgbClr val="024282"/>
              </a:solidFill>
              <a:latin typeface="微软雅黑"/>
              <a:ea typeface="微软雅黑"/>
              <a:cs typeface="微软雅黑"/>
            </a:endParaRPr>
          </a:p>
        </p:txBody>
      </p:sp>
      <p:sp>
        <p:nvSpPr>
          <p:cNvPr id="17" name="文本框 16"/>
          <p:cNvSpPr>
            <a:spLocks noGrp="1"/>
          </p:cNvSpPr>
          <p:nvPr/>
        </p:nvSpPr>
        <p:spPr>
          <a:xfrm>
            <a:off x="10813677" y="6398695"/>
            <a:ext cx="798617" cy="300082"/>
          </a:xfrm>
          <a:prstGeom prst="rect">
            <a:avLst/>
          </a:prstGeom>
          <a:noFill/>
        </p:spPr>
        <p:txBody>
          <a:bodyPr wrap="none">
            <a:spAutoFit/>
          </a:bodyPr>
          <a:lstStyle/>
          <a:p>
            <a:pPr marL="0" marR="0" lvl="0" indent="0" algn="l" defTabSz="914400">
              <a:lnSpc>
                <a:spcPct val="100000"/>
              </a:lnSpc>
              <a:spcBef>
                <a:spcPts val="0"/>
              </a:spcBef>
              <a:spcAft>
                <a:spcPts val="0"/>
              </a:spcAft>
              <a:buClrTx/>
              <a:buSzTx/>
              <a:buFontTx/>
              <a:buNone/>
              <a:defRPr sz="1350">
                <a:solidFill>
                  <a:srgbClr val="183D61"/>
                </a:solidFill>
                <a:latin typeface="微软雅黑"/>
                <a:ea typeface="微软雅黑"/>
                <a:cs typeface="微软雅黑"/>
              </a:defRPr>
            </a:pPr>
            <a:r>
              <a:rPr sz="1350" b="1" i="0" u="none" cap="none" spc="0" dirty="0">
                <a:ln>
                  <a:noFill/>
                </a:ln>
                <a:solidFill>
                  <a:srgbClr val="183D61"/>
                </a:solidFill>
                <a:latin typeface="微软雅黑"/>
                <a:ea typeface="微软雅黑"/>
                <a:cs typeface="微软雅黑"/>
              </a:rPr>
              <a:t>0</a:t>
            </a:r>
            <a:r>
              <a:rPr lang="en-US" sz="1350" b="1" i="0" u="none" cap="none" spc="0" dirty="0">
                <a:ln>
                  <a:noFill/>
                </a:ln>
                <a:solidFill>
                  <a:srgbClr val="183D61"/>
                </a:solidFill>
                <a:latin typeface="微软雅黑"/>
                <a:ea typeface="微软雅黑"/>
                <a:cs typeface="微软雅黑"/>
              </a:rPr>
              <a:t>6</a:t>
            </a:r>
            <a:r>
              <a:rPr sz="1350" b="1" i="0" u="none" cap="none" spc="0" dirty="0">
                <a:ln>
                  <a:noFill/>
                </a:ln>
                <a:solidFill>
                  <a:srgbClr val="183D61"/>
                </a:solidFill>
                <a:latin typeface="微软雅黑"/>
                <a:ea typeface="微软雅黑"/>
                <a:cs typeface="微软雅黑"/>
              </a:rPr>
              <a:t> / </a:t>
            </a:r>
            <a:r>
              <a:rPr lang="en-US" sz="1350" b="1" dirty="0">
                <a:solidFill>
                  <a:srgbClr val="183D61"/>
                </a:solidFill>
                <a:latin typeface="微软雅黑"/>
                <a:ea typeface="微软雅黑"/>
                <a:cs typeface="微软雅黑"/>
              </a:rPr>
              <a:t>09</a:t>
            </a:r>
            <a:endParaRPr sz="1800" b="1" i="0" u="none" kern="1200" cap="none" spc="0" baseline="30000" dirty="0">
              <a:ln>
                <a:noFill/>
              </a:ln>
              <a:solidFill>
                <a:prstClr val="white">
                  <a:lumMod val="75000"/>
                </a:prstClr>
              </a:solidFill>
              <a:latin typeface="Calibri"/>
              <a:ea typeface="Calibri"/>
              <a:cs typeface="Calibri"/>
            </a:endParaRPr>
          </a:p>
        </p:txBody>
      </p:sp>
      <p:graphicFrame>
        <p:nvGraphicFramePr>
          <p:cNvPr id="30" name="表格 29"/>
          <p:cNvGraphicFramePr/>
          <p:nvPr/>
        </p:nvGraphicFramePr>
        <p:xfrm>
          <a:off x="438150" y="1123950"/>
          <a:ext cx="11287125" cy="3352800"/>
        </p:xfrm>
        <a:graphic>
          <a:graphicData uri="http://schemas.openxmlformats.org/drawingml/2006/table">
            <a:tbl>
              <a:tblPr/>
              <a:tblGrid>
                <a:gridCol w="20574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848225">
                  <a:extLst>
                    <a:ext uri="{9D8B030D-6E8A-4147-A177-3AD203B41FA5}">
                      <a16:colId xmlns:a16="http://schemas.microsoft.com/office/drawing/2014/main" val="20002"/>
                    </a:ext>
                  </a:extLst>
                </a:gridCol>
              </a:tblGrid>
              <a:tr h="670560">
                <a:tc>
                  <a:txBody>
                    <a:bodyPr/>
                    <a:lstStyle/>
                    <a:p>
                      <a:r>
                        <a:rPr sz="1800" b="1" dirty="0">
                          <a:solidFill>
                            <a:srgbClr val="FFFFFF"/>
                          </a:solidFill>
                          <a:latin typeface="微软雅黑"/>
                          <a:ea typeface="微软雅黑"/>
                          <a:cs typeface="微软雅黑"/>
                        </a:rPr>
                        <a:t>模块</a:t>
                      </a:r>
                    </a:p>
                  </a:txBody>
                  <a:tcPr>
                    <a:solidFill>
                      <a:srgbClr val="084B80"/>
                    </a:solidFill>
                  </a:tcPr>
                </a:tc>
                <a:tc>
                  <a:txBody>
                    <a:bodyPr/>
                    <a:lstStyle/>
                    <a:p>
                      <a:r>
                        <a:rPr sz="1800" b="1" dirty="0">
                          <a:solidFill>
                            <a:srgbClr val="FFFFFF"/>
                          </a:solidFill>
                          <a:latin typeface="微软雅黑"/>
                          <a:ea typeface="微软雅黑"/>
                          <a:cs typeface="微软雅黑"/>
                        </a:rPr>
                        <a:t>具体设计</a:t>
                      </a:r>
                    </a:p>
                  </a:txBody>
                  <a:tcPr>
                    <a:solidFill>
                      <a:srgbClr val="084B80"/>
                    </a:solidFill>
                  </a:tcPr>
                </a:tc>
                <a:tc>
                  <a:txBody>
                    <a:bodyPr/>
                    <a:lstStyle/>
                    <a:p>
                      <a:r>
                        <a:rPr sz="1800" b="1" dirty="0">
                          <a:solidFill>
                            <a:srgbClr val="FFFFFF"/>
                          </a:solidFill>
                          <a:latin typeface="微软雅黑"/>
                          <a:ea typeface="微软雅黑"/>
                          <a:cs typeface="微软雅黑"/>
                        </a:rPr>
                        <a:t>在方法中的作用</a:t>
                      </a:r>
                    </a:p>
                  </a:txBody>
                  <a:tcPr>
                    <a:solidFill>
                      <a:srgbClr val="084B80"/>
                    </a:solidFill>
                  </a:tcPr>
                </a:tc>
                <a:extLst>
                  <a:ext uri="{0D108BD9-81ED-4DB2-BD59-A6C34878D82A}">
                    <a16:rowId xmlns:a16="http://schemas.microsoft.com/office/drawing/2014/main" val="10000"/>
                  </a:ext>
                </a:extLst>
              </a:tr>
              <a:tr h="670560">
                <a:tc>
                  <a:txBody>
                    <a:bodyPr/>
                    <a:lstStyle/>
                    <a:p>
                      <a:r>
                        <a:rPr sz="1800" b="0" dirty="0">
                          <a:solidFill>
                            <a:srgbClr val="202020"/>
                          </a:solidFill>
                          <a:latin typeface="微软雅黑"/>
                          <a:ea typeface="微软雅黑"/>
                          <a:cs typeface="微软雅黑"/>
                        </a:rPr>
                        <a:t>图像编码器</a:t>
                      </a:r>
                    </a:p>
                  </a:txBody>
                  <a:tcPr>
                    <a:solidFill>
                      <a:srgbClr val="EDF4F9"/>
                    </a:solidFill>
                  </a:tcPr>
                </a:tc>
                <a:tc>
                  <a:txBody>
                    <a:bodyPr/>
                    <a:lstStyle/>
                    <a:p>
                      <a:r>
                        <a:rPr sz="1800" b="0" dirty="0">
                          <a:solidFill>
                            <a:srgbClr val="202020"/>
                          </a:solidFill>
                          <a:latin typeface="微软雅黑"/>
                          <a:ea typeface="微软雅黑"/>
                          <a:cs typeface="微软雅黑"/>
                        </a:rPr>
                        <a:t>改进 ResNet 或 Vision Transformer</a:t>
                      </a:r>
                    </a:p>
                  </a:txBody>
                  <a:tcPr>
                    <a:solidFill>
                      <a:srgbClr val="EDF4F9"/>
                    </a:solidFill>
                  </a:tcPr>
                </a:tc>
                <a:tc>
                  <a:txBody>
                    <a:bodyPr/>
                    <a:lstStyle/>
                    <a:p>
                      <a:r>
                        <a:rPr sz="1800" b="0" dirty="0">
                          <a:solidFill>
                            <a:srgbClr val="202020"/>
                          </a:solidFill>
                          <a:latin typeface="微软雅黑"/>
                          <a:ea typeface="微软雅黑"/>
                          <a:cs typeface="微软雅黑"/>
                        </a:rPr>
                        <a:t>提取可迁移的图像特征</a:t>
                      </a:r>
                    </a:p>
                  </a:txBody>
                  <a:tcPr>
                    <a:solidFill>
                      <a:srgbClr val="EDF4F9"/>
                    </a:solidFill>
                  </a:tcPr>
                </a:tc>
                <a:extLst>
                  <a:ext uri="{0D108BD9-81ED-4DB2-BD59-A6C34878D82A}">
                    <a16:rowId xmlns:a16="http://schemas.microsoft.com/office/drawing/2014/main" val="10001"/>
                  </a:ext>
                </a:extLst>
              </a:tr>
              <a:tr h="670560">
                <a:tc>
                  <a:txBody>
                    <a:bodyPr/>
                    <a:lstStyle/>
                    <a:p>
                      <a:r>
                        <a:rPr sz="1800" b="0" dirty="0">
                          <a:solidFill>
                            <a:srgbClr val="202020"/>
                          </a:solidFill>
                          <a:latin typeface="微软雅黑"/>
                          <a:ea typeface="微软雅黑"/>
                          <a:cs typeface="微软雅黑"/>
                        </a:rPr>
                        <a:t>文本编码器</a:t>
                      </a:r>
                    </a:p>
                  </a:txBody>
                  <a:tcPr>
                    <a:solidFill>
                      <a:srgbClr val="FFFFFF"/>
                    </a:solidFill>
                  </a:tcPr>
                </a:tc>
                <a:tc>
                  <a:txBody>
                    <a:bodyPr/>
                    <a:lstStyle/>
                    <a:p>
                      <a:r>
                        <a:rPr sz="1800" b="0" dirty="0">
                          <a:solidFill>
                            <a:srgbClr val="202020"/>
                          </a:solidFill>
                          <a:latin typeface="微软雅黑"/>
                          <a:ea typeface="微软雅黑"/>
                          <a:cs typeface="微软雅黑"/>
                        </a:rPr>
                        <a:t>Transformer；使用句末标记的表示</a:t>
                      </a:r>
                    </a:p>
                  </a:txBody>
                  <a:tcPr>
                    <a:solidFill>
                      <a:srgbClr val="FFFFFF"/>
                    </a:solidFill>
                  </a:tcPr>
                </a:tc>
                <a:tc>
                  <a:txBody>
                    <a:bodyPr/>
                    <a:lstStyle/>
                    <a:p>
                      <a:r>
                        <a:rPr sz="1800" b="0" dirty="0">
                          <a:solidFill>
                            <a:srgbClr val="202020"/>
                          </a:solidFill>
                          <a:latin typeface="微软雅黑"/>
                          <a:ea typeface="微软雅黑"/>
                          <a:cs typeface="微软雅黑"/>
                        </a:rPr>
                        <a:t>把不同长度的文字转为整体语义向量</a:t>
                      </a:r>
                    </a:p>
                  </a:txBody>
                  <a:tcPr>
                    <a:solidFill>
                      <a:srgbClr val="FFFFFF"/>
                    </a:solidFill>
                  </a:tcPr>
                </a:tc>
                <a:extLst>
                  <a:ext uri="{0D108BD9-81ED-4DB2-BD59-A6C34878D82A}">
                    <a16:rowId xmlns:a16="http://schemas.microsoft.com/office/drawing/2014/main" val="10002"/>
                  </a:ext>
                </a:extLst>
              </a:tr>
              <a:tr h="670560">
                <a:tc>
                  <a:txBody>
                    <a:bodyPr/>
                    <a:lstStyle/>
                    <a:p>
                      <a:r>
                        <a:rPr sz="1800" b="0" dirty="0">
                          <a:solidFill>
                            <a:srgbClr val="202020"/>
                          </a:solidFill>
                          <a:latin typeface="微软雅黑"/>
                          <a:ea typeface="微软雅黑"/>
                          <a:cs typeface="微软雅黑"/>
                        </a:rPr>
                        <a:t>共享表示空间</a:t>
                      </a:r>
                    </a:p>
                  </a:txBody>
                  <a:tcPr>
                    <a:solidFill>
                      <a:srgbClr val="EDF4F9"/>
                    </a:solidFill>
                  </a:tcPr>
                </a:tc>
                <a:tc>
                  <a:txBody>
                    <a:bodyPr/>
                    <a:lstStyle/>
                    <a:p>
                      <a:r>
                        <a:rPr sz="1800" b="0" dirty="0">
                          <a:solidFill>
                            <a:srgbClr val="202020"/>
                          </a:solidFill>
                          <a:latin typeface="微软雅黑"/>
                          <a:ea typeface="微软雅黑"/>
                          <a:cs typeface="微软雅黑"/>
                        </a:rPr>
                        <a:t>线性投影 + L2 归一化</a:t>
                      </a:r>
                    </a:p>
                  </a:txBody>
                  <a:tcPr>
                    <a:solidFill>
                      <a:srgbClr val="EDF4F9"/>
                    </a:solidFill>
                  </a:tcPr>
                </a:tc>
                <a:tc>
                  <a:txBody>
                    <a:bodyPr/>
                    <a:lstStyle/>
                    <a:p>
                      <a:r>
                        <a:rPr sz="1800" b="0" dirty="0">
                          <a:solidFill>
                            <a:srgbClr val="202020"/>
                          </a:solidFill>
                          <a:latin typeface="微软雅黑"/>
                          <a:ea typeface="微软雅黑"/>
                          <a:cs typeface="微软雅黑"/>
                        </a:rPr>
                        <a:t>统一特征维度，让两种模态可比较</a:t>
                      </a:r>
                    </a:p>
                  </a:txBody>
                  <a:tcPr>
                    <a:solidFill>
                      <a:srgbClr val="EDF4F9"/>
                    </a:solidFill>
                  </a:tcPr>
                </a:tc>
                <a:extLst>
                  <a:ext uri="{0D108BD9-81ED-4DB2-BD59-A6C34878D82A}">
                    <a16:rowId xmlns:a16="http://schemas.microsoft.com/office/drawing/2014/main" val="10003"/>
                  </a:ext>
                </a:extLst>
              </a:tr>
              <a:tr h="670560">
                <a:tc>
                  <a:txBody>
                    <a:bodyPr/>
                    <a:lstStyle/>
                    <a:p>
                      <a:r>
                        <a:rPr sz="1800" b="0" dirty="0">
                          <a:solidFill>
                            <a:srgbClr val="202020"/>
                          </a:solidFill>
                          <a:latin typeface="微软雅黑"/>
                          <a:ea typeface="微软雅黑"/>
                          <a:cs typeface="微软雅黑"/>
                        </a:rPr>
                        <a:t>匹配与优化</a:t>
                      </a:r>
                    </a:p>
                  </a:txBody>
                  <a:tcPr>
                    <a:solidFill>
                      <a:srgbClr val="FFFFFF"/>
                    </a:solidFill>
                  </a:tcPr>
                </a:tc>
                <a:tc>
                  <a:txBody>
                    <a:bodyPr/>
                    <a:lstStyle/>
                    <a:p>
                      <a:r>
                        <a:rPr sz="1800" b="0" dirty="0">
                          <a:solidFill>
                            <a:srgbClr val="202020"/>
                          </a:solidFill>
                          <a:latin typeface="微软雅黑"/>
                          <a:ea typeface="微软雅黑"/>
                          <a:cs typeface="微软雅黑"/>
                        </a:rPr>
                        <a:t>缩放余弦相似度 + 双向交叉熵</a:t>
                      </a:r>
                    </a:p>
                  </a:txBody>
                  <a:tcPr>
                    <a:solidFill>
                      <a:srgbClr val="FFFFFF"/>
                    </a:solidFill>
                  </a:tcPr>
                </a:tc>
                <a:tc>
                  <a:txBody>
                    <a:bodyPr/>
                    <a:lstStyle/>
                    <a:p>
                      <a:r>
                        <a:rPr sz="1800" b="0" dirty="0">
                          <a:solidFill>
                            <a:srgbClr val="202020"/>
                          </a:solidFill>
                          <a:latin typeface="微软雅黑"/>
                          <a:ea typeface="微软雅黑"/>
                          <a:cs typeface="微软雅黑"/>
                        </a:rPr>
                        <a:t>让真实配对相对其他组合获得更高分</a:t>
                      </a:r>
                    </a:p>
                  </a:txBody>
                  <a:tcPr>
                    <a:solidFill>
                      <a:srgbClr val="FFFFFF"/>
                    </a:solidFill>
                  </a:tcPr>
                </a:tc>
                <a:extLst>
                  <a:ext uri="{0D108BD9-81ED-4DB2-BD59-A6C34878D82A}">
                    <a16:rowId xmlns:a16="http://schemas.microsoft.com/office/drawing/2014/main" val="10004"/>
                  </a:ext>
                </a:extLst>
              </a:tr>
            </a:tbl>
          </a:graphicData>
        </a:graphic>
      </p:graphicFrame>
      <p:sp>
        <p:nvSpPr>
          <p:cNvPr id="20" name="矩形 19"/>
          <p:cNvSpPr>
            <a:spLocks noGrp="1"/>
          </p:cNvSpPr>
          <p:nvPr/>
        </p:nvSpPr>
        <p:spPr>
          <a:xfrm>
            <a:off x="457200" y="4752975"/>
            <a:ext cx="5476875"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训练组织</a:t>
            </a:r>
          </a:p>
        </p:txBody>
      </p:sp>
      <p:sp>
        <p:nvSpPr>
          <p:cNvPr id="21" name="矩形 20"/>
          <p:cNvSpPr>
            <a:spLocks noGrp="1"/>
          </p:cNvSpPr>
          <p:nvPr/>
        </p:nvSpPr>
        <p:spPr>
          <a:xfrm>
            <a:off x="457200" y="5181600"/>
            <a:ext cx="5476875"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两个编码器从零训练，批量 32,768，训练 32 轮。</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大批量增加负样本，也增加显存与通信负担。</a:t>
            </a:r>
          </a:p>
        </p:txBody>
      </p:sp>
      <p:sp>
        <p:nvSpPr>
          <p:cNvPr id="22" name="矩形 21"/>
          <p:cNvSpPr>
            <a:spLocks noGrp="1"/>
          </p:cNvSpPr>
          <p:nvPr/>
        </p:nvSpPr>
        <p:spPr>
          <a:xfrm>
            <a:off x="6238875" y="4752975"/>
            <a:ext cx="539115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设计特点</a:t>
            </a:r>
          </a:p>
        </p:txBody>
      </p:sp>
      <p:sp>
        <p:nvSpPr>
          <p:cNvPr id="23" name="矩形 22"/>
          <p:cNvSpPr>
            <a:spLocks noGrp="1"/>
          </p:cNvSpPr>
          <p:nvPr/>
        </p:nvSpPr>
        <p:spPr>
          <a:xfrm>
            <a:off x="6238875" y="5181600"/>
            <a:ext cx="5391150"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以双编码器和共享空间为核心，保持训练目标简洁。</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类别文本向量可以缓存，供推理时复用。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a:spLocks noGrp="1"/>
          </p:cNvSpPr>
          <p:nvPr/>
        </p:nvSpPr>
        <p:spPr>
          <a:xfrm>
            <a:off x="335361" y="116633"/>
            <a:ext cx="573023" cy="557721"/>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6" name="平行四边形 5"/>
          <p:cNvSpPr>
            <a:spLocks noGrp="1"/>
          </p:cNvSpPr>
          <p:nvPr/>
        </p:nvSpPr>
        <p:spPr>
          <a:xfrm>
            <a:off x="392209" y="171680"/>
            <a:ext cx="573023" cy="557721"/>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7" name="直接连接符 6"/>
          <p:cNvSpPr>
            <a:spLocks noGrp="1"/>
          </p:cNvSpPr>
          <p:nvPr/>
        </p:nv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sp>
      <p:sp>
        <p:nvSpPr>
          <p:cNvPr id="10" name="文本占位符 5"/>
          <p:cNvSpPr>
            <a:spLocks noGrp="1"/>
          </p:cNvSpPr>
          <p:nvPr/>
        </p:nvSpPr>
        <p:spPr>
          <a:xfrm>
            <a:off x="1123950" y="190500"/>
            <a:ext cx="8524875" cy="609600"/>
          </a:xfrm>
          <a:prstGeom prst="rect">
            <a:avLst/>
          </a:prstGeom>
        </p:spPr>
        <p:txBody>
          <a:bodyPr vert="horz" lIns="91440" tIns="45720" rIns="91440" bIns="45720">
            <a:normAutofit/>
          </a:bodyPr>
          <a:lstStyle>
            <a:lvl1pPr marL="0" indent="0" algn="l" defTabSz="914400">
              <a:lnSpc>
                <a:spcPct val="90000"/>
              </a:lnSpc>
              <a:spcBef>
                <a:spcPts val="1000"/>
              </a:spcBef>
              <a:buFont typeface="Arial" panose="020B0604020202090204"/>
              <a:buNone/>
              <a:defRPr sz="3200" b="1" kern="1200">
                <a:solidFill>
                  <a:srgbClr val="024282"/>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l" defTabSz="914400">
              <a:lnSpc>
                <a:spcPct val="90000"/>
              </a:lnSpc>
              <a:spcBef>
                <a:spcPts val="1000"/>
              </a:spcBef>
              <a:spcAft>
                <a:spcPts val="0"/>
              </a:spcAft>
              <a:buClrTx/>
              <a:buSzTx/>
              <a:buFont typeface="Arial" panose="020B0604020202090204"/>
              <a:buNone/>
              <a:defRPr sz="2775" b="1">
                <a:solidFill>
                  <a:srgbClr val="084B80"/>
                </a:solidFill>
                <a:latin typeface="微软雅黑"/>
                <a:ea typeface="微软雅黑"/>
                <a:cs typeface="微软雅黑"/>
              </a:defRPr>
            </a:pPr>
            <a:r>
              <a:rPr sz="2775" b="1" i="0" u="none" cap="none" spc="0" dirty="0">
                <a:ln>
                  <a:noFill/>
                </a:ln>
                <a:solidFill>
                  <a:srgbClr val="084B80"/>
                </a:solidFill>
                <a:latin typeface="微软雅黑"/>
                <a:ea typeface="微软雅黑"/>
                <a:cs typeface="微软雅黑"/>
              </a:rPr>
              <a:t>任务迁移：用语言构造分类器</a:t>
            </a:r>
            <a:endParaRPr sz="3200" b="1" i="0" u="none" kern="1200" cap="none" spc="0" baseline="0" dirty="0">
              <a:ln>
                <a:noFill/>
              </a:ln>
              <a:solidFill>
                <a:srgbClr val="024282"/>
              </a:solidFill>
              <a:latin typeface="微软雅黑"/>
              <a:ea typeface="微软雅黑"/>
              <a:cs typeface="微软雅黑"/>
            </a:endParaRPr>
          </a:p>
        </p:txBody>
      </p:sp>
      <p:sp>
        <p:nvSpPr>
          <p:cNvPr id="17" name="文本框 16"/>
          <p:cNvSpPr>
            <a:spLocks noGrp="1"/>
          </p:cNvSpPr>
          <p:nvPr/>
        </p:nvSpPr>
        <p:spPr>
          <a:xfrm>
            <a:off x="10813677" y="6398695"/>
            <a:ext cx="798617" cy="300082"/>
          </a:xfrm>
          <a:prstGeom prst="rect">
            <a:avLst/>
          </a:prstGeom>
          <a:noFill/>
        </p:spPr>
        <p:txBody>
          <a:bodyPr wrap="none">
            <a:spAutoFit/>
          </a:bodyPr>
          <a:lstStyle/>
          <a:p>
            <a:pPr marL="0" marR="0" lvl="0" indent="0" algn="l" defTabSz="914400">
              <a:lnSpc>
                <a:spcPct val="100000"/>
              </a:lnSpc>
              <a:spcBef>
                <a:spcPts val="0"/>
              </a:spcBef>
              <a:spcAft>
                <a:spcPts val="0"/>
              </a:spcAft>
              <a:buClrTx/>
              <a:buSzTx/>
              <a:buFontTx/>
              <a:buNone/>
              <a:defRPr sz="1350">
                <a:solidFill>
                  <a:srgbClr val="183D61"/>
                </a:solidFill>
                <a:latin typeface="微软雅黑"/>
                <a:ea typeface="微软雅黑"/>
                <a:cs typeface="微软雅黑"/>
              </a:defRPr>
            </a:pPr>
            <a:r>
              <a:rPr sz="1350" b="1" i="0" u="none" cap="none" spc="0" dirty="0">
                <a:ln>
                  <a:noFill/>
                </a:ln>
                <a:solidFill>
                  <a:srgbClr val="183D61"/>
                </a:solidFill>
                <a:latin typeface="微软雅黑"/>
                <a:ea typeface="微软雅黑"/>
                <a:cs typeface="微软雅黑"/>
              </a:rPr>
              <a:t>0</a:t>
            </a:r>
            <a:r>
              <a:rPr lang="en-US" sz="1350" b="1" i="0" u="none" cap="none" spc="0" dirty="0">
                <a:ln>
                  <a:noFill/>
                </a:ln>
                <a:solidFill>
                  <a:srgbClr val="183D61"/>
                </a:solidFill>
                <a:latin typeface="微软雅黑"/>
                <a:ea typeface="微软雅黑"/>
                <a:cs typeface="微软雅黑"/>
              </a:rPr>
              <a:t>7</a:t>
            </a:r>
            <a:r>
              <a:rPr sz="1350" b="1" i="0" u="none" cap="none" spc="0" dirty="0">
                <a:ln>
                  <a:noFill/>
                </a:ln>
                <a:solidFill>
                  <a:srgbClr val="183D61"/>
                </a:solidFill>
                <a:latin typeface="微软雅黑"/>
                <a:ea typeface="微软雅黑"/>
                <a:cs typeface="微软雅黑"/>
              </a:rPr>
              <a:t> / </a:t>
            </a:r>
            <a:r>
              <a:rPr lang="en-US" sz="1350" b="1" dirty="0">
                <a:solidFill>
                  <a:srgbClr val="183D61"/>
                </a:solidFill>
                <a:latin typeface="微软雅黑"/>
                <a:ea typeface="微软雅黑"/>
                <a:cs typeface="微软雅黑"/>
              </a:rPr>
              <a:t>09</a:t>
            </a:r>
            <a:endParaRPr sz="1800" b="1" i="0" u="none" kern="1200" cap="none" spc="0" baseline="30000" dirty="0">
              <a:ln>
                <a:noFill/>
              </a:ln>
              <a:solidFill>
                <a:prstClr val="white">
                  <a:lumMod val="75000"/>
                </a:prstClr>
              </a:solidFill>
              <a:latin typeface="Calibri"/>
              <a:ea typeface="Calibri"/>
              <a:cs typeface="Calibri"/>
            </a:endParaRPr>
          </a:p>
        </p:txBody>
      </p:sp>
      <p:sp>
        <p:nvSpPr>
          <p:cNvPr id="19" name="矩形 18"/>
          <p:cNvSpPr>
            <a:spLocks noGrp="1"/>
          </p:cNvSpPr>
          <p:nvPr/>
        </p:nvSpPr>
        <p:spPr>
          <a:xfrm>
            <a:off x="438150" y="1171575"/>
            <a:ext cx="5572125"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步骤一：用文本明确候选类别</a:t>
            </a:r>
          </a:p>
        </p:txBody>
      </p:sp>
      <p:sp>
        <p:nvSpPr>
          <p:cNvPr id="20" name="矩形 19"/>
          <p:cNvSpPr>
            <a:spLocks noGrp="1"/>
          </p:cNvSpPr>
          <p:nvPr/>
        </p:nvSpPr>
        <p:spPr>
          <a:xfrm>
            <a:off x="438150" y="1600200"/>
            <a:ext cx="5572125"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把 dog 写成 “A photo of a dog.”，为每类生成文本向量。</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文字描述同时表达类别含义和任务上下文。</a:t>
            </a:r>
          </a:p>
        </p:txBody>
      </p:sp>
      <p:sp>
        <p:nvSpPr>
          <p:cNvPr id="21" name="矩形 20"/>
          <p:cNvSpPr>
            <a:spLocks noGrp="1"/>
          </p:cNvSpPr>
          <p:nvPr/>
        </p:nvSpPr>
        <p:spPr>
          <a:xfrm>
            <a:off x="438150" y="2943225"/>
            <a:ext cx="5572125"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步骤二：计算图像与类别的相似度</a:t>
            </a:r>
          </a:p>
        </p:txBody>
      </p:sp>
      <p:sp>
        <p:nvSpPr>
          <p:cNvPr id="22" name="矩形 21"/>
          <p:cNvSpPr>
            <a:spLocks noGrp="1"/>
          </p:cNvSpPr>
          <p:nvPr/>
        </p:nvSpPr>
        <p:spPr>
          <a:xfrm>
            <a:off x="438150" y="3371850"/>
            <a:ext cx="5572125"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新图片经过图像编码器，与全部类别向量比较。</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编码器参数固定，直接选择相似度最高的类别。</a:t>
            </a:r>
          </a:p>
        </p:txBody>
      </p:sp>
      <p:sp>
        <p:nvSpPr>
          <p:cNvPr id="23" name="矩形 22"/>
          <p:cNvSpPr>
            <a:spLocks noGrp="1"/>
          </p:cNvSpPr>
          <p:nvPr/>
        </p:nvSpPr>
        <p:spPr>
          <a:xfrm>
            <a:off x="438150" y="4705350"/>
            <a:ext cx="5572125"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步骤三：通过提示词减少表达偏差</a:t>
            </a:r>
          </a:p>
        </p:txBody>
      </p:sp>
      <p:sp>
        <p:nvSpPr>
          <p:cNvPr id="24" name="矩形 23"/>
          <p:cNvSpPr>
            <a:spLocks noGrp="1"/>
          </p:cNvSpPr>
          <p:nvPr/>
        </p:nvSpPr>
        <p:spPr>
          <a:xfrm>
            <a:off x="438150" y="5133975"/>
            <a:ext cx="5572125"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完整句子比孤立词语更接近训练文本。</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增加“卫星照片”等上下文，或平均多个模板的文本表示。</a:t>
            </a:r>
          </a:p>
        </p:txBody>
      </p:sp>
      <p:pic>
        <p:nvPicPr>
          <p:cNvPr id="39" name="图片 38"/>
          <p:cNvPicPr>
            <a:picLocks noChangeAspect="1"/>
          </p:cNvPicPr>
          <p:nvPr/>
        </p:nvPicPr>
        <p:blipFill>
          <a:blip r:embed="rId3"/>
          <a:stretch>
            <a:fillRect/>
          </a:stretch>
        </p:blipFill>
        <p:spPr>
          <a:xfrm>
            <a:off x="6943564" y="1200150"/>
            <a:ext cx="4019873" cy="3952875"/>
          </a:xfrm>
          <a:prstGeom prst="rect">
            <a:avLst/>
          </a:prstGeom>
        </p:spPr>
      </p:pic>
      <p:sp>
        <p:nvSpPr>
          <p:cNvPr id="26" name="矩形 25"/>
          <p:cNvSpPr>
            <a:spLocks noGrp="1"/>
          </p:cNvSpPr>
          <p:nvPr/>
        </p:nvSpPr>
        <p:spPr>
          <a:xfrm>
            <a:off x="6372225" y="5381625"/>
            <a:ext cx="5229225" cy="809625"/>
          </a:xfrm>
          <a:prstGeom prst="rect">
            <a:avLst/>
          </a:prstGeom>
          <a:noFill/>
          <a:ln w="0">
            <a:noFill/>
          </a:ln>
        </p:spPr>
        <p:txBody>
          <a:bodyPr>
            <a:noAutofit/>
          </a:bodyPr>
          <a:lstStyle/>
          <a:p>
            <a:pPr>
              <a:defRPr sz="1875" b="1">
                <a:solidFill>
                  <a:srgbClr val="084B80"/>
                </a:solidFill>
                <a:latin typeface="微软雅黑"/>
                <a:ea typeface="微软雅黑"/>
                <a:cs typeface="微软雅黑"/>
              </a:defRPr>
            </a:pPr>
            <a:r>
              <a:rPr sz="1875" b="1" dirty="0">
                <a:solidFill>
                  <a:srgbClr val="084B80"/>
                </a:solidFill>
                <a:latin typeface="微软雅黑"/>
                <a:ea typeface="微软雅黑"/>
                <a:cs typeface="微软雅黑"/>
              </a:rPr>
              <a:t>原图验证：提示词设计与集成有效。</a:t>
            </a:r>
          </a:p>
          <a:p>
            <a:pPr>
              <a:defRPr sz="1875" b="1">
                <a:solidFill>
                  <a:srgbClr val="084B80"/>
                </a:solidFill>
                <a:latin typeface="微软雅黑"/>
                <a:ea typeface="微软雅黑"/>
                <a:cs typeface="微软雅黑"/>
              </a:defRPr>
            </a:pPr>
            <a:r>
              <a:rPr sz="1875" b="1" dirty="0">
                <a:solidFill>
                  <a:srgbClr val="084B80"/>
                </a:solidFill>
                <a:latin typeface="微软雅黑"/>
                <a:ea typeface="微软雅黑"/>
                <a:cs typeface="微软雅黑"/>
              </a:rPr>
              <a:t>提示词也是方法的一部分，结果会受措辞与候选类别集合影响。</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a:spLocks noGrp="1"/>
          </p:cNvSpPr>
          <p:nvPr/>
        </p:nvSpPr>
        <p:spPr>
          <a:xfrm>
            <a:off x="335361" y="116633"/>
            <a:ext cx="573023" cy="557721"/>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6" name="平行四边形 5"/>
          <p:cNvSpPr>
            <a:spLocks noGrp="1"/>
          </p:cNvSpPr>
          <p:nvPr/>
        </p:nvSpPr>
        <p:spPr>
          <a:xfrm>
            <a:off x="392209" y="171680"/>
            <a:ext cx="573023" cy="557721"/>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7" name="直接连接符 6"/>
          <p:cNvSpPr>
            <a:spLocks noGrp="1"/>
          </p:cNvSpPr>
          <p:nvPr/>
        </p:nv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sp>
      <p:sp>
        <p:nvSpPr>
          <p:cNvPr id="10" name="文本占位符 5"/>
          <p:cNvSpPr>
            <a:spLocks noGrp="1"/>
          </p:cNvSpPr>
          <p:nvPr/>
        </p:nvSpPr>
        <p:spPr>
          <a:xfrm>
            <a:off x="1123950" y="190500"/>
            <a:ext cx="8524875" cy="609600"/>
          </a:xfrm>
          <a:prstGeom prst="rect">
            <a:avLst/>
          </a:prstGeom>
        </p:spPr>
        <p:txBody>
          <a:bodyPr vert="horz" lIns="91440" tIns="45720" rIns="91440" bIns="45720">
            <a:normAutofit/>
          </a:bodyPr>
          <a:lstStyle>
            <a:lvl1pPr marL="0" indent="0" algn="l" defTabSz="914400">
              <a:lnSpc>
                <a:spcPct val="90000"/>
              </a:lnSpc>
              <a:spcBef>
                <a:spcPts val="1000"/>
              </a:spcBef>
              <a:buFont typeface="Arial" panose="020B0604020202090204"/>
              <a:buNone/>
              <a:defRPr sz="3200" b="1" kern="1200">
                <a:solidFill>
                  <a:srgbClr val="024282"/>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l" defTabSz="914400">
              <a:lnSpc>
                <a:spcPct val="90000"/>
              </a:lnSpc>
              <a:spcBef>
                <a:spcPts val="1000"/>
              </a:spcBef>
              <a:spcAft>
                <a:spcPts val="0"/>
              </a:spcAft>
              <a:buClrTx/>
              <a:buSzTx/>
              <a:buFont typeface="Arial" panose="020B0604020202090204"/>
              <a:buNone/>
              <a:defRPr sz="2775" b="1">
                <a:solidFill>
                  <a:srgbClr val="084B80"/>
                </a:solidFill>
                <a:latin typeface="微软雅黑"/>
                <a:ea typeface="微软雅黑"/>
                <a:cs typeface="微软雅黑"/>
              </a:defRPr>
            </a:pPr>
            <a:r>
              <a:rPr sz="2775" b="1" i="0" u="none" cap="none" spc="0" dirty="0">
                <a:ln>
                  <a:noFill/>
                </a:ln>
                <a:solidFill>
                  <a:srgbClr val="084B80"/>
                </a:solidFill>
                <a:latin typeface="微软雅黑"/>
                <a:ea typeface="微软雅黑"/>
                <a:cs typeface="微软雅黑"/>
              </a:rPr>
              <a:t>实验归纳：证据怎样支撑结论</a:t>
            </a:r>
            <a:endParaRPr sz="3200" b="1" i="0" u="none" kern="1200" cap="none" spc="0" baseline="0" dirty="0">
              <a:ln>
                <a:noFill/>
              </a:ln>
              <a:solidFill>
                <a:srgbClr val="024282"/>
              </a:solidFill>
              <a:latin typeface="微软雅黑"/>
              <a:ea typeface="微软雅黑"/>
              <a:cs typeface="微软雅黑"/>
            </a:endParaRPr>
          </a:p>
        </p:txBody>
      </p:sp>
      <p:sp>
        <p:nvSpPr>
          <p:cNvPr id="17" name="文本框 16"/>
          <p:cNvSpPr>
            <a:spLocks noGrp="1"/>
          </p:cNvSpPr>
          <p:nvPr/>
        </p:nvSpPr>
        <p:spPr>
          <a:xfrm>
            <a:off x="10813677" y="6398695"/>
            <a:ext cx="798617" cy="300082"/>
          </a:xfrm>
          <a:prstGeom prst="rect">
            <a:avLst/>
          </a:prstGeom>
          <a:noFill/>
        </p:spPr>
        <p:txBody>
          <a:bodyPr wrap="none">
            <a:spAutoFit/>
          </a:bodyPr>
          <a:lstStyle/>
          <a:p>
            <a:pPr marL="0" marR="0" lvl="0" indent="0" algn="l" defTabSz="914400">
              <a:lnSpc>
                <a:spcPct val="100000"/>
              </a:lnSpc>
              <a:spcBef>
                <a:spcPts val="0"/>
              </a:spcBef>
              <a:spcAft>
                <a:spcPts val="0"/>
              </a:spcAft>
              <a:buClrTx/>
              <a:buSzTx/>
              <a:buFontTx/>
              <a:buNone/>
              <a:defRPr sz="1350">
                <a:solidFill>
                  <a:srgbClr val="183D61"/>
                </a:solidFill>
                <a:latin typeface="微软雅黑"/>
                <a:ea typeface="微软雅黑"/>
                <a:cs typeface="微软雅黑"/>
              </a:defRPr>
            </a:pPr>
            <a:r>
              <a:rPr lang="en-US" sz="1350" b="1" dirty="0">
                <a:solidFill>
                  <a:srgbClr val="183D61"/>
                </a:solidFill>
                <a:latin typeface="微软雅黑"/>
                <a:ea typeface="微软雅黑"/>
                <a:cs typeface="微软雅黑"/>
              </a:rPr>
              <a:t>08</a:t>
            </a:r>
            <a:r>
              <a:rPr sz="1350" b="1" i="0" u="none" cap="none" spc="0" dirty="0">
                <a:ln>
                  <a:noFill/>
                </a:ln>
                <a:solidFill>
                  <a:srgbClr val="183D61"/>
                </a:solidFill>
                <a:latin typeface="微软雅黑"/>
                <a:ea typeface="微软雅黑"/>
                <a:cs typeface="微软雅黑"/>
              </a:rPr>
              <a:t> / </a:t>
            </a:r>
            <a:r>
              <a:rPr lang="en-US" sz="1350" b="1" i="0" u="none" cap="none" spc="0" dirty="0">
                <a:ln>
                  <a:noFill/>
                </a:ln>
                <a:solidFill>
                  <a:srgbClr val="183D61"/>
                </a:solidFill>
                <a:latin typeface="微软雅黑"/>
                <a:ea typeface="微软雅黑"/>
                <a:cs typeface="微软雅黑"/>
              </a:rPr>
              <a:t>0</a:t>
            </a:r>
            <a:r>
              <a:rPr lang="en-US" sz="1350" b="1" dirty="0">
                <a:solidFill>
                  <a:srgbClr val="183D61"/>
                </a:solidFill>
                <a:latin typeface="微软雅黑"/>
                <a:ea typeface="微软雅黑"/>
                <a:cs typeface="微软雅黑"/>
              </a:rPr>
              <a:t>9</a:t>
            </a:r>
            <a:endParaRPr sz="1800" b="1" i="0" u="none" kern="1200" cap="none" spc="0" baseline="30000" dirty="0">
              <a:ln>
                <a:noFill/>
              </a:ln>
              <a:solidFill>
                <a:prstClr val="white">
                  <a:lumMod val="75000"/>
                </a:prstClr>
              </a:solidFill>
              <a:latin typeface="Calibri"/>
              <a:ea typeface="Calibri"/>
              <a:cs typeface="Calibri"/>
            </a:endParaRPr>
          </a:p>
        </p:txBody>
      </p:sp>
      <p:pic>
        <p:nvPicPr>
          <p:cNvPr id="31" name="图片 30"/>
          <p:cNvPicPr>
            <a:picLocks noChangeAspect="1"/>
          </p:cNvPicPr>
          <p:nvPr/>
        </p:nvPicPr>
        <p:blipFill>
          <a:blip r:embed="rId3"/>
          <a:stretch>
            <a:fillRect/>
          </a:stretch>
        </p:blipFill>
        <p:spPr>
          <a:xfrm>
            <a:off x="897679" y="1181100"/>
            <a:ext cx="3529117" cy="4029075"/>
          </a:xfrm>
          <a:prstGeom prst="rect">
            <a:avLst/>
          </a:prstGeom>
        </p:spPr>
      </p:pic>
      <p:pic>
        <p:nvPicPr>
          <p:cNvPr id="32" name="图片 31"/>
          <p:cNvPicPr>
            <a:picLocks noChangeAspect="1"/>
          </p:cNvPicPr>
          <p:nvPr/>
        </p:nvPicPr>
        <p:blipFill>
          <a:blip r:embed="rId4"/>
          <a:srcRect l="35286"/>
          <a:stretch>
            <a:fillRect/>
          </a:stretch>
        </p:blipFill>
        <p:spPr>
          <a:xfrm>
            <a:off x="5210175" y="845670"/>
            <a:ext cx="5889005" cy="3532756"/>
          </a:xfrm>
          <a:prstGeom prst="rect">
            <a:avLst/>
          </a:prstGeom>
        </p:spPr>
      </p:pic>
      <p:sp>
        <p:nvSpPr>
          <p:cNvPr id="21" name="矩形 20"/>
          <p:cNvSpPr>
            <a:spLocks noGrp="1"/>
          </p:cNvSpPr>
          <p:nvPr/>
        </p:nvSpPr>
        <p:spPr>
          <a:xfrm>
            <a:off x="457199" y="5381625"/>
            <a:ext cx="4619297" cy="962025"/>
          </a:xfrm>
          <a:prstGeom prst="rect">
            <a:avLst/>
          </a:prstGeom>
          <a:noFill/>
          <a:ln w="0">
            <a:noFill/>
          </a:ln>
        </p:spPr>
        <p:txBody>
          <a:bodyPr>
            <a:noAutofit/>
          </a:bodyPr>
          <a:lstStyle/>
          <a:p>
            <a:pPr>
              <a:defRPr sz="1800" b="1">
                <a:solidFill>
                  <a:srgbClr val="084B80"/>
                </a:solidFill>
                <a:latin typeface="微软雅黑"/>
                <a:ea typeface="微软雅黑"/>
                <a:cs typeface="微软雅黑"/>
              </a:defRPr>
            </a:pPr>
            <a:r>
              <a:rPr sz="1800" b="1" dirty="0">
                <a:solidFill>
                  <a:srgbClr val="084B80"/>
                </a:solidFill>
                <a:latin typeface="微软雅黑"/>
                <a:ea typeface="微软雅黑"/>
                <a:cs typeface="微软雅黑"/>
              </a:rPr>
              <a:t>零样本迁移：16 / 27 个数据集领先</a:t>
            </a:r>
          </a:p>
          <a:p>
            <a:pPr>
              <a:defRPr sz="1800" b="1">
                <a:solidFill>
                  <a:srgbClr val="084B80"/>
                </a:solidFill>
                <a:latin typeface="微软雅黑"/>
                <a:ea typeface="微软雅黑"/>
                <a:cs typeface="微软雅黑"/>
              </a:defRPr>
            </a:pPr>
            <a:r>
              <a:rPr sz="1800" b="1" dirty="0">
                <a:solidFill>
                  <a:srgbClr val="084B80"/>
                </a:solidFill>
                <a:latin typeface="微软雅黑"/>
                <a:ea typeface="微软雅黑"/>
                <a:cs typeface="微软雅黑"/>
              </a:rPr>
              <a:t>比较对象为 ResNet-50 特征上的监督线性分类器。</a:t>
            </a:r>
          </a:p>
          <a:p>
            <a:pPr>
              <a:defRPr sz="1800" b="1">
                <a:solidFill>
                  <a:srgbClr val="084B80"/>
                </a:solidFill>
                <a:latin typeface="微软雅黑"/>
                <a:ea typeface="微软雅黑"/>
                <a:cs typeface="微软雅黑"/>
              </a:defRPr>
            </a:pPr>
            <a:r>
              <a:rPr sz="1800" b="1" dirty="0">
                <a:solidFill>
                  <a:srgbClr val="084B80"/>
                </a:solidFill>
                <a:latin typeface="微软雅黑"/>
                <a:ea typeface="微软雅黑"/>
                <a:cs typeface="微软雅黑"/>
              </a:rPr>
              <a:t>说明迁移具有竞争力，同时任务差异明显。</a:t>
            </a:r>
          </a:p>
        </p:txBody>
      </p:sp>
      <p:sp>
        <p:nvSpPr>
          <p:cNvPr id="22" name="矩形 21"/>
          <p:cNvSpPr>
            <a:spLocks noGrp="1"/>
          </p:cNvSpPr>
          <p:nvPr/>
        </p:nvSpPr>
        <p:spPr>
          <a:xfrm>
            <a:off x="5705290" y="4494781"/>
            <a:ext cx="630555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鲁棒性：比较相近原分布准确率的模型</a:t>
            </a:r>
          </a:p>
        </p:txBody>
      </p:sp>
      <p:sp>
        <p:nvSpPr>
          <p:cNvPr id="23" name="矩形 22"/>
          <p:cNvSpPr>
            <a:spLocks noGrp="1"/>
          </p:cNvSpPr>
          <p:nvPr/>
        </p:nvSpPr>
        <p:spPr>
          <a:xfrm>
            <a:off x="5705290" y="4923406"/>
            <a:ext cx="6305550" cy="1143000"/>
          </a:xfrm>
          <a:prstGeom prst="rect">
            <a:avLst/>
          </a:prstGeom>
          <a:noFill/>
          <a:ln w="0">
            <a:noFill/>
          </a:ln>
        </p:spPr>
        <p:txBody>
          <a:bodyPr>
            <a:noAutofit/>
          </a:bodyPr>
          <a:lstStyle/>
          <a:p>
            <a:pPr>
              <a:defRPr sz="1800" b="0">
                <a:solidFill>
                  <a:srgbClr val="202020"/>
                </a:solidFill>
                <a:latin typeface="微软雅黑"/>
                <a:ea typeface="微软雅黑"/>
                <a:cs typeface="微软雅黑"/>
              </a:defRPr>
            </a:pPr>
            <a:r>
              <a:rPr sz="1800" b="0" dirty="0">
                <a:solidFill>
                  <a:srgbClr val="202020"/>
                </a:solidFill>
                <a:latin typeface="微软雅黑"/>
                <a:ea typeface="微软雅黑"/>
                <a:cs typeface="微软雅黑"/>
              </a:rPr>
              <a:t>通过艺术图、草图、不同拍摄条件等数据验证迁移。</a:t>
            </a:r>
          </a:p>
          <a:p>
            <a:pPr>
              <a:defRPr sz="1800" b="0">
                <a:solidFill>
                  <a:srgbClr val="202020"/>
                </a:solidFill>
                <a:latin typeface="微软雅黑"/>
                <a:ea typeface="微软雅黑"/>
                <a:cs typeface="微软雅黑"/>
              </a:defRPr>
            </a:pPr>
            <a:r>
              <a:rPr sz="1800" b="0" dirty="0">
                <a:solidFill>
                  <a:srgbClr val="202020"/>
                </a:solidFill>
                <a:latin typeface="微软雅黑"/>
                <a:ea typeface="微软雅黑"/>
                <a:cs typeface="微软雅黑"/>
              </a:rPr>
              <a:t>结论限于论文测试的自然分布变化。</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a:spLocks noGrp="1"/>
          </p:cNvSpPr>
          <p:nvPr/>
        </p:nvSpPr>
        <p:spPr>
          <a:xfrm>
            <a:off x="335361" y="116633"/>
            <a:ext cx="573023" cy="557721"/>
          </a:xfrm>
          <a:prstGeom prst="parallelogram">
            <a:avLst/>
          </a:prstGeom>
          <a:solidFill>
            <a:srgbClr val="024282"/>
          </a:solid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6" name="平行四边形 5"/>
          <p:cNvSpPr>
            <a:spLocks noGrp="1"/>
          </p:cNvSpPr>
          <p:nvPr/>
        </p:nvSpPr>
        <p:spPr>
          <a:xfrm>
            <a:off x="392209" y="171680"/>
            <a:ext cx="573023" cy="557721"/>
          </a:xfrm>
          <a:prstGeom prst="parallelogram">
            <a:avLst/>
          </a:prstGeom>
          <a:noFill/>
          <a:ln>
            <a:solidFill>
              <a:srgbClr val="02428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dirty="0">
              <a:ln>
                <a:noFill/>
              </a:ln>
              <a:solidFill>
                <a:prstClr val="white"/>
              </a:solidFill>
              <a:latin typeface="Calibri"/>
              <a:ea typeface="Calibri"/>
              <a:cs typeface="Calibri"/>
            </a:endParaRPr>
          </a:p>
        </p:txBody>
      </p:sp>
      <p:sp>
        <p:nvSpPr>
          <p:cNvPr id="7" name="直接连接符 6"/>
          <p:cNvSpPr>
            <a:spLocks noGrp="1"/>
          </p:cNvSpPr>
          <p:nvPr/>
        </p:nvSpPr>
        <p:spPr>
          <a:xfrm>
            <a:off x="367840" y="809674"/>
            <a:ext cx="11488800" cy="0"/>
          </a:xfrm>
          <a:prstGeom prst="line">
            <a:avLst/>
          </a:prstGeom>
          <a:ln w="9525">
            <a:solidFill>
              <a:srgbClr val="024282"/>
            </a:solidFill>
          </a:ln>
        </p:spPr>
        <p:style>
          <a:lnRef idx="1">
            <a:schemeClr val="accent1"/>
          </a:lnRef>
          <a:fillRef idx="0">
            <a:schemeClr val="accent1"/>
          </a:fillRef>
          <a:effectRef idx="0">
            <a:schemeClr val="accent1"/>
          </a:effectRef>
          <a:fontRef idx="minor">
            <a:schemeClr val="tx1"/>
          </a:fontRef>
        </p:style>
      </p:sp>
      <p:sp>
        <p:nvSpPr>
          <p:cNvPr id="10" name="文本占位符 5"/>
          <p:cNvSpPr>
            <a:spLocks noGrp="1"/>
          </p:cNvSpPr>
          <p:nvPr/>
        </p:nvSpPr>
        <p:spPr>
          <a:xfrm>
            <a:off x="1123950" y="190500"/>
            <a:ext cx="8524875" cy="609600"/>
          </a:xfrm>
          <a:prstGeom prst="rect">
            <a:avLst/>
          </a:prstGeom>
        </p:spPr>
        <p:txBody>
          <a:bodyPr vert="horz" lIns="91440" tIns="45720" rIns="91440" bIns="45720">
            <a:normAutofit/>
          </a:bodyPr>
          <a:lstStyle>
            <a:lvl1pPr marL="0" indent="0" algn="l" defTabSz="914400">
              <a:lnSpc>
                <a:spcPct val="90000"/>
              </a:lnSpc>
              <a:spcBef>
                <a:spcPts val="1000"/>
              </a:spcBef>
              <a:buFont typeface="Arial" panose="020B0604020202090204"/>
              <a:buNone/>
              <a:defRPr sz="3200" b="1" kern="1200">
                <a:solidFill>
                  <a:srgbClr val="024282"/>
                </a:solidFill>
                <a:latin typeface="微软雅黑"/>
                <a:ea typeface="微软雅黑"/>
                <a:cs typeface="微软雅黑"/>
              </a:defRPr>
            </a:lvl1pPr>
            <a:lvl2pPr marL="685800" indent="-228600" algn="l" defTabSz="914400">
              <a:lnSpc>
                <a:spcPct val="90000"/>
              </a:lnSpc>
              <a:spcBef>
                <a:spcPts val="500"/>
              </a:spcBef>
              <a:buFont typeface="Arial" panose="020B060402020209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9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90204"/>
              <a:buChar char="•"/>
              <a:defRPr sz="1800" kern="1200">
                <a:solidFill>
                  <a:schemeClr val="tx1"/>
                </a:solidFill>
                <a:latin typeface="+mn-lt"/>
                <a:ea typeface="+mn-lt"/>
                <a:cs typeface="+mn-lt"/>
              </a:defRPr>
            </a:lvl9pPr>
          </a:lstStyle>
          <a:p>
            <a:pPr marL="0" marR="0" lvl="0" indent="0" algn="l" defTabSz="914400">
              <a:lnSpc>
                <a:spcPct val="90000"/>
              </a:lnSpc>
              <a:spcBef>
                <a:spcPts val="1000"/>
              </a:spcBef>
              <a:spcAft>
                <a:spcPts val="0"/>
              </a:spcAft>
              <a:buClrTx/>
              <a:buSzTx/>
              <a:buFont typeface="Arial" panose="020B0604020202090204"/>
              <a:buNone/>
              <a:defRPr sz="2775" b="1">
                <a:solidFill>
                  <a:srgbClr val="084B80"/>
                </a:solidFill>
                <a:latin typeface="微软雅黑"/>
                <a:ea typeface="微软雅黑"/>
                <a:cs typeface="微软雅黑"/>
              </a:defRPr>
            </a:pPr>
            <a:r>
              <a:rPr sz="2775" b="1" i="0" u="none" cap="none" spc="0" dirty="0">
                <a:ln>
                  <a:noFill/>
                </a:ln>
                <a:solidFill>
                  <a:srgbClr val="084B80"/>
                </a:solidFill>
                <a:latin typeface="微软雅黑"/>
                <a:ea typeface="微软雅黑"/>
                <a:cs typeface="微软雅黑"/>
              </a:rPr>
              <a:t>优势与局限：方法的适用边界</a:t>
            </a:r>
            <a:endParaRPr sz="3200" b="1" i="0" u="none" kern="1200" cap="none" spc="0" baseline="0" dirty="0">
              <a:ln>
                <a:noFill/>
              </a:ln>
              <a:solidFill>
                <a:srgbClr val="024282"/>
              </a:solidFill>
              <a:latin typeface="微软雅黑"/>
              <a:ea typeface="微软雅黑"/>
              <a:cs typeface="微软雅黑"/>
            </a:endParaRPr>
          </a:p>
        </p:txBody>
      </p:sp>
      <p:sp>
        <p:nvSpPr>
          <p:cNvPr id="17" name="文本框 16"/>
          <p:cNvSpPr>
            <a:spLocks noGrp="1"/>
          </p:cNvSpPr>
          <p:nvPr/>
        </p:nvSpPr>
        <p:spPr>
          <a:xfrm>
            <a:off x="10813677" y="6398695"/>
            <a:ext cx="798617" cy="300082"/>
          </a:xfrm>
          <a:prstGeom prst="rect">
            <a:avLst/>
          </a:prstGeom>
          <a:noFill/>
        </p:spPr>
        <p:txBody>
          <a:bodyPr wrap="none">
            <a:spAutoFit/>
          </a:bodyPr>
          <a:lstStyle/>
          <a:p>
            <a:pPr marL="0" marR="0" lvl="0" indent="0" algn="l" defTabSz="914400">
              <a:lnSpc>
                <a:spcPct val="100000"/>
              </a:lnSpc>
              <a:spcBef>
                <a:spcPts val="0"/>
              </a:spcBef>
              <a:spcAft>
                <a:spcPts val="0"/>
              </a:spcAft>
              <a:buClrTx/>
              <a:buSzTx/>
              <a:buFontTx/>
              <a:buNone/>
              <a:defRPr sz="1350">
                <a:solidFill>
                  <a:srgbClr val="183D61"/>
                </a:solidFill>
                <a:latin typeface="微软雅黑"/>
                <a:ea typeface="微软雅黑"/>
                <a:cs typeface="微软雅黑"/>
              </a:defRPr>
            </a:pPr>
            <a:r>
              <a:rPr lang="en-US" sz="1350" b="1" dirty="0">
                <a:solidFill>
                  <a:srgbClr val="183D61"/>
                </a:solidFill>
                <a:latin typeface="微软雅黑"/>
                <a:ea typeface="微软雅黑"/>
                <a:cs typeface="微软雅黑"/>
              </a:rPr>
              <a:t>09</a:t>
            </a:r>
            <a:r>
              <a:rPr sz="1350" b="1" i="0" u="none" cap="none" spc="0" dirty="0">
                <a:ln>
                  <a:noFill/>
                </a:ln>
                <a:solidFill>
                  <a:srgbClr val="183D61"/>
                </a:solidFill>
                <a:latin typeface="微软雅黑"/>
                <a:ea typeface="微软雅黑"/>
                <a:cs typeface="微软雅黑"/>
              </a:rPr>
              <a:t> / </a:t>
            </a:r>
            <a:r>
              <a:rPr lang="en-US" sz="1350" b="1" i="0" u="none" cap="none" spc="0" dirty="0">
                <a:ln>
                  <a:noFill/>
                </a:ln>
                <a:solidFill>
                  <a:srgbClr val="183D61"/>
                </a:solidFill>
                <a:latin typeface="微软雅黑"/>
                <a:ea typeface="微软雅黑"/>
                <a:cs typeface="微软雅黑"/>
              </a:rPr>
              <a:t>0</a:t>
            </a:r>
            <a:r>
              <a:rPr lang="en-US" sz="1350" b="1" dirty="0">
                <a:solidFill>
                  <a:srgbClr val="183D61"/>
                </a:solidFill>
                <a:latin typeface="微软雅黑"/>
                <a:ea typeface="微软雅黑"/>
                <a:cs typeface="微软雅黑"/>
              </a:rPr>
              <a:t>9</a:t>
            </a:r>
            <a:endParaRPr sz="1800" b="1" i="0" u="none" kern="1200" cap="none" spc="0" baseline="30000" dirty="0">
              <a:ln>
                <a:noFill/>
              </a:ln>
              <a:solidFill>
                <a:prstClr val="white">
                  <a:lumMod val="75000"/>
                </a:prstClr>
              </a:solidFill>
              <a:latin typeface="Calibri"/>
              <a:ea typeface="Calibri"/>
              <a:cs typeface="Calibri"/>
            </a:endParaRPr>
          </a:p>
        </p:txBody>
      </p:sp>
      <p:sp>
        <p:nvSpPr>
          <p:cNvPr id="19" name="矩形 18"/>
          <p:cNvSpPr>
            <a:spLocks noGrp="1"/>
          </p:cNvSpPr>
          <p:nvPr/>
        </p:nvSpPr>
        <p:spPr>
          <a:xfrm>
            <a:off x="428625" y="1095375"/>
            <a:ext cx="5467350" cy="466725"/>
          </a:xfrm>
          <a:prstGeom prst="rect">
            <a:avLst/>
          </a:prstGeom>
          <a:solidFill>
            <a:srgbClr val="084B80"/>
          </a:solidFill>
          <a:ln w="0">
            <a:noFill/>
          </a:ln>
        </p:spPr>
        <p:txBody>
          <a:bodyPr>
            <a:noAutofit/>
          </a:bodyPr>
          <a:lstStyle/>
          <a:p>
            <a:pPr>
              <a:defRPr sz="2100" b="1">
                <a:solidFill>
                  <a:srgbClr val="FFFFFF"/>
                </a:solidFill>
                <a:latin typeface="微软雅黑"/>
                <a:ea typeface="微软雅黑"/>
                <a:cs typeface="微软雅黑"/>
              </a:defRPr>
            </a:pPr>
            <a:r>
              <a:rPr sz="2100" b="1" dirty="0">
                <a:solidFill>
                  <a:srgbClr val="FFFFFF"/>
                </a:solidFill>
                <a:latin typeface="微软雅黑"/>
                <a:ea typeface="微软雅黑"/>
                <a:cs typeface="微软雅黑"/>
              </a:rPr>
              <a:t>优势：灵活的监督与任务接口</a:t>
            </a:r>
          </a:p>
        </p:txBody>
      </p:sp>
      <p:sp>
        <p:nvSpPr>
          <p:cNvPr id="20" name="矩形 19"/>
          <p:cNvSpPr>
            <a:spLocks noGrp="1"/>
          </p:cNvSpPr>
          <p:nvPr/>
        </p:nvSpPr>
        <p:spPr>
          <a:xfrm>
            <a:off x="6143625" y="1095375"/>
            <a:ext cx="5581650" cy="466725"/>
          </a:xfrm>
          <a:prstGeom prst="rect">
            <a:avLst/>
          </a:prstGeom>
          <a:solidFill>
            <a:srgbClr val="084B80"/>
          </a:solidFill>
          <a:ln w="0">
            <a:noFill/>
          </a:ln>
        </p:spPr>
        <p:txBody>
          <a:bodyPr>
            <a:noAutofit/>
          </a:bodyPr>
          <a:lstStyle/>
          <a:p>
            <a:pPr>
              <a:defRPr sz="2100" b="1">
                <a:solidFill>
                  <a:srgbClr val="FFFFFF"/>
                </a:solidFill>
                <a:latin typeface="微软雅黑"/>
                <a:ea typeface="微软雅黑"/>
                <a:cs typeface="微软雅黑"/>
              </a:defRPr>
            </a:pPr>
            <a:r>
              <a:rPr sz="2100" b="1" dirty="0">
                <a:solidFill>
                  <a:srgbClr val="FFFFFF"/>
                </a:solidFill>
                <a:latin typeface="微软雅黑"/>
                <a:ea typeface="微软雅黑"/>
                <a:cs typeface="微软雅黑"/>
              </a:rPr>
              <a:t>局限：能力、数据与计算的边界</a:t>
            </a:r>
          </a:p>
        </p:txBody>
      </p:sp>
      <p:sp>
        <p:nvSpPr>
          <p:cNvPr id="21" name="矩形 20"/>
          <p:cNvSpPr>
            <a:spLocks noGrp="1"/>
          </p:cNvSpPr>
          <p:nvPr/>
        </p:nvSpPr>
        <p:spPr>
          <a:xfrm>
            <a:off x="533400" y="1781175"/>
            <a:ext cx="525780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降低目标任务的标注依赖</a:t>
            </a:r>
          </a:p>
        </p:txBody>
      </p:sp>
      <p:sp>
        <p:nvSpPr>
          <p:cNvPr id="22" name="矩形 21"/>
          <p:cNvSpPr>
            <a:spLocks noGrp="1"/>
          </p:cNvSpPr>
          <p:nvPr/>
        </p:nvSpPr>
        <p:spPr>
          <a:xfrm>
            <a:off x="533400" y="2209800"/>
            <a:ext cx="5257800"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通过自然语言构造分类器，在多种任务上直接迁移。</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新类别可以改写为文本，不必总是重训分类头。</a:t>
            </a:r>
          </a:p>
        </p:txBody>
      </p:sp>
      <p:sp>
        <p:nvSpPr>
          <p:cNvPr id="23" name="矩形 22"/>
          <p:cNvSpPr>
            <a:spLocks noGrp="1"/>
          </p:cNvSpPr>
          <p:nvPr/>
        </p:nvSpPr>
        <p:spPr>
          <a:xfrm>
            <a:off x="533400" y="3514725"/>
            <a:ext cx="525780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可复用的视觉与语言表示</a:t>
            </a:r>
          </a:p>
        </p:txBody>
      </p:sp>
      <p:sp>
        <p:nvSpPr>
          <p:cNvPr id="24" name="矩形 23"/>
          <p:cNvSpPr>
            <a:spLocks noGrp="1"/>
          </p:cNvSpPr>
          <p:nvPr/>
        </p:nvSpPr>
        <p:spPr>
          <a:xfrm>
            <a:off x="533400" y="3943350"/>
            <a:ext cx="5257800"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冻结后的图像特征也可支持监督分类与少样本适配。</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共享空间提供图文匹配能力，扩大使用方式。</a:t>
            </a:r>
          </a:p>
        </p:txBody>
      </p:sp>
      <p:sp>
        <p:nvSpPr>
          <p:cNvPr id="25" name="矩形 24"/>
          <p:cNvSpPr>
            <a:spLocks noGrp="1"/>
          </p:cNvSpPr>
          <p:nvPr/>
        </p:nvSpPr>
        <p:spPr>
          <a:xfrm>
            <a:off x="6267450" y="1781175"/>
            <a:ext cx="525780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识别能力并不等同于全面理解</a:t>
            </a:r>
          </a:p>
        </p:txBody>
      </p:sp>
      <p:sp>
        <p:nvSpPr>
          <p:cNvPr id="26" name="矩形 25"/>
          <p:cNvSpPr>
            <a:spLocks noGrp="1"/>
          </p:cNvSpPr>
          <p:nvPr/>
        </p:nvSpPr>
        <p:spPr>
          <a:xfrm>
            <a:off x="6267450" y="2209800"/>
            <a:ext cx="5257800"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计数、距离判断、部分专业领域仍然较弱。</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输出仍受给定的候选类别集合限制。</a:t>
            </a:r>
          </a:p>
        </p:txBody>
      </p:sp>
      <p:sp>
        <p:nvSpPr>
          <p:cNvPr id="27" name="矩形 26"/>
          <p:cNvSpPr>
            <a:spLocks noGrp="1"/>
          </p:cNvSpPr>
          <p:nvPr/>
        </p:nvSpPr>
        <p:spPr>
          <a:xfrm>
            <a:off x="6267450" y="3514725"/>
            <a:ext cx="5257800" cy="381000"/>
          </a:xfrm>
          <a:prstGeom prst="rect">
            <a:avLst/>
          </a:prstGeom>
          <a:noFill/>
          <a:ln w="0">
            <a:noFill/>
          </a:ln>
        </p:spPr>
        <p:txBody>
          <a:bodyPr>
            <a:noAutofit/>
          </a:bodyPr>
          <a:lstStyle/>
          <a:p>
            <a:pPr>
              <a:defRPr sz="2100" b="1">
                <a:solidFill>
                  <a:srgbClr val="084B80"/>
                </a:solidFill>
                <a:latin typeface="微软雅黑"/>
                <a:ea typeface="微软雅黑"/>
                <a:cs typeface="微软雅黑"/>
              </a:defRPr>
            </a:pPr>
            <a:r>
              <a:rPr sz="2100" b="1" dirty="0">
                <a:solidFill>
                  <a:srgbClr val="084B80"/>
                </a:solidFill>
                <a:latin typeface="微软雅黑"/>
                <a:ea typeface="微软雅黑"/>
                <a:cs typeface="微软雅黑"/>
              </a:rPr>
              <a:t>规模带来收益，也带来代价</a:t>
            </a:r>
          </a:p>
        </p:txBody>
      </p:sp>
      <p:sp>
        <p:nvSpPr>
          <p:cNvPr id="28" name="矩形 27"/>
          <p:cNvSpPr>
            <a:spLocks noGrp="1"/>
          </p:cNvSpPr>
          <p:nvPr/>
        </p:nvSpPr>
        <p:spPr>
          <a:xfrm>
            <a:off x="6267450" y="3943350"/>
            <a:ext cx="5257800" cy="1143000"/>
          </a:xfrm>
          <a:prstGeom prst="rect">
            <a:avLst/>
          </a:prstGeom>
          <a:noFill/>
          <a:ln w="0">
            <a:noFill/>
          </a:ln>
        </p:spPr>
        <p:txBody>
          <a:bodyPr>
            <a:noAutofit/>
          </a:bodyPr>
          <a:lstStyle/>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网络数据含噪声和偏见，重叠检测不能证明绝对无污染。</a:t>
            </a:r>
          </a:p>
          <a:p>
            <a:pPr>
              <a:defRPr sz="1875" b="0">
                <a:solidFill>
                  <a:srgbClr val="202020"/>
                </a:solidFill>
                <a:latin typeface="微软雅黑"/>
                <a:ea typeface="微软雅黑"/>
                <a:cs typeface="微软雅黑"/>
              </a:defRPr>
            </a:pPr>
            <a:r>
              <a:rPr sz="1875" b="0" dirty="0">
                <a:solidFill>
                  <a:srgbClr val="202020"/>
                </a:solidFill>
                <a:latin typeface="微软雅黑"/>
                <a:ea typeface="微软雅黑"/>
                <a:cs typeface="微软雅黑"/>
              </a:rPr>
              <a:t>最大 ViT 使用 256 张 V100 训练 12 天。</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FFBEE1-083C-4223-BD05-8B41B8C984F8}"/>
              </a:ext>
            </a:extLst>
          </p:cNvPr>
          <p:cNvSpPr txBox="1"/>
          <p:nvPr/>
        </p:nvSpPr>
        <p:spPr>
          <a:xfrm>
            <a:off x="1596568" y="997381"/>
            <a:ext cx="9564709" cy="2677656"/>
          </a:xfrm>
          <a:prstGeom prst="rect">
            <a:avLst/>
          </a:prstGeom>
          <a:noFill/>
        </p:spPr>
        <p:txBody>
          <a:bodyPr wrap="square" rtlCol="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7200" b="0" i="0" u="none" strike="noStrike" kern="1200" cap="none" spc="0" normalizeH="0" baseline="0" noProof="0" dirty="0">
                <a:ln>
                  <a:noFill/>
                </a:ln>
                <a:solidFill>
                  <a:srgbClr val="1F497D">
                    <a:lumMod val="75000"/>
                  </a:srgbClr>
                </a:solidFill>
                <a:effectLst/>
                <a:uLnTx/>
                <a:uFillTx/>
                <a:latin typeface="Noto Serif SC Black"/>
                <a:ea typeface="微软雅黑"/>
                <a:cs typeface="Arial" panose="020B0604020202020204" pitchFamily="34" charset="0"/>
              </a:rPr>
              <a:t>L</a:t>
            </a:r>
            <a:r>
              <a:rPr kumimoji="0" lang="en-US" altLang="zh-CN" sz="7200" b="0" i="0" u="none" strike="noStrike" kern="1200" cap="none" spc="0" normalizeH="0" baseline="0" noProof="0" dirty="0">
                <a:ln>
                  <a:noFill/>
                </a:ln>
                <a:solidFill>
                  <a:srgbClr val="1F497D">
                    <a:lumMod val="75000"/>
                  </a:srgbClr>
                </a:solidFill>
                <a:effectLst/>
                <a:uLnTx/>
                <a:uFillTx/>
                <a:latin typeface="Noto Serif SC Black"/>
                <a:ea typeface="微软雅黑"/>
                <a:cs typeface="Arial" panose="020B0604020202020204" pitchFamily="34" charset="0"/>
              </a:rPr>
              <a:t>iT</a:t>
            </a:r>
            <a:endParaRPr kumimoji="0" lang="en-US" altLang="ko-KR" sz="7200" b="0" i="0" u="none" strike="noStrike" kern="1200" cap="none" spc="0" normalizeH="0" baseline="0" noProof="0" dirty="0">
              <a:ln>
                <a:noFill/>
              </a:ln>
              <a:solidFill>
                <a:srgbClr val="1F497D">
                  <a:lumMod val="75000"/>
                </a:srgbClr>
              </a:solidFill>
              <a:effectLst/>
              <a:uLnTx/>
              <a:uFillTx/>
              <a:latin typeface="Noto Serif SC Black"/>
              <a:ea typeface="微软雅黑"/>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14233E"/>
                </a:solidFill>
                <a:effectLst/>
                <a:uLnTx/>
                <a:uFillTx/>
                <a:latin typeface="Noto Serif CJK SC"/>
                <a:ea typeface="微软雅黑"/>
                <a:cs typeface="+mn-cs"/>
              </a:rPr>
              <a:t>Zero-Shot Transfer with Locked-image Text Tuning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zh-CN" sz="28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基于固定图像的文本调整机制的零样本迁移技术</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3200" b="0" i="0" u="none" strike="noStrike" kern="1200" cap="none" spc="0" normalizeH="0" baseline="0" noProof="0" dirty="0">
              <a:ln>
                <a:noFill/>
              </a:ln>
              <a:solidFill>
                <a:srgbClr val="171717"/>
              </a:solidFill>
              <a:effectLst/>
              <a:uLnTx/>
              <a:uFillTx/>
              <a:latin typeface="Noto Serif SC Black"/>
              <a:cs typeface="Arial" panose="020B0604020202020204" pitchFamily="34" charset="0"/>
            </a:endParaRPr>
          </a:p>
        </p:txBody>
      </p:sp>
      <p:sp>
        <p:nvSpPr>
          <p:cNvPr id="2" name="직사각형 1">
            <a:extLst>
              <a:ext uri="{FF2B5EF4-FFF2-40B4-BE49-F238E27FC236}">
                <a16:creationId xmlns:a16="http://schemas.microsoft.com/office/drawing/2014/main" id="{7818860C-02F0-4482-8853-6E29CE668509}"/>
              </a:ext>
            </a:extLst>
          </p:cNvPr>
          <p:cNvSpPr/>
          <p:nvPr/>
        </p:nvSpPr>
        <p:spPr>
          <a:xfrm>
            <a:off x="783975" y="772886"/>
            <a:ext cx="252000" cy="4341938"/>
          </a:xfrm>
          <a:prstGeom prst="rect">
            <a:avLst/>
          </a:prstGeom>
          <a:solidFill>
            <a:schemeClr val="tx2">
              <a:lumMod val="75000"/>
            </a:schemeClr>
          </a:solidFill>
          <a:ln w="9525" cap="flat">
            <a:noFill/>
            <a:prstDash val="solid"/>
            <a:miter/>
          </a:ln>
        </p:spPr>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dirty="0">
              <a:ln>
                <a:noFill/>
              </a:ln>
              <a:solidFill>
                <a:srgbClr val="F7F7F7"/>
              </a:solidFill>
              <a:effectLst/>
              <a:uLnTx/>
              <a:uFillTx/>
              <a:latin typeface="Noto Serif SC Black"/>
              <a:cs typeface="+mn-cs"/>
            </a:endParaRPr>
          </a:p>
        </p:txBody>
      </p:sp>
      <p:sp>
        <p:nvSpPr>
          <p:cNvPr id="13" name="文本框 12">
            <a:extLst>
              <a:ext uri="{FF2B5EF4-FFF2-40B4-BE49-F238E27FC236}">
                <a16:creationId xmlns:a16="http://schemas.microsoft.com/office/drawing/2014/main" id="{DC359C3E-77B0-274B-E450-8433E8B005A8}"/>
              </a:ext>
            </a:extLst>
          </p:cNvPr>
          <p:cNvSpPr txBox="1"/>
          <p:nvPr/>
        </p:nvSpPr>
        <p:spPr>
          <a:xfrm>
            <a:off x="9942989" y="6072658"/>
            <a:ext cx="1792478"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lumMod val="95000"/>
                  </a:prstClr>
                </a:solidFill>
                <a:effectLst/>
                <a:uLnTx/>
                <a:uFillTx/>
                <a:latin typeface="Cambria"/>
                <a:ea typeface="微软雅黑"/>
                <a:cs typeface="+mn-cs"/>
              </a:rPr>
              <a:t>CVPR 2022</a:t>
            </a:r>
            <a:endParaRPr kumimoji="0" lang="zh-CN" altLang="en-US" sz="2800" b="1" i="0" u="none" strike="noStrike" kern="1200" cap="none" spc="0" normalizeH="0" baseline="0" noProof="0" dirty="0">
              <a:ln>
                <a:noFill/>
              </a:ln>
              <a:solidFill>
                <a:prstClr val="white">
                  <a:lumMod val="95000"/>
                </a:prstClr>
              </a:solidFill>
              <a:effectLst/>
              <a:uLnTx/>
              <a:uFillTx/>
              <a:latin typeface="Cambria"/>
              <a:ea typeface="微软雅黑"/>
              <a:cs typeface="+mn-cs"/>
            </a:endParaRPr>
          </a:p>
        </p:txBody>
      </p:sp>
      <p:sp>
        <p:nvSpPr>
          <p:cNvPr id="14" name="文本框 13">
            <a:extLst>
              <a:ext uri="{FF2B5EF4-FFF2-40B4-BE49-F238E27FC236}">
                <a16:creationId xmlns:a16="http://schemas.microsoft.com/office/drawing/2014/main" id="{CA01C890-FCB0-8DDC-026D-13BB25E57EF7}"/>
              </a:ext>
            </a:extLst>
          </p:cNvPr>
          <p:cNvSpPr txBox="1"/>
          <p:nvPr/>
        </p:nvSpPr>
        <p:spPr>
          <a:xfrm>
            <a:off x="1653409" y="3148253"/>
            <a:ext cx="8855309"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zh-CN" sz="1400" b="1" i="0" u="none" strike="noStrike" kern="1200" cap="none" spc="0" normalizeH="0" baseline="0" noProof="0" dirty="0">
                <a:ln>
                  <a:noFill/>
                </a:ln>
                <a:solidFill>
                  <a:prstClr val="black">
                    <a:lumMod val="75000"/>
                    <a:lumOff val="25000"/>
                  </a:prstClr>
                </a:solidFill>
                <a:effectLst/>
                <a:uLnTx/>
                <a:uFillTx/>
                <a:latin typeface="Noto Sans SC Light" panose="020B0200000000000000" pitchFamily="34" charset="-122"/>
                <a:ea typeface="Noto Sans SC Light" panose="020B0200000000000000" pitchFamily="34" charset="-122"/>
                <a:cs typeface="+mn-cs"/>
              </a:rPr>
              <a:t>Xiaohua Zhai, Xiao Wang, Basil Mustafa, Andreas Steiner, Daniel Keysers, Alexander Kolesnikov, Lucas Beyer. </a:t>
            </a:r>
            <a:endParaRPr kumimoji="0" lang="en-US" altLang="zh-CN" sz="1400" b="1" i="0" u="none" strike="noStrike" kern="1200" cap="none" spc="0" normalizeH="0" baseline="0" noProof="0" dirty="0">
              <a:ln>
                <a:noFill/>
              </a:ln>
              <a:solidFill>
                <a:prstClr val="black">
                  <a:lumMod val="75000"/>
                  <a:lumOff val="25000"/>
                </a:prstClr>
              </a:solidFill>
              <a:effectLst/>
              <a:uLnTx/>
              <a:uFillTx/>
              <a:latin typeface="Noto Sans SC Light" panose="020B0200000000000000" pitchFamily="34" charset="-122"/>
              <a:ea typeface="Noto Sans SC Light" panose="020B0200000000000000" pitchFamily="34"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black">
                    <a:lumMod val="75000"/>
                    <a:lumOff val="25000"/>
                  </a:prstClr>
                </a:solidFill>
                <a:effectLst/>
                <a:uLnTx/>
                <a:uFillTx/>
                <a:latin typeface="Cambria"/>
                <a:ea typeface="Noto Sans SC Light" panose="020B0200000000000000" pitchFamily="34" charset="-122"/>
                <a:cs typeface="+mn-cs"/>
              </a:rPr>
              <a:t>Google Research</a:t>
            </a:r>
            <a:endParaRPr kumimoji="0" lang="zh-CN" altLang="en-US" sz="1400" b="1" i="0" u="none" strike="noStrike" kern="1200" cap="none" spc="0" normalizeH="0" baseline="0" noProof="0" dirty="0">
              <a:ln>
                <a:noFill/>
              </a:ln>
              <a:solidFill>
                <a:prstClr val="black">
                  <a:lumMod val="75000"/>
                  <a:lumOff val="25000"/>
                </a:prstClr>
              </a:solidFill>
              <a:effectLst/>
              <a:uLnTx/>
              <a:uFillTx/>
              <a:latin typeface="Cambria"/>
              <a:ea typeface="Noto Sans SC Light" panose="020B0200000000000000" pitchFamily="34" charset="-122"/>
              <a:cs typeface="+mn-cs"/>
            </a:endParaRPr>
          </a:p>
        </p:txBody>
      </p:sp>
      <p:sp>
        <p:nvSpPr>
          <p:cNvPr id="15" name="文本框 14">
            <a:extLst>
              <a:ext uri="{FF2B5EF4-FFF2-40B4-BE49-F238E27FC236}">
                <a16:creationId xmlns:a16="http://schemas.microsoft.com/office/drawing/2014/main" id="{BE8593B5-08D9-AFE7-6A16-FA3ACE9AB8A0}"/>
              </a:ext>
            </a:extLst>
          </p:cNvPr>
          <p:cNvSpPr txBox="1"/>
          <p:nvPr/>
        </p:nvSpPr>
        <p:spPr>
          <a:xfrm>
            <a:off x="1653409" y="3921785"/>
            <a:ext cx="3034805" cy="70788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ambria"/>
                <a:ea typeface="微软雅黑"/>
                <a:cs typeface="+mn-cs"/>
              </a:rPr>
              <a:t>汇报人</a:t>
            </a:r>
            <a:r>
              <a:rPr kumimoji="0" lang="zh-CN" altLang="en-US" sz="2000" b="0" i="0" u="none" strike="noStrike" kern="1200" cap="none" spc="0" normalizeH="0" baseline="0" noProof="0" dirty="0">
                <a:ln>
                  <a:noFill/>
                </a:ln>
                <a:solidFill>
                  <a:prstClr val="black"/>
                </a:solidFill>
                <a:effectLst/>
                <a:uLnTx/>
                <a:uFillTx/>
                <a:latin typeface="Cambria"/>
                <a:ea typeface="微软雅黑"/>
                <a:cs typeface="+mn-cs"/>
              </a:rPr>
              <a:t>：</a:t>
            </a:r>
            <a:r>
              <a:rPr kumimoji="0" lang="en-US" altLang="zh-CN" sz="2000" b="0" i="0" u="none" strike="noStrike" kern="1200" cap="none" spc="0" normalizeH="0" baseline="0" noProof="0" dirty="0">
                <a:ln>
                  <a:noFill/>
                </a:ln>
                <a:solidFill>
                  <a:prstClr val="black"/>
                </a:solidFill>
                <a:effectLst/>
                <a:uLnTx/>
                <a:uFillTx/>
                <a:latin typeface="Cambria"/>
                <a:ea typeface="微软雅黑"/>
                <a:cs typeface="+mn-cs"/>
              </a:rPr>
              <a:t>2612189 </a:t>
            </a:r>
            <a:r>
              <a:rPr kumimoji="0" lang="zh-CN" altLang="en-US" sz="2000" b="0" i="0" u="none" strike="noStrike" kern="1200" cap="none" spc="0" normalizeH="0" baseline="0" noProof="0" dirty="0">
                <a:ln>
                  <a:noFill/>
                </a:ln>
                <a:solidFill>
                  <a:prstClr val="black"/>
                </a:solidFill>
                <a:effectLst/>
                <a:uLnTx/>
                <a:uFillTx/>
                <a:latin typeface="Cambria"/>
                <a:ea typeface="微软雅黑"/>
                <a:cs typeface="+mn-cs"/>
              </a:rPr>
              <a:t>闵孟宇</a:t>
            </a:r>
            <a:endParaRPr kumimoji="0" lang="en-US" altLang="zh-CN" sz="2000" b="0" i="0" u="none" strike="noStrike" kern="1200" cap="none" spc="0" normalizeH="0" baseline="0" noProof="0" dirty="0">
              <a:ln>
                <a:noFill/>
              </a:ln>
              <a:solidFill>
                <a:prstClr val="black"/>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ambria"/>
                <a:ea typeface="微软雅黑"/>
                <a:cs typeface="+mn-cs"/>
              </a:rPr>
              <a:t>汇报日</a:t>
            </a:r>
            <a:r>
              <a:rPr kumimoji="0" lang="zh-CN" altLang="en-US" sz="2000" b="0" i="0" u="none" strike="noStrike" kern="1200" cap="none" spc="0" normalizeH="0" baseline="0" noProof="0" dirty="0">
                <a:ln>
                  <a:noFill/>
                </a:ln>
                <a:solidFill>
                  <a:prstClr val="black"/>
                </a:solidFill>
                <a:effectLst/>
                <a:uLnTx/>
                <a:uFillTx/>
                <a:latin typeface="Cambria"/>
                <a:ea typeface="微软雅黑"/>
                <a:cs typeface="+mn-cs"/>
              </a:rPr>
              <a:t>：</a:t>
            </a:r>
            <a:r>
              <a:rPr kumimoji="0" lang="en-US" altLang="zh-CN" sz="2000" b="0" i="0" u="none" strike="noStrike" kern="1200" cap="none" spc="0" normalizeH="0" baseline="0" noProof="0" dirty="0">
                <a:ln>
                  <a:noFill/>
                </a:ln>
                <a:solidFill>
                  <a:prstClr val="black"/>
                </a:solidFill>
                <a:effectLst/>
                <a:uLnTx/>
                <a:uFillTx/>
                <a:latin typeface="Cambria"/>
                <a:ea typeface="微软雅黑"/>
                <a:cs typeface="+mn-cs"/>
              </a:rPr>
              <a:t>2026/9/30</a:t>
            </a:r>
          </a:p>
        </p:txBody>
      </p:sp>
    </p:spTree>
    <p:extLst>
      <p:ext uri="{BB962C8B-B14F-4D97-AF65-F5344CB8AC3E}">
        <p14:creationId xmlns:p14="http://schemas.microsoft.com/office/powerpoint/2010/main" val="2765140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31FFF33D-492A-4CB4-B39E-75666B34EAAD}"/>
              </a:ext>
            </a:extLst>
          </p:cNvPr>
          <p:cNvSpPr txBox="1"/>
          <p:nvPr/>
        </p:nvSpPr>
        <p:spPr>
          <a:xfrm>
            <a:off x="1292135" y="1326875"/>
            <a:ext cx="2950950"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171717"/>
                </a:solidFill>
                <a:effectLst/>
                <a:uLnTx/>
                <a:uFillTx/>
                <a:latin typeface="微软雅黑" panose="020B0503020204020204" pitchFamily="34" charset="-122"/>
                <a:ea typeface="微软雅黑" panose="020B0503020204020204" pitchFamily="34" charset="-122"/>
                <a:cs typeface="Arial" panose="020B0604020202020204" pitchFamily="34" charset="0"/>
              </a:rPr>
              <a:t>汇报内容</a:t>
            </a:r>
            <a:endParaRPr kumimoji="0" lang="ko-KR" altLang="en-US" sz="3200" b="0" i="0" u="none" strike="noStrike" kern="1200" cap="none" spc="0" normalizeH="0" baseline="0" noProof="0" dirty="0">
              <a:ln>
                <a:noFill/>
              </a:ln>
              <a:solidFill>
                <a:srgbClr val="171717"/>
              </a:solidFill>
              <a:effectLst/>
              <a:uLnTx/>
              <a:uFillTx/>
              <a:latin typeface="微软雅黑" panose="020B0503020204020204" pitchFamily="34" charset="-122"/>
              <a:cs typeface="Arial" panose="020B0604020202020204" pitchFamily="34" charset="0"/>
            </a:endParaRPr>
          </a:p>
        </p:txBody>
      </p:sp>
      <p:sp>
        <p:nvSpPr>
          <p:cNvPr id="16" name="TextBox 15">
            <a:extLst>
              <a:ext uri="{FF2B5EF4-FFF2-40B4-BE49-F238E27FC236}">
                <a16:creationId xmlns:a16="http://schemas.microsoft.com/office/drawing/2014/main" id="{F9D96E9D-4AE2-4517-BE1E-ECA1253FCB1F}"/>
              </a:ext>
            </a:extLst>
          </p:cNvPr>
          <p:cNvSpPr txBox="1"/>
          <p:nvPr/>
        </p:nvSpPr>
        <p:spPr>
          <a:xfrm>
            <a:off x="5634487" y="1836895"/>
            <a:ext cx="518672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71717"/>
                </a:solidFill>
                <a:effectLst/>
                <a:uLnTx/>
                <a:uFillTx/>
                <a:latin typeface="Cambria"/>
                <a:ea typeface="微软雅黑"/>
                <a:cs typeface="+mn-cs"/>
              </a:rPr>
              <a:t>迁移学习，零样本迁移，</a:t>
            </a:r>
            <a:r>
              <a:rPr kumimoji="0" lang="en-US" altLang="zh-CN" sz="1400" b="0" i="0" u="none" strike="noStrike" kern="1200" cap="none" spc="0" normalizeH="0" baseline="0" noProof="0" dirty="0">
                <a:ln>
                  <a:noFill/>
                </a:ln>
                <a:solidFill>
                  <a:srgbClr val="171717"/>
                </a:solidFill>
                <a:effectLst/>
                <a:uLnTx/>
                <a:uFillTx/>
                <a:latin typeface="Cambria"/>
                <a:ea typeface="微软雅黑"/>
                <a:cs typeface="+mn-cs"/>
              </a:rPr>
              <a:t>CLIP/ALIGN</a:t>
            </a:r>
            <a:endParaRPr kumimoji="0" lang="ko-KR" altLang="en-US" sz="1400" b="0" i="0" u="none" strike="noStrike" kern="1200" cap="none" spc="0" normalizeH="0" baseline="0" noProof="0" dirty="0">
              <a:ln>
                <a:noFill/>
              </a:ln>
              <a:solidFill>
                <a:srgbClr val="171717"/>
              </a:solidFill>
              <a:effectLst/>
              <a:uLnTx/>
              <a:uFillTx/>
              <a:latin typeface="Cambria"/>
              <a:cs typeface="+mn-cs"/>
            </a:endParaRPr>
          </a:p>
        </p:txBody>
      </p:sp>
      <p:sp>
        <p:nvSpPr>
          <p:cNvPr id="18" name="직사각형 17">
            <a:extLst>
              <a:ext uri="{FF2B5EF4-FFF2-40B4-BE49-F238E27FC236}">
                <a16:creationId xmlns:a16="http://schemas.microsoft.com/office/drawing/2014/main" id="{1776DBF8-FEE0-430C-A61A-82F57D72694B}"/>
              </a:ext>
            </a:extLst>
          </p:cNvPr>
          <p:cNvSpPr/>
          <p:nvPr/>
        </p:nvSpPr>
        <p:spPr>
          <a:xfrm>
            <a:off x="5614494" y="1449588"/>
            <a:ext cx="3282217"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171717"/>
                </a:solidFill>
                <a:effectLst/>
                <a:uLnTx/>
                <a:uFillTx/>
                <a:latin typeface="Noto Serif SC Black"/>
                <a:ea typeface="微软雅黑"/>
                <a:cs typeface="+mn-cs"/>
              </a:rPr>
              <a:t>研究动机</a:t>
            </a:r>
            <a:endParaRPr kumimoji="0" lang="ko-KR" altLang="en-US" sz="2400" b="0" i="0" u="none" strike="noStrike" kern="1200" cap="none" spc="0" normalizeH="0" baseline="0" noProof="0" dirty="0">
              <a:ln>
                <a:noFill/>
              </a:ln>
              <a:solidFill>
                <a:srgbClr val="171717"/>
              </a:solidFill>
              <a:effectLst/>
              <a:uLnTx/>
              <a:uFillTx/>
              <a:latin typeface="Noto Serif SC Black"/>
              <a:cs typeface="+mn-cs"/>
            </a:endParaRPr>
          </a:p>
        </p:txBody>
      </p:sp>
      <p:sp>
        <p:nvSpPr>
          <p:cNvPr id="21" name="TextBox 20">
            <a:extLst>
              <a:ext uri="{FF2B5EF4-FFF2-40B4-BE49-F238E27FC236}">
                <a16:creationId xmlns:a16="http://schemas.microsoft.com/office/drawing/2014/main" id="{B214C75B-1704-4F27-8CDE-8C08A5001F7E}"/>
              </a:ext>
            </a:extLst>
          </p:cNvPr>
          <p:cNvSpPr txBox="1"/>
          <p:nvPr/>
        </p:nvSpPr>
        <p:spPr>
          <a:xfrm>
            <a:off x="5634487" y="2920271"/>
            <a:ext cx="518672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71717"/>
                </a:solidFill>
                <a:effectLst/>
                <a:uLnTx/>
                <a:uFillTx/>
                <a:latin typeface="Cambria"/>
                <a:ea typeface="微软雅黑"/>
                <a:cs typeface="+mn-cs"/>
              </a:rPr>
              <a:t>解耦与复用，</a:t>
            </a:r>
            <a:r>
              <a:rPr kumimoji="0" lang="zh-CN" altLang="zh-CN" sz="1400" b="0" i="0" u="none" strike="noStrike" kern="1200" cap="none" spc="0" normalizeH="0" baseline="0" noProof="0" dirty="0">
                <a:ln>
                  <a:noFill/>
                </a:ln>
                <a:solidFill>
                  <a:prstClr val="black"/>
                </a:solidFill>
                <a:effectLst/>
                <a:uLnTx/>
                <a:uFillTx/>
                <a:latin typeface="Cambria"/>
                <a:ea typeface="微软雅黑"/>
                <a:cs typeface="+mn-cs"/>
              </a:rPr>
              <a:t>Contrastive-tuning</a:t>
            </a:r>
            <a:r>
              <a:rPr kumimoji="0" lang="zh-CN" altLang="en-US" sz="1400" b="0" i="0" u="none" strike="noStrike" kern="1200" cap="none" spc="0" normalizeH="0" baseline="0" noProof="0" dirty="0">
                <a:ln>
                  <a:noFill/>
                </a:ln>
                <a:solidFill>
                  <a:srgbClr val="171717"/>
                </a:solidFill>
                <a:effectLst/>
                <a:uLnTx/>
                <a:uFillTx/>
                <a:latin typeface="Cambria"/>
                <a:ea typeface="微软雅黑"/>
                <a:cs typeface="+mn-cs"/>
              </a:rPr>
              <a:t>，</a:t>
            </a:r>
            <a:r>
              <a:rPr kumimoji="0" lang="en-US" altLang="zh-CN" sz="1400" b="0" i="0" u="none" strike="noStrike" kern="1200" cap="none" spc="0" normalizeH="0" baseline="0" noProof="0" dirty="0" err="1">
                <a:ln>
                  <a:noFill/>
                </a:ln>
                <a:solidFill>
                  <a:srgbClr val="171717"/>
                </a:solidFill>
                <a:effectLst/>
                <a:uLnTx/>
                <a:uFillTx/>
                <a:latin typeface="Cambria"/>
                <a:ea typeface="微软雅黑"/>
                <a:cs typeface="+mn-cs"/>
              </a:rPr>
              <a:t>LiT</a:t>
            </a:r>
            <a:endParaRPr kumimoji="0" lang="zh-CN" altLang="zh-CN" sz="1400" b="0"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23" name="직사각형 22">
            <a:extLst>
              <a:ext uri="{FF2B5EF4-FFF2-40B4-BE49-F238E27FC236}">
                <a16:creationId xmlns:a16="http://schemas.microsoft.com/office/drawing/2014/main" id="{A4E55C2E-5C9B-40B0-A146-8B6065B44797}"/>
              </a:ext>
            </a:extLst>
          </p:cNvPr>
          <p:cNvSpPr/>
          <p:nvPr/>
        </p:nvSpPr>
        <p:spPr>
          <a:xfrm>
            <a:off x="5614494" y="2532964"/>
            <a:ext cx="3282217"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171717"/>
                </a:solidFill>
                <a:effectLst/>
                <a:uLnTx/>
                <a:uFillTx/>
                <a:latin typeface="Noto Serif SC Black"/>
                <a:ea typeface="微软雅黑"/>
                <a:cs typeface="+mn-cs"/>
              </a:rPr>
              <a:t>研究方法</a:t>
            </a:r>
            <a:endParaRPr kumimoji="0" lang="ko-KR" altLang="en-US" sz="2400" b="0" i="0" u="none" strike="noStrike" kern="1200" cap="none" spc="0" normalizeH="0" baseline="0" noProof="0" dirty="0">
              <a:ln>
                <a:noFill/>
              </a:ln>
              <a:solidFill>
                <a:srgbClr val="171717"/>
              </a:solidFill>
              <a:effectLst/>
              <a:uLnTx/>
              <a:uFillTx/>
              <a:latin typeface="Noto Serif SC Black"/>
              <a:cs typeface="+mn-cs"/>
            </a:endParaRPr>
          </a:p>
        </p:txBody>
      </p:sp>
      <p:sp>
        <p:nvSpPr>
          <p:cNvPr id="25" name="TextBox 24">
            <a:extLst>
              <a:ext uri="{FF2B5EF4-FFF2-40B4-BE49-F238E27FC236}">
                <a16:creationId xmlns:a16="http://schemas.microsoft.com/office/drawing/2014/main" id="{C700A883-6125-4F32-B205-C8A688543D3D}"/>
              </a:ext>
            </a:extLst>
          </p:cNvPr>
          <p:cNvSpPr txBox="1"/>
          <p:nvPr/>
        </p:nvSpPr>
        <p:spPr>
          <a:xfrm>
            <a:off x="5634487" y="4003647"/>
            <a:ext cx="5419593"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71717"/>
                </a:solidFill>
                <a:effectLst/>
                <a:uLnTx/>
                <a:uFillTx/>
                <a:latin typeface="Cambria"/>
                <a:ea typeface="微软雅黑"/>
                <a:cs typeface="+mn-cs"/>
              </a:rPr>
              <a:t>对外验证 →对内验证（整体到局部）→质量属性（</a:t>
            </a:r>
            <a:r>
              <a:rPr kumimoji="0" lang="en-US" altLang="zh-CN" sz="1400" b="0" i="0" u="none" strike="noStrike" kern="1200" cap="none" spc="0" normalizeH="0" baseline="0" noProof="0" dirty="0">
                <a:ln>
                  <a:noFill/>
                </a:ln>
                <a:solidFill>
                  <a:srgbClr val="171717"/>
                </a:solidFill>
                <a:effectLst/>
                <a:uLnTx/>
                <a:uFillTx/>
                <a:latin typeface="Cambria"/>
                <a:ea typeface="微软雅黑"/>
                <a:cs typeface="+mn-cs"/>
              </a:rPr>
              <a:t>Reliable</a:t>
            </a:r>
            <a:r>
              <a:rPr kumimoji="0" lang="zh-CN" altLang="en-US" sz="1400" b="0" i="0" u="none" strike="noStrike" kern="1200" cap="none" spc="0" normalizeH="0" baseline="0" noProof="0" dirty="0">
                <a:ln>
                  <a:noFill/>
                </a:ln>
                <a:solidFill>
                  <a:srgbClr val="171717"/>
                </a:solidFill>
                <a:effectLst/>
                <a:uLnTx/>
                <a:uFillTx/>
                <a:latin typeface="Cambria"/>
                <a:ea typeface="微软雅黑"/>
                <a:cs typeface="+mn-cs"/>
              </a:rPr>
              <a:t>、</a:t>
            </a:r>
            <a:r>
              <a:rPr kumimoji="0" lang="en-US" altLang="zh-CN" sz="1400" b="0" i="0" u="none" strike="noStrike" kern="1200" cap="none" spc="0" normalizeH="0" baseline="0" noProof="0" dirty="0">
                <a:ln>
                  <a:noFill/>
                </a:ln>
                <a:solidFill>
                  <a:srgbClr val="171717"/>
                </a:solidFill>
                <a:effectLst/>
                <a:uLnTx/>
                <a:uFillTx/>
                <a:latin typeface="Cambria"/>
                <a:ea typeface="微软雅黑"/>
                <a:cs typeface="+mn-cs"/>
              </a:rPr>
              <a:t>Efficient</a:t>
            </a:r>
            <a:r>
              <a:rPr kumimoji="0" lang="zh-CN" altLang="en-US" sz="1400" b="0" i="0" u="none" strike="noStrike" kern="1200" cap="none" spc="0" normalizeH="0" baseline="0" noProof="0" dirty="0">
                <a:ln>
                  <a:noFill/>
                </a:ln>
                <a:solidFill>
                  <a:srgbClr val="171717"/>
                </a:solidFill>
                <a:effectLst/>
                <a:uLnTx/>
                <a:uFillTx/>
                <a:latin typeface="Cambria"/>
                <a:ea typeface="微软雅黑"/>
                <a:cs typeface="+mn-cs"/>
              </a:rPr>
              <a:t>、</a:t>
            </a:r>
            <a:r>
              <a:rPr kumimoji="0" lang="en-US" altLang="zh-CN" sz="1400" b="0" i="0" u="none" strike="noStrike" kern="1200" cap="none" spc="0" normalizeH="0" baseline="0" noProof="0" dirty="0">
                <a:ln>
                  <a:noFill/>
                </a:ln>
                <a:solidFill>
                  <a:srgbClr val="171717"/>
                </a:solidFill>
                <a:effectLst/>
                <a:uLnTx/>
                <a:uFillTx/>
                <a:latin typeface="Cambria"/>
                <a:ea typeface="微软雅黑"/>
                <a:cs typeface="+mn-cs"/>
              </a:rPr>
              <a:t>Extensible</a:t>
            </a:r>
            <a:r>
              <a:rPr kumimoji="0" lang="zh-CN" altLang="en-US" sz="1400" b="0" i="0" u="none" strike="noStrike" kern="1200" cap="none" spc="0" normalizeH="0" baseline="0" noProof="0" dirty="0">
                <a:ln>
                  <a:noFill/>
                </a:ln>
                <a:solidFill>
                  <a:srgbClr val="171717"/>
                </a:solidFill>
                <a:effectLst/>
                <a:uLnTx/>
                <a:uFillTx/>
                <a:latin typeface="Cambria"/>
                <a:ea typeface="微软雅黑"/>
                <a:cs typeface="+mn-cs"/>
              </a:rPr>
              <a:t>）</a:t>
            </a:r>
            <a:endParaRPr kumimoji="0" lang="ko-KR" altLang="en-US" sz="1400" b="0" i="0" u="none" strike="noStrike" kern="1200" cap="none" spc="0" normalizeH="0" baseline="0" noProof="0" dirty="0">
              <a:ln>
                <a:noFill/>
              </a:ln>
              <a:solidFill>
                <a:srgbClr val="171717"/>
              </a:solidFill>
              <a:effectLst/>
              <a:uLnTx/>
              <a:uFillTx/>
              <a:latin typeface="Cambria"/>
              <a:cs typeface="+mn-cs"/>
            </a:endParaRPr>
          </a:p>
        </p:txBody>
      </p:sp>
      <p:sp>
        <p:nvSpPr>
          <p:cNvPr id="27" name="직사각형 26">
            <a:extLst>
              <a:ext uri="{FF2B5EF4-FFF2-40B4-BE49-F238E27FC236}">
                <a16:creationId xmlns:a16="http://schemas.microsoft.com/office/drawing/2014/main" id="{960549F7-E849-4CC7-AECB-FC634E933CF4}"/>
              </a:ext>
            </a:extLst>
          </p:cNvPr>
          <p:cNvSpPr/>
          <p:nvPr/>
        </p:nvSpPr>
        <p:spPr>
          <a:xfrm>
            <a:off x="5614494" y="3616340"/>
            <a:ext cx="3282217"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171717"/>
                </a:solidFill>
                <a:effectLst/>
                <a:uLnTx/>
                <a:uFillTx/>
                <a:latin typeface="Noto Serif SC Black"/>
                <a:ea typeface="微软雅黑"/>
                <a:cs typeface="+mn-cs"/>
              </a:rPr>
              <a:t>实验设计</a:t>
            </a:r>
            <a:endParaRPr kumimoji="0" lang="ko-KR" altLang="en-US" sz="2400" b="0" i="0" u="none" strike="noStrike" kern="1200" cap="none" spc="0" normalizeH="0" baseline="0" noProof="0" dirty="0">
              <a:ln>
                <a:noFill/>
              </a:ln>
              <a:solidFill>
                <a:srgbClr val="171717"/>
              </a:solidFill>
              <a:effectLst/>
              <a:uLnTx/>
              <a:uFillTx/>
              <a:latin typeface="Noto Serif SC Black"/>
              <a:cs typeface="+mn-cs"/>
            </a:endParaRPr>
          </a:p>
        </p:txBody>
      </p:sp>
      <p:sp>
        <p:nvSpPr>
          <p:cNvPr id="28" name="TextBox 27">
            <a:extLst>
              <a:ext uri="{FF2B5EF4-FFF2-40B4-BE49-F238E27FC236}">
                <a16:creationId xmlns:a16="http://schemas.microsoft.com/office/drawing/2014/main" id="{4C207887-FF82-40A7-8FA9-63491636FB73}"/>
              </a:ext>
            </a:extLst>
          </p:cNvPr>
          <p:cNvSpPr txBox="1"/>
          <p:nvPr/>
        </p:nvSpPr>
        <p:spPr>
          <a:xfrm>
            <a:off x="5634487" y="5087024"/>
            <a:ext cx="5186721"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71717"/>
                </a:solidFill>
                <a:effectLst/>
                <a:uLnTx/>
                <a:uFillTx/>
                <a:latin typeface="Cambria"/>
                <a:ea typeface="微软雅黑"/>
                <a:cs typeface="+mn-cs"/>
              </a:rPr>
              <a:t>核心创新点，科研启示</a:t>
            </a:r>
            <a:endParaRPr kumimoji="0" lang="ko-KR" altLang="en-US" sz="1400" b="0" i="0" u="none" strike="noStrike" kern="1200" cap="none" spc="0" normalizeH="0" baseline="0" noProof="0" dirty="0">
              <a:ln>
                <a:noFill/>
              </a:ln>
              <a:solidFill>
                <a:srgbClr val="171717"/>
              </a:solidFill>
              <a:effectLst/>
              <a:uLnTx/>
              <a:uFillTx/>
              <a:latin typeface="Cambria"/>
              <a:cs typeface="+mn-cs"/>
            </a:endParaRPr>
          </a:p>
        </p:txBody>
      </p:sp>
      <p:sp>
        <p:nvSpPr>
          <p:cNvPr id="30" name="직사각형 29">
            <a:extLst>
              <a:ext uri="{FF2B5EF4-FFF2-40B4-BE49-F238E27FC236}">
                <a16:creationId xmlns:a16="http://schemas.microsoft.com/office/drawing/2014/main" id="{D8215A7A-F9A1-43FA-AB27-E8C6CAD65254}"/>
              </a:ext>
            </a:extLst>
          </p:cNvPr>
          <p:cNvSpPr/>
          <p:nvPr/>
        </p:nvSpPr>
        <p:spPr>
          <a:xfrm>
            <a:off x="5614494" y="4699717"/>
            <a:ext cx="3282217" cy="46166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171717"/>
                </a:solidFill>
                <a:effectLst/>
                <a:uLnTx/>
                <a:uFillTx/>
                <a:latin typeface="Noto Serif SC Black"/>
                <a:ea typeface="微软雅黑"/>
                <a:cs typeface="+mn-cs"/>
              </a:rPr>
              <a:t>总结与启发</a:t>
            </a:r>
            <a:endParaRPr kumimoji="0" lang="ko-KR" altLang="en-US" sz="2400" b="0" i="0" u="none" strike="noStrike" kern="1200" cap="none" spc="0" normalizeH="0" baseline="0" noProof="0" dirty="0">
              <a:ln>
                <a:noFill/>
              </a:ln>
              <a:solidFill>
                <a:srgbClr val="171717"/>
              </a:solidFill>
              <a:effectLst/>
              <a:uLnTx/>
              <a:uFillTx/>
              <a:latin typeface="Noto Serif SC Black"/>
              <a:cs typeface="+mn-cs"/>
            </a:endParaRPr>
          </a:p>
        </p:txBody>
      </p:sp>
      <p:sp>
        <p:nvSpPr>
          <p:cNvPr id="51" name="직사각형 50">
            <a:extLst>
              <a:ext uri="{FF2B5EF4-FFF2-40B4-BE49-F238E27FC236}">
                <a16:creationId xmlns:a16="http://schemas.microsoft.com/office/drawing/2014/main" id="{A59B8246-AA90-4A14-AF4B-AA542C923D1E}"/>
              </a:ext>
            </a:extLst>
          </p:cNvPr>
          <p:cNvSpPr/>
          <p:nvPr/>
        </p:nvSpPr>
        <p:spPr>
          <a:xfrm>
            <a:off x="4804784" y="1449986"/>
            <a:ext cx="1329933" cy="58477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3200" b="0" i="0" u="none" strike="noStrike" kern="1200" cap="none" spc="0" normalizeH="0" baseline="0" noProof="0" dirty="0">
                <a:ln>
                  <a:noFill/>
                </a:ln>
                <a:solidFill>
                  <a:srgbClr val="171717"/>
                </a:solidFill>
                <a:effectLst/>
                <a:uLnTx/>
                <a:uFillTx/>
                <a:latin typeface="Noto Serif SC Black"/>
                <a:ea typeface="微软雅黑"/>
                <a:cs typeface="+mn-cs"/>
              </a:rPr>
              <a:t>01.</a:t>
            </a:r>
            <a:endParaRPr kumimoji="0" lang="ko-KR" altLang="en-US" sz="3200" b="0" i="0" u="none" strike="noStrike" kern="1200" cap="none" spc="0" normalizeH="0" baseline="0" noProof="0" dirty="0">
              <a:ln>
                <a:noFill/>
              </a:ln>
              <a:solidFill>
                <a:srgbClr val="171717"/>
              </a:solidFill>
              <a:effectLst/>
              <a:uLnTx/>
              <a:uFillTx/>
              <a:latin typeface="Noto Serif SC Black"/>
              <a:cs typeface="+mn-cs"/>
            </a:endParaRPr>
          </a:p>
        </p:txBody>
      </p:sp>
      <p:sp>
        <p:nvSpPr>
          <p:cNvPr id="52" name="직사각형 51">
            <a:extLst>
              <a:ext uri="{FF2B5EF4-FFF2-40B4-BE49-F238E27FC236}">
                <a16:creationId xmlns:a16="http://schemas.microsoft.com/office/drawing/2014/main" id="{58033B77-C689-4338-908B-E69C6036A5D9}"/>
              </a:ext>
            </a:extLst>
          </p:cNvPr>
          <p:cNvSpPr/>
          <p:nvPr/>
        </p:nvSpPr>
        <p:spPr>
          <a:xfrm>
            <a:off x="4804784" y="2533362"/>
            <a:ext cx="1329933" cy="58477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3200" b="0" i="0" u="none" strike="noStrike" kern="1200" cap="none" spc="0" normalizeH="0" baseline="0" noProof="0" dirty="0">
                <a:ln>
                  <a:noFill/>
                </a:ln>
                <a:solidFill>
                  <a:srgbClr val="171717"/>
                </a:solidFill>
                <a:effectLst/>
                <a:uLnTx/>
                <a:uFillTx/>
                <a:latin typeface="Noto Serif SC Black"/>
                <a:ea typeface="微软雅黑"/>
                <a:cs typeface="+mn-cs"/>
              </a:rPr>
              <a:t>02.</a:t>
            </a:r>
            <a:endParaRPr kumimoji="0" lang="ko-KR" altLang="en-US" sz="3200" b="0" i="0" u="none" strike="noStrike" kern="1200" cap="none" spc="0" normalizeH="0" baseline="0" noProof="0" dirty="0">
              <a:ln>
                <a:noFill/>
              </a:ln>
              <a:solidFill>
                <a:srgbClr val="171717"/>
              </a:solidFill>
              <a:effectLst/>
              <a:uLnTx/>
              <a:uFillTx/>
              <a:latin typeface="Noto Serif SC Black"/>
              <a:cs typeface="+mn-cs"/>
            </a:endParaRPr>
          </a:p>
        </p:txBody>
      </p:sp>
      <p:sp>
        <p:nvSpPr>
          <p:cNvPr id="53" name="직사각형 52">
            <a:extLst>
              <a:ext uri="{FF2B5EF4-FFF2-40B4-BE49-F238E27FC236}">
                <a16:creationId xmlns:a16="http://schemas.microsoft.com/office/drawing/2014/main" id="{C7B3799F-F6DE-4974-97AB-BFB25FB476F9}"/>
              </a:ext>
            </a:extLst>
          </p:cNvPr>
          <p:cNvSpPr/>
          <p:nvPr/>
        </p:nvSpPr>
        <p:spPr>
          <a:xfrm>
            <a:off x="4804784" y="3616738"/>
            <a:ext cx="1329933" cy="58477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3200" b="0" i="0" u="none" strike="noStrike" kern="1200" cap="none" spc="0" normalizeH="0" baseline="0" noProof="0" dirty="0">
                <a:ln>
                  <a:noFill/>
                </a:ln>
                <a:solidFill>
                  <a:srgbClr val="171717"/>
                </a:solidFill>
                <a:effectLst/>
                <a:uLnTx/>
                <a:uFillTx/>
                <a:latin typeface="Noto Serif SC Black"/>
                <a:ea typeface="微软雅黑"/>
                <a:cs typeface="+mn-cs"/>
              </a:rPr>
              <a:t>03.</a:t>
            </a:r>
            <a:endParaRPr kumimoji="0" lang="ko-KR" altLang="en-US" sz="3200" b="0" i="0" u="none" strike="noStrike" kern="1200" cap="none" spc="0" normalizeH="0" baseline="0" noProof="0" dirty="0">
              <a:ln>
                <a:noFill/>
              </a:ln>
              <a:solidFill>
                <a:srgbClr val="171717"/>
              </a:solidFill>
              <a:effectLst/>
              <a:uLnTx/>
              <a:uFillTx/>
              <a:latin typeface="Noto Serif SC Black"/>
              <a:cs typeface="+mn-cs"/>
            </a:endParaRPr>
          </a:p>
        </p:txBody>
      </p:sp>
      <p:sp>
        <p:nvSpPr>
          <p:cNvPr id="54" name="직사각형 53">
            <a:extLst>
              <a:ext uri="{FF2B5EF4-FFF2-40B4-BE49-F238E27FC236}">
                <a16:creationId xmlns:a16="http://schemas.microsoft.com/office/drawing/2014/main" id="{7B0E191E-8A5B-41CC-ACF6-0A29F9197061}"/>
              </a:ext>
            </a:extLst>
          </p:cNvPr>
          <p:cNvSpPr/>
          <p:nvPr/>
        </p:nvSpPr>
        <p:spPr>
          <a:xfrm>
            <a:off x="4804784" y="4700115"/>
            <a:ext cx="1329933" cy="58477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3200" b="0" i="0" u="none" strike="noStrike" kern="1200" cap="none" spc="0" normalizeH="0" baseline="0" noProof="0" dirty="0">
                <a:ln>
                  <a:noFill/>
                </a:ln>
                <a:solidFill>
                  <a:srgbClr val="171717"/>
                </a:solidFill>
                <a:effectLst/>
                <a:uLnTx/>
                <a:uFillTx/>
                <a:latin typeface="Noto Serif SC Black"/>
                <a:ea typeface="微软雅黑"/>
                <a:cs typeface="+mn-cs"/>
              </a:rPr>
              <a:t>04.</a:t>
            </a:r>
            <a:endParaRPr kumimoji="0" lang="ko-KR" altLang="en-US" sz="3200" b="0" i="0" u="none" strike="noStrike" kern="1200" cap="none" spc="0" normalizeH="0" baseline="0" noProof="0" dirty="0">
              <a:ln>
                <a:noFill/>
              </a:ln>
              <a:solidFill>
                <a:srgbClr val="171717"/>
              </a:solidFill>
              <a:effectLst/>
              <a:uLnTx/>
              <a:uFillTx/>
              <a:latin typeface="Noto Serif SC Black"/>
              <a:cs typeface="+mn-cs"/>
            </a:endParaRPr>
          </a:p>
        </p:txBody>
      </p:sp>
      <p:sp>
        <p:nvSpPr>
          <p:cNvPr id="2" name="직사각형 1">
            <a:extLst>
              <a:ext uri="{FF2B5EF4-FFF2-40B4-BE49-F238E27FC236}">
                <a16:creationId xmlns:a16="http://schemas.microsoft.com/office/drawing/2014/main" id="{AB4B43B9-733E-40E3-A8F5-C26D7592387C}"/>
              </a:ext>
            </a:extLst>
          </p:cNvPr>
          <p:cNvSpPr/>
          <p:nvPr/>
        </p:nvSpPr>
        <p:spPr>
          <a:xfrm>
            <a:off x="1408894" y="1973206"/>
            <a:ext cx="792000" cy="177823"/>
          </a:xfrm>
          <a:prstGeom prst="rect">
            <a:avLst/>
          </a:prstGeom>
          <a:solidFill>
            <a:schemeClr val="tx2">
              <a:lumMod val="75000"/>
            </a:schemeClr>
          </a:solidFill>
          <a:ln w="9525"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srgbClr val="F7F7F7"/>
              </a:solidFill>
              <a:effectLst/>
              <a:uLnTx/>
              <a:uFillTx/>
              <a:latin typeface="Noto Serif SC Black"/>
              <a:cs typeface="+mn-cs"/>
            </a:endParaRPr>
          </a:p>
        </p:txBody>
      </p:sp>
    </p:spTree>
    <p:extLst>
      <p:ext uri="{BB962C8B-B14F-4D97-AF65-F5344CB8AC3E}">
        <p14:creationId xmlns:p14="http://schemas.microsoft.com/office/powerpoint/2010/main" val="4157212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313E8-0FF4-92AB-0FFC-0C5A7DFD9238}"/>
            </a:ext>
          </a:extLst>
        </p:cNvPr>
        <p:cNvGrpSpPr/>
        <p:nvPr/>
      </p:nvGrpSpPr>
      <p:grpSpPr>
        <a:xfrm>
          <a:off x="0" y="0"/>
          <a:ext cx="0" cy="0"/>
          <a:chOff x="0" y="0"/>
          <a:chExt cx="0" cy="0"/>
        </a:xfrm>
      </p:grpSpPr>
      <p:sp>
        <p:nvSpPr>
          <p:cNvPr id="3" name="Rounded Rectangle 21">
            <a:extLst>
              <a:ext uri="{FF2B5EF4-FFF2-40B4-BE49-F238E27FC236}">
                <a16:creationId xmlns:a16="http://schemas.microsoft.com/office/drawing/2014/main" id="{6258438A-0EE8-E20F-533B-53AD50F71DE5}"/>
              </a:ext>
            </a:extLst>
          </p:cNvPr>
          <p:cNvSpPr/>
          <p:nvPr/>
        </p:nvSpPr>
        <p:spPr>
          <a:xfrm>
            <a:off x="6453378" y="2289346"/>
            <a:ext cx="2331720" cy="1417320"/>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4" name="Rounded Rectangle 21">
            <a:extLst>
              <a:ext uri="{FF2B5EF4-FFF2-40B4-BE49-F238E27FC236}">
                <a16:creationId xmlns:a16="http://schemas.microsoft.com/office/drawing/2014/main" id="{B97DFC64-7C0E-181B-887F-EE55001B2282}"/>
              </a:ext>
            </a:extLst>
          </p:cNvPr>
          <p:cNvSpPr/>
          <p:nvPr/>
        </p:nvSpPr>
        <p:spPr>
          <a:xfrm>
            <a:off x="635508" y="2289346"/>
            <a:ext cx="2331720" cy="1417320"/>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5" name="Rectangle 1">
            <a:extLst>
              <a:ext uri="{FF2B5EF4-FFF2-40B4-BE49-F238E27FC236}">
                <a16:creationId xmlns:a16="http://schemas.microsoft.com/office/drawing/2014/main" id="{7BCA85C1-4707-4AAF-4682-02D30EAE1878}"/>
              </a:ext>
            </a:extLst>
          </p:cNvPr>
          <p:cNvSpPr/>
          <p:nvPr/>
        </p:nvSpPr>
        <p:spPr>
          <a:xfrm>
            <a:off x="513588" y="609116"/>
            <a:ext cx="2487168" cy="329184"/>
          </a:xfrm>
          <a:prstGeom prst="rect">
            <a:avLst/>
          </a:prstGeom>
          <a:solidFill>
            <a:schemeClr val="tx2">
              <a:lumMod val="75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6" name="TextBox 3">
            <a:extLst>
              <a:ext uri="{FF2B5EF4-FFF2-40B4-BE49-F238E27FC236}">
                <a16:creationId xmlns:a16="http://schemas.microsoft.com/office/drawing/2014/main" id="{871C56C6-C7D1-FC16-2FC7-D31D7819B853}"/>
              </a:ext>
            </a:extLst>
          </p:cNvPr>
          <p:cNvSpPr txBox="1"/>
          <p:nvPr/>
        </p:nvSpPr>
        <p:spPr>
          <a:xfrm>
            <a:off x="1266465"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Noto Sans CJK SC"/>
                <a:ea typeface="微软雅黑"/>
                <a:cs typeface="+mn-cs"/>
              </a:rPr>
              <a:t>研究动机</a:t>
            </a:r>
            <a:endParaRPr kumimoji="0" sz="14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7" name="Rectangle 4">
            <a:extLst>
              <a:ext uri="{FF2B5EF4-FFF2-40B4-BE49-F238E27FC236}">
                <a16:creationId xmlns:a16="http://schemas.microsoft.com/office/drawing/2014/main" id="{81927934-8588-A5B3-CCEC-DD84BC79D0DC}"/>
              </a:ext>
            </a:extLst>
          </p:cNvPr>
          <p:cNvSpPr/>
          <p:nvPr/>
        </p:nvSpPr>
        <p:spPr>
          <a:xfrm>
            <a:off x="3375660"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8" name="TextBox 6">
            <a:extLst>
              <a:ext uri="{FF2B5EF4-FFF2-40B4-BE49-F238E27FC236}">
                <a16:creationId xmlns:a16="http://schemas.microsoft.com/office/drawing/2014/main" id="{482D5390-4E72-EA3A-BDCE-C0032B3D19DD}"/>
              </a:ext>
            </a:extLst>
          </p:cNvPr>
          <p:cNvSpPr txBox="1"/>
          <p:nvPr/>
        </p:nvSpPr>
        <p:spPr>
          <a:xfrm>
            <a:off x="4168374"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研究方法</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9" name="Rectangle 7">
            <a:extLst>
              <a:ext uri="{FF2B5EF4-FFF2-40B4-BE49-F238E27FC236}">
                <a16:creationId xmlns:a16="http://schemas.microsoft.com/office/drawing/2014/main" id="{D0D84793-4703-2888-7229-837511649074}"/>
              </a:ext>
            </a:extLst>
          </p:cNvPr>
          <p:cNvSpPr/>
          <p:nvPr/>
        </p:nvSpPr>
        <p:spPr>
          <a:xfrm>
            <a:off x="6237732"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0" name="TextBox 9">
            <a:extLst>
              <a:ext uri="{FF2B5EF4-FFF2-40B4-BE49-F238E27FC236}">
                <a16:creationId xmlns:a16="http://schemas.microsoft.com/office/drawing/2014/main" id="{43D53406-7D85-7307-0994-1C90A1C12908}"/>
              </a:ext>
            </a:extLst>
          </p:cNvPr>
          <p:cNvSpPr txBox="1"/>
          <p:nvPr/>
        </p:nvSpPr>
        <p:spPr>
          <a:xfrm>
            <a:off x="7085310" y="609116"/>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实验设计</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1" name="Rectangle 10">
            <a:extLst>
              <a:ext uri="{FF2B5EF4-FFF2-40B4-BE49-F238E27FC236}">
                <a16:creationId xmlns:a16="http://schemas.microsoft.com/office/drawing/2014/main" id="{733F79A9-F1C0-B016-E9E0-4E83EABB8EDB}"/>
              </a:ext>
            </a:extLst>
          </p:cNvPr>
          <p:cNvSpPr/>
          <p:nvPr/>
        </p:nvSpPr>
        <p:spPr>
          <a:xfrm>
            <a:off x="9099804"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2" name="TextBox 12">
            <a:extLst>
              <a:ext uri="{FF2B5EF4-FFF2-40B4-BE49-F238E27FC236}">
                <a16:creationId xmlns:a16="http://schemas.microsoft.com/office/drawing/2014/main" id="{62413FA0-2C05-FADB-0B0D-4FA4F3699E84}"/>
              </a:ext>
            </a:extLst>
          </p:cNvPr>
          <p:cNvSpPr txBox="1"/>
          <p:nvPr/>
        </p:nvSpPr>
        <p:spPr>
          <a:xfrm>
            <a:off x="9866758" y="621113"/>
            <a:ext cx="971548"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1F497D">
                    <a:lumMod val="75000"/>
                  </a:srgbClr>
                </a:solidFill>
                <a:effectLst/>
                <a:uLnTx/>
                <a:uFillTx/>
                <a:latin typeface="Noto Sans CJK SC"/>
                <a:ea typeface="微软雅黑"/>
                <a:cs typeface="+mn-cs"/>
              </a:rPr>
              <a:t>总结与启发</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3" name="TextBox 16">
            <a:extLst>
              <a:ext uri="{FF2B5EF4-FFF2-40B4-BE49-F238E27FC236}">
                <a16:creationId xmlns:a16="http://schemas.microsoft.com/office/drawing/2014/main" id="{BCDC4BC3-909F-8138-3D38-56DF0F660E60}"/>
              </a:ext>
            </a:extLst>
          </p:cNvPr>
          <p:cNvSpPr txBox="1"/>
          <p:nvPr/>
        </p:nvSpPr>
        <p:spPr>
          <a:xfrm>
            <a:off x="449580" y="1057172"/>
            <a:ext cx="11064240" cy="50292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14233E"/>
                </a:solidFill>
                <a:effectLst/>
                <a:uLnTx/>
                <a:uFillTx/>
                <a:latin typeface="Noto Sans CJK SC"/>
                <a:ea typeface="微软雅黑"/>
                <a:cs typeface="+mn-cs"/>
              </a:rPr>
              <a:t>迁移学习的范式与瓶颈</a:t>
            </a:r>
          </a:p>
        </p:txBody>
      </p:sp>
      <p:cxnSp>
        <p:nvCxnSpPr>
          <p:cNvPr id="14" name="Connector 17">
            <a:extLst>
              <a:ext uri="{FF2B5EF4-FFF2-40B4-BE49-F238E27FC236}">
                <a16:creationId xmlns:a16="http://schemas.microsoft.com/office/drawing/2014/main" id="{B0974D59-D3C6-3562-A710-4005BD5C7BA1}"/>
              </a:ext>
            </a:extLst>
          </p:cNvPr>
          <p:cNvCxnSpPr/>
          <p:nvPr/>
        </p:nvCxnSpPr>
        <p:spPr>
          <a:xfrm>
            <a:off x="449580" y="1614956"/>
            <a:ext cx="11183112" cy="0"/>
          </a:xfrm>
          <a:prstGeom prst="line">
            <a:avLst/>
          </a:prstGeom>
          <a:ln w="28575">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sp>
        <p:nvSpPr>
          <p:cNvPr id="15" name="TextBox 19">
            <a:extLst>
              <a:ext uri="{FF2B5EF4-FFF2-40B4-BE49-F238E27FC236}">
                <a16:creationId xmlns:a16="http://schemas.microsoft.com/office/drawing/2014/main" id="{A6D75E63-D6F3-59B5-2EE8-605669BB922F}"/>
              </a:ext>
            </a:extLst>
          </p:cNvPr>
          <p:cNvSpPr txBox="1"/>
          <p:nvPr/>
        </p:nvSpPr>
        <p:spPr>
          <a:xfrm>
            <a:off x="790956" y="2503983"/>
            <a:ext cx="2011680" cy="292608"/>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a:ln>
                  <a:noFill/>
                </a:ln>
                <a:solidFill>
                  <a:srgbClr val="14233E"/>
                </a:solidFill>
                <a:effectLst/>
                <a:uLnTx/>
                <a:uFillTx/>
                <a:latin typeface="Noto Sans CJK SC"/>
                <a:ea typeface="微软雅黑"/>
                <a:cs typeface="+mn-cs"/>
              </a:rPr>
              <a:t>Pre-train</a:t>
            </a:r>
          </a:p>
        </p:txBody>
      </p:sp>
      <p:sp>
        <p:nvSpPr>
          <p:cNvPr id="17" name="TextBox 20">
            <a:extLst>
              <a:ext uri="{FF2B5EF4-FFF2-40B4-BE49-F238E27FC236}">
                <a16:creationId xmlns:a16="http://schemas.microsoft.com/office/drawing/2014/main" id="{9A550E45-85AE-85F0-6808-EEF87C55D435}"/>
              </a:ext>
            </a:extLst>
          </p:cNvPr>
          <p:cNvSpPr txBox="1"/>
          <p:nvPr/>
        </p:nvSpPr>
        <p:spPr>
          <a:xfrm>
            <a:off x="1041719" y="2961184"/>
            <a:ext cx="1510157" cy="504754"/>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err="1">
                <a:ln>
                  <a:noFill/>
                </a:ln>
                <a:solidFill>
                  <a:srgbClr val="64748B"/>
                </a:solidFill>
                <a:effectLst/>
                <a:uLnTx/>
                <a:uFillTx/>
                <a:latin typeface="Noto Sans CJK SC"/>
                <a:ea typeface="微软雅黑"/>
                <a:cs typeface="+mn-cs"/>
              </a:rPr>
              <a:t>大规模数据</a:t>
            </a:r>
            <a:r>
              <a:rPr kumimoji="0" sz="1400" b="0" i="0" u="none" strike="noStrike" kern="1200" cap="none" spc="0" normalizeH="0" baseline="0" noProof="0" dirty="0">
                <a:ln>
                  <a:noFill/>
                </a:ln>
                <a:solidFill>
                  <a:srgbClr val="64748B"/>
                </a:solidFill>
                <a:effectLst/>
                <a:uLnTx/>
                <a:uFillTx/>
                <a:latin typeface="Noto Sans CJK SC"/>
                <a:ea typeface="微软雅黑"/>
                <a:cs typeface="+mn-cs"/>
              </a:rPr>
              <a:t>
</a:t>
            </a:r>
            <a:r>
              <a:rPr kumimoji="0" sz="1400" b="0" i="0" u="none" strike="noStrike" kern="1200" cap="none" spc="0" normalizeH="0" baseline="0" noProof="0" dirty="0" err="1">
                <a:ln>
                  <a:noFill/>
                </a:ln>
                <a:solidFill>
                  <a:srgbClr val="64748B"/>
                </a:solidFill>
                <a:effectLst/>
                <a:uLnTx/>
                <a:uFillTx/>
                <a:latin typeface="Noto Sans CJK SC"/>
                <a:ea typeface="微软雅黑"/>
                <a:cs typeface="+mn-cs"/>
              </a:rPr>
              <a:t>学习通用</a:t>
            </a:r>
            <a:r>
              <a:rPr kumimoji="0" lang="zh-CN" altLang="en-US" sz="1400" b="0" i="0" u="none" strike="noStrike" kern="1200" cap="none" spc="0" normalizeH="0" baseline="0" noProof="0" dirty="0">
                <a:ln>
                  <a:noFill/>
                </a:ln>
                <a:solidFill>
                  <a:srgbClr val="64748B"/>
                </a:solidFill>
                <a:effectLst/>
                <a:uLnTx/>
                <a:uFillTx/>
                <a:latin typeface="Noto Sans CJK SC"/>
                <a:ea typeface="微软雅黑"/>
                <a:cs typeface="+mn-cs"/>
              </a:rPr>
              <a:t>图像表征</a:t>
            </a:r>
            <a:endParaRPr kumimoji="0" sz="1400" b="0" i="0" u="none" strike="noStrike" kern="1200" cap="none" spc="0" normalizeH="0" baseline="0" noProof="0" dirty="0">
              <a:ln>
                <a:noFill/>
              </a:ln>
              <a:solidFill>
                <a:srgbClr val="64748B"/>
              </a:solidFill>
              <a:effectLst/>
              <a:uLnTx/>
              <a:uFillTx/>
              <a:latin typeface="Noto Sans CJK SC"/>
              <a:ea typeface="微软雅黑"/>
              <a:cs typeface="+mn-cs"/>
            </a:endParaRPr>
          </a:p>
        </p:txBody>
      </p:sp>
      <p:sp>
        <p:nvSpPr>
          <p:cNvPr id="20" name="Rounded Rectangle 21">
            <a:extLst>
              <a:ext uri="{FF2B5EF4-FFF2-40B4-BE49-F238E27FC236}">
                <a16:creationId xmlns:a16="http://schemas.microsoft.com/office/drawing/2014/main" id="{F0B913B0-2DAE-D41F-FAA8-7961527E8094}"/>
              </a:ext>
            </a:extLst>
          </p:cNvPr>
          <p:cNvSpPr/>
          <p:nvPr/>
        </p:nvSpPr>
        <p:spPr>
          <a:xfrm>
            <a:off x="3538728" y="2289346"/>
            <a:ext cx="2331720" cy="1417320"/>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22" name="TextBox 22">
            <a:extLst>
              <a:ext uri="{FF2B5EF4-FFF2-40B4-BE49-F238E27FC236}">
                <a16:creationId xmlns:a16="http://schemas.microsoft.com/office/drawing/2014/main" id="{B3E71925-CFC1-694C-9780-D26BEC4DB216}"/>
              </a:ext>
            </a:extLst>
          </p:cNvPr>
          <p:cNvSpPr txBox="1"/>
          <p:nvPr/>
        </p:nvSpPr>
        <p:spPr>
          <a:xfrm>
            <a:off x="4094343" y="2499658"/>
            <a:ext cx="1229632" cy="366254"/>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14233E"/>
                </a:solidFill>
                <a:effectLst/>
                <a:uLnTx/>
                <a:uFillTx/>
                <a:latin typeface="Noto Sans CJK SC"/>
                <a:ea typeface="微软雅黑"/>
                <a:cs typeface="+mn-cs"/>
              </a:rPr>
              <a:t>Fine-tun</a:t>
            </a:r>
            <a:r>
              <a:rPr kumimoji="0" lang="en-US" altLang="zh-CN" sz="1900" b="1" i="0" u="none" strike="noStrike" kern="1200" cap="none" spc="0" normalizeH="0" baseline="0" noProof="0" dirty="0">
                <a:ln>
                  <a:noFill/>
                </a:ln>
                <a:solidFill>
                  <a:srgbClr val="14233E"/>
                </a:solidFill>
                <a:effectLst/>
                <a:uLnTx/>
                <a:uFillTx/>
                <a:latin typeface="Noto Sans CJK SC"/>
                <a:ea typeface="微软雅黑"/>
                <a:cs typeface="+mn-cs"/>
              </a:rPr>
              <a:t>ing</a:t>
            </a:r>
            <a:endParaRPr kumimoji="0" sz="1900" b="1" i="0" u="none" strike="noStrike" kern="1200" cap="none" spc="0" normalizeH="0" baseline="0" noProof="0" dirty="0">
              <a:ln>
                <a:noFill/>
              </a:ln>
              <a:solidFill>
                <a:srgbClr val="14233E"/>
              </a:solidFill>
              <a:effectLst/>
              <a:uLnTx/>
              <a:uFillTx/>
              <a:latin typeface="Noto Sans CJK SC"/>
              <a:ea typeface="微软雅黑"/>
              <a:cs typeface="+mn-cs"/>
            </a:endParaRPr>
          </a:p>
        </p:txBody>
      </p:sp>
      <p:sp>
        <p:nvSpPr>
          <p:cNvPr id="24" name="TextBox 23">
            <a:extLst>
              <a:ext uri="{FF2B5EF4-FFF2-40B4-BE49-F238E27FC236}">
                <a16:creationId xmlns:a16="http://schemas.microsoft.com/office/drawing/2014/main" id="{258888D8-166A-EB96-AE88-71AE82783B08}"/>
              </a:ext>
            </a:extLst>
          </p:cNvPr>
          <p:cNvSpPr txBox="1"/>
          <p:nvPr/>
        </p:nvSpPr>
        <p:spPr>
          <a:xfrm>
            <a:off x="3954080" y="2956859"/>
            <a:ext cx="1510157" cy="504754"/>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err="1">
                <a:ln>
                  <a:noFill/>
                </a:ln>
                <a:solidFill>
                  <a:srgbClr val="64748B"/>
                </a:solidFill>
                <a:effectLst/>
                <a:uLnTx/>
                <a:uFillTx/>
                <a:latin typeface="Noto Sans CJK SC"/>
                <a:ea typeface="微软雅黑"/>
                <a:cs typeface="+mn-cs"/>
              </a:rPr>
              <a:t>任务特定监督数据</a:t>
            </a:r>
            <a:r>
              <a:rPr kumimoji="0" sz="1400" b="0" i="0" u="none" strike="noStrike" kern="1200" cap="none" spc="0" normalizeH="0" baseline="0" noProof="0" dirty="0">
                <a:ln>
                  <a:noFill/>
                </a:ln>
                <a:solidFill>
                  <a:srgbClr val="64748B"/>
                </a:solidFill>
                <a:effectLst/>
                <a:uLnTx/>
                <a:uFillTx/>
                <a:latin typeface="Noto Sans CJK SC"/>
                <a:ea typeface="微软雅黑"/>
                <a:cs typeface="+mn-cs"/>
              </a:rPr>
              <a:t>
</a:t>
            </a:r>
            <a:r>
              <a:rPr kumimoji="0" sz="1400" b="0" i="0" u="none" strike="noStrike" kern="1200" cap="none" spc="0" normalizeH="0" baseline="0" noProof="0" dirty="0" err="1">
                <a:ln>
                  <a:noFill/>
                </a:ln>
                <a:solidFill>
                  <a:srgbClr val="64748B"/>
                </a:solidFill>
                <a:effectLst/>
                <a:uLnTx/>
                <a:uFillTx/>
                <a:latin typeface="Noto Sans CJK SC"/>
                <a:ea typeface="微软雅黑"/>
                <a:cs typeface="+mn-cs"/>
              </a:rPr>
              <a:t>继续更新参数</a:t>
            </a:r>
            <a:endParaRPr kumimoji="0" sz="1400" b="0" i="0" u="none" strike="noStrike" kern="1200" cap="none" spc="0" normalizeH="0" baseline="0" noProof="0" dirty="0">
              <a:ln>
                <a:noFill/>
              </a:ln>
              <a:solidFill>
                <a:srgbClr val="64748B"/>
              </a:solidFill>
              <a:effectLst/>
              <a:uLnTx/>
              <a:uFillTx/>
              <a:latin typeface="Noto Sans CJK SC"/>
              <a:ea typeface="微软雅黑"/>
              <a:cs typeface="+mn-cs"/>
            </a:endParaRPr>
          </a:p>
        </p:txBody>
      </p:sp>
      <p:sp>
        <p:nvSpPr>
          <p:cNvPr id="26" name="TextBox 25">
            <a:extLst>
              <a:ext uri="{FF2B5EF4-FFF2-40B4-BE49-F238E27FC236}">
                <a16:creationId xmlns:a16="http://schemas.microsoft.com/office/drawing/2014/main" id="{36647169-CE78-68C5-FB8D-93FFA451FDA9}"/>
              </a:ext>
            </a:extLst>
          </p:cNvPr>
          <p:cNvSpPr txBox="1"/>
          <p:nvPr/>
        </p:nvSpPr>
        <p:spPr>
          <a:xfrm>
            <a:off x="6607302" y="2507279"/>
            <a:ext cx="2011680" cy="292608"/>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14233E"/>
                </a:solidFill>
                <a:effectLst/>
                <a:uLnTx/>
                <a:uFillTx/>
                <a:latin typeface="Noto Sans CJK SC"/>
                <a:ea typeface="微软雅黑"/>
                <a:cs typeface="+mn-cs"/>
              </a:rPr>
              <a:t>Downstream</a:t>
            </a:r>
          </a:p>
        </p:txBody>
      </p:sp>
      <p:sp>
        <p:nvSpPr>
          <p:cNvPr id="29" name="TextBox 26">
            <a:extLst>
              <a:ext uri="{FF2B5EF4-FFF2-40B4-BE49-F238E27FC236}">
                <a16:creationId xmlns:a16="http://schemas.microsoft.com/office/drawing/2014/main" id="{F95B46A1-0C6A-B357-BE62-C7BE8094AED8}"/>
              </a:ext>
            </a:extLst>
          </p:cNvPr>
          <p:cNvSpPr txBox="1"/>
          <p:nvPr/>
        </p:nvSpPr>
        <p:spPr>
          <a:xfrm>
            <a:off x="6647269" y="2964480"/>
            <a:ext cx="1931746" cy="289310"/>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err="1">
                <a:ln>
                  <a:noFill/>
                </a:ln>
                <a:solidFill>
                  <a:srgbClr val="64748B"/>
                </a:solidFill>
                <a:effectLst/>
                <a:uLnTx/>
                <a:uFillTx/>
                <a:latin typeface="Noto Sans CJK SC"/>
                <a:ea typeface="微软雅黑"/>
                <a:cs typeface="+mn-cs"/>
              </a:rPr>
              <a:t>分类</a:t>
            </a:r>
            <a:r>
              <a:rPr kumimoji="0" sz="1400" b="0" i="0" u="none" strike="noStrike" kern="1200" cap="none" spc="0" normalizeH="0" baseline="0" noProof="0" dirty="0">
                <a:ln>
                  <a:noFill/>
                </a:ln>
                <a:solidFill>
                  <a:srgbClr val="64748B"/>
                </a:solidFill>
                <a:effectLst/>
                <a:uLnTx/>
                <a:uFillTx/>
                <a:latin typeface="Noto Sans CJK SC"/>
                <a:ea typeface="微软雅黑"/>
                <a:cs typeface="+mn-cs"/>
              </a:rPr>
              <a:t> / </a:t>
            </a:r>
            <a:r>
              <a:rPr kumimoji="0" sz="1400" b="0" i="0" u="none" strike="noStrike" kern="1200" cap="none" spc="0" normalizeH="0" baseline="0" noProof="0" dirty="0" err="1">
                <a:ln>
                  <a:noFill/>
                </a:ln>
                <a:solidFill>
                  <a:srgbClr val="64748B"/>
                </a:solidFill>
                <a:effectLst/>
                <a:uLnTx/>
                <a:uFillTx/>
                <a:latin typeface="Noto Sans CJK SC"/>
                <a:ea typeface="微软雅黑"/>
                <a:cs typeface="+mn-cs"/>
              </a:rPr>
              <a:t>检测</a:t>
            </a:r>
            <a:r>
              <a:rPr kumimoji="0" sz="1400" b="0" i="0" u="none" strike="noStrike" kern="1200" cap="none" spc="0" normalizeH="0" baseline="0" noProof="0" dirty="0">
                <a:ln>
                  <a:noFill/>
                </a:ln>
                <a:solidFill>
                  <a:srgbClr val="64748B"/>
                </a:solidFill>
                <a:effectLst/>
                <a:uLnTx/>
                <a:uFillTx/>
                <a:latin typeface="Noto Sans CJK SC"/>
                <a:ea typeface="微软雅黑"/>
                <a:cs typeface="+mn-cs"/>
              </a:rPr>
              <a:t> / </a:t>
            </a:r>
            <a:r>
              <a:rPr kumimoji="0" sz="1400" b="0" i="0" u="none" strike="noStrike" kern="1200" cap="none" spc="0" normalizeH="0" baseline="0" noProof="0" dirty="0" err="1">
                <a:ln>
                  <a:noFill/>
                </a:ln>
                <a:solidFill>
                  <a:srgbClr val="64748B"/>
                </a:solidFill>
                <a:effectLst/>
                <a:uLnTx/>
                <a:uFillTx/>
                <a:latin typeface="Noto Sans CJK SC"/>
                <a:ea typeface="微软雅黑"/>
                <a:cs typeface="+mn-cs"/>
              </a:rPr>
              <a:t>医学图像</a:t>
            </a:r>
            <a:r>
              <a:rPr kumimoji="0" sz="1400" b="0" i="0" u="none" strike="noStrike" kern="1200" cap="none" spc="0" normalizeH="0" baseline="0" noProof="0" dirty="0">
                <a:ln>
                  <a:noFill/>
                </a:ln>
                <a:solidFill>
                  <a:srgbClr val="64748B"/>
                </a:solidFill>
                <a:effectLst/>
                <a:uLnTx/>
                <a:uFillTx/>
                <a:latin typeface="Noto Sans CJK SC"/>
                <a:ea typeface="微软雅黑"/>
                <a:cs typeface="+mn-cs"/>
              </a:rPr>
              <a:t>…</a:t>
            </a:r>
          </a:p>
        </p:txBody>
      </p:sp>
      <p:sp>
        <p:nvSpPr>
          <p:cNvPr id="31" name="Rounded Rectangle 31">
            <a:extLst>
              <a:ext uri="{FF2B5EF4-FFF2-40B4-BE49-F238E27FC236}">
                <a16:creationId xmlns:a16="http://schemas.microsoft.com/office/drawing/2014/main" id="{CF7A5273-0094-5520-E9FB-71A1C2D85321}"/>
              </a:ext>
            </a:extLst>
          </p:cNvPr>
          <p:cNvSpPr/>
          <p:nvPr/>
        </p:nvSpPr>
        <p:spPr>
          <a:xfrm>
            <a:off x="9368028" y="2136164"/>
            <a:ext cx="2148840" cy="1783080"/>
          </a:xfrm>
          <a:prstGeom prst="roundRect">
            <a:avLst>
              <a:gd name="adj" fmla="val 8000"/>
            </a:avLst>
          </a:prstGeom>
          <a:solidFill>
            <a:srgbClr val="FFF7ED"/>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32" name="Rounded Rectangle 32">
            <a:extLst>
              <a:ext uri="{FF2B5EF4-FFF2-40B4-BE49-F238E27FC236}">
                <a16:creationId xmlns:a16="http://schemas.microsoft.com/office/drawing/2014/main" id="{A5BE140D-EBBA-E9E4-90F3-25ADE0202C6B}"/>
              </a:ext>
            </a:extLst>
          </p:cNvPr>
          <p:cNvSpPr/>
          <p:nvPr/>
        </p:nvSpPr>
        <p:spPr>
          <a:xfrm>
            <a:off x="9977678" y="2132088"/>
            <a:ext cx="1051560" cy="292608"/>
          </a:xfrm>
          <a:prstGeom prst="roundRect">
            <a:avLst>
              <a:gd name="adj" fmla="val 8000"/>
            </a:avLst>
          </a:prstGeom>
          <a:solidFill>
            <a:srgbClr val="FFEDD5"/>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33" name="TextBox 33">
            <a:extLst>
              <a:ext uri="{FF2B5EF4-FFF2-40B4-BE49-F238E27FC236}">
                <a16:creationId xmlns:a16="http://schemas.microsoft.com/office/drawing/2014/main" id="{4E6F4CEE-9169-50A6-81EA-7026A9039DBE}"/>
              </a:ext>
            </a:extLst>
          </p:cNvPr>
          <p:cNvSpPr txBox="1"/>
          <p:nvPr/>
        </p:nvSpPr>
        <p:spPr>
          <a:xfrm>
            <a:off x="10286988" y="2149739"/>
            <a:ext cx="432939" cy="289310"/>
          </a:xfrm>
          <a:prstGeom prst="rect">
            <a:avLst/>
          </a:prstGeom>
          <a:noFill/>
          <a:effectLst/>
        </p:spPr>
        <p:txBody>
          <a:bodyPr wrap="none" lIns="36576" tIns="36576" rIns="36576" bIns="36576"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C2410C"/>
                </a:solidFill>
                <a:effectLst/>
                <a:uLnTx/>
                <a:uFillTx/>
                <a:latin typeface="Noto Sans CJK SC"/>
                <a:ea typeface="微软雅黑"/>
                <a:cs typeface="+mn-cs"/>
              </a:rPr>
              <a:t>缺点</a:t>
            </a:r>
            <a:endParaRPr kumimoji="0" sz="1400" b="1" i="0" u="none" strike="noStrike" kern="1200" cap="none" spc="0" normalizeH="0" baseline="0" noProof="0" dirty="0">
              <a:ln>
                <a:noFill/>
              </a:ln>
              <a:solidFill>
                <a:srgbClr val="C2410C"/>
              </a:solidFill>
              <a:effectLst/>
              <a:uLnTx/>
              <a:uFillTx/>
              <a:latin typeface="Noto Sans CJK SC"/>
              <a:ea typeface="微软雅黑"/>
              <a:cs typeface="+mn-cs"/>
            </a:endParaRPr>
          </a:p>
        </p:txBody>
      </p:sp>
      <p:sp>
        <p:nvSpPr>
          <p:cNvPr id="34" name="TextBox 34">
            <a:extLst>
              <a:ext uri="{FF2B5EF4-FFF2-40B4-BE49-F238E27FC236}">
                <a16:creationId xmlns:a16="http://schemas.microsoft.com/office/drawing/2014/main" id="{A1388FCF-CCDD-7980-64E4-617B99635FEE}"/>
              </a:ext>
            </a:extLst>
          </p:cNvPr>
          <p:cNvSpPr txBox="1"/>
          <p:nvPr/>
        </p:nvSpPr>
        <p:spPr>
          <a:xfrm>
            <a:off x="9550908" y="2748812"/>
            <a:ext cx="1783080" cy="274320"/>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14233E"/>
                </a:solidFill>
                <a:effectLst/>
                <a:uLnTx/>
                <a:uFillTx/>
                <a:latin typeface="Noto Sans CJK SC"/>
                <a:ea typeface="微软雅黑"/>
                <a:cs typeface="+mn-cs"/>
              </a:rPr>
              <a:t>每来一个新任务</a:t>
            </a:r>
          </a:p>
        </p:txBody>
      </p:sp>
      <p:sp>
        <p:nvSpPr>
          <p:cNvPr id="35" name="TextBox 35">
            <a:extLst>
              <a:ext uri="{FF2B5EF4-FFF2-40B4-BE49-F238E27FC236}">
                <a16:creationId xmlns:a16="http://schemas.microsoft.com/office/drawing/2014/main" id="{DD2B6B1D-5EB7-306A-E3A2-0D70EBCACE52}"/>
              </a:ext>
            </a:extLst>
          </p:cNvPr>
          <p:cNvSpPr txBox="1"/>
          <p:nvPr/>
        </p:nvSpPr>
        <p:spPr>
          <a:xfrm>
            <a:off x="9550908" y="3123716"/>
            <a:ext cx="1783080" cy="274320"/>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err="1">
                <a:ln>
                  <a:noFill/>
                </a:ln>
                <a:solidFill>
                  <a:srgbClr val="DC2626"/>
                </a:solidFill>
                <a:effectLst/>
                <a:uLnTx/>
                <a:uFillTx/>
                <a:latin typeface="Noto Sans CJK SC"/>
                <a:ea typeface="微软雅黑"/>
                <a:cs typeface="+mn-cs"/>
              </a:rPr>
              <a:t>仍需数据</a:t>
            </a:r>
            <a:r>
              <a:rPr kumimoji="0" sz="1700" b="1" i="0" u="none" strike="noStrike" kern="1200" cap="none" spc="0" normalizeH="0" baseline="0" noProof="0" dirty="0">
                <a:ln>
                  <a:noFill/>
                </a:ln>
                <a:solidFill>
                  <a:srgbClr val="DC2626"/>
                </a:solidFill>
                <a:effectLst/>
                <a:uLnTx/>
                <a:uFillTx/>
                <a:latin typeface="Noto Sans CJK SC"/>
                <a:ea typeface="微软雅黑"/>
                <a:cs typeface="+mn-cs"/>
              </a:rPr>
              <a:t> + </a:t>
            </a:r>
            <a:r>
              <a:rPr kumimoji="0" sz="1700" b="1" i="0" u="none" strike="noStrike" kern="1200" cap="none" spc="0" normalizeH="0" baseline="0" noProof="0" dirty="0" err="1">
                <a:ln>
                  <a:noFill/>
                </a:ln>
                <a:solidFill>
                  <a:srgbClr val="DC2626"/>
                </a:solidFill>
                <a:effectLst/>
                <a:uLnTx/>
                <a:uFillTx/>
                <a:latin typeface="Noto Sans CJK SC"/>
                <a:ea typeface="微软雅黑"/>
                <a:cs typeface="+mn-cs"/>
              </a:rPr>
              <a:t>微调</a:t>
            </a:r>
            <a:endParaRPr kumimoji="0" sz="1700" b="1" i="0" u="none" strike="noStrike" kern="1200" cap="none" spc="0" normalizeH="0" baseline="0" noProof="0" dirty="0">
              <a:ln>
                <a:noFill/>
              </a:ln>
              <a:solidFill>
                <a:srgbClr val="DC2626"/>
              </a:solidFill>
              <a:effectLst/>
              <a:uLnTx/>
              <a:uFillTx/>
              <a:latin typeface="Noto Sans CJK SC"/>
              <a:ea typeface="微软雅黑"/>
              <a:cs typeface="+mn-cs"/>
            </a:endParaRPr>
          </a:p>
        </p:txBody>
      </p:sp>
      <p:sp>
        <p:nvSpPr>
          <p:cNvPr id="36" name="Rounded Rectangle 36">
            <a:extLst>
              <a:ext uri="{FF2B5EF4-FFF2-40B4-BE49-F238E27FC236}">
                <a16:creationId xmlns:a16="http://schemas.microsoft.com/office/drawing/2014/main" id="{EC15C133-46AB-3498-22F8-5B7289705BF4}"/>
              </a:ext>
            </a:extLst>
          </p:cNvPr>
          <p:cNvSpPr/>
          <p:nvPr/>
        </p:nvSpPr>
        <p:spPr>
          <a:xfrm>
            <a:off x="632460" y="4697770"/>
            <a:ext cx="10927080" cy="1298448"/>
          </a:xfrm>
          <a:prstGeom prst="roundRect">
            <a:avLst>
              <a:gd name="adj" fmla="val 8000"/>
            </a:avLst>
          </a:prstGeom>
          <a:solidFill>
            <a:schemeClr val="tx2">
              <a:lumMod val="75000"/>
            </a:schemeClr>
          </a:solidFill>
          <a:ln w="1270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37" name="TextBox 38">
            <a:extLst>
              <a:ext uri="{FF2B5EF4-FFF2-40B4-BE49-F238E27FC236}">
                <a16:creationId xmlns:a16="http://schemas.microsoft.com/office/drawing/2014/main" id="{02BC0C5C-2036-2BBF-5A02-B61A564E2721}"/>
              </a:ext>
            </a:extLst>
          </p:cNvPr>
          <p:cNvSpPr txBox="1"/>
          <p:nvPr/>
        </p:nvSpPr>
        <p:spPr>
          <a:xfrm>
            <a:off x="1581862" y="4930143"/>
            <a:ext cx="2301592" cy="781752"/>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300" b="1" i="0" u="none" strike="noStrike" kern="1200" cap="none" spc="0" normalizeH="0" baseline="0" noProof="0" dirty="0">
                <a:ln>
                  <a:noFill/>
                </a:ln>
                <a:solidFill>
                  <a:srgbClr val="FFFFFF"/>
                </a:solidFill>
                <a:effectLst/>
                <a:uLnTx/>
                <a:uFillTx/>
                <a:latin typeface="Noto Sans CJK SC"/>
                <a:ea typeface="微软雅黑"/>
                <a:cs typeface="+mn-cs"/>
              </a:rPr>
              <a:t>Zero-shot Transfer</a:t>
            </a:r>
            <a:endParaRPr kumimoji="0" lang="en-US" sz="2300" b="1" i="0" u="none" strike="noStrike" kern="1200" cap="none" spc="0" normalizeH="0" baseline="0" noProof="0" dirty="0">
              <a:ln>
                <a:noFill/>
              </a:ln>
              <a:solidFill>
                <a:srgbClr val="FFFFFF"/>
              </a:solidFill>
              <a:effectLst/>
              <a:uLnTx/>
              <a:uFillTx/>
              <a:latin typeface="Noto Sans CJK SC"/>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300" b="1" i="0" u="none" strike="noStrike" kern="1200" cap="none" spc="0" normalizeH="0" baseline="0" noProof="0" dirty="0">
                <a:ln>
                  <a:noFill/>
                </a:ln>
                <a:solidFill>
                  <a:srgbClr val="FFFFFF"/>
                </a:solidFill>
                <a:effectLst/>
                <a:uLnTx/>
                <a:uFillTx/>
                <a:latin typeface="Noto Sans CJK SC"/>
                <a:ea typeface="微软雅黑"/>
                <a:cs typeface="+mn-cs"/>
              </a:rPr>
              <a:t>零样本迁移</a:t>
            </a:r>
            <a:endParaRPr kumimoji="0" sz="23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38" name="TextBox 39">
            <a:extLst>
              <a:ext uri="{FF2B5EF4-FFF2-40B4-BE49-F238E27FC236}">
                <a16:creationId xmlns:a16="http://schemas.microsoft.com/office/drawing/2014/main" id="{43BE530C-202D-5C4D-6CFD-19192279EAE6}"/>
              </a:ext>
            </a:extLst>
          </p:cNvPr>
          <p:cNvSpPr txBox="1"/>
          <p:nvPr/>
        </p:nvSpPr>
        <p:spPr>
          <a:xfrm>
            <a:off x="4935473" y="5053365"/>
            <a:ext cx="5464303" cy="627864"/>
          </a:xfrm>
          <a:prstGeom prst="rect">
            <a:avLst/>
          </a:prstGeom>
          <a:noFill/>
        </p:spPr>
        <p:txBody>
          <a:bodyPr wrap="square" lIns="36576" tIns="36576" rIns="36576" bIns="36576"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dirty="0" err="1">
                <a:ln>
                  <a:noFill/>
                </a:ln>
                <a:solidFill>
                  <a:srgbClr val="FFFFFF"/>
                </a:solidFill>
                <a:effectLst/>
                <a:uLnTx/>
                <a:uFillTx/>
                <a:latin typeface="Noto Sans CJK SC"/>
                <a:ea typeface="微软雅黑"/>
                <a:cs typeface="+mn-cs"/>
              </a:rPr>
              <a:t>不使用任务特定监督样本，不进行下游</a:t>
            </a:r>
            <a:r>
              <a:rPr kumimoji="0" sz="1800" b="0" i="0" u="none" strike="noStrike" kern="1200" cap="none" spc="0" normalizeH="0" baseline="0" noProof="0" dirty="0">
                <a:ln>
                  <a:noFill/>
                </a:ln>
                <a:solidFill>
                  <a:srgbClr val="FFFFFF"/>
                </a:solidFill>
                <a:effectLst/>
                <a:uLnTx/>
                <a:uFillTx/>
                <a:latin typeface="Noto Sans CJK SC"/>
                <a:ea typeface="微软雅黑"/>
                <a:cs typeface="+mn-cs"/>
              </a:rPr>
              <a:t> </a:t>
            </a:r>
            <a:r>
              <a:rPr kumimoji="0" sz="1800" b="0" i="0" u="none" strike="noStrike" kern="1200" cap="none" spc="0" normalizeH="0" baseline="0" noProof="0" dirty="0" err="1">
                <a:ln>
                  <a:noFill/>
                </a:ln>
                <a:solidFill>
                  <a:srgbClr val="FFFFFF"/>
                </a:solidFill>
                <a:effectLst/>
                <a:uLnTx/>
                <a:uFillTx/>
                <a:latin typeface="Noto Sans CJK SC"/>
                <a:ea typeface="微软雅黑"/>
                <a:cs typeface="+mn-cs"/>
              </a:rPr>
              <a:t>fine-tuning，直接利用预训练知识完成迁移</a:t>
            </a:r>
            <a:r>
              <a:rPr kumimoji="0" sz="1800" b="0" i="0" u="none" strike="noStrike" kern="1200" cap="none" spc="0" normalizeH="0" baseline="0" noProof="0" dirty="0">
                <a:ln>
                  <a:noFill/>
                </a:ln>
                <a:solidFill>
                  <a:srgbClr val="FFFFFF"/>
                </a:solidFill>
                <a:effectLst/>
                <a:uLnTx/>
                <a:uFillTx/>
                <a:latin typeface="Noto Sans CJK SC"/>
                <a:ea typeface="微软雅黑"/>
                <a:cs typeface="+mn-cs"/>
              </a:rPr>
              <a:t>。</a:t>
            </a:r>
          </a:p>
        </p:txBody>
      </p:sp>
      <p:cxnSp>
        <p:nvCxnSpPr>
          <p:cNvPr id="42" name="直接箭头连接符 41">
            <a:extLst>
              <a:ext uri="{FF2B5EF4-FFF2-40B4-BE49-F238E27FC236}">
                <a16:creationId xmlns:a16="http://schemas.microsoft.com/office/drawing/2014/main" id="{7ED85C34-0895-4AC9-8BCB-A204D9E16224}"/>
              </a:ext>
            </a:extLst>
          </p:cNvPr>
          <p:cNvCxnSpPr>
            <a:cxnSpLocks/>
          </p:cNvCxnSpPr>
          <p:nvPr/>
        </p:nvCxnSpPr>
        <p:spPr>
          <a:xfrm>
            <a:off x="3058668" y="3071116"/>
            <a:ext cx="388620"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直接箭头连接符 42">
            <a:extLst>
              <a:ext uri="{FF2B5EF4-FFF2-40B4-BE49-F238E27FC236}">
                <a16:creationId xmlns:a16="http://schemas.microsoft.com/office/drawing/2014/main" id="{3734DFB8-31A9-66F5-2ADF-4E3D596F42C1}"/>
              </a:ext>
            </a:extLst>
          </p:cNvPr>
          <p:cNvCxnSpPr>
            <a:cxnSpLocks/>
          </p:cNvCxnSpPr>
          <p:nvPr/>
        </p:nvCxnSpPr>
        <p:spPr>
          <a:xfrm>
            <a:off x="5969508" y="3063538"/>
            <a:ext cx="388620"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4" name="直接箭头连接符 43">
            <a:extLst>
              <a:ext uri="{FF2B5EF4-FFF2-40B4-BE49-F238E27FC236}">
                <a16:creationId xmlns:a16="http://schemas.microsoft.com/office/drawing/2014/main" id="{BF99A485-A030-BA55-EC01-0654B060B3EE}"/>
              </a:ext>
            </a:extLst>
          </p:cNvPr>
          <p:cNvCxnSpPr>
            <a:cxnSpLocks/>
          </p:cNvCxnSpPr>
          <p:nvPr/>
        </p:nvCxnSpPr>
        <p:spPr>
          <a:xfrm>
            <a:off x="8905494" y="3063538"/>
            <a:ext cx="388620"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7833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E5B6-1C18-19B9-F5F5-A3D8CE2BA369}"/>
            </a:ext>
          </a:extLst>
        </p:cNvPr>
        <p:cNvGrpSpPr/>
        <p:nvPr/>
      </p:nvGrpSpPr>
      <p:grpSpPr>
        <a:xfrm>
          <a:off x="0" y="0"/>
          <a:ext cx="0" cy="0"/>
          <a:chOff x="0" y="0"/>
          <a:chExt cx="0" cy="0"/>
        </a:xfrm>
      </p:grpSpPr>
      <p:sp>
        <p:nvSpPr>
          <p:cNvPr id="4" name="Rounded Rectangle 21">
            <a:extLst>
              <a:ext uri="{FF2B5EF4-FFF2-40B4-BE49-F238E27FC236}">
                <a16:creationId xmlns:a16="http://schemas.microsoft.com/office/drawing/2014/main" id="{B8E7AB58-6889-2302-04D6-1B940C27114B}"/>
              </a:ext>
            </a:extLst>
          </p:cNvPr>
          <p:cNvSpPr/>
          <p:nvPr/>
        </p:nvSpPr>
        <p:spPr>
          <a:xfrm>
            <a:off x="625553" y="2264083"/>
            <a:ext cx="2011680" cy="527272"/>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97D">
                    <a:lumMod val="75000"/>
                  </a:srgbClr>
                </a:solidFill>
                <a:effectLst/>
                <a:uLnTx/>
                <a:uFillTx/>
                <a:latin typeface="Cambria"/>
                <a:ea typeface="微软雅黑"/>
                <a:cs typeface="+mn-cs"/>
              </a:rPr>
              <a:t>Image T</a:t>
            </a:r>
            <a:r>
              <a:rPr kumimoji="0" lang="en-US" altLang="zh-CN" sz="2000" b="0" i="0" u="none" strike="noStrike" kern="1200" cap="none" spc="0" normalizeH="0" baseline="0" noProof="0" dirty="0">
                <a:ln>
                  <a:noFill/>
                </a:ln>
                <a:solidFill>
                  <a:srgbClr val="1F497D">
                    <a:lumMod val="75000"/>
                  </a:srgbClr>
                </a:solidFill>
                <a:effectLst/>
                <a:uLnTx/>
                <a:uFillTx/>
                <a:latin typeface="Cambria"/>
                <a:ea typeface="微软雅黑"/>
                <a:cs typeface="+mn-cs"/>
              </a:rPr>
              <a:t>ower</a:t>
            </a:r>
            <a:endParaRPr kumimoji="0" sz="20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5" name="Rectangle 1">
            <a:extLst>
              <a:ext uri="{FF2B5EF4-FFF2-40B4-BE49-F238E27FC236}">
                <a16:creationId xmlns:a16="http://schemas.microsoft.com/office/drawing/2014/main" id="{048DD5A7-8BB5-2F0C-3B63-4D2B2FC5249D}"/>
              </a:ext>
            </a:extLst>
          </p:cNvPr>
          <p:cNvSpPr/>
          <p:nvPr/>
        </p:nvSpPr>
        <p:spPr>
          <a:xfrm>
            <a:off x="513588" y="609116"/>
            <a:ext cx="2487168" cy="329184"/>
          </a:xfrm>
          <a:prstGeom prst="rect">
            <a:avLst/>
          </a:prstGeom>
          <a:solidFill>
            <a:schemeClr val="tx2">
              <a:lumMod val="75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6" name="TextBox 3">
            <a:extLst>
              <a:ext uri="{FF2B5EF4-FFF2-40B4-BE49-F238E27FC236}">
                <a16:creationId xmlns:a16="http://schemas.microsoft.com/office/drawing/2014/main" id="{06EBC009-6B51-17AB-AB5F-89F1A7A53E3F}"/>
              </a:ext>
            </a:extLst>
          </p:cNvPr>
          <p:cNvSpPr txBox="1"/>
          <p:nvPr/>
        </p:nvSpPr>
        <p:spPr>
          <a:xfrm>
            <a:off x="1266465"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Noto Sans CJK SC"/>
                <a:ea typeface="微软雅黑"/>
                <a:cs typeface="+mn-cs"/>
              </a:rPr>
              <a:t>研究动机</a:t>
            </a:r>
            <a:endParaRPr kumimoji="0" sz="14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7" name="Rectangle 4">
            <a:extLst>
              <a:ext uri="{FF2B5EF4-FFF2-40B4-BE49-F238E27FC236}">
                <a16:creationId xmlns:a16="http://schemas.microsoft.com/office/drawing/2014/main" id="{1A1AF148-8887-7872-6C4B-3F7450815815}"/>
              </a:ext>
            </a:extLst>
          </p:cNvPr>
          <p:cNvSpPr/>
          <p:nvPr/>
        </p:nvSpPr>
        <p:spPr>
          <a:xfrm>
            <a:off x="3375660"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8" name="TextBox 6">
            <a:extLst>
              <a:ext uri="{FF2B5EF4-FFF2-40B4-BE49-F238E27FC236}">
                <a16:creationId xmlns:a16="http://schemas.microsoft.com/office/drawing/2014/main" id="{726C99EA-A8FC-1420-A300-93692711CC74}"/>
              </a:ext>
            </a:extLst>
          </p:cNvPr>
          <p:cNvSpPr txBox="1"/>
          <p:nvPr/>
        </p:nvSpPr>
        <p:spPr>
          <a:xfrm>
            <a:off x="4168374"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研究方法</a:t>
            </a:r>
          </a:p>
        </p:txBody>
      </p:sp>
      <p:sp>
        <p:nvSpPr>
          <p:cNvPr id="9" name="Rectangle 7">
            <a:extLst>
              <a:ext uri="{FF2B5EF4-FFF2-40B4-BE49-F238E27FC236}">
                <a16:creationId xmlns:a16="http://schemas.microsoft.com/office/drawing/2014/main" id="{0A050FBC-3FB8-D57E-C6F0-6317D05A1DA6}"/>
              </a:ext>
            </a:extLst>
          </p:cNvPr>
          <p:cNvSpPr/>
          <p:nvPr/>
        </p:nvSpPr>
        <p:spPr>
          <a:xfrm>
            <a:off x="6237732"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0" name="TextBox 9">
            <a:extLst>
              <a:ext uri="{FF2B5EF4-FFF2-40B4-BE49-F238E27FC236}">
                <a16:creationId xmlns:a16="http://schemas.microsoft.com/office/drawing/2014/main" id="{E2538EE4-83E5-DBAB-06DD-210586B2DD36}"/>
              </a:ext>
            </a:extLst>
          </p:cNvPr>
          <p:cNvSpPr txBox="1"/>
          <p:nvPr/>
        </p:nvSpPr>
        <p:spPr>
          <a:xfrm>
            <a:off x="7085310" y="609116"/>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实验设计</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1" name="Rectangle 10">
            <a:extLst>
              <a:ext uri="{FF2B5EF4-FFF2-40B4-BE49-F238E27FC236}">
                <a16:creationId xmlns:a16="http://schemas.microsoft.com/office/drawing/2014/main" id="{064626C5-BCE5-9A01-541F-75595A80A75E}"/>
              </a:ext>
            </a:extLst>
          </p:cNvPr>
          <p:cNvSpPr/>
          <p:nvPr/>
        </p:nvSpPr>
        <p:spPr>
          <a:xfrm>
            <a:off x="9099804"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2" name="TextBox 12">
            <a:extLst>
              <a:ext uri="{FF2B5EF4-FFF2-40B4-BE49-F238E27FC236}">
                <a16:creationId xmlns:a16="http://schemas.microsoft.com/office/drawing/2014/main" id="{47A7F42A-9F8C-7809-6925-F82DA7DFA3F8}"/>
              </a:ext>
            </a:extLst>
          </p:cNvPr>
          <p:cNvSpPr txBox="1"/>
          <p:nvPr/>
        </p:nvSpPr>
        <p:spPr>
          <a:xfrm>
            <a:off x="9866758" y="621113"/>
            <a:ext cx="971548"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1F497D">
                    <a:lumMod val="75000"/>
                  </a:srgbClr>
                </a:solidFill>
                <a:effectLst/>
                <a:uLnTx/>
                <a:uFillTx/>
                <a:latin typeface="Noto Sans CJK SC"/>
                <a:ea typeface="微软雅黑"/>
                <a:cs typeface="+mn-cs"/>
              </a:rPr>
              <a:t>总结与启发</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3" name="TextBox 16">
            <a:extLst>
              <a:ext uri="{FF2B5EF4-FFF2-40B4-BE49-F238E27FC236}">
                <a16:creationId xmlns:a16="http://schemas.microsoft.com/office/drawing/2014/main" id="{E669963B-9AC4-6BCC-AB00-BA6BE4803C63}"/>
              </a:ext>
            </a:extLst>
          </p:cNvPr>
          <p:cNvSpPr txBox="1"/>
          <p:nvPr/>
        </p:nvSpPr>
        <p:spPr>
          <a:xfrm>
            <a:off x="449580" y="1057172"/>
            <a:ext cx="6621364" cy="458587"/>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500" b="1" i="0" u="none" strike="noStrike" kern="1200" cap="none" spc="0" normalizeH="0" baseline="0" noProof="0" dirty="0">
                <a:ln>
                  <a:noFill/>
                </a:ln>
                <a:solidFill>
                  <a:srgbClr val="14233E"/>
                </a:solidFill>
                <a:effectLst/>
                <a:uLnTx/>
                <a:uFillTx/>
                <a:latin typeface="Noto Sans CJK SC"/>
                <a:ea typeface="微软雅黑"/>
                <a:cs typeface="+mn-cs"/>
              </a:rPr>
              <a:t>CLIP / ALIGN</a:t>
            </a: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a:t>
            </a:r>
            <a:r>
              <a:rPr kumimoji="0" lang="en-US" altLang="zh-CN" sz="2500" b="1" i="0" u="none" strike="noStrike" kern="1200" cap="none" spc="0" normalizeH="0" baseline="0" noProof="0" dirty="0">
                <a:ln>
                  <a:noFill/>
                </a:ln>
                <a:solidFill>
                  <a:srgbClr val="14233E"/>
                </a:solidFill>
                <a:effectLst/>
                <a:uLnTx/>
                <a:uFillTx/>
                <a:latin typeface="Noto Sans CJK SC"/>
                <a:ea typeface="微软雅黑"/>
                <a:cs typeface="+mn-cs"/>
              </a:rPr>
              <a:t>Zero-shot </a:t>
            </a: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的已有解法与默认假设</a:t>
            </a:r>
          </a:p>
        </p:txBody>
      </p:sp>
      <p:cxnSp>
        <p:nvCxnSpPr>
          <p:cNvPr id="14" name="Connector 17">
            <a:extLst>
              <a:ext uri="{FF2B5EF4-FFF2-40B4-BE49-F238E27FC236}">
                <a16:creationId xmlns:a16="http://schemas.microsoft.com/office/drawing/2014/main" id="{18FD6BC0-A93E-5318-A79A-87B4D3920C44}"/>
              </a:ext>
            </a:extLst>
          </p:cNvPr>
          <p:cNvCxnSpPr/>
          <p:nvPr/>
        </p:nvCxnSpPr>
        <p:spPr>
          <a:xfrm>
            <a:off x="449580" y="1614956"/>
            <a:ext cx="11183112" cy="0"/>
          </a:xfrm>
          <a:prstGeom prst="line">
            <a:avLst/>
          </a:prstGeom>
          <a:ln w="28575">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sp>
        <p:nvSpPr>
          <p:cNvPr id="36" name="Rounded Rectangle 36">
            <a:extLst>
              <a:ext uri="{FF2B5EF4-FFF2-40B4-BE49-F238E27FC236}">
                <a16:creationId xmlns:a16="http://schemas.microsoft.com/office/drawing/2014/main" id="{B0BDBA1C-C7F7-2C4A-2CD8-BA27260673DD}"/>
              </a:ext>
            </a:extLst>
          </p:cNvPr>
          <p:cNvSpPr/>
          <p:nvPr/>
        </p:nvSpPr>
        <p:spPr>
          <a:xfrm>
            <a:off x="620516" y="4697770"/>
            <a:ext cx="10927080" cy="1298448"/>
          </a:xfrm>
          <a:prstGeom prst="roundRect">
            <a:avLst>
              <a:gd name="adj" fmla="val 8000"/>
            </a:avLst>
          </a:prstGeom>
          <a:solidFill>
            <a:schemeClr val="tx2">
              <a:lumMod val="75000"/>
            </a:schemeClr>
          </a:solidFill>
          <a:ln w="12700">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37" name="TextBox 38">
            <a:extLst>
              <a:ext uri="{FF2B5EF4-FFF2-40B4-BE49-F238E27FC236}">
                <a16:creationId xmlns:a16="http://schemas.microsoft.com/office/drawing/2014/main" id="{52CDC31A-7B9A-0833-97BE-A04FB41674C3}"/>
              </a:ext>
            </a:extLst>
          </p:cNvPr>
          <p:cNvSpPr txBox="1"/>
          <p:nvPr/>
        </p:nvSpPr>
        <p:spPr>
          <a:xfrm>
            <a:off x="1383556" y="5153392"/>
            <a:ext cx="1253677" cy="427809"/>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300" b="1" i="0" u="none" strike="noStrike" kern="1200" cap="none" spc="0" normalizeH="0" baseline="0" noProof="0" dirty="0">
                <a:ln>
                  <a:noFill/>
                </a:ln>
                <a:solidFill>
                  <a:srgbClr val="FFFFFF"/>
                </a:solidFill>
                <a:effectLst/>
                <a:uLnTx/>
                <a:uFillTx/>
                <a:latin typeface="Noto Sans CJK SC"/>
                <a:ea typeface="微软雅黑"/>
                <a:cs typeface="+mn-cs"/>
              </a:rPr>
              <a:t>默认假设</a:t>
            </a:r>
            <a:endParaRPr kumimoji="0" sz="23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38" name="TextBox 39">
            <a:extLst>
              <a:ext uri="{FF2B5EF4-FFF2-40B4-BE49-F238E27FC236}">
                <a16:creationId xmlns:a16="http://schemas.microsoft.com/office/drawing/2014/main" id="{9EAE3C18-4D4A-771A-CC41-8DBEC734F243}"/>
              </a:ext>
            </a:extLst>
          </p:cNvPr>
          <p:cNvSpPr txBox="1"/>
          <p:nvPr/>
        </p:nvSpPr>
        <p:spPr>
          <a:xfrm>
            <a:off x="2958604" y="5107610"/>
            <a:ext cx="7807688" cy="443198"/>
          </a:xfrm>
          <a:prstGeom prst="rect">
            <a:avLst/>
          </a:prstGeom>
          <a:noFill/>
        </p:spPr>
        <p:txBody>
          <a:bodyPr wrap="square" lIns="36576" tIns="36576" rIns="36576" bIns="36576"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5F8FC"/>
                </a:solidFill>
                <a:effectLst/>
                <a:uLnTx/>
                <a:uFillTx/>
                <a:latin typeface="Noto Sans CJK SC"/>
                <a:ea typeface="微软雅黑"/>
                <a:cs typeface="+mn-cs"/>
              </a:rPr>
              <a:t>Image Tower</a:t>
            </a:r>
            <a:r>
              <a:rPr kumimoji="0" lang="zh-CN" altLang="en-US" sz="2400" b="0" i="0" u="none" strike="noStrike" kern="1200" cap="none" spc="0" normalizeH="0" baseline="0" noProof="0" dirty="0">
                <a:ln>
                  <a:noFill/>
                </a:ln>
                <a:solidFill>
                  <a:srgbClr val="F5F8FC"/>
                </a:solidFill>
                <a:effectLst/>
                <a:uLnTx/>
                <a:uFillTx/>
                <a:latin typeface="Noto Sans CJK SC"/>
                <a:ea typeface="微软雅黑"/>
                <a:cs typeface="+mn-cs"/>
              </a:rPr>
              <a:t>与 </a:t>
            </a:r>
            <a:r>
              <a:rPr kumimoji="0" lang="en-US" altLang="zh-CN" sz="2400" b="1" i="0" u="none" strike="noStrike" kern="1200" cap="none" spc="0" normalizeH="0" baseline="0" noProof="0" dirty="0">
                <a:ln>
                  <a:noFill/>
                </a:ln>
                <a:solidFill>
                  <a:srgbClr val="F5F8FC"/>
                </a:solidFill>
                <a:effectLst/>
                <a:uLnTx/>
                <a:uFillTx/>
                <a:latin typeface="Noto Sans CJK SC"/>
                <a:ea typeface="微软雅黑"/>
                <a:cs typeface="+mn-cs"/>
              </a:rPr>
              <a:t>Text Tower</a:t>
            </a:r>
            <a:r>
              <a:rPr kumimoji="0" lang="zh-CN" altLang="en-US" sz="2400" b="0" i="0" u="none" strike="noStrike" kern="1200" cap="none" spc="0" normalizeH="0" baseline="0" noProof="0" dirty="0">
                <a:ln>
                  <a:noFill/>
                </a:ln>
                <a:solidFill>
                  <a:srgbClr val="F5F8FC"/>
                </a:solidFill>
                <a:effectLst/>
                <a:uLnTx/>
                <a:uFillTx/>
                <a:latin typeface="Noto Sans CJK SC"/>
                <a:ea typeface="微软雅黑"/>
                <a:cs typeface="+mn-cs"/>
              </a:rPr>
              <a:t>都从头训练并共同更新</a:t>
            </a:r>
            <a:endParaRPr kumimoji="0" sz="2400" b="0" i="0" u="none" strike="noStrike" kern="1200" cap="none" spc="0" normalizeH="0" baseline="0" noProof="0" dirty="0">
              <a:ln>
                <a:noFill/>
              </a:ln>
              <a:solidFill>
                <a:srgbClr val="F5F8FC"/>
              </a:solidFill>
              <a:effectLst/>
              <a:uLnTx/>
              <a:uFillTx/>
              <a:latin typeface="Noto Sans CJK SC"/>
              <a:ea typeface="微软雅黑"/>
              <a:cs typeface="+mn-cs"/>
            </a:endParaRPr>
          </a:p>
        </p:txBody>
      </p:sp>
      <p:cxnSp>
        <p:nvCxnSpPr>
          <p:cNvPr id="42" name="直接箭头连接符 41">
            <a:extLst>
              <a:ext uri="{FF2B5EF4-FFF2-40B4-BE49-F238E27FC236}">
                <a16:creationId xmlns:a16="http://schemas.microsoft.com/office/drawing/2014/main" id="{BF8A993F-31EB-2868-3744-B68E5D912CAA}"/>
              </a:ext>
            </a:extLst>
          </p:cNvPr>
          <p:cNvCxnSpPr>
            <a:cxnSpLocks/>
          </p:cNvCxnSpPr>
          <p:nvPr/>
        </p:nvCxnSpPr>
        <p:spPr>
          <a:xfrm>
            <a:off x="2880165" y="2527298"/>
            <a:ext cx="735369"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21">
            <a:extLst>
              <a:ext uri="{FF2B5EF4-FFF2-40B4-BE49-F238E27FC236}">
                <a16:creationId xmlns:a16="http://schemas.microsoft.com/office/drawing/2014/main" id="{574C5C47-EF2C-8BAF-ED2F-564DB623C575}"/>
              </a:ext>
            </a:extLst>
          </p:cNvPr>
          <p:cNvSpPr/>
          <p:nvPr/>
        </p:nvSpPr>
        <p:spPr>
          <a:xfrm>
            <a:off x="625553" y="3306245"/>
            <a:ext cx="2011680" cy="527272"/>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97D">
                    <a:lumMod val="75000"/>
                  </a:srgbClr>
                </a:solidFill>
                <a:effectLst/>
                <a:uLnTx/>
                <a:uFillTx/>
                <a:latin typeface="Cambria"/>
                <a:ea typeface="微软雅黑"/>
                <a:cs typeface="+mn-cs"/>
              </a:rPr>
              <a:t>Text Tower</a:t>
            </a:r>
            <a:endParaRPr kumimoji="0" sz="20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19" name="Rounded Rectangle 21">
            <a:extLst>
              <a:ext uri="{FF2B5EF4-FFF2-40B4-BE49-F238E27FC236}">
                <a16:creationId xmlns:a16="http://schemas.microsoft.com/office/drawing/2014/main" id="{E683786F-F9EE-1BEF-FB48-2F1EB93C9DEC}"/>
              </a:ext>
            </a:extLst>
          </p:cNvPr>
          <p:cNvSpPr/>
          <p:nvPr/>
        </p:nvSpPr>
        <p:spPr>
          <a:xfrm>
            <a:off x="3699813" y="2263662"/>
            <a:ext cx="2212546" cy="527272"/>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97D">
                    <a:lumMod val="75000"/>
                  </a:srgbClr>
                </a:solidFill>
                <a:effectLst/>
                <a:uLnTx/>
                <a:uFillTx/>
                <a:latin typeface="Cambria"/>
                <a:ea typeface="微软雅黑"/>
                <a:cs typeface="+mn-cs"/>
              </a:rPr>
              <a:t>Image Embedding</a:t>
            </a:r>
            <a:endParaRPr kumimoji="0" sz="20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23" name="Rounded Rectangle 21">
            <a:extLst>
              <a:ext uri="{FF2B5EF4-FFF2-40B4-BE49-F238E27FC236}">
                <a16:creationId xmlns:a16="http://schemas.microsoft.com/office/drawing/2014/main" id="{ECD8EA8D-5E1B-834F-118C-8314AE5124FF}"/>
              </a:ext>
            </a:extLst>
          </p:cNvPr>
          <p:cNvSpPr/>
          <p:nvPr/>
        </p:nvSpPr>
        <p:spPr>
          <a:xfrm>
            <a:off x="3699813" y="3305851"/>
            <a:ext cx="2212546" cy="527272"/>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97D">
                    <a:lumMod val="75000"/>
                  </a:srgbClr>
                </a:solidFill>
                <a:effectLst/>
                <a:uLnTx/>
                <a:uFillTx/>
                <a:latin typeface="Cambria"/>
                <a:ea typeface="微软雅黑"/>
                <a:cs typeface="+mn-cs"/>
              </a:rPr>
              <a:t>Text Embedding</a:t>
            </a:r>
            <a:endParaRPr kumimoji="0" sz="20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cxnSp>
        <p:nvCxnSpPr>
          <p:cNvPr id="27" name="直接箭头连接符 26">
            <a:extLst>
              <a:ext uri="{FF2B5EF4-FFF2-40B4-BE49-F238E27FC236}">
                <a16:creationId xmlns:a16="http://schemas.microsoft.com/office/drawing/2014/main" id="{6A47F35E-0F73-DA71-61AA-9CD35A1A4C11}"/>
              </a:ext>
            </a:extLst>
          </p:cNvPr>
          <p:cNvCxnSpPr>
            <a:cxnSpLocks/>
          </p:cNvCxnSpPr>
          <p:nvPr/>
        </p:nvCxnSpPr>
        <p:spPr>
          <a:xfrm>
            <a:off x="2880165" y="3529110"/>
            <a:ext cx="735369"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9" name="Rounded Rectangle 31">
            <a:extLst>
              <a:ext uri="{FF2B5EF4-FFF2-40B4-BE49-F238E27FC236}">
                <a16:creationId xmlns:a16="http://schemas.microsoft.com/office/drawing/2014/main" id="{985AF553-9F7E-AFA5-28A0-A694B6B6DFAD}"/>
              </a:ext>
            </a:extLst>
          </p:cNvPr>
          <p:cNvSpPr/>
          <p:nvPr/>
        </p:nvSpPr>
        <p:spPr>
          <a:xfrm>
            <a:off x="6617811" y="2263662"/>
            <a:ext cx="2120768" cy="1572768"/>
          </a:xfrm>
          <a:prstGeom prst="roundRect">
            <a:avLst>
              <a:gd name="adj" fmla="val 8000"/>
            </a:avLst>
          </a:prstGeom>
          <a:solidFill>
            <a:schemeClr val="tx2">
              <a:lumMod val="75000"/>
            </a:schemeClr>
          </a:solidFill>
          <a:ln w="12700">
            <a:solidFill>
              <a:srgbClr val="1423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Noto Sans CJK SC"/>
                <a:ea typeface="微软雅黑"/>
                <a:cs typeface="+mn-cs"/>
              </a:rPr>
              <a:t>图文对比学习</a:t>
            </a:r>
            <a:endParaRPr kumimoji="0" lang="en-US" altLang="zh-CN" sz="2000" b="1" i="0" u="none" strike="noStrike" kern="1200" cap="none" spc="0" normalizeH="0" baseline="0" noProof="0" dirty="0">
              <a:ln>
                <a:noFill/>
              </a:ln>
              <a:solidFill>
                <a:srgbClr val="FFFFFF"/>
              </a:solidFill>
              <a:effectLst/>
              <a:uLnTx/>
              <a:uFillTx/>
              <a:latin typeface="Noto Sans CJK SC"/>
              <a:ea typeface="微软雅黑"/>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a:ea typeface="微软雅黑"/>
                <a:cs typeface="+mn-cs"/>
              </a:rPr>
              <a:t>Matched </a:t>
            </a:r>
            <a:r>
              <a:rPr kumimoji="0" lang="zh-CN" altLang="en-US" sz="1800" b="0" i="0" u="none" strike="noStrike" kern="1200" cap="none" spc="0" normalizeH="0" baseline="0" noProof="0" dirty="0">
                <a:ln>
                  <a:noFill/>
                </a:ln>
                <a:solidFill>
                  <a:prstClr val="white"/>
                </a:solidFill>
                <a:effectLst/>
                <a:uLnTx/>
                <a:uFillTx/>
                <a:latin typeface="Cambria"/>
                <a:ea typeface="微软雅黑"/>
                <a:cs typeface="+mn-cs"/>
              </a:rPr>
              <a:t>更相似</a:t>
            </a:r>
            <a:r>
              <a:rPr kumimoji="0" lang="en-US" sz="1800" b="0" i="0" u="none" strike="noStrike" kern="1200" cap="none" spc="0" normalizeH="0" baseline="0" noProof="0" dirty="0">
                <a:ln>
                  <a:noFill/>
                </a:ln>
                <a:solidFill>
                  <a:prstClr val="white"/>
                </a:solidFill>
                <a:effectLst/>
                <a:uLnTx/>
                <a:uFillTx/>
                <a:latin typeface="Cambria"/>
                <a:ea typeface="微软雅黑"/>
                <a:cs typeface="+mn-cs"/>
              </a:rPr>
              <a:t> </a:t>
            </a:r>
            <a:r>
              <a:rPr kumimoji="0" lang="en-US" sz="1800" b="0" i="0" u="none" strike="noStrike" kern="1200" cap="none" spc="0" normalizeH="0" baseline="0" noProof="0" dirty="0" err="1">
                <a:ln>
                  <a:noFill/>
                </a:ln>
                <a:solidFill>
                  <a:prstClr val="white"/>
                </a:solidFill>
                <a:effectLst/>
                <a:uLnTx/>
                <a:uFillTx/>
                <a:latin typeface="Cambria"/>
                <a:ea typeface="微软雅黑"/>
                <a:cs typeface="+mn-cs"/>
              </a:rPr>
              <a:t>UnMatched</a:t>
            </a:r>
            <a:r>
              <a:rPr kumimoji="0" lang="en-US" sz="1800" b="0" i="0" u="none" strike="noStrike" kern="1200" cap="none" spc="0" normalizeH="0" baseline="0" noProof="0" dirty="0">
                <a:ln>
                  <a:noFill/>
                </a:ln>
                <a:solidFill>
                  <a:prstClr val="white"/>
                </a:solidFill>
                <a:effectLst/>
                <a:uLnTx/>
                <a:uFillTx/>
                <a:latin typeface="Cambria"/>
                <a:ea typeface="微软雅黑"/>
                <a:cs typeface="+mn-cs"/>
              </a:rPr>
              <a:t> </a:t>
            </a:r>
            <a:r>
              <a:rPr kumimoji="0" lang="zh-CN" altLang="en-US" sz="1800" b="0" i="0" u="none" strike="noStrike" kern="1200" cap="none" spc="0" normalizeH="0" baseline="0" noProof="0" dirty="0">
                <a:ln>
                  <a:noFill/>
                </a:ln>
                <a:solidFill>
                  <a:prstClr val="white"/>
                </a:solidFill>
                <a:effectLst/>
                <a:uLnTx/>
                <a:uFillTx/>
                <a:latin typeface="Cambria"/>
                <a:ea typeface="微软雅黑"/>
                <a:cs typeface="+mn-cs"/>
              </a:rPr>
              <a:t>更不同</a:t>
            </a:r>
            <a:r>
              <a:rPr kumimoji="0" lang="en-US" sz="1800" b="0" i="0" u="none" strike="noStrike" kern="1200" cap="none" spc="0" normalizeH="0" baseline="0" noProof="0" dirty="0">
                <a:ln>
                  <a:noFill/>
                </a:ln>
                <a:solidFill>
                  <a:prstClr val="white"/>
                </a:solidFill>
                <a:effectLst/>
                <a:uLnTx/>
                <a:uFillTx/>
                <a:latin typeface="Cambria"/>
                <a:ea typeface="微软雅黑"/>
                <a:cs typeface="+mn-cs"/>
              </a:rPr>
              <a:t> </a:t>
            </a:r>
            <a:endParaRPr kumimoji="0" sz="1800" b="0" i="0" u="none" strike="noStrike" kern="1200" cap="none" spc="0" normalizeH="0" baseline="0" noProof="0" dirty="0">
              <a:ln>
                <a:noFill/>
              </a:ln>
              <a:solidFill>
                <a:prstClr val="white"/>
              </a:solidFill>
              <a:effectLst/>
              <a:uLnTx/>
              <a:uFillTx/>
              <a:latin typeface="Cambria"/>
              <a:ea typeface="微软雅黑"/>
              <a:cs typeface="+mn-cs"/>
            </a:endParaRPr>
          </a:p>
        </p:txBody>
      </p:sp>
      <p:cxnSp>
        <p:nvCxnSpPr>
          <p:cNvPr id="40" name="直接箭头连接符 39">
            <a:extLst>
              <a:ext uri="{FF2B5EF4-FFF2-40B4-BE49-F238E27FC236}">
                <a16:creationId xmlns:a16="http://schemas.microsoft.com/office/drawing/2014/main" id="{430ADED3-9842-AF0C-4230-85738D9BA87A}"/>
              </a:ext>
            </a:extLst>
          </p:cNvPr>
          <p:cNvCxnSpPr>
            <a:cxnSpLocks/>
          </p:cNvCxnSpPr>
          <p:nvPr/>
        </p:nvCxnSpPr>
        <p:spPr>
          <a:xfrm>
            <a:off x="6054091" y="3003479"/>
            <a:ext cx="430569"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F4B3F105-FCF1-354E-295A-963E50C89E0D}"/>
              </a:ext>
            </a:extLst>
          </p:cNvPr>
          <p:cNvSpPr txBox="1"/>
          <p:nvPr/>
        </p:nvSpPr>
        <p:spPr>
          <a:xfrm>
            <a:off x="632460" y="1822070"/>
            <a:ext cx="800219"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Cambria"/>
                <a:ea typeface="微软雅黑"/>
                <a:cs typeface="+mn-cs"/>
              </a:rPr>
              <a:t>训练时</a:t>
            </a:r>
          </a:p>
        </p:txBody>
      </p:sp>
      <p:sp>
        <p:nvSpPr>
          <p:cNvPr id="48" name="직사각형 1">
            <a:extLst>
              <a:ext uri="{FF2B5EF4-FFF2-40B4-BE49-F238E27FC236}">
                <a16:creationId xmlns:a16="http://schemas.microsoft.com/office/drawing/2014/main" id="{BC09731F-7ABA-85A8-12D3-03191A7B0253}"/>
              </a:ext>
            </a:extLst>
          </p:cNvPr>
          <p:cNvSpPr/>
          <p:nvPr/>
        </p:nvSpPr>
        <p:spPr>
          <a:xfrm>
            <a:off x="625553" y="1811443"/>
            <a:ext cx="45719" cy="318404"/>
          </a:xfrm>
          <a:prstGeom prst="rect">
            <a:avLst/>
          </a:prstGeom>
          <a:solidFill>
            <a:schemeClr val="tx2">
              <a:lumMod val="75000"/>
            </a:schemeClr>
          </a:solidFill>
          <a:ln w="9525"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srgbClr val="F7F7F7"/>
              </a:solidFill>
              <a:effectLst/>
              <a:uLnTx/>
              <a:uFillTx/>
              <a:latin typeface="Noto Serif SC Black"/>
              <a:cs typeface="+mn-cs"/>
            </a:endParaRPr>
          </a:p>
        </p:txBody>
      </p:sp>
      <p:cxnSp>
        <p:nvCxnSpPr>
          <p:cNvPr id="52" name="直接连接符 51">
            <a:extLst>
              <a:ext uri="{FF2B5EF4-FFF2-40B4-BE49-F238E27FC236}">
                <a16:creationId xmlns:a16="http://schemas.microsoft.com/office/drawing/2014/main" id="{23DDDB79-27E2-A470-A49D-95162F9ED2BA}"/>
              </a:ext>
            </a:extLst>
          </p:cNvPr>
          <p:cNvCxnSpPr/>
          <p:nvPr/>
        </p:nvCxnSpPr>
        <p:spPr>
          <a:xfrm>
            <a:off x="8862060" y="1811443"/>
            <a:ext cx="0" cy="2448137"/>
          </a:xfrm>
          <a:prstGeom prst="line">
            <a:avLst/>
          </a:prstGeom>
          <a:ln>
            <a:solidFill>
              <a:schemeClr val="accent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54" name="Rounded Rectangle 31">
            <a:extLst>
              <a:ext uri="{FF2B5EF4-FFF2-40B4-BE49-F238E27FC236}">
                <a16:creationId xmlns:a16="http://schemas.microsoft.com/office/drawing/2014/main" id="{82E92AA9-4A46-1C2F-8593-601931D2F513}"/>
              </a:ext>
            </a:extLst>
          </p:cNvPr>
          <p:cNvSpPr/>
          <p:nvPr/>
        </p:nvSpPr>
        <p:spPr>
          <a:xfrm>
            <a:off x="9121522" y="2219307"/>
            <a:ext cx="2426074" cy="2081012"/>
          </a:xfrm>
          <a:prstGeom prst="roundRect">
            <a:avLst>
              <a:gd name="adj" fmla="val 8000"/>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56" name="文本框 55">
            <a:extLst>
              <a:ext uri="{FF2B5EF4-FFF2-40B4-BE49-F238E27FC236}">
                <a16:creationId xmlns:a16="http://schemas.microsoft.com/office/drawing/2014/main" id="{D212189F-3248-C00E-1B0C-AF13F27CF7AC}"/>
              </a:ext>
            </a:extLst>
          </p:cNvPr>
          <p:cNvSpPr txBox="1"/>
          <p:nvPr/>
        </p:nvSpPr>
        <p:spPr>
          <a:xfrm>
            <a:off x="9112564" y="1822070"/>
            <a:ext cx="2303836"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Cambria"/>
                <a:ea typeface="微软雅黑"/>
                <a:cs typeface="+mn-cs"/>
              </a:rPr>
              <a:t>零样本迁移</a:t>
            </a:r>
            <a:r>
              <a:rPr kumimoji="0" lang="en-US" altLang="zh-CN" sz="1600" b="1" i="0" u="none" strike="noStrike" kern="1200" cap="none" spc="0" normalizeH="0" baseline="0" noProof="0" dirty="0">
                <a:ln>
                  <a:noFill/>
                </a:ln>
                <a:solidFill>
                  <a:prstClr val="black"/>
                </a:solidFill>
                <a:effectLst/>
                <a:uLnTx/>
                <a:uFillTx/>
                <a:latin typeface="Cambria"/>
                <a:ea typeface="微软雅黑"/>
                <a:cs typeface="+mn-cs"/>
              </a:rPr>
              <a:t>·</a:t>
            </a:r>
            <a:r>
              <a:rPr kumimoji="0" lang="en-US" altLang="zh-CN" sz="1600" b="1" i="0" u="none" strike="noStrike" kern="1200" cap="none" spc="0" normalizeH="0" baseline="0" noProof="0" dirty="0" err="1">
                <a:ln>
                  <a:noFill/>
                </a:ln>
                <a:solidFill>
                  <a:prstClr val="black"/>
                </a:solidFill>
                <a:effectLst/>
                <a:uLnTx/>
                <a:uFillTx/>
                <a:latin typeface="Cambria"/>
                <a:ea typeface="微软雅黑"/>
                <a:cs typeface="+mn-cs"/>
              </a:rPr>
              <a:t>eg</a:t>
            </a:r>
            <a:r>
              <a:rPr kumimoji="0" lang="zh-CN" altLang="en-US" sz="1600" b="1" i="0" u="none" strike="noStrike" kern="1200" cap="none" spc="0" normalizeH="0" baseline="0" noProof="0" dirty="0">
                <a:ln>
                  <a:noFill/>
                </a:ln>
                <a:solidFill>
                  <a:prstClr val="black"/>
                </a:solidFill>
                <a:effectLst/>
                <a:uLnTx/>
                <a:uFillTx/>
                <a:latin typeface="Cambria"/>
                <a:ea typeface="微软雅黑"/>
                <a:cs typeface="+mn-cs"/>
              </a:rPr>
              <a:t>猫狗分类</a:t>
            </a:r>
          </a:p>
        </p:txBody>
      </p:sp>
      <p:sp>
        <p:nvSpPr>
          <p:cNvPr id="58" name="직사각형 1">
            <a:extLst>
              <a:ext uri="{FF2B5EF4-FFF2-40B4-BE49-F238E27FC236}">
                <a16:creationId xmlns:a16="http://schemas.microsoft.com/office/drawing/2014/main" id="{14DE78B7-98D2-3BFF-D65C-A7D6EB71BDB3}"/>
              </a:ext>
            </a:extLst>
          </p:cNvPr>
          <p:cNvSpPr/>
          <p:nvPr/>
        </p:nvSpPr>
        <p:spPr>
          <a:xfrm>
            <a:off x="9105657" y="1811443"/>
            <a:ext cx="45719" cy="318404"/>
          </a:xfrm>
          <a:prstGeom prst="rect">
            <a:avLst/>
          </a:prstGeom>
          <a:solidFill>
            <a:schemeClr val="tx2">
              <a:lumMod val="75000"/>
            </a:schemeClr>
          </a:solidFill>
          <a:ln w="9525"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srgbClr val="F7F7F7"/>
              </a:solidFill>
              <a:effectLst/>
              <a:uLnTx/>
              <a:uFillTx/>
              <a:latin typeface="Noto Serif SC Black"/>
              <a:cs typeface="+mn-cs"/>
            </a:endParaRPr>
          </a:p>
        </p:txBody>
      </p:sp>
      <p:sp>
        <p:nvSpPr>
          <p:cNvPr id="60" name="TextBox 40">
            <a:extLst>
              <a:ext uri="{FF2B5EF4-FFF2-40B4-BE49-F238E27FC236}">
                <a16:creationId xmlns:a16="http://schemas.microsoft.com/office/drawing/2014/main" id="{D87E2F68-DCB0-06C6-3E08-C7C0688E6E0D}"/>
              </a:ext>
            </a:extLst>
          </p:cNvPr>
          <p:cNvSpPr txBox="1"/>
          <p:nvPr/>
        </p:nvSpPr>
        <p:spPr>
          <a:xfrm>
            <a:off x="9571565" y="3539181"/>
            <a:ext cx="1405641"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4233E"/>
                </a:solidFill>
                <a:effectLst/>
                <a:uLnTx/>
                <a:uFillTx/>
                <a:latin typeface="Noto Sans CJK SC"/>
                <a:ea typeface="微软雅黑"/>
                <a:cs typeface="+mn-cs"/>
              </a:rPr>
              <a:t>image embedding</a:t>
            </a:r>
          </a:p>
        </p:txBody>
      </p:sp>
      <p:sp>
        <p:nvSpPr>
          <p:cNvPr id="62" name="TextBox 42">
            <a:extLst>
              <a:ext uri="{FF2B5EF4-FFF2-40B4-BE49-F238E27FC236}">
                <a16:creationId xmlns:a16="http://schemas.microsoft.com/office/drawing/2014/main" id="{27F1EDC2-8162-19D7-D68E-823AC23E2256}"/>
              </a:ext>
            </a:extLst>
          </p:cNvPr>
          <p:cNvSpPr txBox="1"/>
          <p:nvPr/>
        </p:nvSpPr>
        <p:spPr>
          <a:xfrm>
            <a:off x="9563613" y="2384919"/>
            <a:ext cx="1421543" cy="720197"/>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1E293B"/>
                </a:solidFill>
                <a:effectLst/>
                <a:uLnTx/>
                <a:uFillTx/>
                <a:latin typeface="Noto Sans CJK SC"/>
                <a:ea typeface="微软雅黑"/>
                <a:cs typeface="+mn-cs"/>
              </a:rPr>
              <a:t>“a photo of a cat”
“a photo of a dog”
</a:t>
            </a:r>
          </a:p>
        </p:txBody>
      </p:sp>
      <p:sp>
        <p:nvSpPr>
          <p:cNvPr id="64" name="TextBox 43">
            <a:extLst>
              <a:ext uri="{FF2B5EF4-FFF2-40B4-BE49-F238E27FC236}">
                <a16:creationId xmlns:a16="http://schemas.microsoft.com/office/drawing/2014/main" id="{EDEE7CFD-6AA9-45B9-323D-2286447A7AA5}"/>
              </a:ext>
            </a:extLst>
          </p:cNvPr>
          <p:cNvSpPr txBox="1"/>
          <p:nvPr/>
        </p:nvSpPr>
        <p:spPr>
          <a:xfrm>
            <a:off x="9519563" y="3904398"/>
            <a:ext cx="1532599"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14233E"/>
                </a:solidFill>
                <a:effectLst/>
                <a:uLnTx/>
                <a:uFillTx/>
                <a:latin typeface="Noto Sans CJK SC"/>
                <a:ea typeface="微软雅黑"/>
                <a:cs typeface="+mn-cs"/>
              </a:rPr>
              <a:t>→ </a:t>
            </a:r>
            <a:r>
              <a:rPr kumimoji="0" sz="1400" b="1" i="0" u="none" strike="noStrike" kern="1200" cap="none" spc="0" normalizeH="0" baseline="0" noProof="0" dirty="0" err="1">
                <a:ln>
                  <a:noFill/>
                </a:ln>
                <a:solidFill>
                  <a:srgbClr val="14233E"/>
                </a:solidFill>
                <a:effectLst/>
                <a:uLnTx/>
                <a:uFillTx/>
                <a:latin typeface="Noto Sans CJK SC"/>
                <a:ea typeface="微软雅黑"/>
                <a:cs typeface="+mn-cs"/>
              </a:rPr>
              <a:t>选择最相似文本</a:t>
            </a:r>
            <a:endParaRPr kumimoji="0" sz="1400" b="1" i="0" u="none" strike="noStrike" kern="1200" cap="none" spc="0" normalizeH="0" baseline="0" noProof="0" dirty="0">
              <a:ln>
                <a:noFill/>
              </a:ln>
              <a:solidFill>
                <a:srgbClr val="14233E"/>
              </a:solidFill>
              <a:effectLst/>
              <a:uLnTx/>
              <a:uFillTx/>
              <a:latin typeface="Noto Sans CJK SC"/>
              <a:ea typeface="微软雅黑"/>
              <a:cs typeface="+mn-cs"/>
            </a:endParaRPr>
          </a:p>
        </p:txBody>
      </p:sp>
      <p:sp>
        <p:nvSpPr>
          <p:cNvPr id="66" name="TextBox 40">
            <a:extLst>
              <a:ext uri="{FF2B5EF4-FFF2-40B4-BE49-F238E27FC236}">
                <a16:creationId xmlns:a16="http://schemas.microsoft.com/office/drawing/2014/main" id="{11963130-8D4A-4EC1-3A12-5FD17768061C}"/>
              </a:ext>
            </a:extLst>
          </p:cNvPr>
          <p:cNvSpPr txBox="1"/>
          <p:nvPr/>
        </p:nvSpPr>
        <p:spPr>
          <a:xfrm>
            <a:off x="9659723" y="3094677"/>
            <a:ext cx="1245469"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4233E"/>
                </a:solidFill>
                <a:effectLst/>
                <a:uLnTx/>
                <a:uFillTx/>
                <a:latin typeface="Noto Sans CJK SC"/>
                <a:ea typeface="微软雅黑"/>
                <a:cs typeface="+mn-cs"/>
              </a:rPr>
              <a:t>text</a:t>
            </a:r>
            <a:r>
              <a:rPr kumimoji="0" sz="1400" b="1" i="0" u="none" strike="noStrike" kern="1200" cap="none" spc="0" normalizeH="0" baseline="0" noProof="0" dirty="0">
                <a:ln>
                  <a:noFill/>
                </a:ln>
                <a:solidFill>
                  <a:srgbClr val="14233E"/>
                </a:solidFill>
                <a:effectLst/>
                <a:uLnTx/>
                <a:uFillTx/>
                <a:latin typeface="Noto Sans CJK SC"/>
                <a:ea typeface="微软雅黑"/>
                <a:cs typeface="+mn-cs"/>
              </a:rPr>
              <a:t> embedding</a:t>
            </a:r>
          </a:p>
        </p:txBody>
      </p:sp>
      <p:sp>
        <p:nvSpPr>
          <p:cNvPr id="67" name="文本框 66">
            <a:extLst>
              <a:ext uri="{FF2B5EF4-FFF2-40B4-BE49-F238E27FC236}">
                <a16:creationId xmlns:a16="http://schemas.microsoft.com/office/drawing/2014/main" id="{8E6269CE-35AA-1C43-CBC3-812FF4BD3895}"/>
              </a:ext>
            </a:extLst>
          </p:cNvPr>
          <p:cNvSpPr txBox="1"/>
          <p:nvPr/>
        </p:nvSpPr>
        <p:spPr>
          <a:xfrm>
            <a:off x="10102077" y="2880277"/>
            <a:ext cx="436599"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mbria"/>
                <a:ea typeface="微软雅黑"/>
                <a:cs typeface="+mn-cs"/>
              </a:rPr>
              <a:t>↓</a:t>
            </a:r>
          </a:p>
        </p:txBody>
      </p:sp>
      <p:sp>
        <p:nvSpPr>
          <p:cNvPr id="68" name="文本框 67">
            <a:extLst>
              <a:ext uri="{FF2B5EF4-FFF2-40B4-BE49-F238E27FC236}">
                <a16:creationId xmlns:a16="http://schemas.microsoft.com/office/drawing/2014/main" id="{325B2371-B5B4-2B8C-DA20-D6D2EB22DE91}"/>
              </a:ext>
            </a:extLst>
          </p:cNvPr>
          <p:cNvSpPr txBox="1"/>
          <p:nvPr/>
        </p:nvSpPr>
        <p:spPr>
          <a:xfrm>
            <a:off x="10133602" y="3324889"/>
            <a:ext cx="103105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↕计算相似度</a:t>
            </a:r>
            <a:endParaRPr kumimoji="0" lang="zh-CN" altLang="en-US" sz="12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pic>
        <p:nvPicPr>
          <p:cNvPr id="70" name="图片 69">
            <a:extLst>
              <a:ext uri="{FF2B5EF4-FFF2-40B4-BE49-F238E27FC236}">
                <a16:creationId xmlns:a16="http://schemas.microsoft.com/office/drawing/2014/main" id="{AC4483D4-F818-249A-5F1C-5AC43B5EB114}"/>
              </a:ext>
            </a:extLst>
          </p:cNvPr>
          <p:cNvPicPr>
            <a:picLocks noChangeAspect="1"/>
          </p:cNvPicPr>
          <p:nvPr/>
        </p:nvPicPr>
        <p:blipFill>
          <a:blip r:embed="rId3"/>
          <a:stretch>
            <a:fillRect/>
          </a:stretch>
        </p:blipFill>
        <p:spPr>
          <a:xfrm>
            <a:off x="9176789" y="4522542"/>
            <a:ext cx="1680224" cy="1680224"/>
          </a:xfrm>
          <a:prstGeom prst="rect">
            <a:avLst/>
          </a:prstGeom>
        </p:spPr>
      </p:pic>
      <p:sp>
        <p:nvSpPr>
          <p:cNvPr id="72" name="文本框 71">
            <a:extLst>
              <a:ext uri="{FF2B5EF4-FFF2-40B4-BE49-F238E27FC236}">
                <a16:creationId xmlns:a16="http://schemas.microsoft.com/office/drawing/2014/main" id="{CC4090AD-672D-7633-4085-77A29E0EAE80}"/>
              </a:ext>
            </a:extLst>
          </p:cNvPr>
          <p:cNvSpPr txBox="1"/>
          <p:nvPr/>
        </p:nvSpPr>
        <p:spPr>
          <a:xfrm>
            <a:off x="10119904" y="5569612"/>
            <a:ext cx="146706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1296DB"/>
                </a:solidFill>
                <a:effectLst/>
                <a:uLnTx/>
                <a:uFillTx/>
                <a:latin typeface="Cambria"/>
                <a:ea typeface="微软雅黑"/>
                <a:cs typeface="+mn-cs"/>
              </a:rPr>
              <a:t>一定最棒吗</a:t>
            </a:r>
          </a:p>
        </p:txBody>
      </p:sp>
    </p:spTree>
    <p:extLst>
      <p:ext uri="{BB962C8B-B14F-4D97-AF65-F5344CB8AC3E}">
        <p14:creationId xmlns:p14="http://schemas.microsoft.com/office/powerpoint/2010/main" val="3977809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65782-91AB-8AA9-52EC-AE9948C62C32}"/>
            </a:ext>
          </a:extLst>
        </p:cNvPr>
        <p:cNvGrpSpPr/>
        <p:nvPr/>
      </p:nvGrpSpPr>
      <p:grpSpPr>
        <a:xfrm>
          <a:off x="0" y="0"/>
          <a:ext cx="0" cy="0"/>
          <a:chOff x="0" y="0"/>
          <a:chExt cx="0" cy="0"/>
        </a:xfrm>
      </p:grpSpPr>
      <p:sp>
        <p:nvSpPr>
          <p:cNvPr id="4" name="Rounded Rectangle 21">
            <a:extLst>
              <a:ext uri="{FF2B5EF4-FFF2-40B4-BE49-F238E27FC236}">
                <a16:creationId xmlns:a16="http://schemas.microsoft.com/office/drawing/2014/main" id="{1B29A846-05FD-C498-8421-4B01876523F5}"/>
              </a:ext>
            </a:extLst>
          </p:cNvPr>
          <p:cNvSpPr/>
          <p:nvPr/>
        </p:nvSpPr>
        <p:spPr>
          <a:xfrm>
            <a:off x="3657551" y="2476905"/>
            <a:ext cx="2974753" cy="1275098"/>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0" i="0" u="sng" strike="noStrike" kern="1200" cap="none" spc="0" normalizeH="0" baseline="0" noProof="0" dirty="0">
                <a:ln>
                  <a:noFill/>
                </a:ln>
                <a:solidFill>
                  <a:srgbClr val="1F497D">
                    <a:lumMod val="75000"/>
                  </a:srgbClr>
                </a:solidFill>
                <a:effectLst/>
                <a:uLnTx/>
                <a:uFillTx/>
                <a:latin typeface="Cambria"/>
                <a:ea typeface="微软雅黑"/>
                <a:cs typeface="+mn-cs"/>
              </a:rPr>
              <a:t>纯图像</a:t>
            </a:r>
            <a:r>
              <a:rPr kumimoji="0" lang="zh-CN" altLang="zh-CN" sz="2000" b="0" i="0" u="sng" strike="noStrike" kern="1200" cap="none" spc="0" normalizeH="0" baseline="0" noProof="0" dirty="0">
                <a:ln>
                  <a:noFill/>
                </a:ln>
                <a:solidFill>
                  <a:srgbClr val="1F497D">
                    <a:lumMod val="75000"/>
                  </a:srgbClr>
                </a:solidFill>
                <a:effectLst/>
                <a:uLnTx/>
                <a:uFillTx/>
                <a:latin typeface="Cambria"/>
                <a:ea typeface="微软雅黑"/>
                <a:cs typeface="+mn-cs"/>
              </a:rPr>
              <a:t>数据</a:t>
            </a:r>
            <a:endParaRPr kumimoji="0" lang="en-US" altLang="zh-CN" sz="2000" b="0" i="0" u="sng" strike="noStrike" kern="1200" cap="none" spc="0" normalizeH="0" baseline="0" noProof="0" dirty="0">
              <a:ln>
                <a:noFill/>
              </a:ln>
              <a:solidFill>
                <a:srgbClr val="1F497D">
                  <a:lumMod val="75000"/>
                </a:srgb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sng" strike="noStrike" kern="1200" cap="none" spc="0" normalizeH="0" baseline="0" noProof="0" dirty="0">
                <a:ln>
                  <a:noFill/>
                </a:ln>
                <a:solidFill>
                  <a:srgbClr val="1F497D">
                    <a:lumMod val="75000"/>
                  </a:srgbClr>
                </a:solidFill>
                <a:effectLst/>
                <a:uLnTx/>
                <a:uFillTx/>
                <a:latin typeface="Cambria"/>
                <a:ea typeface="微软雅黑"/>
                <a:cs typeface="+mn-cs"/>
              </a:rPr>
              <a:t>优点：大规模，高质量</a:t>
            </a:r>
            <a:endParaRPr kumimoji="0" lang="en-US" altLang="zh-CN" sz="1800" b="0" i="0" u="sng" strike="noStrike" kern="1200" cap="none" spc="0" normalizeH="0" baseline="0" noProof="0" dirty="0">
              <a:ln>
                <a:noFill/>
              </a:ln>
              <a:solidFill>
                <a:srgbClr val="1F497D">
                  <a:lumMod val="75000"/>
                </a:srgb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sng" strike="noStrike" kern="1200" cap="none" spc="0" normalizeH="0" baseline="0" noProof="0" dirty="0">
                <a:ln>
                  <a:noFill/>
                </a:ln>
                <a:solidFill>
                  <a:srgbClr val="1F497D">
                    <a:lumMod val="75000"/>
                  </a:srgbClr>
                </a:solidFill>
                <a:effectLst/>
                <a:uLnTx/>
                <a:uFillTx/>
                <a:latin typeface="Cambria"/>
                <a:ea typeface="微软雅黑"/>
                <a:cs typeface="+mn-cs"/>
              </a:rPr>
              <a:t>缺点：受限于预定义类别</a:t>
            </a:r>
            <a:endParaRPr kumimoji="0" lang="zh-CN"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5" name="Rectangle 1">
            <a:extLst>
              <a:ext uri="{FF2B5EF4-FFF2-40B4-BE49-F238E27FC236}">
                <a16:creationId xmlns:a16="http://schemas.microsoft.com/office/drawing/2014/main" id="{E76A9120-8110-D67C-D869-5503ECE89195}"/>
              </a:ext>
            </a:extLst>
          </p:cNvPr>
          <p:cNvSpPr/>
          <p:nvPr/>
        </p:nvSpPr>
        <p:spPr>
          <a:xfrm>
            <a:off x="513588" y="609116"/>
            <a:ext cx="2487168" cy="329184"/>
          </a:xfrm>
          <a:prstGeom prst="rect">
            <a:avLst/>
          </a:prstGeom>
          <a:solidFill>
            <a:schemeClr val="tx2">
              <a:lumMod val="75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6" name="TextBox 3">
            <a:extLst>
              <a:ext uri="{FF2B5EF4-FFF2-40B4-BE49-F238E27FC236}">
                <a16:creationId xmlns:a16="http://schemas.microsoft.com/office/drawing/2014/main" id="{C1AD16CB-942F-5886-69EF-8A547265ADA4}"/>
              </a:ext>
            </a:extLst>
          </p:cNvPr>
          <p:cNvSpPr txBox="1"/>
          <p:nvPr/>
        </p:nvSpPr>
        <p:spPr>
          <a:xfrm>
            <a:off x="1266465"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Noto Sans CJK SC"/>
                <a:ea typeface="微软雅黑"/>
                <a:cs typeface="+mn-cs"/>
              </a:rPr>
              <a:t>研究动机</a:t>
            </a:r>
            <a:endParaRPr kumimoji="0" sz="14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7" name="Rectangle 4">
            <a:extLst>
              <a:ext uri="{FF2B5EF4-FFF2-40B4-BE49-F238E27FC236}">
                <a16:creationId xmlns:a16="http://schemas.microsoft.com/office/drawing/2014/main" id="{61F6165D-58F8-5437-84DA-A500565E2B65}"/>
              </a:ext>
            </a:extLst>
          </p:cNvPr>
          <p:cNvSpPr/>
          <p:nvPr/>
        </p:nvSpPr>
        <p:spPr>
          <a:xfrm>
            <a:off x="3375660"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8" name="TextBox 6">
            <a:extLst>
              <a:ext uri="{FF2B5EF4-FFF2-40B4-BE49-F238E27FC236}">
                <a16:creationId xmlns:a16="http://schemas.microsoft.com/office/drawing/2014/main" id="{08B3CDFA-3D72-234C-6ECC-A5DEA7B63CF7}"/>
              </a:ext>
            </a:extLst>
          </p:cNvPr>
          <p:cNvSpPr txBox="1"/>
          <p:nvPr/>
        </p:nvSpPr>
        <p:spPr>
          <a:xfrm>
            <a:off x="4168374"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研究方法</a:t>
            </a:r>
          </a:p>
        </p:txBody>
      </p:sp>
      <p:sp>
        <p:nvSpPr>
          <p:cNvPr id="9" name="Rectangle 7">
            <a:extLst>
              <a:ext uri="{FF2B5EF4-FFF2-40B4-BE49-F238E27FC236}">
                <a16:creationId xmlns:a16="http://schemas.microsoft.com/office/drawing/2014/main" id="{8CF6B4C1-135C-76C0-508B-EB06C5DDB8EE}"/>
              </a:ext>
            </a:extLst>
          </p:cNvPr>
          <p:cNvSpPr/>
          <p:nvPr/>
        </p:nvSpPr>
        <p:spPr>
          <a:xfrm>
            <a:off x="6237732"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0" name="TextBox 9">
            <a:extLst>
              <a:ext uri="{FF2B5EF4-FFF2-40B4-BE49-F238E27FC236}">
                <a16:creationId xmlns:a16="http://schemas.microsoft.com/office/drawing/2014/main" id="{F63C4C92-69D5-2BAA-DDD5-A7D2A8657037}"/>
              </a:ext>
            </a:extLst>
          </p:cNvPr>
          <p:cNvSpPr txBox="1"/>
          <p:nvPr/>
        </p:nvSpPr>
        <p:spPr>
          <a:xfrm>
            <a:off x="7085310" y="609116"/>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实验设计</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1" name="Rectangle 10">
            <a:extLst>
              <a:ext uri="{FF2B5EF4-FFF2-40B4-BE49-F238E27FC236}">
                <a16:creationId xmlns:a16="http://schemas.microsoft.com/office/drawing/2014/main" id="{E4675D5D-0031-970A-6225-D76943169227}"/>
              </a:ext>
            </a:extLst>
          </p:cNvPr>
          <p:cNvSpPr/>
          <p:nvPr/>
        </p:nvSpPr>
        <p:spPr>
          <a:xfrm>
            <a:off x="9099804"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2" name="TextBox 12">
            <a:extLst>
              <a:ext uri="{FF2B5EF4-FFF2-40B4-BE49-F238E27FC236}">
                <a16:creationId xmlns:a16="http://schemas.microsoft.com/office/drawing/2014/main" id="{A99B4DBA-3514-89F5-1224-2D124DD6D4BD}"/>
              </a:ext>
            </a:extLst>
          </p:cNvPr>
          <p:cNvSpPr txBox="1"/>
          <p:nvPr/>
        </p:nvSpPr>
        <p:spPr>
          <a:xfrm>
            <a:off x="9866758" y="621113"/>
            <a:ext cx="971548"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1F497D">
                    <a:lumMod val="75000"/>
                  </a:srgbClr>
                </a:solidFill>
                <a:effectLst/>
                <a:uLnTx/>
                <a:uFillTx/>
                <a:latin typeface="Noto Sans CJK SC"/>
                <a:ea typeface="微软雅黑"/>
                <a:cs typeface="+mn-cs"/>
              </a:rPr>
              <a:t>总结与启发</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3" name="TextBox 16">
            <a:extLst>
              <a:ext uri="{FF2B5EF4-FFF2-40B4-BE49-F238E27FC236}">
                <a16:creationId xmlns:a16="http://schemas.microsoft.com/office/drawing/2014/main" id="{00B61D98-78CF-CDE1-7B1C-BF49D0E6D8C9}"/>
              </a:ext>
            </a:extLst>
          </p:cNvPr>
          <p:cNvSpPr txBox="1"/>
          <p:nvPr/>
        </p:nvSpPr>
        <p:spPr>
          <a:xfrm>
            <a:off x="449580" y="1057172"/>
            <a:ext cx="8855116" cy="458587"/>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500" b="1" i="0" u="none" strike="noStrike" kern="1200" cap="none" spc="0" normalizeH="0" baseline="0" noProof="0" dirty="0">
                <a:ln>
                  <a:noFill/>
                </a:ln>
                <a:solidFill>
                  <a:srgbClr val="14233E"/>
                </a:solidFill>
                <a:effectLst/>
                <a:uLnTx/>
                <a:uFillTx/>
                <a:latin typeface="Noto Sans CJK SC"/>
                <a:ea typeface="微软雅黑"/>
                <a:cs typeface="+mn-cs"/>
              </a:rPr>
              <a:t>LiT </a:t>
            </a: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的核心问题意识：为什么还要修改一个已经很强的图像塔？</a:t>
            </a:r>
          </a:p>
        </p:txBody>
      </p:sp>
      <p:cxnSp>
        <p:nvCxnSpPr>
          <p:cNvPr id="14" name="Connector 17">
            <a:extLst>
              <a:ext uri="{FF2B5EF4-FFF2-40B4-BE49-F238E27FC236}">
                <a16:creationId xmlns:a16="http://schemas.microsoft.com/office/drawing/2014/main" id="{B7FC9854-3A78-09D6-F91D-D8ACC5EDDEF3}"/>
              </a:ext>
            </a:extLst>
          </p:cNvPr>
          <p:cNvCxnSpPr/>
          <p:nvPr/>
        </p:nvCxnSpPr>
        <p:spPr>
          <a:xfrm>
            <a:off x="449580" y="1614956"/>
            <a:ext cx="11183112" cy="0"/>
          </a:xfrm>
          <a:prstGeom prst="line">
            <a:avLst/>
          </a:prstGeom>
          <a:ln w="28575">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sp>
        <p:nvSpPr>
          <p:cNvPr id="39" name="Rounded Rectangle 31">
            <a:extLst>
              <a:ext uri="{FF2B5EF4-FFF2-40B4-BE49-F238E27FC236}">
                <a16:creationId xmlns:a16="http://schemas.microsoft.com/office/drawing/2014/main" id="{C75D54A3-74C6-BE29-38F8-A1C091469A4A}"/>
              </a:ext>
            </a:extLst>
          </p:cNvPr>
          <p:cNvSpPr/>
          <p:nvPr/>
        </p:nvSpPr>
        <p:spPr>
          <a:xfrm>
            <a:off x="457440" y="2452859"/>
            <a:ext cx="2283710" cy="2871491"/>
          </a:xfrm>
          <a:prstGeom prst="roundRect">
            <a:avLst>
              <a:gd name="adj" fmla="val 8000"/>
            </a:avLst>
          </a:prstGeom>
          <a:solidFill>
            <a:schemeClr val="tx2">
              <a:lumMod val="75000"/>
            </a:schemeClr>
          </a:solidFill>
          <a:ln w="12700">
            <a:solidFill>
              <a:srgbClr val="1423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uLnTx/>
                <a:uFillTx/>
                <a:latin typeface="Noto Sans CJK SC"/>
                <a:ea typeface="微软雅黑"/>
                <a:cs typeface="+mn-cs"/>
              </a:rPr>
              <a:t>问题：</a:t>
            </a:r>
            <a:endParaRPr kumimoji="0" lang="en-US" altLang="zh-CN" sz="1800" b="1" i="0" u="none" strike="noStrike" kern="1200" cap="none" spc="0" normalizeH="0" baseline="0" noProof="0" dirty="0">
              <a:ln>
                <a:noFill/>
              </a:ln>
              <a:solidFill>
                <a:srgbClr val="FFFFFF"/>
              </a:solidFill>
              <a:effectLst/>
              <a:uLnTx/>
              <a:uFillTx/>
              <a:latin typeface="Noto Sans CJK SC"/>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Noto Sans CJK SC"/>
                <a:ea typeface="微软雅黑"/>
                <a:cs typeface="+mn-cs"/>
              </a:rPr>
              <a:t>已有高质量图像数据训练出的强</a:t>
            </a:r>
            <a:r>
              <a:rPr kumimoji="0" lang="en-US" altLang="zh-CN" sz="1800" b="0" i="0" u="none" strike="noStrike" kern="1200" cap="none" spc="0" normalizeH="0" baseline="0" noProof="0" dirty="0">
                <a:ln>
                  <a:noFill/>
                </a:ln>
                <a:solidFill>
                  <a:srgbClr val="FFFFFF"/>
                </a:solidFill>
                <a:effectLst/>
                <a:uLnTx/>
                <a:uFillTx/>
                <a:latin typeface="Noto Sans CJK SC"/>
                <a:ea typeface="微软雅黑"/>
                <a:cs typeface="+mn-cs"/>
              </a:rPr>
              <a:t>image encoder</a:t>
            </a:r>
            <a:r>
              <a:rPr kumimoji="0" lang="zh-CN" altLang="en-US" sz="1800" b="0" i="0" u="none" strike="noStrike" kern="1200" cap="none" spc="0" normalizeH="0" baseline="0" noProof="0" dirty="0">
                <a:ln>
                  <a:noFill/>
                </a:ln>
                <a:solidFill>
                  <a:srgbClr val="FFFFFF"/>
                </a:solidFill>
                <a:effectLst/>
                <a:uLnTx/>
                <a:uFillTx/>
                <a:latin typeface="Noto Sans CJK SC"/>
                <a:ea typeface="微软雅黑"/>
                <a:cs typeface="+mn-cs"/>
              </a:rPr>
              <a:t>时，
为什么还要在 </a:t>
            </a:r>
            <a:r>
              <a:rPr kumimoji="0" lang="en-US" altLang="zh-CN" sz="1800" b="0" i="0" u="none" strike="noStrike" kern="1200" cap="none" spc="0" normalizeH="0" baseline="0" noProof="0" dirty="0">
                <a:ln>
                  <a:noFill/>
                </a:ln>
                <a:solidFill>
                  <a:srgbClr val="FFFFFF"/>
                </a:solidFill>
                <a:effectLst/>
                <a:uLnTx/>
                <a:uFillTx/>
                <a:latin typeface="Noto Sans CJK SC"/>
                <a:ea typeface="微软雅黑"/>
                <a:cs typeface="+mn-cs"/>
              </a:rPr>
              <a:t>noisy </a:t>
            </a:r>
            <a:r>
              <a:rPr kumimoji="0" lang="zh-CN" altLang="en-US" sz="1800" b="0" i="0" u="none" strike="noStrike" kern="1200" cap="none" spc="0" normalizeH="0" baseline="0" noProof="0" dirty="0">
                <a:ln>
                  <a:noFill/>
                </a:ln>
                <a:solidFill>
                  <a:srgbClr val="FFFFFF"/>
                </a:solidFill>
                <a:effectLst/>
                <a:uLnTx/>
                <a:uFillTx/>
                <a:latin typeface="Noto Sans CJK SC"/>
                <a:ea typeface="微软雅黑"/>
                <a:cs typeface="+mn-cs"/>
              </a:rPr>
              <a:t>图文数据上继续修改它？</a:t>
            </a:r>
          </a:p>
        </p:txBody>
      </p:sp>
      <p:cxnSp>
        <p:nvCxnSpPr>
          <p:cNvPr id="40" name="直接箭头连接符 39">
            <a:extLst>
              <a:ext uri="{FF2B5EF4-FFF2-40B4-BE49-F238E27FC236}">
                <a16:creationId xmlns:a16="http://schemas.microsoft.com/office/drawing/2014/main" id="{4DA03589-5138-03A3-D1E4-3D90D67FF11C}"/>
              </a:ext>
            </a:extLst>
          </p:cNvPr>
          <p:cNvCxnSpPr>
            <a:cxnSpLocks/>
          </p:cNvCxnSpPr>
          <p:nvPr/>
        </p:nvCxnSpPr>
        <p:spPr>
          <a:xfrm>
            <a:off x="6870025" y="3130983"/>
            <a:ext cx="1486897"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4" name="Rounded Rectangle 31">
            <a:extLst>
              <a:ext uri="{FF2B5EF4-FFF2-40B4-BE49-F238E27FC236}">
                <a16:creationId xmlns:a16="http://schemas.microsoft.com/office/drawing/2014/main" id="{AB610453-3A38-4B7C-C780-F5A7CB9C65BA}"/>
              </a:ext>
            </a:extLst>
          </p:cNvPr>
          <p:cNvSpPr/>
          <p:nvPr/>
        </p:nvSpPr>
        <p:spPr>
          <a:xfrm>
            <a:off x="8603536" y="2452859"/>
            <a:ext cx="2526443" cy="1278872"/>
          </a:xfrm>
          <a:prstGeom prst="roundRect">
            <a:avLst>
              <a:gd name="adj" fmla="val 8000"/>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强而通用的
</a:t>
            </a:r>
            <a:r>
              <a:rPr kumimoji="0" lang="en-US" altLang="zh-CN" sz="20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Image Encoder</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74" name="文本框 73">
            <a:extLst>
              <a:ext uri="{FF2B5EF4-FFF2-40B4-BE49-F238E27FC236}">
                <a16:creationId xmlns:a16="http://schemas.microsoft.com/office/drawing/2014/main" id="{7A5B2725-26BB-52C4-0478-67D3AAB32FE7}"/>
              </a:ext>
            </a:extLst>
          </p:cNvPr>
          <p:cNvSpPr txBox="1"/>
          <p:nvPr/>
        </p:nvSpPr>
        <p:spPr>
          <a:xfrm>
            <a:off x="3664459" y="2034892"/>
            <a:ext cx="100540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Cambria"/>
                <a:ea typeface="微软雅黑"/>
                <a:cs typeface="+mn-cs"/>
              </a:rPr>
              <a:t>两种数据</a:t>
            </a:r>
          </a:p>
        </p:txBody>
      </p:sp>
      <p:sp>
        <p:nvSpPr>
          <p:cNvPr id="78" name="직사각형 1">
            <a:extLst>
              <a:ext uri="{FF2B5EF4-FFF2-40B4-BE49-F238E27FC236}">
                <a16:creationId xmlns:a16="http://schemas.microsoft.com/office/drawing/2014/main" id="{E309B269-19E9-A560-C3F4-23D25F171B0A}"/>
              </a:ext>
            </a:extLst>
          </p:cNvPr>
          <p:cNvSpPr/>
          <p:nvPr/>
        </p:nvSpPr>
        <p:spPr>
          <a:xfrm>
            <a:off x="3657552" y="2024265"/>
            <a:ext cx="45719" cy="318404"/>
          </a:xfrm>
          <a:prstGeom prst="rect">
            <a:avLst/>
          </a:prstGeom>
          <a:solidFill>
            <a:schemeClr val="tx2">
              <a:lumMod val="75000"/>
            </a:schemeClr>
          </a:solidFill>
          <a:ln w="9525"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srgbClr val="F7F7F7"/>
              </a:solidFill>
              <a:effectLst/>
              <a:uLnTx/>
              <a:uFillTx/>
              <a:latin typeface="Noto Serif SC Black"/>
              <a:cs typeface="+mn-cs"/>
            </a:endParaRPr>
          </a:p>
        </p:txBody>
      </p:sp>
      <p:sp>
        <p:nvSpPr>
          <p:cNvPr id="84" name="Rounded Rectangle 21">
            <a:extLst>
              <a:ext uri="{FF2B5EF4-FFF2-40B4-BE49-F238E27FC236}">
                <a16:creationId xmlns:a16="http://schemas.microsoft.com/office/drawing/2014/main" id="{36758FCB-ACD1-C2AA-4B4C-CDE8FCCFC130}"/>
              </a:ext>
            </a:extLst>
          </p:cNvPr>
          <p:cNvSpPr/>
          <p:nvPr/>
        </p:nvSpPr>
        <p:spPr>
          <a:xfrm>
            <a:off x="3659885" y="4049252"/>
            <a:ext cx="2974753" cy="1275098"/>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0" i="0" u="sng" strike="noStrike" kern="1200" cap="none" spc="0" normalizeH="0" baseline="0" noProof="0" dirty="0">
                <a:ln>
                  <a:noFill/>
                </a:ln>
                <a:solidFill>
                  <a:srgbClr val="1F497D">
                    <a:lumMod val="75000"/>
                  </a:srgbClr>
                </a:solidFill>
                <a:effectLst/>
                <a:uLnTx/>
                <a:uFillTx/>
                <a:latin typeface="Cambria"/>
                <a:ea typeface="微软雅黑"/>
                <a:cs typeface="+mn-cs"/>
              </a:rPr>
              <a:t>来源</a:t>
            </a:r>
            <a:r>
              <a:rPr kumimoji="0" lang="zh-CN" altLang="zh-CN" sz="2000" b="0" i="0" u="sng" strike="noStrike" kern="1200" cap="none" spc="0" normalizeH="0" baseline="0" noProof="0" dirty="0">
                <a:ln>
                  <a:noFill/>
                </a:ln>
                <a:solidFill>
                  <a:srgbClr val="1F497D">
                    <a:lumMod val="75000"/>
                  </a:srgbClr>
                </a:solidFill>
                <a:effectLst/>
                <a:uLnTx/>
                <a:uFillTx/>
                <a:latin typeface="Cambria"/>
                <a:ea typeface="微软雅黑"/>
                <a:cs typeface="+mn-cs"/>
              </a:rPr>
              <a:t>网页</a:t>
            </a:r>
            <a:r>
              <a:rPr kumimoji="0" lang="zh-CN" altLang="en-US" sz="2000" b="0" i="0" u="sng" strike="noStrike" kern="1200" cap="none" spc="0" normalizeH="0" baseline="0" noProof="0" dirty="0">
                <a:ln>
                  <a:noFill/>
                </a:ln>
                <a:solidFill>
                  <a:srgbClr val="1F497D">
                    <a:lumMod val="75000"/>
                  </a:srgbClr>
                </a:solidFill>
                <a:effectLst/>
                <a:uLnTx/>
                <a:uFillTx/>
                <a:latin typeface="Cambria"/>
                <a:ea typeface="微软雅黑"/>
                <a:cs typeface="+mn-cs"/>
              </a:rPr>
              <a:t>的图</a:t>
            </a:r>
            <a:r>
              <a:rPr kumimoji="0" lang="en-US" altLang="zh-CN" sz="2000" b="0" i="0" u="sng" strike="noStrike" kern="1200" cap="none" spc="0" normalizeH="0" baseline="0" noProof="0" dirty="0">
                <a:ln>
                  <a:noFill/>
                </a:ln>
                <a:solidFill>
                  <a:srgbClr val="1F497D">
                    <a:lumMod val="75000"/>
                  </a:srgbClr>
                </a:solidFill>
                <a:effectLst/>
                <a:uLnTx/>
                <a:uFillTx/>
                <a:latin typeface="Cambria"/>
                <a:ea typeface="微软雅黑"/>
                <a:cs typeface="+mn-cs"/>
              </a:rPr>
              <a:t>-</a:t>
            </a:r>
            <a:r>
              <a:rPr kumimoji="0" lang="zh-CN" altLang="en-US" sz="2000" b="0" i="0" u="sng" strike="noStrike" kern="1200" cap="none" spc="0" normalizeH="0" baseline="0" noProof="0" dirty="0">
                <a:ln>
                  <a:noFill/>
                </a:ln>
                <a:solidFill>
                  <a:srgbClr val="1F497D">
                    <a:lumMod val="75000"/>
                  </a:srgbClr>
                </a:solidFill>
                <a:effectLst/>
                <a:uLnTx/>
                <a:uFillTx/>
                <a:latin typeface="Cambria"/>
                <a:ea typeface="微软雅黑"/>
                <a:cs typeface="+mn-cs"/>
              </a:rPr>
              <a:t>文对</a:t>
            </a:r>
            <a:endParaRPr kumimoji="0" lang="en-US" altLang="zh-CN" sz="2000" b="0" i="0" u="sng" strike="noStrike" kern="1200" cap="none" spc="0" normalizeH="0" baseline="0" noProof="0" dirty="0">
              <a:ln>
                <a:noFill/>
              </a:ln>
              <a:solidFill>
                <a:srgbClr val="1F497D">
                  <a:lumMod val="75000"/>
                </a:srgb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sng" strike="noStrike" kern="1200" cap="none" spc="0" normalizeH="0" baseline="0" noProof="0" dirty="0">
                <a:ln>
                  <a:noFill/>
                </a:ln>
                <a:solidFill>
                  <a:srgbClr val="1F497D">
                    <a:lumMod val="75000"/>
                  </a:srgbClr>
                </a:solidFill>
                <a:effectLst/>
                <a:uLnTx/>
                <a:uFillTx/>
                <a:latin typeface="Cambria"/>
                <a:ea typeface="微软雅黑"/>
                <a:cs typeface="+mn-cs"/>
              </a:rPr>
              <a:t>优点：语义范围广</a:t>
            </a:r>
            <a:endParaRPr kumimoji="0" lang="en-US" altLang="zh-CN" sz="1800" b="0" i="0" u="sng" strike="noStrike" kern="1200" cap="none" spc="0" normalizeH="0" baseline="0" noProof="0" dirty="0">
              <a:ln>
                <a:noFill/>
              </a:ln>
              <a:solidFill>
                <a:srgbClr val="1F497D">
                  <a:lumMod val="75000"/>
                </a:srgb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sng" strike="noStrike" kern="1200" cap="none" spc="0" normalizeH="0" baseline="0" noProof="0" dirty="0">
                <a:ln>
                  <a:noFill/>
                </a:ln>
                <a:solidFill>
                  <a:srgbClr val="1F497D">
                    <a:lumMod val="75000"/>
                  </a:srgbClr>
                </a:solidFill>
                <a:effectLst/>
                <a:uLnTx/>
                <a:uFillTx/>
                <a:latin typeface="Cambria"/>
                <a:ea typeface="微软雅黑"/>
                <a:cs typeface="+mn-cs"/>
              </a:rPr>
              <a:t>缺点：</a:t>
            </a:r>
            <a:r>
              <a:rPr kumimoji="0" lang="en-US" altLang="zh-CN" sz="1800" b="0" i="0" u="sng" strike="noStrike" kern="1200" cap="none" spc="0" normalizeH="0" baseline="0" noProof="0" dirty="0">
                <a:ln>
                  <a:noFill/>
                </a:ln>
                <a:solidFill>
                  <a:srgbClr val="1F497D">
                    <a:lumMod val="75000"/>
                  </a:srgbClr>
                </a:solidFill>
                <a:effectLst/>
                <a:uLnTx/>
                <a:uFillTx/>
                <a:latin typeface="Cambria"/>
                <a:ea typeface="微软雅黑"/>
                <a:cs typeface="+mn-cs"/>
              </a:rPr>
              <a:t>noisy</a:t>
            </a:r>
            <a:endParaRPr kumimoji="0" lang="zh-CN"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cxnSp>
        <p:nvCxnSpPr>
          <p:cNvPr id="87" name="直接连接符 86">
            <a:extLst>
              <a:ext uri="{FF2B5EF4-FFF2-40B4-BE49-F238E27FC236}">
                <a16:creationId xmlns:a16="http://schemas.microsoft.com/office/drawing/2014/main" id="{EA1113B1-0FE4-50A9-0A0E-24A0097668AF}"/>
              </a:ext>
            </a:extLst>
          </p:cNvPr>
          <p:cNvCxnSpPr>
            <a:cxnSpLocks/>
          </p:cNvCxnSpPr>
          <p:nvPr/>
        </p:nvCxnSpPr>
        <p:spPr>
          <a:xfrm>
            <a:off x="3261843" y="2024265"/>
            <a:ext cx="0" cy="3427411"/>
          </a:xfrm>
          <a:prstGeom prst="line">
            <a:avLst/>
          </a:prstGeom>
          <a:ln>
            <a:solidFill>
              <a:schemeClr val="accent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90" name="Rounded Rectangle 31">
            <a:extLst>
              <a:ext uri="{FF2B5EF4-FFF2-40B4-BE49-F238E27FC236}">
                <a16:creationId xmlns:a16="http://schemas.microsoft.com/office/drawing/2014/main" id="{7D2FD01E-3C58-2FE7-A335-02100683E331}"/>
              </a:ext>
            </a:extLst>
          </p:cNvPr>
          <p:cNvSpPr/>
          <p:nvPr/>
        </p:nvSpPr>
        <p:spPr>
          <a:xfrm>
            <a:off x="8603535" y="4028979"/>
            <a:ext cx="2526443" cy="1278872"/>
          </a:xfrm>
          <a:prstGeom prst="roundRect">
            <a:avLst>
              <a:gd name="adj" fmla="val 8000"/>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Image-Text</a:t>
            </a:r>
            <a:r>
              <a:rPr kumimoji="0" lang="zh-CN" altLang="en-US" sz="20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对齐</a:t>
            </a:r>
            <a:endParaRPr kumimoji="0" lang="en-US" altLang="zh-CN" sz="20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94" name="文本框 93">
            <a:extLst>
              <a:ext uri="{FF2B5EF4-FFF2-40B4-BE49-F238E27FC236}">
                <a16:creationId xmlns:a16="http://schemas.microsoft.com/office/drawing/2014/main" id="{C9DB5D78-7C60-6C96-95FF-382DEC3401D8}"/>
              </a:ext>
            </a:extLst>
          </p:cNvPr>
          <p:cNvSpPr txBox="1"/>
          <p:nvPr/>
        </p:nvSpPr>
        <p:spPr>
          <a:xfrm>
            <a:off x="7119686" y="2736614"/>
            <a:ext cx="87716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mbria"/>
                <a:ea typeface="微软雅黑"/>
                <a:cs typeface="+mn-cs"/>
              </a:rPr>
              <a:t>更适合</a:t>
            </a:r>
          </a:p>
        </p:txBody>
      </p:sp>
      <p:cxnSp>
        <p:nvCxnSpPr>
          <p:cNvPr id="96" name="直接箭头连接符 95">
            <a:extLst>
              <a:ext uri="{FF2B5EF4-FFF2-40B4-BE49-F238E27FC236}">
                <a16:creationId xmlns:a16="http://schemas.microsoft.com/office/drawing/2014/main" id="{7FF70D85-873C-B941-BF52-ACCB031E45FB}"/>
              </a:ext>
            </a:extLst>
          </p:cNvPr>
          <p:cNvCxnSpPr>
            <a:cxnSpLocks/>
          </p:cNvCxnSpPr>
          <p:nvPr/>
        </p:nvCxnSpPr>
        <p:spPr>
          <a:xfrm>
            <a:off x="6870025" y="4621972"/>
            <a:ext cx="1486897"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7" name="文本框 96">
            <a:extLst>
              <a:ext uri="{FF2B5EF4-FFF2-40B4-BE49-F238E27FC236}">
                <a16:creationId xmlns:a16="http://schemas.microsoft.com/office/drawing/2014/main" id="{B096E826-3690-6BD4-7804-CB679FBD96AE}"/>
              </a:ext>
            </a:extLst>
          </p:cNvPr>
          <p:cNvSpPr txBox="1"/>
          <p:nvPr/>
        </p:nvSpPr>
        <p:spPr>
          <a:xfrm>
            <a:off x="7119686" y="4227603"/>
            <a:ext cx="87716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mbria"/>
                <a:ea typeface="微软雅黑"/>
                <a:cs typeface="+mn-cs"/>
              </a:rPr>
              <a:t>更适合</a:t>
            </a:r>
          </a:p>
        </p:txBody>
      </p:sp>
      <p:sp>
        <p:nvSpPr>
          <p:cNvPr id="99" name="TextBox 39">
            <a:extLst>
              <a:ext uri="{FF2B5EF4-FFF2-40B4-BE49-F238E27FC236}">
                <a16:creationId xmlns:a16="http://schemas.microsoft.com/office/drawing/2014/main" id="{D94CF920-2E55-C013-339C-09CF3FAC2CB8}"/>
              </a:ext>
            </a:extLst>
          </p:cNvPr>
          <p:cNvSpPr txBox="1"/>
          <p:nvPr/>
        </p:nvSpPr>
        <p:spPr>
          <a:xfrm>
            <a:off x="2658298" y="5860984"/>
            <a:ext cx="6875407" cy="443198"/>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4233E"/>
                </a:solidFill>
                <a:effectLst/>
                <a:uLnTx/>
                <a:uFillTx/>
                <a:latin typeface="Noto Sans CJK SC"/>
                <a:ea typeface="微软雅黑"/>
                <a:cs typeface="+mn-cs"/>
              </a:rPr>
              <a:t>所以：</a:t>
            </a:r>
            <a:r>
              <a:rPr kumimoji="0" sz="2400" b="1" i="0" u="none" strike="noStrike" kern="1200" cap="none" spc="0" normalizeH="0" baseline="0" noProof="0" dirty="0" err="1">
                <a:ln>
                  <a:noFill/>
                </a:ln>
                <a:solidFill>
                  <a:srgbClr val="14233E"/>
                </a:solidFill>
                <a:effectLst/>
                <a:uLnTx/>
                <a:uFillTx/>
                <a:latin typeface="Noto Sans CJK SC"/>
                <a:ea typeface="微软雅黑"/>
                <a:cs typeface="+mn-cs"/>
              </a:rPr>
              <a:t>保护图像塔，让文本塔去“读懂</a:t>
            </a:r>
            <a:r>
              <a:rPr kumimoji="0" sz="2400" b="1" i="0" u="none" strike="noStrike" kern="1200" cap="none" spc="0" normalizeH="0" baseline="0" noProof="0" dirty="0">
                <a:ln>
                  <a:noFill/>
                </a:ln>
                <a:solidFill>
                  <a:srgbClr val="14233E"/>
                </a:solidFill>
                <a:effectLst/>
                <a:uLnTx/>
                <a:uFillTx/>
                <a:latin typeface="Noto Sans CJK SC"/>
                <a:ea typeface="微软雅黑"/>
                <a:cs typeface="+mn-cs"/>
              </a:rPr>
              <a:t>” </a:t>
            </a:r>
            <a:r>
              <a:rPr kumimoji="0" lang="zh-CN" altLang="en-US" sz="2400" b="1" i="0" u="none" strike="noStrike" kern="1200" cap="none" spc="0" normalizeH="0" baseline="0" noProof="0" dirty="0">
                <a:ln>
                  <a:noFill/>
                </a:ln>
                <a:solidFill>
                  <a:srgbClr val="14233E"/>
                </a:solidFill>
                <a:effectLst/>
                <a:uLnTx/>
                <a:uFillTx/>
                <a:latin typeface="Noto Sans CJK SC"/>
                <a:ea typeface="微软雅黑"/>
                <a:cs typeface="+mn-cs"/>
              </a:rPr>
              <a:t>图像</a:t>
            </a:r>
            <a:r>
              <a:rPr kumimoji="0" sz="2400" b="1" i="0" u="none" strike="noStrike" kern="1200" cap="none" spc="0" normalizeH="0" baseline="0" noProof="0" dirty="0" err="1">
                <a:ln>
                  <a:noFill/>
                </a:ln>
                <a:solidFill>
                  <a:srgbClr val="14233E"/>
                </a:solidFill>
                <a:effectLst/>
                <a:uLnTx/>
                <a:uFillTx/>
                <a:latin typeface="Noto Sans CJK SC"/>
                <a:ea typeface="微软雅黑"/>
                <a:cs typeface="+mn-cs"/>
              </a:rPr>
              <a:t>空间</a:t>
            </a:r>
            <a:r>
              <a:rPr kumimoji="0" sz="2400" b="1" i="0" u="none" strike="noStrike" kern="1200" cap="none" spc="0" normalizeH="0" baseline="0" noProof="0" dirty="0">
                <a:ln>
                  <a:noFill/>
                </a:ln>
                <a:solidFill>
                  <a:srgbClr val="14233E"/>
                </a:solidFill>
                <a:effectLst/>
                <a:uLnTx/>
                <a:uFillTx/>
                <a:latin typeface="Noto Sans CJK SC"/>
                <a:ea typeface="微软雅黑"/>
                <a:cs typeface="+mn-cs"/>
              </a:rPr>
              <a:t>。</a:t>
            </a:r>
          </a:p>
        </p:txBody>
      </p:sp>
    </p:spTree>
    <p:extLst>
      <p:ext uri="{BB962C8B-B14F-4D97-AF65-F5344CB8AC3E}">
        <p14:creationId xmlns:p14="http://schemas.microsoft.com/office/powerpoint/2010/main" val="1466067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B49E4-469D-3475-01B5-07F83D61E323}"/>
            </a:ext>
          </a:extLst>
        </p:cNvPr>
        <p:cNvGrpSpPr/>
        <p:nvPr/>
      </p:nvGrpSpPr>
      <p:grpSpPr>
        <a:xfrm>
          <a:off x="0" y="0"/>
          <a:ext cx="0" cy="0"/>
          <a:chOff x="0" y="0"/>
          <a:chExt cx="0" cy="0"/>
        </a:xfrm>
      </p:grpSpPr>
      <p:sp>
        <p:nvSpPr>
          <p:cNvPr id="37" name="Rounded Rectangle 21">
            <a:extLst>
              <a:ext uri="{FF2B5EF4-FFF2-40B4-BE49-F238E27FC236}">
                <a16:creationId xmlns:a16="http://schemas.microsoft.com/office/drawing/2014/main" id="{F556A184-F3BC-DD91-772B-F575E03BDD9F}"/>
              </a:ext>
            </a:extLst>
          </p:cNvPr>
          <p:cNvSpPr/>
          <p:nvPr/>
        </p:nvSpPr>
        <p:spPr>
          <a:xfrm>
            <a:off x="6401657" y="3011529"/>
            <a:ext cx="4825141" cy="2314030"/>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33" name="Rounded Rectangle 31">
            <a:extLst>
              <a:ext uri="{FF2B5EF4-FFF2-40B4-BE49-F238E27FC236}">
                <a16:creationId xmlns:a16="http://schemas.microsoft.com/office/drawing/2014/main" id="{BA74B369-C2E8-31BF-1DE2-EBC66C08AB11}"/>
              </a:ext>
            </a:extLst>
          </p:cNvPr>
          <p:cNvSpPr/>
          <p:nvPr/>
        </p:nvSpPr>
        <p:spPr>
          <a:xfrm>
            <a:off x="780579" y="2978094"/>
            <a:ext cx="4762219" cy="2347466"/>
          </a:xfrm>
          <a:prstGeom prst="roundRect">
            <a:avLst>
              <a:gd name="adj" fmla="val 8000"/>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5" name="Rectangle 1">
            <a:extLst>
              <a:ext uri="{FF2B5EF4-FFF2-40B4-BE49-F238E27FC236}">
                <a16:creationId xmlns:a16="http://schemas.microsoft.com/office/drawing/2014/main" id="{0476218F-B7FA-43DA-1C95-211B069F4264}"/>
              </a:ext>
            </a:extLst>
          </p:cNvPr>
          <p:cNvSpPr/>
          <p:nvPr/>
        </p:nvSpPr>
        <p:spPr>
          <a:xfrm>
            <a:off x="513588"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6" name="TextBox 3">
            <a:extLst>
              <a:ext uri="{FF2B5EF4-FFF2-40B4-BE49-F238E27FC236}">
                <a16:creationId xmlns:a16="http://schemas.microsoft.com/office/drawing/2014/main" id="{C08A69BE-A802-D9F8-CF65-CF1D0EC0D605}"/>
              </a:ext>
            </a:extLst>
          </p:cNvPr>
          <p:cNvSpPr txBox="1"/>
          <p:nvPr/>
        </p:nvSpPr>
        <p:spPr>
          <a:xfrm>
            <a:off x="1266465"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研究动机</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7" name="Rectangle 4">
            <a:extLst>
              <a:ext uri="{FF2B5EF4-FFF2-40B4-BE49-F238E27FC236}">
                <a16:creationId xmlns:a16="http://schemas.microsoft.com/office/drawing/2014/main" id="{D34D3C20-0492-7CA6-5978-FAB2E0062CCE}"/>
              </a:ext>
            </a:extLst>
          </p:cNvPr>
          <p:cNvSpPr/>
          <p:nvPr/>
        </p:nvSpPr>
        <p:spPr>
          <a:xfrm>
            <a:off x="3375660" y="609116"/>
            <a:ext cx="2487168" cy="329184"/>
          </a:xfrm>
          <a:prstGeom prst="rect">
            <a:avLst/>
          </a:prstGeom>
          <a:solidFill>
            <a:schemeClr val="tx2">
              <a:lumMod val="75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8" name="TextBox 6">
            <a:extLst>
              <a:ext uri="{FF2B5EF4-FFF2-40B4-BE49-F238E27FC236}">
                <a16:creationId xmlns:a16="http://schemas.microsoft.com/office/drawing/2014/main" id="{DFC7E630-FE82-2B4D-1EE6-2446C59A5674}"/>
              </a:ext>
            </a:extLst>
          </p:cNvPr>
          <p:cNvSpPr txBox="1"/>
          <p:nvPr/>
        </p:nvSpPr>
        <p:spPr>
          <a:xfrm>
            <a:off x="4168374"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white"/>
                </a:solidFill>
                <a:effectLst/>
                <a:uLnTx/>
                <a:uFillTx/>
                <a:latin typeface="Noto Sans CJK SC"/>
                <a:ea typeface="微软雅黑"/>
                <a:cs typeface="+mn-cs"/>
              </a:rPr>
              <a:t>研究方法</a:t>
            </a:r>
          </a:p>
        </p:txBody>
      </p:sp>
      <p:sp>
        <p:nvSpPr>
          <p:cNvPr id="9" name="Rectangle 7">
            <a:extLst>
              <a:ext uri="{FF2B5EF4-FFF2-40B4-BE49-F238E27FC236}">
                <a16:creationId xmlns:a16="http://schemas.microsoft.com/office/drawing/2014/main" id="{E25C94E8-15CA-E135-3924-D287EC469A1B}"/>
              </a:ext>
            </a:extLst>
          </p:cNvPr>
          <p:cNvSpPr/>
          <p:nvPr/>
        </p:nvSpPr>
        <p:spPr>
          <a:xfrm>
            <a:off x="6237732"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0" name="TextBox 9">
            <a:extLst>
              <a:ext uri="{FF2B5EF4-FFF2-40B4-BE49-F238E27FC236}">
                <a16:creationId xmlns:a16="http://schemas.microsoft.com/office/drawing/2014/main" id="{0EFB6FEA-D387-875E-45D4-5780458E68AF}"/>
              </a:ext>
            </a:extLst>
          </p:cNvPr>
          <p:cNvSpPr txBox="1"/>
          <p:nvPr/>
        </p:nvSpPr>
        <p:spPr>
          <a:xfrm>
            <a:off x="7085310" y="609116"/>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实验设计</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1" name="Rectangle 10">
            <a:extLst>
              <a:ext uri="{FF2B5EF4-FFF2-40B4-BE49-F238E27FC236}">
                <a16:creationId xmlns:a16="http://schemas.microsoft.com/office/drawing/2014/main" id="{BAA68970-B36D-92E3-C11A-3CEFBAAE1B6D}"/>
              </a:ext>
            </a:extLst>
          </p:cNvPr>
          <p:cNvSpPr/>
          <p:nvPr/>
        </p:nvSpPr>
        <p:spPr>
          <a:xfrm>
            <a:off x="9099804"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2" name="TextBox 12">
            <a:extLst>
              <a:ext uri="{FF2B5EF4-FFF2-40B4-BE49-F238E27FC236}">
                <a16:creationId xmlns:a16="http://schemas.microsoft.com/office/drawing/2014/main" id="{4EC3DE45-D64A-37A8-EF14-F45E2E3153C9}"/>
              </a:ext>
            </a:extLst>
          </p:cNvPr>
          <p:cNvSpPr txBox="1"/>
          <p:nvPr/>
        </p:nvSpPr>
        <p:spPr>
          <a:xfrm>
            <a:off x="9866758" y="621113"/>
            <a:ext cx="971548"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1F497D">
                    <a:lumMod val="75000"/>
                  </a:srgbClr>
                </a:solidFill>
                <a:effectLst/>
                <a:uLnTx/>
                <a:uFillTx/>
                <a:latin typeface="Noto Sans CJK SC"/>
                <a:ea typeface="微软雅黑"/>
                <a:cs typeface="+mn-cs"/>
              </a:rPr>
              <a:t>总结与启发</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3" name="TextBox 16">
            <a:extLst>
              <a:ext uri="{FF2B5EF4-FFF2-40B4-BE49-F238E27FC236}">
                <a16:creationId xmlns:a16="http://schemas.microsoft.com/office/drawing/2014/main" id="{3B28B043-06C9-BA62-5027-63F7835388C3}"/>
              </a:ext>
            </a:extLst>
          </p:cNvPr>
          <p:cNvSpPr txBox="1"/>
          <p:nvPr/>
        </p:nvSpPr>
        <p:spPr>
          <a:xfrm>
            <a:off x="449580" y="1057172"/>
            <a:ext cx="8900001" cy="458587"/>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核心思想：把“</a:t>
            </a:r>
            <a:r>
              <a:rPr kumimoji="0" lang="en-US" altLang="zh-CN" sz="2500" b="1" i="0" u="none" strike="noStrike" kern="1200" cap="none" spc="0" normalizeH="0" baseline="0" noProof="0" dirty="0">
                <a:ln>
                  <a:noFill/>
                </a:ln>
                <a:solidFill>
                  <a:srgbClr val="14233E"/>
                </a:solidFill>
                <a:effectLst/>
                <a:uLnTx/>
                <a:uFillTx/>
                <a:latin typeface="Noto Sans CJK SC"/>
                <a:ea typeface="微软雅黑"/>
                <a:cs typeface="+mn-cs"/>
              </a:rPr>
              <a:t> </a:t>
            </a: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图像表征学习”与“图像</a:t>
            </a:r>
            <a:r>
              <a:rPr kumimoji="0" lang="en-US" altLang="zh-CN" sz="2500" b="1" i="0" u="none" strike="noStrike" kern="1200" cap="none" spc="0" normalizeH="0" baseline="0" noProof="0" dirty="0">
                <a:ln>
                  <a:noFill/>
                </a:ln>
                <a:solidFill>
                  <a:srgbClr val="14233E"/>
                </a:solidFill>
                <a:effectLst/>
                <a:uLnTx/>
                <a:uFillTx/>
                <a:latin typeface="Noto Sans CJK SC"/>
                <a:ea typeface="微软雅黑"/>
                <a:cs typeface="+mn-cs"/>
              </a:rPr>
              <a:t>-</a:t>
            </a: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文本表征对齐”解耦</a:t>
            </a:r>
            <a:endParaRPr kumimoji="0" lang="en-US" altLang="zh-CN" sz="2500" b="1" i="0" u="none" strike="noStrike" kern="1200" cap="none" spc="0" normalizeH="0" baseline="0" noProof="0" dirty="0">
              <a:ln>
                <a:noFill/>
              </a:ln>
              <a:solidFill>
                <a:srgbClr val="14233E"/>
              </a:solidFill>
              <a:effectLst/>
              <a:uLnTx/>
              <a:uFillTx/>
              <a:latin typeface="Noto Sans CJK SC"/>
              <a:ea typeface="微软雅黑"/>
              <a:cs typeface="+mn-cs"/>
            </a:endParaRPr>
          </a:p>
        </p:txBody>
      </p:sp>
      <p:cxnSp>
        <p:nvCxnSpPr>
          <p:cNvPr id="14" name="Connector 17">
            <a:extLst>
              <a:ext uri="{FF2B5EF4-FFF2-40B4-BE49-F238E27FC236}">
                <a16:creationId xmlns:a16="http://schemas.microsoft.com/office/drawing/2014/main" id="{3452402D-AFD4-7E45-7653-D211FBCDB6E6}"/>
              </a:ext>
            </a:extLst>
          </p:cNvPr>
          <p:cNvCxnSpPr/>
          <p:nvPr/>
        </p:nvCxnSpPr>
        <p:spPr>
          <a:xfrm>
            <a:off x="449580" y="1614956"/>
            <a:ext cx="11183112" cy="0"/>
          </a:xfrm>
          <a:prstGeom prst="line">
            <a:avLst/>
          </a:prstGeom>
          <a:ln w="28575">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sp>
        <p:nvSpPr>
          <p:cNvPr id="54" name="Rounded Rectangle 31">
            <a:extLst>
              <a:ext uri="{FF2B5EF4-FFF2-40B4-BE49-F238E27FC236}">
                <a16:creationId xmlns:a16="http://schemas.microsoft.com/office/drawing/2014/main" id="{4FAE9BC8-2489-C269-B780-48B8FC74AF3F}"/>
              </a:ext>
            </a:extLst>
          </p:cNvPr>
          <p:cNvSpPr/>
          <p:nvPr/>
        </p:nvSpPr>
        <p:spPr>
          <a:xfrm>
            <a:off x="6689598" y="3509978"/>
            <a:ext cx="1913935" cy="1051251"/>
          </a:xfrm>
          <a:prstGeom prst="roundRect">
            <a:avLst>
              <a:gd name="adj" fmla="val 8000"/>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纯图像</a:t>
            </a:r>
            <a:r>
              <a:rPr kumimoji="0" lang="zh-CN" altLang="zh-CN" sz="16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数据</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学强图像表征</a:t>
            </a:r>
            <a:endParaRPr kumimoji="0" lang="en-US" altLang="zh-CN" sz="20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74" name="文本框 73">
            <a:extLst>
              <a:ext uri="{FF2B5EF4-FFF2-40B4-BE49-F238E27FC236}">
                <a16:creationId xmlns:a16="http://schemas.microsoft.com/office/drawing/2014/main" id="{44806E78-7001-65AC-02EF-A79BCA966E13}"/>
              </a:ext>
            </a:extLst>
          </p:cNvPr>
          <p:cNvSpPr txBox="1"/>
          <p:nvPr/>
        </p:nvSpPr>
        <p:spPr>
          <a:xfrm>
            <a:off x="787485" y="2399604"/>
            <a:ext cx="2869440"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Cambria"/>
                <a:ea typeface="微软雅黑"/>
                <a:cs typeface="+mn-cs"/>
              </a:rPr>
              <a:t>传统</a:t>
            </a:r>
            <a:r>
              <a:rPr kumimoji="0" lang="en-US" altLang="zh-CN" sz="1600" b="1" i="0" u="none" strike="noStrike" kern="1200" cap="none" spc="0" normalizeH="0" baseline="0" noProof="0" dirty="0">
                <a:ln>
                  <a:noFill/>
                </a:ln>
                <a:solidFill>
                  <a:prstClr val="black"/>
                </a:solidFill>
                <a:effectLst/>
                <a:uLnTx/>
                <a:uFillTx/>
                <a:latin typeface="Cambria"/>
                <a:ea typeface="微软雅黑"/>
                <a:cs typeface="+mn-cs"/>
              </a:rPr>
              <a:t>Contrastive Pre-training</a:t>
            </a:r>
            <a:endParaRPr kumimoji="0" lang="zh-CN" altLang="en-US" sz="1600" b="1"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78" name="직사각형 1">
            <a:extLst>
              <a:ext uri="{FF2B5EF4-FFF2-40B4-BE49-F238E27FC236}">
                <a16:creationId xmlns:a16="http://schemas.microsoft.com/office/drawing/2014/main" id="{929B125F-F75F-5763-7C08-33CF217E2F9D}"/>
              </a:ext>
            </a:extLst>
          </p:cNvPr>
          <p:cNvSpPr/>
          <p:nvPr/>
        </p:nvSpPr>
        <p:spPr>
          <a:xfrm>
            <a:off x="780578" y="2388977"/>
            <a:ext cx="45719" cy="318404"/>
          </a:xfrm>
          <a:prstGeom prst="rect">
            <a:avLst/>
          </a:prstGeom>
          <a:solidFill>
            <a:schemeClr val="tx2">
              <a:lumMod val="75000"/>
            </a:schemeClr>
          </a:solidFill>
          <a:ln w="9525"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srgbClr val="F7F7F7"/>
              </a:solidFill>
              <a:effectLst/>
              <a:uLnTx/>
              <a:uFillTx/>
              <a:latin typeface="Noto Serif SC Black"/>
              <a:cs typeface="+mn-cs"/>
            </a:endParaRPr>
          </a:p>
        </p:txBody>
      </p:sp>
      <p:cxnSp>
        <p:nvCxnSpPr>
          <p:cNvPr id="87" name="直接连接符 86">
            <a:extLst>
              <a:ext uri="{FF2B5EF4-FFF2-40B4-BE49-F238E27FC236}">
                <a16:creationId xmlns:a16="http://schemas.microsoft.com/office/drawing/2014/main" id="{C5D4E6F5-4309-2904-06A0-A8AD0564F4A0}"/>
              </a:ext>
            </a:extLst>
          </p:cNvPr>
          <p:cNvCxnSpPr>
            <a:cxnSpLocks/>
          </p:cNvCxnSpPr>
          <p:nvPr/>
        </p:nvCxnSpPr>
        <p:spPr>
          <a:xfrm>
            <a:off x="5862828" y="2152464"/>
            <a:ext cx="0" cy="3427411"/>
          </a:xfrm>
          <a:prstGeom prst="line">
            <a:avLst/>
          </a:prstGeom>
          <a:ln>
            <a:solidFill>
              <a:schemeClr val="accent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4F153244-5551-7942-2FC8-DFE49EA2D171}"/>
              </a:ext>
            </a:extLst>
          </p:cNvPr>
          <p:cNvSpPr txBox="1"/>
          <p:nvPr/>
        </p:nvSpPr>
        <p:spPr>
          <a:xfrm>
            <a:off x="2068105" y="3067841"/>
            <a:ext cx="2479718"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14233E"/>
                </a:solidFill>
                <a:effectLst/>
                <a:uLnTx/>
                <a:uFillTx/>
                <a:latin typeface="Noto Sans CJK SC"/>
                <a:ea typeface="微软雅黑"/>
                <a:cs typeface="+mn-cs"/>
              </a:rPr>
              <a:t>同一份 </a:t>
            </a:r>
            <a:r>
              <a:rPr kumimoji="0" lang="en-US" altLang="zh-CN" sz="1800" b="0" i="0" u="none" strike="noStrike" kern="1200" cap="none" spc="0" normalizeH="0" baseline="0" noProof="0" dirty="0">
                <a:ln>
                  <a:noFill/>
                </a:ln>
                <a:solidFill>
                  <a:srgbClr val="14233E"/>
                </a:solidFill>
                <a:effectLst/>
                <a:uLnTx/>
                <a:uFillTx/>
                <a:latin typeface="Noto Sans CJK SC"/>
                <a:ea typeface="微软雅黑"/>
                <a:cs typeface="+mn-cs"/>
              </a:rPr>
              <a:t>image–text data</a:t>
            </a:r>
          </a:p>
        </p:txBody>
      </p:sp>
      <p:sp>
        <p:nvSpPr>
          <p:cNvPr id="22" name="Rounded Rectangle 21">
            <a:extLst>
              <a:ext uri="{FF2B5EF4-FFF2-40B4-BE49-F238E27FC236}">
                <a16:creationId xmlns:a16="http://schemas.microsoft.com/office/drawing/2014/main" id="{E7014127-15F7-CC12-073A-02592006958C}"/>
              </a:ext>
            </a:extLst>
          </p:cNvPr>
          <p:cNvSpPr/>
          <p:nvPr/>
        </p:nvSpPr>
        <p:spPr>
          <a:xfrm>
            <a:off x="1062021" y="3519067"/>
            <a:ext cx="1065912" cy="527272"/>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lumMod val="75000"/>
                  </a:srgbClr>
                </a:solidFill>
                <a:effectLst/>
                <a:uLnTx/>
                <a:uFillTx/>
                <a:latin typeface="Cambria"/>
                <a:ea typeface="微软雅黑"/>
                <a:cs typeface="+mn-cs"/>
              </a:rPr>
              <a:t>Image T</a:t>
            </a:r>
            <a:r>
              <a:rPr kumimoji="0" lang="en-US"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rPr>
              <a:t>ower</a:t>
            </a:r>
            <a:endParaRPr kumimoji="0"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cxnSp>
        <p:nvCxnSpPr>
          <p:cNvPr id="23" name="直接箭头连接符 22">
            <a:extLst>
              <a:ext uri="{FF2B5EF4-FFF2-40B4-BE49-F238E27FC236}">
                <a16:creationId xmlns:a16="http://schemas.microsoft.com/office/drawing/2014/main" id="{CDB38BDD-2D60-67EA-3E23-AFA12BB6AA48}"/>
              </a:ext>
            </a:extLst>
          </p:cNvPr>
          <p:cNvCxnSpPr>
            <a:cxnSpLocks/>
          </p:cNvCxnSpPr>
          <p:nvPr/>
        </p:nvCxnSpPr>
        <p:spPr>
          <a:xfrm>
            <a:off x="2193983" y="3782282"/>
            <a:ext cx="353763"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1">
            <a:extLst>
              <a:ext uri="{FF2B5EF4-FFF2-40B4-BE49-F238E27FC236}">
                <a16:creationId xmlns:a16="http://schemas.microsoft.com/office/drawing/2014/main" id="{A1232272-79F5-78DB-4BC0-D1C3336B3A67}"/>
              </a:ext>
            </a:extLst>
          </p:cNvPr>
          <p:cNvSpPr/>
          <p:nvPr/>
        </p:nvSpPr>
        <p:spPr>
          <a:xfrm>
            <a:off x="1062021" y="4561229"/>
            <a:ext cx="1065912" cy="527272"/>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lumMod val="75000"/>
                  </a:srgbClr>
                </a:solidFill>
                <a:effectLst/>
                <a:uLnTx/>
                <a:uFillTx/>
                <a:latin typeface="Cambria"/>
                <a:ea typeface="微软雅黑"/>
                <a:cs typeface="+mn-cs"/>
              </a:rPr>
              <a:t>Text Tower</a:t>
            </a:r>
            <a:endParaRPr kumimoji="0"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25" name="Rounded Rectangle 21">
            <a:extLst>
              <a:ext uri="{FF2B5EF4-FFF2-40B4-BE49-F238E27FC236}">
                <a16:creationId xmlns:a16="http://schemas.microsoft.com/office/drawing/2014/main" id="{F9555C23-9950-7341-347D-14F492B6895B}"/>
              </a:ext>
            </a:extLst>
          </p:cNvPr>
          <p:cNvSpPr/>
          <p:nvPr/>
        </p:nvSpPr>
        <p:spPr>
          <a:xfrm>
            <a:off x="2580060" y="3538801"/>
            <a:ext cx="1525612" cy="527272"/>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lumMod val="75000"/>
                  </a:srgbClr>
                </a:solidFill>
                <a:effectLst/>
                <a:uLnTx/>
                <a:uFillTx/>
                <a:latin typeface="Cambria"/>
                <a:ea typeface="微软雅黑"/>
                <a:cs typeface="+mn-cs"/>
              </a:rPr>
              <a:t>Image Embedding</a:t>
            </a:r>
            <a:endParaRPr kumimoji="0"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26" name="Rounded Rectangle 21">
            <a:extLst>
              <a:ext uri="{FF2B5EF4-FFF2-40B4-BE49-F238E27FC236}">
                <a16:creationId xmlns:a16="http://schemas.microsoft.com/office/drawing/2014/main" id="{31EDAF81-606E-867A-4522-2CBA532518AD}"/>
              </a:ext>
            </a:extLst>
          </p:cNvPr>
          <p:cNvSpPr/>
          <p:nvPr/>
        </p:nvSpPr>
        <p:spPr>
          <a:xfrm>
            <a:off x="2580060" y="4576273"/>
            <a:ext cx="1525612" cy="527272"/>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lumMod val="75000"/>
                  </a:srgbClr>
                </a:solidFill>
                <a:effectLst/>
                <a:uLnTx/>
                <a:uFillTx/>
                <a:latin typeface="Cambria"/>
                <a:ea typeface="微软雅黑"/>
                <a:cs typeface="+mn-cs"/>
              </a:rPr>
              <a:t>Text Embedding</a:t>
            </a:r>
            <a:endParaRPr kumimoji="0"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28" name="Rounded Rectangle 31">
            <a:extLst>
              <a:ext uri="{FF2B5EF4-FFF2-40B4-BE49-F238E27FC236}">
                <a16:creationId xmlns:a16="http://schemas.microsoft.com/office/drawing/2014/main" id="{3473225A-4C45-1383-0870-3B5EC91408C2}"/>
              </a:ext>
            </a:extLst>
          </p:cNvPr>
          <p:cNvSpPr/>
          <p:nvPr/>
        </p:nvSpPr>
        <p:spPr>
          <a:xfrm>
            <a:off x="4412443" y="4059224"/>
            <a:ext cx="963327" cy="554925"/>
          </a:xfrm>
          <a:prstGeom prst="roundRect">
            <a:avLst>
              <a:gd name="adj" fmla="val 8000"/>
            </a:avLst>
          </a:prstGeom>
          <a:solidFill>
            <a:schemeClr val="tx2">
              <a:lumMod val="75000"/>
            </a:schemeClr>
          </a:solidFill>
          <a:ln w="12700">
            <a:solidFill>
              <a:srgbClr val="1423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Noto Sans CJK SC"/>
                <a:ea typeface="微软雅黑"/>
                <a:cs typeface="+mn-cs"/>
              </a:rPr>
              <a:t>图</a:t>
            </a:r>
            <a:r>
              <a:rPr kumimoji="0" lang="en-US" altLang="zh-CN" sz="1400" b="1" i="0" u="none" strike="noStrike" kern="1200" cap="none" spc="0" normalizeH="0" baseline="0" noProof="0" dirty="0">
                <a:ln>
                  <a:noFill/>
                </a:ln>
                <a:solidFill>
                  <a:srgbClr val="FFFFFF"/>
                </a:solidFill>
                <a:effectLst/>
                <a:uLnTx/>
                <a:uFillTx/>
                <a:latin typeface="Noto Sans CJK SC"/>
                <a:ea typeface="微软雅黑"/>
                <a:cs typeface="+mn-cs"/>
              </a:rPr>
              <a:t>-</a:t>
            </a:r>
            <a:r>
              <a:rPr kumimoji="0" lang="zh-CN" altLang="en-US" sz="1400" b="1" i="0" u="none" strike="noStrike" kern="1200" cap="none" spc="0" normalizeH="0" baseline="0" noProof="0" dirty="0">
                <a:ln>
                  <a:noFill/>
                </a:ln>
                <a:solidFill>
                  <a:srgbClr val="FFFFFF"/>
                </a:solidFill>
                <a:effectLst/>
                <a:uLnTx/>
                <a:uFillTx/>
                <a:latin typeface="Noto Sans CJK SC"/>
                <a:ea typeface="微软雅黑"/>
                <a:cs typeface="+mn-cs"/>
              </a:rPr>
              <a:t>文</a:t>
            </a:r>
            <a:endParaRPr kumimoji="0" lang="en-US" altLang="zh-CN" sz="1400" b="1" i="0" u="none" strike="noStrike" kern="1200" cap="none" spc="0" normalizeH="0" baseline="0" noProof="0" dirty="0">
              <a:ln>
                <a:noFill/>
              </a:ln>
              <a:solidFill>
                <a:srgbClr val="FFFFFF"/>
              </a:solidFill>
              <a:effectLst/>
              <a:uLnTx/>
              <a:uFillTx/>
              <a:latin typeface="Noto Sans CJK SC"/>
              <a:ea typeface="微软雅黑"/>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Noto Sans CJK SC"/>
                <a:ea typeface="微软雅黑"/>
                <a:cs typeface="+mn-cs"/>
              </a:rPr>
              <a:t>对比学习</a:t>
            </a:r>
            <a:endParaRPr kumimoji="0" lang="en-US" altLang="zh-CN" sz="1400" b="1" i="0" u="none" strike="noStrike" kern="1200" cap="none" spc="0" normalizeH="0" baseline="0" noProof="0" dirty="0">
              <a:ln>
                <a:noFill/>
              </a:ln>
              <a:solidFill>
                <a:srgbClr val="FFFFFF"/>
              </a:solidFill>
              <a:effectLst/>
              <a:uLnTx/>
              <a:uFillTx/>
              <a:latin typeface="Noto Sans CJK SC"/>
              <a:ea typeface="微软雅黑"/>
              <a:cs typeface="+mn-cs"/>
            </a:endParaRPr>
          </a:p>
        </p:txBody>
      </p:sp>
      <p:cxnSp>
        <p:nvCxnSpPr>
          <p:cNvPr id="29" name="直接箭头连接符 28">
            <a:extLst>
              <a:ext uri="{FF2B5EF4-FFF2-40B4-BE49-F238E27FC236}">
                <a16:creationId xmlns:a16="http://schemas.microsoft.com/office/drawing/2014/main" id="{8C055EF8-26AF-2CB6-D519-EDCF0E05A5C2}"/>
              </a:ext>
            </a:extLst>
          </p:cNvPr>
          <p:cNvCxnSpPr>
            <a:cxnSpLocks/>
          </p:cNvCxnSpPr>
          <p:nvPr/>
        </p:nvCxnSpPr>
        <p:spPr>
          <a:xfrm>
            <a:off x="3890387" y="4325185"/>
            <a:ext cx="430569"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直接箭头连接符 30">
            <a:extLst>
              <a:ext uri="{FF2B5EF4-FFF2-40B4-BE49-F238E27FC236}">
                <a16:creationId xmlns:a16="http://schemas.microsoft.com/office/drawing/2014/main" id="{22A17D03-0068-75ED-EFEB-EBB59240D072}"/>
              </a:ext>
            </a:extLst>
          </p:cNvPr>
          <p:cNvCxnSpPr>
            <a:cxnSpLocks/>
          </p:cNvCxnSpPr>
          <p:nvPr/>
        </p:nvCxnSpPr>
        <p:spPr>
          <a:xfrm>
            <a:off x="2193983" y="4810982"/>
            <a:ext cx="353763" cy="0"/>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1">
            <a:extLst>
              <a:ext uri="{FF2B5EF4-FFF2-40B4-BE49-F238E27FC236}">
                <a16:creationId xmlns:a16="http://schemas.microsoft.com/office/drawing/2014/main" id="{EDFBBBBD-C071-2651-D85D-567BF0CD39D6}"/>
              </a:ext>
            </a:extLst>
          </p:cNvPr>
          <p:cNvSpPr/>
          <p:nvPr/>
        </p:nvSpPr>
        <p:spPr>
          <a:xfrm>
            <a:off x="8888013" y="3525024"/>
            <a:ext cx="2054304" cy="1051249"/>
          </a:xfrm>
          <a:prstGeom prst="roundRect">
            <a:avLst>
              <a:gd name="adj" fmla="val 8000"/>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自由的图文对</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学习跨模态对齐</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2000" b="1" i="0" u="none" strike="noStrike" kern="1200" cap="none" spc="0" normalizeH="0" baseline="0" noProof="0" dirty="0">
              <a:ln>
                <a:noFill/>
              </a:ln>
              <a:solidFill>
                <a:srgbClr val="FFFFFF"/>
              </a:solidFill>
              <a:effectLst/>
              <a:uLnTx/>
              <a:uFillTx/>
              <a:latin typeface="Noto Sans CJK SC"/>
              <a:ea typeface="微软雅黑"/>
              <a:cs typeface="+mn-cs"/>
            </a:endParaRPr>
          </a:p>
        </p:txBody>
      </p:sp>
      <p:sp>
        <p:nvSpPr>
          <p:cNvPr id="41" name="文本框 40">
            <a:extLst>
              <a:ext uri="{FF2B5EF4-FFF2-40B4-BE49-F238E27FC236}">
                <a16:creationId xmlns:a16="http://schemas.microsoft.com/office/drawing/2014/main" id="{E9D750CE-5414-F6BF-C632-53FE94B3D811}"/>
              </a:ext>
            </a:extLst>
          </p:cNvPr>
          <p:cNvSpPr txBox="1"/>
          <p:nvPr/>
        </p:nvSpPr>
        <p:spPr>
          <a:xfrm>
            <a:off x="6390436" y="2399604"/>
            <a:ext cx="2332562"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Cambria"/>
                <a:ea typeface="微软雅黑"/>
                <a:cs typeface="+mn-cs"/>
              </a:rPr>
              <a:t>LiT/Contrastive tuning</a:t>
            </a:r>
            <a:endParaRPr kumimoji="0" lang="zh-CN" altLang="en-US" sz="1600" b="1"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43" name="직사각형 1">
            <a:extLst>
              <a:ext uri="{FF2B5EF4-FFF2-40B4-BE49-F238E27FC236}">
                <a16:creationId xmlns:a16="http://schemas.microsoft.com/office/drawing/2014/main" id="{03584419-C49C-7BCC-5EA7-A0B6D1625F40}"/>
              </a:ext>
            </a:extLst>
          </p:cNvPr>
          <p:cNvSpPr/>
          <p:nvPr/>
        </p:nvSpPr>
        <p:spPr>
          <a:xfrm>
            <a:off x="6383529" y="2388977"/>
            <a:ext cx="45719" cy="318404"/>
          </a:xfrm>
          <a:prstGeom prst="rect">
            <a:avLst/>
          </a:prstGeom>
          <a:solidFill>
            <a:schemeClr val="tx2">
              <a:lumMod val="75000"/>
            </a:schemeClr>
          </a:solidFill>
          <a:ln w="9525" cap="flat">
            <a:noFill/>
            <a:prstDash val="solid"/>
            <a:miter/>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srgbClr val="F7F7F7"/>
              </a:solidFill>
              <a:effectLst/>
              <a:uLnTx/>
              <a:uFillTx/>
              <a:latin typeface="Noto Serif SC Black"/>
              <a:cs typeface="+mn-cs"/>
            </a:endParaRPr>
          </a:p>
        </p:txBody>
      </p:sp>
      <p:sp>
        <p:nvSpPr>
          <p:cNvPr id="44" name="文本框 43">
            <a:extLst>
              <a:ext uri="{FF2B5EF4-FFF2-40B4-BE49-F238E27FC236}">
                <a16:creationId xmlns:a16="http://schemas.microsoft.com/office/drawing/2014/main" id="{942F1DD7-4994-69DB-5F6F-008A26F0708A}"/>
              </a:ext>
            </a:extLst>
          </p:cNvPr>
          <p:cNvSpPr txBox="1"/>
          <p:nvPr/>
        </p:nvSpPr>
        <p:spPr>
          <a:xfrm>
            <a:off x="7683148" y="4664978"/>
            <a:ext cx="226215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mbria"/>
                <a:ea typeface="微软雅黑"/>
                <a:cs typeface="+mn-cs"/>
              </a:rPr>
              <a:t>不同数据，各司其职</a:t>
            </a:r>
          </a:p>
        </p:txBody>
      </p:sp>
    </p:spTree>
    <p:extLst>
      <p:ext uri="{BB962C8B-B14F-4D97-AF65-F5344CB8AC3E}">
        <p14:creationId xmlns:p14="http://schemas.microsoft.com/office/powerpoint/2010/main" val="929235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AA34-6585-9AC7-382D-66F15CEE3FC5}"/>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7897BF82-4BE3-2B94-A8C5-A5ED23880392}"/>
              </a:ext>
            </a:extLst>
          </p:cNvPr>
          <p:cNvSpPr/>
          <p:nvPr/>
        </p:nvSpPr>
        <p:spPr>
          <a:xfrm>
            <a:off x="513588"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6" name="TextBox 3">
            <a:extLst>
              <a:ext uri="{FF2B5EF4-FFF2-40B4-BE49-F238E27FC236}">
                <a16:creationId xmlns:a16="http://schemas.microsoft.com/office/drawing/2014/main" id="{86DDB811-BACF-B8A1-4D14-458458917DCF}"/>
              </a:ext>
            </a:extLst>
          </p:cNvPr>
          <p:cNvSpPr txBox="1"/>
          <p:nvPr/>
        </p:nvSpPr>
        <p:spPr>
          <a:xfrm>
            <a:off x="1266465"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研究动机</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7" name="Rectangle 4">
            <a:extLst>
              <a:ext uri="{FF2B5EF4-FFF2-40B4-BE49-F238E27FC236}">
                <a16:creationId xmlns:a16="http://schemas.microsoft.com/office/drawing/2014/main" id="{9BA86778-0A6E-303F-F477-FAD53BBD0BDB}"/>
              </a:ext>
            </a:extLst>
          </p:cNvPr>
          <p:cNvSpPr/>
          <p:nvPr/>
        </p:nvSpPr>
        <p:spPr>
          <a:xfrm>
            <a:off x="3375660" y="609116"/>
            <a:ext cx="2487168" cy="329184"/>
          </a:xfrm>
          <a:prstGeom prst="rect">
            <a:avLst/>
          </a:prstGeom>
          <a:solidFill>
            <a:schemeClr val="tx2">
              <a:lumMod val="75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8" name="TextBox 6">
            <a:extLst>
              <a:ext uri="{FF2B5EF4-FFF2-40B4-BE49-F238E27FC236}">
                <a16:creationId xmlns:a16="http://schemas.microsoft.com/office/drawing/2014/main" id="{510C000E-B272-A7E8-74BE-974126F920D9}"/>
              </a:ext>
            </a:extLst>
          </p:cNvPr>
          <p:cNvSpPr txBox="1"/>
          <p:nvPr/>
        </p:nvSpPr>
        <p:spPr>
          <a:xfrm>
            <a:off x="4168374"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white"/>
                </a:solidFill>
                <a:effectLst/>
                <a:uLnTx/>
                <a:uFillTx/>
                <a:latin typeface="Noto Sans CJK SC"/>
                <a:ea typeface="微软雅黑"/>
                <a:cs typeface="+mn-cs"/>
              </a:rPr>
              <a:t>研究方法</a:t>
            </a:r>
          </a:p>
        </p:txBody>
      </p:sp>
      <p:sp>
        <p:nvSpPr>
          <p:cNvPr id="9" name="Rectangle 7">
            <a:extLst>
              <a:ext uri="{FF2B5EF4-FFF2-40B4-BE49-F238E27FC236}">
                <a16:creationId xmlns:a16="http://schemas.microsoft.com/office/drawing/2014/main" id="{51CBE44D-9B50-C5A6-E490-838A7D1ED7DC}"/>
              </a:ext>
            </a:extLst>
          </p:cNvPr>
          <p:cNvSpPr/>
          <p:nvPr/>
        </p:nvSpPr>
        <p:spPr>
          <a:xfrm>
            <a:off x="6237732"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0" name="TextBox 9">
            <a:extLst>
              <a:ext uri="{FF2B5EF4-FFF2-40B4-BE49-F238E27FC236}">
                <a16:creationId xmlns:a16="http://schemas.microsoft.com/office/drawing/2014/main" id="{3F073ED7-3A20-6B28-C2C4-52F43E0C204F}"/>
              </a:ext>
            </a:extLst>
          </p:cNvPr>
          <p:cNvSpPr txBox="1"/>
          <p:nvPr/>
        </p:nvSpPr>
        <p:spPr>
          <a:xfrm>
            <a:off x="7085310" y="609116"/>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实验设计</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1" name="Rectangle 10">
            <a:extLst>
              <a:ext uri="{FF2B5EF4-FFF2-40B4-BE49-F238E27FC236}">
                <a16:creationId xmlns:a16="http://schemas.microsoft.com/office/drawing/2014/main" id="{7772B9BF-1507-DC52-03D1-61035BB26EB7}"/>
              </a:ext>
            </a:extLst>
          </p:cNvPr>
          <p:cNvSpPr/>
          <p:nvPr/>
        </p:nvSpPr>
        <p:spPr>
          <a:xfrm>
            <a:off x="9099804"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2" name="TextBox 12">
            <a:extLst>
              <a:ext uri="{FF2B5EF4-FFF2-40B4-BE49-F238E27FC236}">
                <a16:creationId xmlns:a16="http://schemas.microsoft.com/office/drawing/2014/main" id="{798D08B0-90D7-348B-545C-D474EFD5469F}"/>
              </a:ext>
            </a:extLst>
          </p:cNvPr>
          <p:cNvSpPr txBox="1"/>
          <p:nvPr/>
        </p:nvSpPr>
        <p:spPr>
          <a:xfrm>
            <a:off x="9866758" y="621113"/>
            <a:ext cx="971548"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1F497D">
                    <a:lumMod val="75000"/>
                  </a:srgbClr>
                </a:solidFill>
                <a:effectLst/>
                <a:uLnTx/>
                <a:uFillTx/>
                <a:latin typeface="Noto Sans CJK SC"/>
                <a:ea typeface="微软雅黑"/>
                <a:cs typeface="+mn-cs"/>
              </a:rPr>
              <a:t>总结与启发</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3" name="TextBox 16">
            <a:extLst>
              <a:ext uri="{FF2B5EF4-FFF2-40B4-BE49-F238E27FC236}">
                <a16:creationId xmlns:a16="http://schemas.microsoft.com/office/drawing/2014/main" id="{96D9231B-8245-CD6C-5329-544E8A43D252}"/>
              </a:ext>
            </a:extLst>
          </p:cNvPr>
          <p:cNvSpPr txBox="1"/>
          <p:nvPr/>
        </p:nvSpPr>
        <p:spPr>
          <a:xfrm>
            <a:off x="449580" y="1057172"/>
            <a:ext cx="6900543" cy="458587"/>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500" b="1" i="0" u="none" strike="noStrike" kern="1200" cap="none" spc="0" normalizeH="0" baseline="0" noProof="0" dirty="0">
                <a:ln>
                  <a:noFill/>
                </a:ln>
                <a:solidFill>
                  <a:srgbClr val="14233E"/>
                </a:solidFill>
                <a:effectLst/>
                <a:uLnTx/>
                <a:uFillTx/>
                <a:latin typeface="Noto Sans CJK SC"/>
                <a:ea typeface="微软雅黑"/>
                <a:cs typeface="+mn-cs"/>
              </a:rPr>
              <a:t>Contrastive-tuning</a:t>
            </a: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：以</a:t>
            </a:r>
            <a:r>
              <a:rPr kumimoji="0" lang="en-US" altLang="zh-CN" sz="2500" b="1" i="0" u="none" strike="noStrike" kern="1200" cap="none" spc="0" normalizeH="0" baseline="0" noProof="0" dirty="0">
                <a:ln>
                  <a:noFill/>
                </a:ln>
                <a:solidFill>
                  <a:srgbClr val="14233E"/>
                </a:solidFill>
                <a:effectLst/>
                <a:uLnTx/>
                <a:uFillTx/>
                <a:latin typeface="Noto Sans CJK SC"/>
                <a:ea typeface="微软雅黑"/>
                <a:cs typeface="+mn-cs"/>
              </a:rPr>
              <a:t>L / U / u </a:t>
            </a: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定义设计选择空间</a:t>
            </a:r>
          </a:p>
        </p:txBody>
      </p:sp>
      <p:cxnSp>
        <p:nvCxnSpPr>
          <p:cNvPr id="14" name="Connector 17">
            <a:extLst>
              <a:ext uri="{FF2B5EF4-FFF2-40B4-BE49-F238E27FC236}">
                <a16:creationId xmlns:a16="http://schemas.microsoft.com/office/drawing/2014/main" id="{3B07B05B-FDC3-C499-DD52-04453FC0B46D}"/>
              </a:ext>
            </a:extLst>
          </p:cNvPr>
          <p:cNvCxnSpPr/>
          <p:nvPr/>
        </p:nvCxnSpPr>
        <p:spPr>
          <a:xfrm>
            <a:off x="449580" y="1614956"/>
            <a:ext cx="11183112" cy="0"/>
          </a:xfrm>
          <a:prstGeom prst="line">
            <a:avLst/>
          </a:prstGeom>
          <a:ln w="28575">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pic>
        <p:nvPicPr>
          <p:cNvPr id="3" name="图片 2">
            <a:extLst>
              <a:ext uri="{FF2B5EF4-FFF2-40B4-BE49-F238E27FC236}">
                <a16:creationId xmlns:a16="http://schemas.microsoft.com/office/drawing/2014/main" id="{DFAA5F21-F905-28A2-418A-4AA9D8DFFDC6}"/>
              </a:ext>
            </a:extLst>
          </p:cNvPr>
          <p:cNvPicPr>
            <a:picLocks noChangeAspect="1"/>
          </p:cNvPicPr>
          <p:nvPr/>
        </p:nvPicPr>
        <p:blipFill>
          <a:blip r:embed="rId3"/>
          <a:stretch>
            <a:fillRect/>
          </a:stretch>
        </p:blipFill>
        <p:spPr>
          <a:xfrm>
            <a:off x="830172" y="1968616"/>
            <a:ext cx="6652882" cy="3247793"/>
          </a:xfrm>
          <a:prstGeom prst="rect">
            <a:avLst/>
          </a:prstGeom>
        </p:spPr>
      </p:pic>
      <p:cxnSp>
        <p:nvCxnSpPr>
          <p:cNvPr id="4" name="直接连接符 3">
            <a:extLst>
              <a:ext uri="{FF2B5EF4-FFF2-40B4-BE49-F238E27FC236}">
                <a16:creationId xmlns:a16="http://schemas.microsoft.com/office/drawing/2014/main" id="{2DF60F05-2B55-37EE-67D0-C84D957164D6}"/>
              </a:ext>
            </a:extLst>
          </p:cNvPr>
          <p:cNvCxnSpPr>
            <a:cxnSpLocks/>
          </p:cNvCxnSpPr>
          <p:nvPr/>
        </p:nvCxnSpPr>
        <p:spPr>
          <a:xfrm>
            <a:off x="7877322" y="1995251"/>
            <a:ext cx="0" cy="3427411"/>
          </a:xfrm>
          <a:prstGeom prst="line">
            <a:avLst/>
          </a:prstGeom>
          <a:ln>
            <a:solidFill>
              <a:schemeClr val="accent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17" name="Rounded Rectangle 18">
            <a:extLst>
              <a:ext uri="{FF2B5EF4-FFF2-40B4-BE49-F238E27FC236}">
                <a16:creationId xmlns:a16="http://schemas.microsoft.com/office/drawing/2014/main" id="{8B8FB5EF-527A-3614-1D06-28FD6DE7CA01}"/>
              </a:ext>
            </a:extLst>
          </p:cNvPr>
          <p:cNvSpPr/>
          <p:nvPr/>
        </p:nvSpPr>
        <p:spPr>
          <a:xfrm>
            <a:off x="8675489" y="2400207"/>
            <a:ext cx="2365016" cy="704085"/>
          </a:xfrm>
          <a:prstGeom prst="roundRect">
            <a:avLst>
              <a:gd name="adj" fmla="val 8000"/>
            </a:avLst>
          </a:prstGeom>
          <a:solidFill>
            <a:schemeClr val="accent4">
              <a:lumMod val="20000"/>
              <a:lumOff val="80000"/>
            </a:schemeClr>
          </a:solidFill>
          <a:ln w="2857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4F81BD"/>
              </a:solidFill>
              <a:effectLst/>
              <a:uLnTx/>
              <a:uFillTx/>
              <a:latin typeface="Cambria"/>
              <a:ea typeface="微软雅黑"/>
              <a:cs typeface="+mn-cs"/>
            </a:endParaRPr>
          </a:p>
        </p:txBody>
      </p:sp>
      <p:sp>
        <p:nvSpPr>
          <p:cNvPr id="19" name="Rounded Rectangle 18">
            <a:extLst>
              <a:ext uri="{FF2B5EF4-FFF2-40B4-BE49-F238E27FC236}">
                <a16:creationId xmlns:a16="http://schemas.microsoft.com/office/drawing/2014/main" id="{A2BE2C37-9CD4-7468-2353-A914A0708618}"/>
              </a:ext>
            </a:extLst>
          </p:cNvPr>
          <p:cNvSpPr/>
          <p:nvPr/>
        </p:nvSpPr>
        <p:spPr>
          <a:xfrm>
            <a:off x="8675489" y="3431952"/>
            <a:ext cx="2365016" cy="704085"/>
          </a:xfrm>
          <a:prstGeom prst="roundRect">
            <a:avLst>
              <a:gd name="adj" fmla="val 8000"/>
            </a:avLst>
          </a:prstGeom>
          <a:solidFill>
            <a:schemeClr val="accent4">
              <a:lumMod val="20000"/>
              <a:lumOff val="80000"/>
            </a:schemeClr>
          </a:solidFill>
          <a:ln w="2857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F81BD"/>
              </a:solidFill>
              <a:effectLst/>
              <a:uLnTx/>
              <a:uFillTx/>
              <a:latin typeface="Cambria"/>
              <a:ea typeface="微软雅黑"/>
              <a:cs typeface="+mn-cs"/>
            </a:endParaRPr>
          </a:p>
        </p:txBody>
      </p:sp>
      <p:sp>
        <p:nvSpPr>
          <p:cNvPr id="21" name="Rounded Rectangle 18">
            <a:extLst>
              <a:ext uri="{FF2B5EF4-FFF2-40B4-BE49-F238E27FC236}">
                <a16:creationId xmlns:a16="http://schemas.microsoft.com/office/drawing/2014/main" id="{CA4DD50B-025C-27A5-53B6-0CDB1F1D982B}"/>
              </a:ext>
            </a:extLst>
          </p:cNvPr>
          <p:cNvSpPr/>
          <p:nvPr/>
        </p:nvSpPr>
        <p:spPr>
          <a:xfrm>
            <a:off x="8689202" y="4443882"/>
            <a:ext cx="2365016" cy="704085"/>
          </a:xfrm>
          <a:prstGeom prst="roundRect">
            <a:avLst>
              <a:gd name="adj" fmla="val 8000"/>
            </a:avLst>
          </a:prstGeom>
          <a:solidFill>
            <a:schemeClr val="accent4">
              <a:lumMod val="20000"/>
              <a:lumOff val="80000"/>
            </a:schemeClr>
          </a:solidFill>
          <a:ln w="28575" cap="flat" cmpd="sng" algn="ctr">
            <a:solidFill>
              <a:schemeClr val="accent4"/>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F81BD"/>
              </a:solidFill>
              <a:effectLst/>
              <a:uLnTx/>
              <a:uFillTx/>
              <a:latin typeface="Cambria"/>
              <a:ea typeface="微软雅黑"/>
              <a:cs typeface="+mn-cs"/>
            </a:endParaRPr>
          </a:p>
        </p:txBody>
      </p:sp>
      <p:sp>
        <p:nvSpPr>
          <p:cNvPr id="30" name="Oval 19">
            <a:extLst>
              <a:ext uri="{FF2B5EF4-FFF2-40B4-BE49-F238E27FC236}">
                <a16:creationId xmlns:a16="http://schemas.microsoft.com/office/drawing/2014/main" id="{9F0405E6-5D5A-D28D-4FFB-38B41D6C1F08}"/>
              </a:ext>
            </a:extLst>
          </p:cNvPr>
          <p:cNvSpPr/>
          <p:nvPr/>
        </p:nvSpPr>
        <p:spPr>
          <a:xfrm>
            <a:off x="8777956" y="2487073"/>
            <a:ext cx="327660" cy="301754"/>
          </a:xfrm>
          <a:prstGeom prst="ellipse">
            <a:avLst/>
          </a:prstGeom>
          <a:solidFill>
            <a:schemeClr val="accent4"/>
          </a:solidFill>
          <a:ln>
            <a:solidFill>
              <a:schemeClr val="accent4">
                <a:lumMod val="40000"/>
                <a:lumOff val="60000"/>
              </a:schemeClr>
            </a:solidFill>
          </a:ln>
          <a:effectLst/>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a:ea typeface="微软雅黑"/>
                <a:cs typeface="+mn-cs"/>
              </a:rPr>
              <a:t>L</a:t>
            </a:r>
            <a:endParaRPr kumimoji="0"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34" name="Oval 19">
            <a:extLst>
              <a:ext uri="{FF2B5EF4-FFF2-40B4-BE49-F238E27FC236}">
                <a16:creationId xmlns:a16="http://schemas.microsoft.com/office/drawing/2014/main" id="{B389C1F4-7D3A-7091-A5EE-4D9814E92164}"/>
              </a:ext>
            </a:extLst>
          </p:cNvPr>
          <p:cNvSpPr/>
          <p:nvPr/>
        </p:nvSpPr>
        <p:spPr>
          <a:xfrm>
            <a:off x="8777956" y="3561031"/>
            <a:ext cx="327660" cy="301754"/>
          </a:xfrm>
          <a:prstGeom prst="ellipse">
            <a:avLst/>
          </a:prstGeom>
          <a:solidFill>
            <a:schemeClr val="accent4"/>
          </a:solidFill>
          <a:ln>
            <a:solidFill>
              <a:schemeClr val="accent4">
                <a:lumMod val="40000"/>
                <a:lumOff val="60000"/>
              </a:schemeClr>
            </a:solidFill>
          </a:ln>
          <a:effectLst/>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a:ea typeface="微软雅黑"/>
                <a:cs typeface="+mn-cs"/>
              </a:rPr>
              <a:t>U</a:t>
            </a:r>
            <a:endParaRPr kumimoji="0"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38" name="Oval 19">
            <a:extLst>
              <a:ext uri="{FF2B5EF4-FFF2-40B4-BE49-F238E27FC236}">
                <a16:creationId xmlns:a16="http://schemas.microsoft.com/office/drawing/2014/main" id="{DDD75BBA-7216-C4B9-7254-F54EC8F246F4}"/>
              </a:ext>
            </a:extLst>
          </p:cNvPr>
          <p:cNvSpPr/>
          <p:nvPr/>
        </p:nvSpPr>
        <p:spPr>
          <a:xfrm>
            <a:off x="8791669" y="4573423"/>
            <a:ext cx="327660" cy="301754"/>
          </a:xfrm>
          <a:prstGeom prst="ellipse">
            <a:avLst/>
          </a:prstGeom>
          <a:solidFill>
            <a:schemeClr val="accent4"/>
          </a:solidFill>
          <a:ln>
            <a:solidFill>
              <a:schemeClr val="accent4">
                <a:lumMod val="40000"/>
                <a:lumOff val="60000"/>
              </a:schemeClr>
            </a:solidFill>
          </a:ln>
          <a:effectLst/>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mbria"/>
                <a:ea typeface="微软雅黑"/>
                <a:cs typeface="+mn-cs"/>
              </a:rPr>
              <a:t>u</a:t>
            </a:r>
            <a:endParaRPr kumimoji="0"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40" name="文本框 39">
            <a:extLst>
              <a:ext uri="{FF2B5EF4-FFF2-40B4-BE49-F238E27FC236}">
                <a16:creationId xmlns:a16="http://schemas.microsoft.com/office/drawing/2014/main" id="{42B48BD1-F37F-4AB5-2F23-91DB8593D1AC}"/>
              </a:ext>
            </a:extLst>
          </p:cNvPr>
          <p:cNvSpPr txBox="1"/>
          <p:nvPr/>
        </p:nvSpPr>
        <p:spPr>
          <a:xfrm>
            <a:off x="9105616" y="2558828"/>
            <a:ext cx="1934889"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是否使用预训练模型：是</a:t>
            </a:r>
            <a:endParaRPr kumimoji="0" lang="en-US" altLang="zh-CN" sz="12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模型参数是否可更新：否</a:t>
            </a:r>
          </a:p>
        </p:txBody>
      </p:sp>
      <p:sp>
        <p:nvSpPr>
          <p:cNvPr id="45" name="文本框 44">
            <a:extLst>
              <a:ext uri="{FF2B5EF4-FFF2-40B4-BE49-F238E27FC236}">
                <a16:creationId xmlns:a16="http://schemas.microsoft.com/office/drawing/2014/main" id="{9681D4E4-38E0-F0EF-FFBD-A0D6F8DA2330}"/>
              </a:ext>
            </a:extLst>
          </p:cNvPr>
          <p:cNvSpPr txBox="1"/>
          <p:nvPr/>
        </p:nvSpPr>
        <p:spPr>
          <a:xfrm>
            <a:off x="9105615" y="3548857"/>
            <a:ext cx="1934889"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是否使用预训练模型：是</a:t>
            </a:r>
            <a:endParaRPr kumimoji="0" lang="en-US" altLang="zh-CN" sz="12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模型参数是否可更新：是</a:t>
            </a:r>
          </a:p>
        </p:txBody>
      </p:sp>
      <p:sp>
        <p:nvSpPr>
          <p:cNvPr id="47" name="文本框 46">
            <a:extLst>
              <a:ext uri="{FF2B5EF4-FFF2-40B4-BE49-F238E27FC236}">
                <a16:creationId xmlns:a16="http://schemas.microsoft.com/office/drawing/2014/main" id="{04F67676-161A-B091-8E45-CACD0822F888}"/>
              </a:ext>
            </a:extLst>
          </p:cNvPr>
          <p:cNvSpPr txBox="1"/>
          <p:nvPr/>
        </p:nvSpPr>
        <p:spPr>
          <a:xfrm>
            <a:off x="9154679" y="4569397"/>
            <a:ext cx="1934889"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是否使用预训练模型：否</a:t>
            </a:r>
            <a:endParaRPr kumimoji="0" lang="en-US" altLang="zh-CN" sz="12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模型参数是否可更新：是</a:t>
            </a:r>
          </a:p>
        </p:txBody>
      </p:sp>
      <p:grpSp>
        <p:nvGrpSpPr>
          <p:cNvPr id="70" name="组合 69">
            <a:extLst>
              <a:ext uri="{FF2B5EF4-FFF2-40B4-BE49-F238E27FC236}">
                <a16:creationId xmlns:a16="http://schemas.microsoft.com/office/drawing/2014/main" id="{4BE1667F-C6C9-B56C-DD7F-4848360959B7}"/>
              </a:ext>
            </a:extLst>
          </p:cNvPr>
          <p:cNvGrpSpPr/>
          <p:nvPr/>
        </p:nvGrpSpPr>
        <p:grpSpPr>
          <a:xfrm>
            <a:off x="958149" y="5669936"/>
            <a:ext cx="2042607" cy="744752"/>
            <a:chOff x="1063772" y="5676350"/>
            <a:chExt cx="2228068" cy="744752"/>
          </a:xfrm>
        </p:grpSpPr>
        <p:sp>
          <p:nvSpPr>
            <p:cNvPr id="51" name="Rounded Rectangle 21">
              <a:extLst>
                <a:ext uri="{FF2B5EF4-FFF2-40B4-BE49-F238E27FC236}">
                  <a16:creationId xmlns:a16="http://schemas.microsoft.com/office/drawing/2014/main" id="{F19E7865-8FC7-6922-5E0A-D585CFADC3AB}"/>
                </a:ext>
              </a:extLst>
            </p:cNvPr>
            <p:cNvSpPr/>
            <p:nvPr/>
          </p:nvSpPr>
          <p:spPr>
            <a:xfrm>
              <a:off x="1063772" y="5676350"/>
              <a:ext cx="2228068" cy="744752"/>
            </a:xfrm>
            <a:prstGeom prst="roundRect">
              <a:avLst>
                <a:gd name="adj" fmla="val 8000"/>
              </a:avLst>
            </a:prstGeom>
            <a:solidFill>
              <a:schemeClr val="accent6">
                <a:lumMod val="20000"/>
                <a:lumOff val="80000"/>
              </a:schemeClr>
            </a:solidFill>
            <a:ln w="28575">
              <a:solidFill>
                <a:schemeClr val="accent6">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rPr>
                <a:t> </a:t>
              </a:r>
              <a:endParaRPr kumimoji="0"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53" name="TextBox 40">
              <a:extLst>
                <a:ext uri="{FF2B5EF4-FFF2-40B4-BE49-F238E27FC236}">
                  <a16:creationId xmlns:a16="http://schemas.microsoft.com/office/drawing/2014/main" id="{BC7030D3-1AE8-0FB6-49A4-C3424F5F6DD2}"/>
                </a:ext>
              </a:extLst>
            </p:cNvPr>
            <p:cNvSpPr txBox="1"/>
            <p:nvPr/>
          </p:nvSpPr>
          <p:spPr>
            <a:xfrm>
              <a:off x="1902269" y="5800597"/>
              <a:ext cx="1238443" cy="473976"/>
            </a:xfrm>
            <a:prstGeom prst="rect">
              <a:avLst/>
            </a:prstGeom>
            <a:noFill/>
          </p:spPr>
          <p:txBody>
            <a:bodyPr wrap="squar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dirty="0">
                  <a:ln>
                    <a:noFill/>
                  </a:ln>
                  <a:solidFill>
                    <a:srgbClr val="1E293B"/>
                  </a:solidFill>
                  <a:effectLst/>
                  <a:uLnTx/>
                  <a:uFillTx/>
                  <a:latin typeface="Noto Sans CJK SC"/>
                  <a:ea typeface="微软雅黑"/>
                  <a:cs typeface="+mn-cs"/>
                </a:rPr>
                <a:t>CLIP / ALIGN
</a:t>
              </a:r>
              <a:r>
                <a:rPr kumimoji="0" sz="1300" b="0" i="0" u="none" strike="noStrike" kern="1200" cap="none" spc="0" normalizeH="0" baseline="0" noProof="0" dirty="0" err="1">
                  <a:ln>
                    <a:noFill/>
                  </a:ln>
                  <a:solidFill>
                    <a:srgbClr val="1E293B"/>
                  </a:solidFill>
                  <a:effectLst/>
                  <a:uLnTx/>
                  <a:uFillTx/>
                  <a:latin typeface="微软雅黑"/>
                  <a:ea typeface="微软雅黑"/>
                  <a:cs typeface="+mn-cs"/>
                </a:rPr>
                <a:t>两塔从零训练</a:t>
              </a:r>
              <a:endParaRPr kumimoji="0" sz="1300" b="0" i="0" u="none" strike="noStrike" kern="1200" cap="none" spc="0" normalizeH="0" baseline="0" noProof="0" dirty="0">
                <a:ln>
                  <a:noFill/>
                </a:ln>
                <a:solidFill>
                  <a:srgbClr val="1E293B"/>
                </a:solidFill>
                <a:effectLst/>
                <a:uLnTx/>
                <a:uFillTx/>
                <a:latin typeface="微软雅黑"/>
                <a:ea typeface="微软雅黑"/>
                <a:cs typeface="+mn-cs"/>
              </a:endParaRPr>
            </a:p>
          </p:txBody>
        </p:sp>
        <p:sp>
          <p:nvSpPr>
            <p:cNvPr id="57" name="Oval 19">
              <a:extLst>
                <a:ext uri="{FF2B5EF4-FFF2-40B4-BE49-F238E27FC236}">
                  <a16:creationId xmlns:a16="http://schemas.microsoft.com/office/drawing/2014/main" id="{89B931CA-A275-66D4-71BA-E3634FEA66B7}"/>
                </a:ext>
              </a:extLst>
            </p:cNvPr>
            <p:cNvSpPr/>
            <p:nvPr/>
          </p:nvSpPr>
          <p:spPr>
            <a:xfrm>
              <a:off x="1142759" y="5756762"/>
              <a:ext cx="634040" cy="349350"/>
            </a:xfrm>
            <a:prstGeom prst="ellipse">
              <a:avLst/>
            </a:prstGeom>
            <a:solidFill>
              <a:schemeClr val="accent6">
                <a:lumMod val="75000"/>
              </a:schemeClr>
            </a:solidFill>
            <a:ln>
              <a:solidFill>
                <a:schemeClr val="accent6">
                  <a:lumMod val="60000"/>
                  <a:lumOff val="40000"/>
                </a:schemeClr>
              </a:solidFill>
            </a:ln>
            <a:effectLst/>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err="1">
                  <a:ln>
                    <a:noFill/>
                  </a:ln>
                  <a:solidFill>
                    <a:prstClr val="white"/>
                  </a:solidFill>
                  <a:effectLst/>
                  <a:uLnTx/>
                  <a:uFillTx/>
                  <a:latin typeface="Cambria"/>
                  <a:ea typeface="微软雅黑"/>
                  <a:cs typeface="+mn-cs"/>
                </a:rPr>
                <a:t>uu</a:t>
              </a:r>
              <a:endParaRPr kumimoji="0" sz="1600" b="0" i="0" u="none" strike="noStrike" kern="1200" cap="none" spc="0" normalizeH="0" baseline="0" noProof="0" dirty="0">
                <a:ln>
                  <a:noFill/>
                </a:ln>
                <a:solidFill>
                  <a:prstClr val="white"/>
                </a:solidFill>
                <a:effectLst/>
                <a:uLnTx/>
                <a:uFillTx/>
                <a:latin typeface="Cambria"/>
                <a:ea typeface="微软雅黑"/>
                <a:cs typeface="+mn-cs"/>
              </a:endParaRPr>
            </a:p>
          </p:txBody>
        </p:sp>
      </p:grpSp>
      <p:sp>
        <p:nvSpPr>
          <p:cNvPr id="59" name="Rounded Rectangle 21">
            <a:extLst>
              <a:ext uri="{FF2B5EF4-FFF2-40B4-BE49-F238E27FC236}">
                <a16:creationId xmlns:a16="http://schemas.microsoft.com/office/drawing/2014/main" id="{3FCC6218-A157-5B21-8A70-87EA86143375}"/>
              </a:ext>
            </a:extLst>
          </p:cNvPr>
          <p:cNvSpPr/>
          <p:nvPr/>
        </p:nvSpPr>
        <p:spPr>
          <a:xfrm>
            <a:off x="3192445" y="5664541"/>
            <a:ext cx="2056313" cy="733555"/>
          </a:xfrm>
          <a:prstGeom prst="roundRect">
            <a:avLst>
              <a:gd name="adj" fmla="val 8000"/>
            </a:avLst>
          </a:prstGeom>
          <a:solidFill>
            <a:schemeClr val="accent6">
              <a:lumMod val="20000"/>
              <a:lumOff val="80000"/>
            </a:schemeClr>
          </a:solidFill>
          <a:ln w="28575">
            <a:solidFill>
              <a:schemeClr val="accent6">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rPr>
              <a:t> </a:t>
            </a:r>
            <a:endParaRPr kumimoji="0"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61" name="TextBox 40">
            <a:extLst>
              <a:ext uri="{FF2B5EF4-FFF2-40B4-BE49-F238E27FC236}">
                <a16:creationId xmlns:a16="http://schemas.microsoft.com/office/drawing/2014/main" id="{722DFF11-E6C6-C2C9-5140-0E270C0A382F}"/>
              </a:ext>
            </a:extLst>
          </p:cNvPr>
          <p:cNvSpPr txBox="1"/>
          <p:nvPr/>
        </p:nvSpPr>
        <p:spPr>
          <a:xfrm>
            <a:off x="3971540" y="5788788"/>
            <a:ext cx="1259354" cy="473976"/>
          </a:xfrm>
          <a:prstGeom prst="rect">
            <a:avLst/>
          </a:prstGeom>
          <a:noFill/>
        </p:spPr>
        <p:txBody>
          <a:bodyPr wrap="squar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srgbClr val="1E293B"/>
                </a:solidFill>
                <a:effectLst/>
                <a:uLnTx/>
                <a:uFillTx/>
                <a:latin typeface="Noto Sans CJK SC"/>
                <a:ea typeface="微软雅黑"/>
                <a:cs typeface="+mn-cs"/>
              </a:rPr>
              <a:t>传统迁移学习，</a:t>
            </a:r>
            <a:endParaRPr kumimoji="0" lang="en-US" altLang="zh-CN" sz="1300" b="0" i="0" u="none" strike="noStrike" kern="1200" cap="none" spc="0" normalizeH="0" baseline="0" noProof="0" dirty="0">
              <a:ln>
                <a:noFill/>
              </a:ln>
              <a:solidFill>
                <a:srgbClr val="1E293B"/>
              </a:solidFill>
              <a:effectLst/>
              <a:uLnTx/>
              <a:uFillTx/>
              <a:latin typeface="Noto Sans CJK SC"/>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E293B"/>
                </a:solidFill>
                <a:effectLst/>
                <a:uLnTx/>
                <a:uFillTx/>
                <a:latin typeface="Noto Sans CJK SC"/>
                <a:ea typeface="微软雅黑"/>
                <a:cs typeface="+mn-cs"/>
              </a:rPr>
              <a:t>Pretrained-&gt;</a:t>
            </a:r>
            <a:r>
              <a:rPr kumimoji="0" lang="zh-CN" altLang="en-US" sz="1300" b="0" i="0" u="none" strike="noStrike" kern="1200" cap="none" spc="0" normalizeH="0" baseline="0" noProof="0" dirty="0">
                <a:ln>
                  <a:noFill/>
                </a:ln>
                <a:solidFill>
                  <a:srgbClr val="1E293B"/>
                </a:solidFill>
                <a:effectLst/>
                <a:uLnTx/>
                <a:uFillTx/>
                <a:latin typeface="Noto Sans CJK SC"/>
                <a:ea typeface="微软雅黑"/>
                <a:cs typeface="+mn-cs"/>
              </a:rPr>
              <a:t>微调</a:t>
            </a:r>
            <a:endParaRPr kumimoji="0" sz="1300" b="0" i="0" u="none" strike="noStrike" kern="1200" cap="none" spc="0" normalizeH="0" baseline="0" noProof="0" dirty="0">
              <a:ln>
                <a:noFill/>
              </a:ln>
              <a:solidFill>
                <a:srgbClr val="1E293B"/>
              </a:solidFill>
              <a:effectLst/>
              <a:uLnTx/>
              <a:uFillTx/>
              <a:latin typeface="微软雅黑"/>
              <a:ea typeface="微软雅黑"/>
              <a:cs typeface="+mn-cs"/>
            </a:endParaRPr>
          </a:p>
        </p:txBody>
      </p:sp>
      <p:sp>
        <p:nvSpPr>
          <p:cNvPr id="63" name="Oval 19">
            <a:extLst>
              <a:ext uri="{FF2B5EF4-FFF2-40B4-BE49-F238E27FC236}">
                <a16:creationId xmlns:a16="http://schemas.microsoft.com/office/drawing/2014/main" id="{76782224-D23A-F4F6-20BF-D54A718E0BDC}"/>
              </a:ext>
            </a:extLst>
          </p:cNvPr>
          <p:cNvSpPr/>
          <p:nvPr/>
        </p:nvSpPr>
        <p:spPr>
          <a:xfrm>
            <a:off x="3271432" y="5744953"/>
            <a:ext cx="585164" cy="344098"/>
          </a:xfrm>
          <a:prstGeom prst="ellipse">
            <a:avLst/>
          </a:prstGeom>
          <a:solidFill>
            <a:schemeClr val="accent6">
              <a:lumMod val="75000"/>
            </a:schemeClr>
          </a:solidFill>
          <a:ln>
            <a:solidFill>
              <a:schemeClr val="accent6">
                <a:lumMod val="60000"/>
                <a:lumOff val="40000"/>
              </a:schemeClr>
            </a:solidFill>
          </a:ln>
          <a:effectLst/>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err="1">
                <a:ln>
                  <a:noFill/>
                </a:ln>
                <a:solidFill>
                  <a:prstClr val="white"/>
                </a:solidFill>
                <a:effectLst/>
                <a:uLnTx/>
                <a:uFillTx/>
                <a:latin typeface="Cambria"/>
                <a:ea typeface="微软雅黑"/>
                <a:cs typeface="+mn-cs"/>
              </a:rPr>
              <a:t>Uu</a:t>
            </a:r>
            <a:endParaRPr kumimoji="0" sz="16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65" name="Rounded Rectangle 21">
            <a:extLst>
              <a:ext uri="{FF2B5EF4-FFF2-40B4-BE49-F238E27FC236}">
                <a16:creationId xmlns:a16="http://schemas.microsoft.com/office/drawing/2014/main" id="{8F44C877-223C-80C2-064E-F07696D2FA62}"/>
              </a:ext>
            </a:extLst>
          </p:cNvPr>
          <p:cNvSpPr/>
          <p:nvPr/>
        </p:nvSpPr>
        <p:spPr>
          <a:xfrm>
            <a:off x="5440447" y="5661057"/>
            <a:ext cx="2042607" cy="733555"/>
          </a:xfrm>
          <a:prstGeom prst="roundRect">
            <a:avLst>
              <a:gd name="adj" fmla="val 8000"/>
            </a:avLst>
          </a:prstGeom>
          <a:solidFill>
            <a:schemeClr val="accent6">
              <a:lumMod val="20000"/>
              <a:lumOff val="80000"/>
            </a:schemeClr>
          </a:solidFill>
          <a:ln w="28575">
            <a:solidFill>
              <a:schemeClr val="accent6">
                <a:lumMod val="75000"/>
              </a:schemeClr>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rPr>
              <a:t> </a:t>
            </a:r>
            <a:endParaRPr kumimoji="0"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67" name="TextBox 40">
            <a:extLst>
              <a:ext uri="{FF2B5EF4-FFF2-40B4-BE49-F238E27FC236}">
                <a16:creationId xmlns:a16="http://schemas.microsoft.com/office/drawing/2014/main" id="{5B263E36-9595-41F4-B058-C4B589E8A4E8}"/>
              </a:ext>
            </a:extLst>
          </p:cNvPr>
          <p:cNvSpPr txBox="1"/>
          <p:nvPr/>
        </p:nvSpPr>
        <p:spPr>
          <a:xfrm>
            <a:off x="6203821" y="5734052"/>
            <a:ext cx="1563388" cy="680636"/>
          </a:xfrm>
          <a:prstGeom prst="rect">
            <a:avLst/>
          </a:prstGeom>
          <a:noFill/>
        </p:spPr>
        <p:txBody>
          <a:bodyPr wrap="squar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srgbClr val="1E293B"/>
                </a:solidFill>
                <a:effectLst/>
                <a:uLnTx/>
                <a:uFillTx/>
                <a:latin typeface="Noto Sans CJK SC"/>
                <a:ea typeface="微软雅黑"/>
                <a:cs typeface="+mn-cs"/>
              </a:rPr>
              <a:t>LiT</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E293B"/>
                </a:solidFill>
                <a:effectLst/>
                <a:uLnTx/>
                <a:uFillTx/>
                <a:latin typeface="Noto Sans CJK SC"/>
                <a:ea typeface="微软雅黑"/>
                <a:cs typeface="+mn-cs"/>
              </a:rPr>
              <a:t>Locked image</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1E293B"/>
                </a:solidFill>
                <a:effectLst/>
                <a:uLnTx/>
                <a:uFillTx/>
                <a:latin typeface="Noto Sans CJK SC"/>
                <a:ea typeface="微软雅黑"/>
                <a:cs typeface="+mn-cs"/>
              </a:rPr>
              <a:t> tower</a:t>
            </a:r>
            <a:endParaRPr kumimoji="0" lang="zh-CN" altLang="en-US" sz="1400" b="0" i="0" u="none" strike="noStrike" kern="1200" cap="none" spc="0" normalizeH="0" baseline="0" noProof="0" dirty="0">
              <a:ln>
                <a:noFill/>
              </a:ln>
              <a:solidFill>
                <a:srgbClr val="1E293B"/>
              </a:solidFill>
              <a:effectLst/>
              <a:uLnTx/>
              <a:uFillTx/>
              <a:latin typeface="微软雅黑"/>
              <a:ea typeface="微软雅黑"/>
              <a:cs typeface="+mn-cs"/>
            </a:endParaRPr>
          </a:p>
        </p:txBody>
      </p:sp>
      <p:sp>
        <p:nvSpPr>
          <p:cNvPr id="69" name="Oval 19">
            <a:extLst>
              <a:ext uri="{FF2B5EF4-FFF2-40B4-BE49-F238E27FC236}">
                <a16:creationId xmlns:a16="http://schemas.microsoft.com/office/drawing/2014/main" id="{E1F672D5-D02F-E217-2614-C1E55A1DFBBC}"/>
              </a:ext>
            </a:extLst>
          </p:cNvPr>
          <p:cNvSpPr/>
          <p:nvPr/>
        </p:nvSpPr>
        <p:spPr>
          <a:xfrm>
            <a:off x="5519434" y="5741469"/>
            <a:ext cx="581263" cy="344098"/>
          </a:xfrm>
          <a:prstGeom prst="ellipse">
            <a:avLst/>
          </a:prstGeom>
          <a:solidFill>
            <a:schemeClr val="accent6">
              <a:lumMod val="75000"/>
            </a:schemeClr>
          </a:solidFill>
          <a:ln>
            <a:solidFill>
              <a:schemeClr val="accent6">
                <a:lumMod val="60000"/>
                <a:lumOff val="40000"/>
              </a:schemeClr>
            </a:solidFill>
          </a:ln>
          <a:effectLst/>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Cambria"/>
                <a:ea typeface="微软雅黑"/>
                <a:cs typeface="+mn-cs"/>
              </a:rPr>
              <a:t>Lu</a:t>
            </a:r>
            <a:endParaRPr kumimoji="0" sz="1600" b="0" i="0" u="none" strike="noStrike" kern="1200" cap="none" spc="0" normalizeH="0" baseline="0" noProof="0" dirty="0">
              <a:ln>
                <a:noFill/>
              </a:ln>
              <a:solidFill>
                <a:prstClr val="white"/>
              </a:solidFill>
              <a:effectLst/>
              <a:uLnTx/>
              <a:uFillTx/>
              <a:latin typeface="Cambria"/>
              <a:ea typeface="微软雅黑"/>
              <a:cs typeface="+mn-cs"/>
            </a:endParaRPr>
          </a:p>
        </p:txBody>
      </p:sp>
    </p:spTree>
    <p:extLst>
      <p:ext uri="{BB962C8B-B14F-4D97-AF65-F5344CB8AC3E}">
        <p14:creationId xmlns:p14="http://schemas.microsoft.com/office/powerpoint/2010/main" val="3035718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AA10F-DE43-BB4E-DC45-E9F8F3D1A13A}"/>
            </a:ext>
          </a:extLst>
        </p:cNvPr>
        <p:cNvGrpSpPr/>
        <p:nvPr/>
      </p:nvGrpSpPr>
      <p:grpSpPr>
        <a:xfrm>
          <a:off x="0" y="0"/>
          <a:ext cx="0" cy="0"/>
          <a:chOff x="0" y="0"/>
          <a:chExt cx="0" cy="0"/>
        </a:xfrm>
      </p:grpSpPr>
      <p:sp>
        <p:nvSpPr>
          <p:cNvPr id="118" name="Rounded Rectangle 21">
            <a:extLst>
              <a:ext uri="{FF2B5EF4-FFF2-40B4-BE49-F238E27FC236}">
                <a16:creationId xmlns:a16="http://schemas.microsoft.com/office/drawing/2014/main" id="{C2BB13BE-9D81-A102-5300-626D1693A11D}"/>
              </a:ext>
            </a:extLst>
          </p:cNvPr>
          <p:cNvSpPr/>
          <p:nvPr/>
        </p:nvSpPr>
        <p:spPr>
          <a:xfrm>
            <a:off x="8067885" y="4024713"/>
            <a:ext cx="2538007" cy="1600199"/>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16" name="Rounded Rectangle 21">
            <a:extLst>
              <a:ext uri="{FF2B5EF4-FFF2-40B4-BE49-F238E27FC236}">
                <a16:creationId xmlns:a16="http://schemas.microsoft.com/office/drawing/2014/main" id="{5510209C-483A-77BB-A992-EDB05E298505}"/>
              </a:ext>
            </a:extLst>
          </p:cNvPr>
          <p:cNvSpPr/>
          <p:nvPr/>
        </p:nvSpPr>
        <p:spPr>
          <a:xfrm>
            <a:off x="4838500" y="4012358"/>
            <a:ext cx="2538007" cy="1600199"/>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14" name="Rounded Rectangle 21">
            <a:extLst>
              <a:ext uri="{FF2B5EF4-FFF2-40B4-BE49-F238E27FC236}">
                <a16:creationId xmlns:a16="http://schemas.microsoft.com/office/drawing/2014/main" id="{B86DFA42-4D3D-4657-6409-2D61D936B244}"/>
              </a:ext>
            </a:extLst>
          </p:cNvPr>
          <p:cNvSpPr/>
          <p:nvPr/>
        </p:nvSpPr>
        <p:spPr>
          <a:xfrm>
            <a:off x="1609115" y="3999928"/>
            <a:ext cx="2538007" cy="1600199"/>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12" name="Rounded Rectangle 21">
            <a:extLst>
              <a:ext uri="{FF2B5EF4-FFF2-40B4-BE49-F238E27FC236}">
                <a16:creationId xmlns:a16="http://schemas.microsoft.com/office/drawing/2014/main" id="{D8FA5E8C-14CD-B06B-468F-AEF569DCD794}"/>
              </a:ext>
            </a:extLst>
          </p:cNvPr>
          <p:cNvSpPr/>
          <p:nvPr/>
        </p:nvSpPr>
        <p:spPr>
          <a:xfrm>
            <a:off x="9031650" y="2040000"/>
            <a:ext cx="2538007" cy="1600199"/>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10" name="Rounded Rectangle 21">
            <a:extLst>
              <a:ext uri="{FF2B5EF4-FFF2-40B4-BE49-F238E27FC236}">
                <a16:creationId xmlns:a16="http://schemas.microsoft.com/office/drawing/2014/main" id="{4B8C66C5-B0B2-9AD2-DFAE-77AC1EBFA567}"/>
              </a:ext>
            </a:extLst>
          </p:cNvPr>
          <p:cNvSpPr/>
          <p:nvPr/>
        </p:nvSpPr>
        <p:spPr>
          <a:xfrm>
            <a:off x="6203655" y="2029479"/>
            <a:ext cx="2538007" cy="1600199"/>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108" name="Rounded Rectangle 21">
            <a:extLst>
              <a:ext uri="{FF2B5EF4-FFF2-40B4-BE49-F238E27FC236}">
                <a16:creationId xmlns:a16="http://schemas.microsoft.com/office/drawing/2014/main" id="{C58527CE-EE6B-4675-14BF-05EFEFCD317C}"/>
              </a:ext>
            </a:extLst>
          </p:cNvPr>
          <p:cNvSpPr/>
          <p:nvPr/>
        </p:nvSpPr>
        <p:spPr>
          <a:xfrm>
            <a:off x="3375660" y="2007343"/>
            <a:ext cx="2538007" cy="1600199"/>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06" name="Rounded Rectangle 21">
            <a:extLst>
              <a:ext uri="{FF2B5EF4-FFF2-40B4-BE49-F238E27FC236}">
                <a16:creationId xmlns:a16="http://schemas.microsoft.com/office/drawing/2014/main" id="{A6EFB68E-0608-CBDE-7191-40C14C1C2AE3}"/>
              </a:ext>
            </a:extLst>
          </p:cNvPr>
          <p:cNvSpPr/>
          <p:nvPr/>
        </p:nvSpPr>
        <p:spPr>
          <a:xfrm>
            <a:off x="566925" y="2039344"/>
            <a:ext cx="2538007" cy="1600199"/>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5" name="Rectangle 1">
            <a:extLst>
              <a:ext uri="{FF2B5EF4-FFF2-40B4-BE49-F238E27FC236}">
                <a16:creationId xmlns:a16="http://schemas.microsoft.com/office/drawing/2014/main" id="{297B8204-50AB-A702-1F40-FA5FE8429671}"/>
              </a:ext>
            </a:extLst>
          </p:cNvPr>
          <p:cNvSpPr/>
          <p:nvPr/>
        </p:nvSpPr>
        <p:spPr>
          <a:xfrm>
            <a:off x="513588"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6" name="TextBox 3">
            <a:extLst>
              <a:ext uri="{FF2B5EF4-FFF2-40B4-BE49-F238E27FC236}">
                <a16:creationId xmlns:a16="http://schemas.microsoft.com/office/drawing/2014/main" id="{A403C54A-22B0-D348-AA7F-E97902A44A3E}"/>
              </a:ext>
            </a:extLst>
          </p:cNvPr>
          <p:cNvSpPr txBox="1"/>
          <p:nvPr/>
        </p:nvSpPr>
        <p:spPr>
          <a:xfrm>
            <a:off x="1266465"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研究动机</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7" name="Rectangle 4">
            <a:extLst>
              <a:ext uri="{FF2B5EF4-FFF2-40B4-BE49-F238E27FC236}">
                <a16:creationId xmlns:a16="http://schemas.microsoft.com/office/drawing/2014/main" id="{A885DDC6-6EA1-2414-9B2C-D3C1728831CD}"/>
              </a:ext>
            </a:extLst>
          </p:cNvPr>
          <p:cNvSpPr/>
          <p:nvPr/>
        </p:nvSpPr>
        <p:spPr>
          <a:xfrm>
            <a:off x="3375660"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8" name="TextBox 6">
            <a:extLst>
              <a:ext uri="{FF2B5EF4-FFF2-40B4-BE49-F238E27FC236}">
                <a16:creationId xmlns:a16="http://schemas.microsoft.com/office/drawing/2014/main" id="{989F2E12-C381-CA15-1DC5-6288C4E46722}"/>
              </a:ext>
            </a:extLst>
          </p:cNvPr>
          <p:cNvSpPr txBox="1"/>
          <p:nvPr/>
        </p:nvSpPr>
        <p:spPr>
          <a:xfrm>
            <a:off x="4168374"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E293B"/>
                </a:solidFill>
                <a:effectLst/>
                <a:uLnTx/>
                <a:uFillTx/>
                <a:latin typeface="Noto Sans CJK SC"/>
                <a:ea typeface="微软雅黑"/>
                <a:cs typeface="+mn-cs"/>
              </a:rPr>
              <a:t>研究方法</a:t>
            </a:r>
          </a:p>
        </p:txBody>
      </p:sp>
      <p:sp>
        <p:nvSpPr>
          <p:cNvPr id="9" name="Rectangle 7">
            <a:extLst>
              <a:ext uri="{FF2B5EF4-FFF2-40B4-BE49-F238E27FC236}">
                <a16:creationId xmlns:a16="http://schemas.microsoft.com/office/drawing/2014/main" id="{82C8C0B0-65CD-0EE1-6265-D349801B3868}"/>
              </a:ext>
            </a:extLst>
          </p:cNvPr>
          <p:cNvSpPr/>
          <p:nvPr/>
        </p:nvSpPr>
        <p:spPr>
          <a:xfrm>
            <a:off x="6237732" y="609116"/>
            <a:ext cx="2487168" cy="329184"/>
          </a:xfrm>
          <a:prstGeom prst="rect">
            <a:avLst/>
          </a:prstGeom>
          <a:solidFill>
            <a:schemeClr val="tx2">
              <a:lumMod val="75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0" name="TextBox 9">
            <a:extLst>
              <a:ext uri="{FF2B5EF4-FFF2-40B4-BE49-F238E27FC236}">
                <a16:creationId xmlns:a16="http://schemas.microsoft.com/office/drawing/2014/main" id="{1796CCF5-4FE8-1B4F-0D8A-D29CD2961288}"/>
              </a:ext>
            </a:extLst>
          </p:cNvPr>
          <p:cNvSpPr txBox="1"/>
          <p:nvPr/>
        </p:nvSpPr>
        <p:spPr>
          <a:xfrm>
            <a:off x="7085310" y="609116"/>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white"/>
                </a:solidFill>
                <a:effectLst/>
                <a:uLnTx/>
                <a:uFillTx/>
                <a:latin typeface="Noto Sans CJK SC"/>
                <a:ea typeface="微软雅黑"/>
                <a:cs typeface="+mn-cs"/>
              </a:rPr>
              <a:t>实验设计</a:t>
            </a:r>
            <a:endParaRPr kumimoji="0" sz="1400" b="1" i="0" u="none" strike="noStrike" kern="1200" cap="none" spc="0" normalizeH="0" baseline="0" noProof="0" dirty="0">
              <a:ln>
                <a:noFill/>
              </a:ln>
              <a:solidFill>
                <a:prstClr val="white"/>
              </a:solidFill>
              <a:effectLst/>
              <a:uLnTx/>
              <a:uFillTx/>
              <a:latin typeface="Noto Sans CJK SC"/>
              <a:ea typeface="微软雅黑"/>
              <a:cs typeface="+mn-cs"/>
            </a:endParaRPr>
          </a:p>
        </p:txBody>
      </p:sp>
      <p:sp>
        <p:nvSpPr>
          <p:cNvPr id="11" name="Rectangle 10">
            <a:extLst>
              <a:ext uri="{FF2B5EF4-FFF2-40B4-BE49-F238E27FC236}">
                <a16:creationId xmlns:a16="http://schemas.microsoft.com/office/drawing/2014/main" id="{5BEB0862-A257-478B-0F64-F08ECD67CFAB}"/>
              </a:ext>
            </a:extLst>
          </p:cNvPr>
          <p:cNvSpPr/>
          <p:nvPr/>
        </p:nvSpPr>
        <p:spPr>
          <a:xfrm>
            <a:off x="9099804"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2" name="TextBox 12">
            <a:extLst>
              <a:ext uri="{FF2B5EF4-FFF2-40B4-BE49-F238E27FC236}">
                <a16:creationId xmlns:a16="http://schemas.microsoft.com/office/drawing/2014/main" id="{2D51462E-EE59-CEDB-94D5-ECB08A80852D}"/>
              </a:ext>
            </a:extLst>
          </p:cNvPr>
          <p:cNvSpPr txBox="1"/>
          <p:nvPr/>
        </p:nvSpPr>
        <p:spPr>
          <a:xfrm>
            <a:off x="9866758" y="621113"/>
            <a:ext cx="971548"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srgbClr val="1F497D">
                    <a:lumMod val="75000"/>
                  </a:srgbClr>
                </a:solidFill>
                <a:effectLst/>
                <a:uLnTx/>
                <a:uFillTx/>
                <a:latin typeface="Noto Sans CJK SC"/>
                <a:ea typeface="微软雅黑"/>
                <a:cs typeface="+mn-cs"/>
              </a:rPr>
              <a:t>总结与启发</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3" name="TextBox 16">
            <a:extLst>
              <a:ext uri="{FF2B5EF4-FFF2-40B4-BE49-F238E27FC236}">
                <a16:creationId xmlns:a16="http://schemas.microsoft.com/office/drawing/2014/main" id="{66ED0589-B051-BFE9-6C80-B82681DD0ED0}"/>
              </a:ext>
            </a:extLst>
          </p:cNvPr>
          <p:cNvSpPr txBox="1"/>
          <p:nvPr/>
        </p:nvSpPr>
        <p:spPr>
          <a:xfrm>
            <a:off x="449580" y="1057172"/>
            <a:ext cx="1356269" cy="458587"/>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实验设计</a:t>
            </a:r>
          </a:p>
        </p:txBody>
      </p:sp>
      <p:cxnSp>
        <p:nvCxnSpPr>
          <p:cNvPr id="14" name="Connector 17">
            <a:extLst>
              <a:ext uri="{FF2B5EF4-FFF2-40B4-BE49-F238E27FC236}">
                <a16:creationId xmlns:a16="http://schemas.microsoft.com/office/drawing/2014/main" id="{D79A1140-A9A8-4770-703F-4089522F8765}"/>
              </a:ext>
            </a:extLst>
          </p:cNvPr>
          <p:cNvCxnSpPr/>
          <p:nvPr/>
        </p:nvCxnSpPr>
        <p:spPr>
          <a:xfrm>
            <a:off x="449580" y="1614956"/>
            <a:ext cx="11183112" cy="0"/>
          </a:xfrm>
          <a:prstGeom prst="line">
            <a:avLst/>
          </a:prstGeom>
          <a:ln w="28575">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sp>
        <p:nvSpPr>
          <p:cNvPr id="22" name="TextBox 20">
            <a:extLst>
              <a:ext uri="{FF2B5EF4-FFF2-40B4-BE49-F238E27FC236}">
                <a16:creationId xmlns:a16="http://schemas.microsoft.com/office/drawing/2014/main" id="{43122CC5-0F53-E98E-1579-C716EF62B1A5}"/>
              </a:ext>
            </a:extLst>
          </p:cNvPr>
          <p:cNvSpPr txBox="1"/>
          <p:nvPr/>
        </p:nvSpPr>
        <p:spPr>
          <a:xfrm>
            <a:off x="860365" y="2135357"/>
            <a:ext cx="1955151" cy="350865"/>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4233E"/>
                </a:solidFill>
                <a:effectLst/>
                <a:uLnTx/>
                <a:uFillTx/>
                <a:latin typeface="Cambria"/>
                <a:ea typeface="微软雅黑"/>
                <a:cs typeface="+mn-cs"/>
              </a:rPr>
              <a:t>SOTA Comparison</a:t>
            </a:r>
          </a:p>
        </p:txBody>
      </p:sp>
      <p:sp>
        <p:nvSpPr>
          <p:cNvPr id="33" name="TextBox 25">
            <a:extLst>
              <a:ext uri="{FF2B5EF4-FFF2-40B4-BE49-F238E27FC236}">
                <a16:creationId xmlns:a16="http://schemas.microsoft.com/office/drawing/2014/main" id="{2DF7C9B2-0CCA-1D1E-986B-BC632CDA7703}"/>
              </a:ext>
            </a:extLst>
          </p:cNvPr>
          <p:cNvSpPr txBox="1"/>
          <p:nvPr/>
        </p:nvSpPr>
        <p:spPr>
          <a:xfrm>
            <a:off x="3826214" y="2135357"/>
            <a:ext cx="1656159" cy="350865"/>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4233E"/>
                </a:solidFill>
                <a:effectLst/>
                <a:uLnTx/>
                <a:uFillTx/>
                <a:latin typeface="Cambria"/>
                <a:ea typeface="微软雅黑"/>
                <a:cs typeface="+mn-cs"/>
              </a:rPr>
              <a:t>Design Choices</a:t>
            </a:r>
          </a:p>
        </p:txBody>
      </p:sp>
      <p:sp>
        <p:nvSpPr>
          <p:cNvPr id="48" name="TextBox 30">
            <a:extLst>
              <a:ext uri="{FF2B5EF4-FFF2-40B4-BE49-F238E27FC236}">
                <a16:creationId xmlns:a16="http://schemas.microsoft.com/office/drawing/2014/main" id="{03D9EEEA-6581-BF24-8F1C-AAE102849557}"/>
              </a:ext>
            </a:extLst>
          </p:cNvPr>
          <p:cNvSpPr txBox="1"/>
          <p:nvPr/>
        </p:nvSpPr>
        <p:spPr>
          <a:xfrm>
            <a:off x="6478453" y="2121272"/>
            <a:ext cx="2073453" cy="350865"/>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4233E"/>
                </a:solidFill>
                <a:effectLst/>
                <a:uLnTx/>
                <a:uFillTx/>
                <a:latin typeface="Cambria"/>
                <a:ea typeface="微软雅黑"/>
                <a:cs typeface="+mn-cs"/>
              </a:rPr>
              <a:t>Image Pre-training</a:t>
            </a:r>
          </a:p>
        </p:txBody>
      </p:sp>
      <p:sp>
        <p:nvSpPr>
          <p:cNvPr id="64" name="TextBox 35">
            <a:extLst>
              <a:ext uri="{FF2B5EF4-FFF2-40B4-BE49-F238E27FC236}">
                <a16:creationId xmlns:a16="http://schemas.microsoft.com/office/drawing/2014/main" id="{BF69AFDA-94EF-16AE-B887-7FABEFC5D513}"/>
              </a:ext>
            </a:extLst>
          </p:cNvPr>
          <p:cNvSpPr txBox="1"/>
          <p:nvPr/>
        </p:nvSpPr>
        <p:spPr>
          <a:xfrm>
            <a:off x="9669732" y="2126533"/>
            <a:ext cx="1233736" cy="350865"/>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4233E"/>
                </a:solidFill>
                <a:effectLst/>
                <a:uLnTx/>
                <a:uFillTx/>
                <a:latin typeface="Cambria"/>
                <a:ea typeface="微软雅黑"/>
                <a:cs typeface="+mn-cs"/>
              </a:rPr>
              <a:t>Text Model</a:t>
            </a:r>
          </a:p>
        </p:txBody>
      </p:sp>
      <p:sp>
        <p:nvSpPr>
          <p:cNvPr id="78" name="TextBox 40">
            <a:extLst>
              <a:ext uri="{FF2B5EF4-FFF2-40B4-BE49-F238E27FC236}">
                <a16:creationId xmlns:a16="http://schemas.microsoft.com/office/drawing/2014/main" id="{30141AE3-40EA-A046-2137-6844D4259490}"/>
              </a:ext>
            </a:extLst>
          </p:cNvPr>
          <p:cNvSpPr txBox="1"/>
          <p:nvPr/>
        </p:nvSpPr>
        <p:spPr>
          <a:xfrm>
            <a:off x="2117952" y="4107100"/>
            <a:ext cx="1652825" cy="350865"/>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4233E"/>
                </a:solidFill>
                <a:effectLst/>
                <a:uLnTx/>
                <a:uFillTx/>
                <a:latin typeface="Cambria"/>
                <a:ea typeface="微软雅黑"/>
                <a:cs typeface="+mn-cs"/>
              </a:rPr>
              <a:t>De-duplication</a:t>
            </a:r>
          </a:p>
        </p:txBody>
      </p:sp>
      <p:sp>
        <p:nvSpPr>
          <p:cNvPr id="88" name="TextBox 45">
            <a:extLst>
              <a:ext uri="{FF2B5EF4-FFF2-40B4-BE49-F238E27FC236}">
                <a16:creationId xmlns:a16="http://schemas.microsoft.com/office/drawing/2014/main" id="{D92BB0A0-CFBF-60A5-5A79-13144C8E1BDA}"/>
              </a:ext>
            </a:extLst>
          </p:cNvPr>
          <p:cNvSpPr txBox="1"/>
          <p:nvPr/>
        </p:nvSpPr>
        <p:spPr>
          <a:xfrm>
            <a:off x="4999164" y="4134441"/>
            <a:ext cx="2351156" cy="350865"/>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4233E"/>
                </a:solidFill>
                <a:effectLst/>
                <a:uLnTx/>
                <a:uFillTx/>
                <a:latin typeface="Cambria"/>
                <a:ea typeface="微软雅黑"/>
                <a:cs typeface="+mn-cs"/>
              </a:rPr>
              <a:t>Technical Advantages</a:t>
            </a:r>
          </a:p>
        </p:txBody>
      </p:sp>
      <p:sp>
        <p:nvSpPr>
          <p:cNvPr id="98" name="TextBox 50">
            <a:extLst>
              <a:ext uri="{FF2B5EF4-FFF2-40B4-BE49-F238E27FC236}">
                <a16:creationId xmlns:a16="http://schemas.microsoft.com/office/drawing/2014/main" id="{4F858A3F-F447-3878-743C-3D85D4BCCEE6}"/>
              </a:ext>
            </a:extLst>
          </p:cNvPr>
          <p:cNvSpPr txBox="1"/>
          <p:nvPr/>
        </p:nvSpPr>
        <p:spPr>
          <a:xfrm>
            <a:off x="8652341" y="4134441"/>
            <a:ext cx="1369093" cy="350865"/>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14233E"/>
                </a:solidFill>
                <a:effectLst/>
                <a:uLnTx/>
                <a:uFillTx/>
                <a:latin typeface="Cambria"/>
                <a:ea typeface="微软雅黑"/>
                <a:cs typeface="+mn-cs"/>
              </a:rPr>
              <a:t>Multilingual</a:t>
            </a:r>
            <a:endParaRPr kumimoji="0" sz="1350" b="1" i="0" u="none" strike="noStrike" kern="1200" cap="none" spc="0" normalizeH="0" baseline="0" noProof="0" dirty="0">
              <a:ln>
                <a:noFill/>
              </a:ln>
              <a:solidFill>
                <a:srgbClr val="14233E"/>
              </a:solidFill>
              <a:effectLst/>
              <a:uLnTx/>
              <a:uFillTx/>
              <a:latin typeface="Cambria"/>
              <a:ea typeface="微软雅黑"/>
              <a:cs typeface="+mn-cs"/>
            </a:endParaRPr>
          </a:p>
        </p:txBody>
      </p:sp>
      <p:sp>
        <p:nvSpPr>
          <p:cNvPr id="104" name="TextBox 53">
            <a:extLst>
              <a:ext uri="{FF2B5EF4-FFF2-40B4-BE49-F238E27FC236}">
                <a16:creationId xmlns:a16="http://schemas.microsoft.com/office/drawing/2014/main" id="{CE7705BB-93D2-FECE-D06B-DBACC57BB2CF}"/>
              </a:ext>
            </a:extLst>
          </p:cNvPr>
          <p:cNvSpPr txBox="1"/>
          <p:nvPr/>
        </p:nvSpPr>
        <p:spPr>
          <a:xfrm>
            <a:off x="770128" y="5982807"/>
            <a:ext cx="10346570" cy="350865"/>
          </a:xfrm>
          <a:prstGeom prst="rect">
            <a:avLst/>
          </a:prstGeom>
          <a:noFill/>
        </p:spPr>
        <p:txBody>
          <a:bodyPr wrap="squar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err="1">
                <a:ln>
                  <a:noFill/>
                </a:ln>
                <a:solidFill>
                  <a:srgbClr val="14233E"/>
                </a:solidFill>
                <a:effectLst/>
                <a:uLnTx/>
                <a:uFillTx/>
                <a:latin typeface="Noto Sans CJK SC"/>
                <a:ea typeface="微软雅黑"/>
                <a:cs typeface="+mn-cs"/>
              </a:rPr>
              <a:t>实验逻辑</a:t>
            </a:r>
            <a:r>
              <a:rPr kumimoji="0" sz="1800" b="1" i="0" u="none" strike="noStrike" kern="1200" cap="none" spc="0" normalizeH="0" baseline="0" noProof="0" dirty="0">
                <a:ln>
                  <a:noFill/>
                </a:ln>
                <a:solidFill>
                  <a:srgbClr val="14233E"/>
                </a:solidFill>
                <a:effectLst/>
                <a:uLnTx/>
                <a:uFillTx/>
                <a:latin typeface="Noto Sans CJK SC"/>
                <a:ea typeface="微软雅黑"/>
                <a:cs typeface="+mn-cs"/>
              </a:rPr>
              <a:t>：</a:t>
            </a:r>
            <a:r>
              <a:rPr kumimoji="0" lang="zh-CN" altLang="zh-CN" sz="1800" b="1" i="0" u="none" strike="noStrike" kern="1200" cap="none" spc="0" normalizeH="0" baseline="0" noProof="0" dirty="0">
                <a:ln>
                  <a:noFill/>
                </a:ln>
                <a:solidFill>
                  <a:prstClr val="black"/>
                </a:solidFill>
                <a:effectLst/>
                <a:uLnTx/>
                <a:uFillTx/>
                <a:latin typeface="Cambria"/>
                <a:ea typeface="微软雅黑"/>
                <a:cs typeface="+mn-cs"/>
              </a:rPr>
              <a:t>对外验证</a:t>
            </a:r>
            <a:r>
              <a:rPr kumimoji="0" sz="1800" b="1" i="0" u="none" strike="noStrike" kern="1200" cap="none" spc="0" normalizeH="0" baseline="0" noProof="0" dirty="0">
                <a:ln>
                  <a:noFill/>
                </a:ln>
                <a:solidFill>
                  <a:srgbClr val="14233E"/>
                </a:solidFill>
                <a:effectLst/>
                <a:uLnTx/>
                <a:uFillTx/>
                <a:latin typeface="Noto Sans CJK SC"/>
                <a:ea typeface="微软雅黑"/>
                <a:cs typeface="+mn-cs"/>
              </a:rPr>
              <a:t> →</a:t>
            </a:r>
            <a:r>
              <a:rPr kumimoji="0" lang="zh-CN" altLang="zh-CN" sz="1800" b="1" i="0" u="none" strike="noStrike" kern="1200" cap="none" spc="0" normalizeH="0" baseline="0" noProof="0" dirty="0">
                <a:ln>
                  <a:noFill/>
                </a:ln>
                <a:solidFill>
                  <a:prstClr val="black"/>
                </a:solidFill>
                <a:effectLst/>
                <a:uLnTx/>
                <a:uFillTx/>
                <a:latin typeface="Cambria"/>
                <a:ea typeface="微软雅黑"/>
                <a:cs typeface="+mn-cs"/>
              </a:rPr>
              <a:t>对内验证</a:t>
            </a:r>
            <a:r>
              <a:rPr kumimoji="0" lang="zh-CN" altLang="en-US" sz="1800" b="1" i="0" u="none" strike="noStrike" kern="1200" cap="none" spc="0" normalizeH="0" baseline="0" noProof="0" dirty="0">
                <a:ln>
                  <a:noFill/>
                </a:ln>
                <a:solidFill>
                  <a:prstClr val="black"/>
                </a:solidFill>
                <a:effectLst/>
                <a:uLnTx/>
                <a:uFillTx/>
                <a:latin typeface="Cambria"/>
                <a:ea typeface="微软雅黑"/>
                <a:cs typeface="+mn-cs"/>
              </a:rPr>
              <a:t>（整体到局部）</a:t>
            </a:r>
            <a:r>
              <a:rPr kumimoji="0" sz="1800" b="1" i="0" u="none" strike="noStrike" kern="1200" cap="none" spc="0" normalizeH="0" baseline="0" noProof="0" dirty="0">
                <a:ln>
                  <a:noFill/>
                </a:ln>
                <a:solidFill>
                  <a:srgbClr val="14233E"/>
                </a:solidFill>
                <a:effectLst/>
                <a:uLnTx/>
                <a:uFillTx/>
                <a:latin typeface="Noto Sans CJK SC"/>
                <a:ea typeface="微软雅黑"/>
                <a:cs typeface="+mn-cs"/>
              </a:rPr>
              <a:t>→</a:t>
            </a:r>
            <a:r>
              <a:rPr kumimoji="0" lang="zh-CN" altLang="en-US" sz="1800" b="1" i="0" u="none" strike="noStrike" kern="1200" cap="none" spc="0" normalizeH="0" baseline="0" noProof="0" dirty="0">
                <a:ln>
                  <a:noFill/>
                </a:ln>
                <a:solidFill>
                  <a:srgbClr val="14233E"/>
                </a:solidFill>
                <a:effectLst/>
                <a:uLnTx/>
                <a:uFillTx/>
                <a:latin typeface="Noto Sans CJK SC"/>
                <a:ea typeface="微软雅黑"/>
                <a:cs typeface="+mn-cs"/>
              </a:rPr>
              <a:t>质量属性（</a:t>
            </a:r>
            <a:r>
              <a:rPr kumimoji="0" lang="zh-CN" altLang="zh-CN" sz="1800" b="1" i="0" u="none" strike="noStrike" kern="1200" cap="none" spc="0" normalizeH="0" baseline="0" noProof="0" dirty="0">
                <a:ln>
                  <a:noFill/>
                </a:ln>
                <a:solidFill>
                  <a:prstClr val="black"/>
                </a:solidFill>
                <a:effectLst/>
                <a:uLnTx/>
                <a:uFillTx/>
                <a:latin typeface="Cambria"/>
                <a:ea typeface="微软雅黑"/>
                <a:cs typeface="+mn-cs"/>
              </a:rPr>
              <a:t>Reliable</a:t>
            </a:r>
            <a:r>
              <a:rPr kumimoji="0" lang="zh-CN" altLang="en-US" sz="1800" b="1" i="0" u="none" strike="noStrike" kern="1200" cap="none" spc="0" normalizeH="0" baseline="0" noProof="0" dirty="0">
                <a:ln>
                  <a:noFill/>
                </a:ln>
                <a:solidFill>
                  <a:prstClr val="black"/>
                </a:solidFill>
                <a:effectLst/>
                <a:uLnTx/>
                <a:uFillTx/>
                <a:latin typeface="Cambria"/>
                <a:ea typeface="微软雅黑"/>
                <a:cs typeface="+mn-cs"/>
              </a:rPr>
              <a:t>、</a:t>
            </a:r>
            <a:r>
              <a:rPr kumimoji="0" lang="zh-CN" altLang="zh-CN" sz="1800" b="1" i="0" u="none" strike="noStrike" kern="1200" cap="none" spc="0" normalizeH="0" baseline="0" noProof="0" dirty="0">
                <a:ln>
                  <a:noFill/>
                </a:ln>
                <a:solidFill>
                  <a:prstClr val="black"/>
                </a:solidFill>
                <a:effectLst/>
                <a:uLnTx/>
                <a:uFillTx/>
                <a:latin typeface="Cambria"/>
                <a:ea typeface="微软雅黑"/>
                <a:cs typeface="+mn-cs"/>
              </a:rPr>
              <a:t>Efficient</a:t>
            </a:r>
            <a:r>
              <a:rPr kumimoji="0" lang="zh-CN" altLang="en-US" sz="1800" b="1" i="0" u="none" strike="noStrike" kern="1200" cap="none" spc="0" normalizeH="0" baseline="0" noProof="0" dirty="0">
                <a:ln>
                  <a:noFill/>
                </a:ln>
                <a:solidFill>
                  <a:prstClr val="black"/>
                </a:solidFill>
                <a:effectLst/>
                <a:uLnTx/>
                <a:uFillTx/>
                <a:latin typeface="Cambria"/>
                <a:ea typeface="微软雅黑"/>
                <a:cs typeface="+mn-cs"/>
              </a:rPr>
              <a:t>、</a:t>
            </a:r>
            <a:r>
              <a:rPr kumimoji="0" lang="zh-CN" altLang="zh-CN" sz="1800" b="1" i="0" u="none" strike="noStrike" kern="1200" cap="none" spc="0" normalizeH="0" baseline="0" noProof="0" dirty="0">
                <a:ln>
                  <a:noFill/>
                </a:ln>
                <a:solidFill>
                  <a:prstClr val="black"/>
                </a:solidFill>
                <a:effectLst/>
                <a:uLnTx/>
                <a:uFillTx/>
                <a:latin typeface="Cambria"/>
                <a:ea typeface="微软雅黑"/>
                <a:cs typeface="+mn-cs"/>
              </a:rPr>
              <a:t>Extensible</a:t>
            </a:r>
            <a:r>
              <a:rPr kumimoji="0" lang="zh-CN" altLang="en-US" sz="1800" b="1" i="0" u="none" strike="noStrike" kern="1200" cap="none" spc="0" normalizeH="0" baseline="0" noProof="0" dirty="0">
                <a:ln>
                  <a:noFill/>
                </a:ln>
                <a:solidFill>
                  <a:prstClr val="black"/>
                </a:solidFill>
                <a:effectLst/>
                <a:uLnTx/>
                <a:uFillTx/>
                <a:latin typeface="Cambria"/>
                <a:ea typeface="微软雅黑"/>
                <a:cs typeface="+mn-cs"/>
              </a:rPr>
              <a:t>）</a:t>
            </a:r>
            <a:endParaRPr kumimoji="0" sz="1800" b="1" i="0" u="none" strike="noStrike" kern="1200" cap="none" spc="0" normalizeH="0" baseline="0" noProof="0" dirty="0">
              <a:ln>
                <a:noFill/>
              </a:ln>
              <a:solidFill>
                <a:srgbClr val="14233E"/>
              </a:solidFill>
              <a:effectLst/>
              <a:uLnTx/>
              <a:uFillTx/>
              <a:latin typeface="Noto Sans CJK SC"/>
              <a:ea typeface="微软雅黑"/>
              <a:cs typeface="+mn-cs"/>
            </a:endParaRPr>
          </a:p>
        </p:txBody>
      </p:sp>
      <p:sp>
        <p:nvSpPr>
          <p:cNvPr id="119" name="文本框 118">
            <a:extLst>
              <a:ext uri="{FF2B5EF4-FFF2-40B4-BE49-F238E27FC236}">
                <a16:creationId xmlns:a16="http://schemas.microsoft.com/office/drawing/2014/main" id="{7B5C13EA-7EA8-ED87-7812-AB8F550A65C2}"/>
              </a:ext>
            </a:extLst>
          </p:cNvPr>
          <p:cNvSpPr txBox="1"/>
          <p:nvPr/>
        </p:nvSpPr>
        <p:spPr>
          <a:xfrm>
            <a:off x="797052" y="2486222"/>
            <a:ext cx="2018464"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在多个数据集上与已有</a:t>
            </a:r>
            <a:r>
              <a:rPr kumimoji="0" lang="en-US" altLang="zh-CN" sz="1600" b="0" i="0" u="sng" strike="noStrike" kern="1200" cap="none" spc="0" normalizeH="0" baseline="0" noProof="0" dirty="0">
                <a:ln>
                  <a:noFill/>
                </a:ln>
                <a:solidFill>
                  <a:prstClr val="black"/>
                </a:solidFill>
                <a:effectLst/>
                <a:uLnTx/>
                <a:uFillTx/>
                <a:latin typeface="微软雅黑"/>
                <a:ea typeface="微软雅黑"/>
                <a:cs typeface="+mn-cs"/>
              </a:rPr>
              <a:t>SOTA</a:t>
            </a: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比较，验证</a:t>
            </a:r>
            <a:r>
              <a:rPr kumimoji="0" lang="en-US" altLang="zh-CN" sz="1600" b="0" i="0" u="sng" strike="noStrike" kern="1200" cap="none" spc="0" normalizeH="0" baseline="0" noProof="0" dirty="0">
                <a:ln>
                  <a:noFill/>
                </a:ln>
                <a:solidFill>
                  <a:prstClr val="black"/>
                </a:solidFill>
                <a:effectLst/>
                <a:uLnTx/>
                <a:uFillTx/>
                <a:latin typeface="微软雅黑"/>
                <a:ea typeface="微软雅黑"/>
                <a:cs typeface="+mn-cs"/>
              </a:rPr>
              <a:t>LiT </a:t>
            </a: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作为一个完整方法到底有没有效果</a:t>
            </a:r>
          </a:p>
        </p:txBody>
      </p:sp>
      <p:sp>
        <p:nvSpPr>
          <p:cNvPr id="121" name="文本框 120">
            <a:extLst>
              <a:ext uri="{FF2B5EF4-FFF2-40B4-BE49-F238E27FC236}">
                <a16:creationId xmlns:a16="http://schemas.microsoft.com/office/drawing/2014/main" id="{75F074AF-1EB6-2360-8956-E84551637FB1}"/>
              </a:ext>
            </a:extLst>
          </p:cNvPr>
          <p:cNvSpPr txBox="1"/>
          <p:nvPr/>
        </p:nvSpPr>
        <p:spPr>
          <a:xfrm>
            <a:off x="3641417" y="2480655"/>
            <a:ext cx="2018464"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比较 </a:t>
            </a:r>
            <a:r>
              <a:rPr kumimoji="0" lang="en-US" altLang="zh-CN" sz="1600" b="0" i="0" u="sng" strike="noStrike" kern="1200" cap="none" spc="0" normalizeH="0" baseline="0" noProof="0" dirty="0">
                <a:ln>
                  <a:noFill/>
                </a:ln>
                <a:solidFill>
                  <a:prstClr val="black"/>
                </a:solidFill>
                <a:effectLst/>
                <a:uLnTx/>
                <a:uFillTx/>
                <a:latin typeface="微软雅黑"/>
                <a:ea typeface="微软雅黑"/>
                <a:cs typeface="+mn-cs"/>
              </a:rPr>
              <a:t>L</a:t>
            </a: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a:t>
            </a:r>
            <a:r>
              <a:rPr kumimoji="0" lang="en-US" altLang="zh-CN" sz="1600" b="0" i="0" u="sng" strike="noStrike" kern="1200" cap="none" spc="0" normalizeH="0" baseline="0" noProof="0" dirty="0">
                <a:ln>
                  <a:noFill/>
                </a:ln>
                <a:solidFill>
                  <a:prstClr val="black"/>
                </a:solidFill>
                <a:effectLst/>
                <a:uLnTx/>
                <a:uFillTx/>
                <a:latin typeface="微软雅黑"/>
                <a:ea typeface="微软雅黑"/>
                <a:cs typeface="+mn-cs"/>
              </a:rPr>
              <a:t>U</a:t>
            </a: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a:t>
            </a:r>
            <a:r>
              <a:rPr kumimoji="0" lang="en-US" altLang="zh-CN" sz="1600" b="0" i="0" u="sng" strike="noStrike" kern="1200" cap="none" spc="0" normalizeH="0" baseline="0" noProof="0" dirty="0">
                <a:ln>
                  <a:noFill/>
                </a:ln>
                <a:solidFill>
                  <a:prstClr val="black"/>
                </a:solidFill>
                <a:effectLst/>
                <a:uLnTx/>
                <a:uFillTx/>
                <a:latin typeface="微软雅黑"/>
                <a:ea typeface="微软雅黑"/>
                <a:cs typeface="+mn-cs"/>
              </a:rPr>
              <a:t>u</a:t>
            </a: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不同组合，使用不同超参及不同规模数据集验证</a:t>
            </a:r>
            <a:r>
              <a:rPr kumimoji="0" lang="en-US" altLang="zh-CN" sz="1600" b="0" i="0" u="sng" strike="noStrike" kern="1200" cap="none" spc="0" normalizeH="0" baseline="0" noProof="0" dirty="0">
                <a:ln>
                  <a:noFill/>
                </a:ln>
                <a:solidFill>
                  <a:prstClr val="black"/>
                </a:solidFill>
                <a:effectLst/>
                <a:uLnTx/>
                <a:uFillTx/>
                <a:latin typeface="微软雅黑"/>
                <a:ea typeface="微软雅黑"/>
                <a:cs typeface="+mn-cs"/>
              </a:rPr>
              <a:t>LiT</a:t>
            </a: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更优</a:t>
            </a:r>
          </a:p>
        </p:txBody>
      </p:sp>
      <p:sp>
        <p:nvSpPr>
          <p:cNvPr id="123" name="文本框 122">
            <a:extLst>
              <a:ext uri="{FF2B5EF4-FFF2-40B4-BE49-F238E27FC236}">
                <a16:creationId xmlns:a16="http://schemas.microsoft.com/office/drawing/2014/main" id="{2A23B327-21AE-9D14-1C48-9154B734457A}"/>
              </a:ext>
            </a:extLst>
          </p:cNvPr>
          <p:cNvSpPr txBox="1"/>
          <p:nvPr/>
        </p:nvSpPr>
        <p:spPr>
          <a:xfrm>
            <a:off x="6445577" y="2492762"/>
            <a:ext cx="2106329"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什么样的图像塔最优？比较了图像塔的训练方式以及通用性的影响</a:t>
            </a:r>
          </a:p>
        </p:txBody>
      </p:sp>
      <p:sp>
        <p:nvSpPr>
          <p:cNvPr id="125" name="文本框 124">
            <a:extLst>
              <a:ext uri="{FF2B5EF4-FFF2-40B4-BE49-F238E27FC236}">
                <a16:creationId xmlns:a16="http://schemas.microsoft.com/office/drawing/2014/main" id="{A31D61E5-D7C1-7AA9-8F64-0B93F4DCEE50}"/>
              </a:ext>
            </a:extLst>
          </p:cNvPr>
          <p:cNvSpPr txBox="1"/>
          <p:nvPr/>
        </p:nvSpPr>
        <p:spPr>
          <a:xfrm>
            <a:off x="9198937" y="2501775"/>
            <a:ext cx="2106329"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什么样的文本塔最优？比较了图像塔的参数初始化方式、架构、数据量的影响</a:t>
            </a:r>
          </a:p>
        </p:txBody>
      </p:sp>
      <p:sp>
        <p:nvSpPr>
          <p:cNvPr id="127" name="文本框 126">
            <a:extLst>
              <a:ext uri="{FF2B5EF4-FFF2-40B4-BE49-F238E27FC236}">
                <a16:creationId xmlns:a16="http://schemas.microsoft.com/office/drawing/2014/main" id="{84CB0EBE-F0E3-B93A-DF47-EADA29BD1A41}"/>
              </a:ext>
            </a:extLst>
          </p:cNvPr>
          <p:cNvSpPr txBox="1"/>
          <p:nvPr/>
        </p:nvSpPr>
        <p:spPr>
          <a:xfrm>
            <a:off x="1905860" y="4478285"/>
            <a:ext cx="2018464"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判断上下游任务的重复样本带来的数据泄露是否影响结果</a:t>
            </a:r>
          </a:p>
        </p:txBody>
      </p:sp>
      <p:sp>
        <p:nvSpPr>
          <p:cNvPr id="129" name="文本框 128">
            <a:extLst>
              <a:ext uri="{FF2B5EF4-FFF2-40B4-BE49-F238E27FC236}">
                <a16:creationId xmlns:a16="http://schemas.microsoft.com/office/drawing/2014/main" id="{0DBCC4F9-55DA-1E8A-8D65-1FC8AB4078E9}"/>
              </a:ext>
            </a:extLst>
          </p:cNvPr>
          <p:cNvSpPr txBox="1"/>
          <p:nvPr/>
        </p:nvSpPr>
        <p:spPr>
          <a:xfrm>
            <a:off x="5086768" y="4478285"/>
            <a:ext cx="2018464"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分析</a:t>
            </a:r>
            <a:r>
              <a:rPr kumimoji="0" lang="en-US" altLang="zh-CN" sz="1600" b="0" i="0" u="sng" strike="noStrike" kern="1200" cap="none" spc="0" normalizeH="0" baseline="0" noProof="0" dirty="0">
                <a:ln>
                  <a:noFill/>
                </a:ln>
                <a:solidFill>
                  <a:prstClr val="black"/>
                </a:solidFill>
                <a:effectLst/>
                <a:uLnTx/>
                <a:uFillTx/>
                <a:latin typeface="微软雅黑"/>
                <a:ea typeface="微软雅黑"/>
                <a:cs typeface="+mn-cs"/>
              </a:rPr>
              <a:t>LiT</a:t>
            </a: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在工程上的优势，比如</a:t>
            </a:r>
            <a:r>
              <a:rPr kumimoji="0" lang="zh-CN" altLang="zh-CN" sz="1600" b="0" i="0" u="none" strike="noStrike" kern="1200" cap="none" spc="0" normalizeH="0" baseline="0" noProof="0" dirty="0">
                <a:ln>
                  <a:noFill/>
                </a:ln>
                <a:solidFill>
                  <a:prstClr val="black"/>
                </a:solidFill>
                <a:effectLst/>
                <a:uLnTx/>
                <a:uFillTx/>
                <a:latin typeface="Cambria"/>
                <a:ea typeface="微软雅黑"/>
                <a:cs typeface="+mn-cs"/>
              </a:rPr>
              <a:t>减少显存和训练时间</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endParaRPr>
          </a:p>
        </p:txBody>
      </p:sp>
      <p:sp>
        <p:nvSpPr>
          <p:cNvPr id="131" name="文本框 130">
            <a:extLst>
              <a:ext uri="{FF2B5EF4-FFF2-40B4-BE49-F238E27FC236}">
                <a16:creationId xmlns:a16="http://schemas.microsoft.com/office/drawing/2014/main" id="{D6B02A29-E5DD-0584-CBFB-CCA853762D36}"/>
              </a:ext>
            </a:extLst>
          </p:cNvPr>
          <p:cNvSpPr txBox="1"/>
          <p:nvPr/>
        </p:nvSpPr>
        <p:spPr>
          <a:xfrm>
            <a:off x="8339311" y="4471636"/>
            <a:ext cx="2018464"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分析</a:t>
            </a:r>
            <a:r>
              <a:rPr kumimoji="0" lang="en-US" altLang="zh-CN" sz="1600" b="0" i="0" u="sng" strike="noStrike" kern="1200" cap="none" spc="0" normalizeH="0" baseline="0" noProof="0" dirty="0">
                <a:ln>
                  <a:noFill/>
                </a:ln>
                <a:solidFill>
                  <a:prstClr val="black"/>
                </a:solidFill>
                <a:effectLst/>
                <a:uLnTx/>
                <a:uFillTx/>
                <a:latin typeface="微软雅黑"/>
                <a:ea typeface="微软雅黑"/>
                <a:cs typeface="+mn-cs"/>
              </a:rPr>
              <a:t>LiT</a:t>
            </a:r>
            <a:r>
              <a:rPr kumimoji="0" lang="zh-CN" altLang="en-US" sz="1600" b="0" i="0" u="sng" strike="noStrike" kern="1200" cap="none" spc="0" normalizeH="0" baseline="0" noProof="0" dirty="0">
                <a:ln>
                  <a:noFill/>
                </a:ln>
                <a:solidFill>
                  <a:prstClr val="black"/>
                </a:solidFill>
                <a:effectLst/>
                <a:uLnTx/>
                <a:uFillTx/>
                <a:latin typeface="微软雅黑"/>
                <a:ea typeface="微软雅黑"/>
                <a:cs typeface="+mn-cs"/>
              </a:rPr>
              <a:t>能否扩展到非英语语言</a:t>
            </a:r>
          </a:p>
        </p:txBody>
      </p:sp>
      <p:cxnSp>
        <p:nvCxnSpPr>
          <p:cNvPr id="3" name="直接连接符 2">
            <a:extLst>
              <a:ext uri="{FF2B5EF4-FFF2-40B4-BE49-F238E27FC236}">
                <a16:creationId xmlns:a16="http://schemas.microsoft.com/office/drawing/2014/main" id="{B4FD9AA4-4BCB-D319-0EFE-41E95DC3DC10}"/>
              </a:ext>
            </a:extLst>
          </p:cNvPr>
          <p:cNvCxnSpPr/>
          <p:nvPr/>
        </p:nvCxnSpPr>
        <p:spPr>
          <a:xfrm>
            <a:off x="3242744" y="1828800"/>
            <a:ext cx="0" cy="1909823"/>
          </a:xfrm>
          <a:prstGeom prst="line">
            <a:avLst/>
          </a:prstGeom>
          <a:ln w="41275">
            <a:solidFill>
              <a:schemeClr val="tx2">
                <a:lumMod val="75000"/>
              </a:schemeClr>
            </a:solidFill>
            <a:prstDash val="lgDash"/>
          </a:ln>
          <a:effectLst/>
        </p:spPr>
        <p:style>
          <a:lnRef idx="2">
            <a:schemeClr val="accent1"/>
          </a:lnRef>
          <a:fillRef idx="0">
            <a:schemeClr val="accent1"/>
          </a:fillRef>
          <a:effectRef idx="1">
            <a:schemeClr val="accent1"/>
          </a:effectRef>
          <a:fontRef idx="minor">
            <a:schemeClr val="tx1"/>
          </a:fontRef>
        </p:style>
      </p:cxnSp>
      <p:cxnSp>
        <p:nvCxnSpPr>
          <p:cNvPr id="4" name="直接连接符 3">
            <a:extLst>
              <a:ext uri="{FF2B5EF4-FFF2-40B4-BE49-F238E27FC236}">
                <a16:creationId xmlns:a16="http://schemas.microsoft.com/office/drawing/2014/main" id="{354D0A4A-EAFF-6F9A-B2D8-864FFE9898E5}"/>
              </a:ext>
            </a:extLst>
          </p:cNvPr>
          <p:cNvCxnSpPr>
            <a:cxnSpLocks/>
          </p:cNvCxnSpPr>
          <p:nvPr/>
        </p:nvCxnSpPr>
        <p:spPr>
          <a:xfrm flipH="1">
            <a:off x="554230" y="3809998"/>
            <a:ext cx="11066748" cy="0"/>
          </a:xfrm>
          <a:prstGeom prst="line">
            <a:avLst/>
          </a:prstGeom>
          <a:ln w="41275">
            <a:solidFill>
              <a:schemeClr val="tx2">
                <a:lumMod val="75000"/>
              </a:schemeClr>
            </a:solidFill>
            <a:prstDash val="lgDas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8844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520C6-6D19-EA95-C9F5-82F6428188CA}"/>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3CE86851-C458-AC28-B9C7-D103543BFD6B}"/>
              </a:ext>
            </a:extLst>
          </p:cNvPr>
          <p:cNvSpPr/>
          <p:nvPr/>
        </p:nvSpPr>
        <p:spPr>
          <a:xfrm>
            <a:off x="513588"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6" name="TextBox 3">
            <a:extLst>
              <a:ext uri="{FF2B5EF4-FFF2-40B4-BE49-F238E27FC236}">
                <a16:creationId xmlns:a16="http://schemas.microsoft.com/office/drawing/2014/main" id="{B5CA757F-65FD-2744-75B2-92C939C4FCFD}"/>
              </a:ext>
            </a:extLst>
          </p:cNvPr>
          <p:cNvSpPr txBox="1"/>
          <p:nvPr/>
        </p:nvSpPr>
        <p:spPr>
          <a:xfrm>
            <a:off x="1266465"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研究动机</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7" name="Rectangle 4">
            <a:extLst>
              <a:ext uri="{FF2B5EF4-FFF2-40B4-BE49-F238E27FC236}">
                <a16:creationId xmlns:a16="http://schemas.microsoft.com/office/drawing/2014/main" id="{0D516610-71C9-34C7-15E0-EBC95167EA4B}"/>
              </a:ext>
            </a:extLst>
          </p:cNvPr>
          <p:cNvSpPr/>
          <p:nvPr/>
        </p:nvSpPr>
        <p:spPr>
          <a:xfrm>
            <a:off x="3375660"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8" name="TextBox 6">
            <a:extLst>
              <a:ext uri="{FF2B5EF4-FFF2-40B4-BE49-F238E27FC236}">
                <a16:creationId xmlns:a16="http://schemas.microsoft.com/office/drawing/2014/main" id="{EC946861-7D0A-5A8A-B36B-FE462FB248D0}"/>
              </a:ext>
            </a:extLst>
          </p:cNvPr>
          <p:cNvSpPr txBox="1"/>
          <p:nvPr/>
        </p:nvSpPr>
        <p:spPr>
          <a:xfrm>
            <a:off x="4168374"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E293B"/>
                </a:solidFill>
                <a:effectLst/>
                <a:uLnTx/>
                <a:uFillTx/>
                <a:latin typeface="Noto Sans CJK SC"/>
                <a:ea typeface="微软雅黑"/>
                <a:cs typeface="+mn-cs"/>
              </a:rPr>
              <a:t>研究方法</a:t>
            </a:r>
          </a:p>
        </p:txBody>
      </p:sp>
      <p:sp>
        <p:nvSpPr>
          <p:cNvPr id="9" name="Rectangle 7">
            <a:extLst>
              <a:ext uri="{FF2B5EF4-FFF2-40B4-BE49-F238E27FC236}">
                <a16:creationId xmlns:a16="http://schemas.microsoft.com/office/drawing/2014/main" id="{8B297892-E7B7-9A09-60FF-4EBC25B68CA2}"/>
              </a:ext>
            </a:extLst>
          </p:cNvPr>
          <p:cNvSpPr/>
          <p:nvPr/>
        </p:nvSpPr>
        <p:spPr>
          <a:xfrm>
            <a:off x="6237732"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0" name="TextBox 9">
            <a:extLst>
              <a:ext uri="{FF2B5EF4-FFF2-40B4-BE49-F238E27FC236}">
                <a16:creationId xmlns:a16="http://schemas.microsoft.com/office/drawing/2014/main" id="{2029C822-6FEE-8A8A-1393-10604DFF53D9}"/>
              </a:ext>
            </a:extLst>
          </p:cNvPr>
          <p:cNvSpPr txBox="1"/>
          <p:nvPr/>
        </p:nvSpPr>
        <p:spPr>
          <a:xfrm>
            <a:off x="7085310" y="609116"/>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实验设计</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1" name="Rectangle 10">
            <a:extLst>
              <a:ext uri="{FF2B5EF4-FFF2-40B4-BE49-F238E27FC236}">
                <a16:creationId xmlns:a16="http://schemas.microsoft.com/office/drawing/2014/main" id="{3E404ED4-EA0B-9E46-DFC4-A76794C32162}"/>
              </a:ext>
            </a:extLst>
          </p:cNvPr>
          <p:cNvSpPr/>
          <p:nvPr/>
        </p:nvSpPr>
        <p:spPr>
          <a:xfrm>
            <a:off x="9099804" y="609116"/>
            <a:ext cx="2487168" cy="329184"/>
          </a:xfrm>
          <a:prstGeom prst="rect">
            <a:avLst/>
          </a:prstGeom>
          <a:solidFill>
            <a:schemeClr val="tx2">
              <a:lumMod val="75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2" name="TextBox 12">
            <a:extLst>
              <a:ext uri="{FF2B5EF4-FFF2-40B4-BE49-F238E27FC236}">
                <a16:creationId xmlns:a16="http://schemas.microsoft.com/office/drawing/2014/main" id="{959FCE43-9CDC-3408-6244-DDDE00E461C9}"/>
              </a:ext>
            </a:extLst>
          </p:cNvPr>
          <p:cNvSpPr txBox="1"/>
          <p:nvPr/>
        </p:nvSpPr>
        <p:spPr>
          <a:xfrm>
            <a:off x="9866758" y="621113"/>
            <a:ext cx="971548"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prstClr val="white"/>
                </a:solidFill>
                <a:effectLst/>
                <a:uLnTx/>
                <a:uFillTx/>
                <a:latin typeface="Noto Sans CJK SC"/>
                <a:ea typeface="微软雅黑"/>
                <a:cs typeface="+mn-cs"/>
              </a:rPr>
              <a:t>总结与启发</a:t>
            </a:r>
            <a:endParaRPr kumimoji="0" sz="1400" b="1" i="0" u="none" strike="noStrike" kern="1200" cap="none" spc="0" normalizeH="0" baseline="0" noProof="0" dirty="0">
              <a:ln>
                <a:noFill/>
              </a:ln>
              <a:solidFill>
                <a:prstClr val="white"/>
              </a:solidFill>
              <a:effectLst/>
              <a:uLnTx/>
              <a:uFillTx/>
              <a:latin typeface="Noto Sans CJK SC"/>
              <a:ea typeface="微软雅黑"/>
              <a:cs typeface="+mn-cs"/>
            </a:endParaRPr>
          </a:p>
        </p:txBody>
      </p:sp>
      <p:sp>
        <p:nvSpPr>
          <p:cNvPr id="13" name="TextBox 16">
            <a:extLst>
              <a:ext uri="{FF2B5EF4-FFF2-40B4-BE49-F238E27FC236}">
                <a16:creationId xmlns:a16="http://schemas.microsoft.com/office/drawing/2014/main" id="{5B064E54-9573-0652-F477-34D308812878}"/>
              </a:ext>
            </a:extLst>
          </p:cNvPr>
          <p:cNvSpPr txBox="1"/>
          <p:nvPr/>
        </p:nvSpPr>
        <p:spPr>
          <a:xfrm>
            <a:off x="449580" y="1057172"/>
            <a:ext cx="1356269" cy="458587"/>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创新总结</a:t>
            </a:r>
          </a:p>
        </p:txBody>
      </p:sp>
      <p:cxnSp>
        <p:nvCxnSpPr>
          <p:cNvPr id="14" name="Connector 17">
            <a:extLst>
              <a:ext uri="{FF2B5EF4-FFF2-40B4-BE49-F238E27FC236}">
                <a16:creationId xmlns:a16="http://schemas.microsoft.com/office/drawing/2014/main" id="{AA3F97ED-DE33-BFEE-2462-C7BCB4D18919}"/>
              </a:ext>
            </a:extLst>
          </p:cNvPr>
          <p:cNvCxnSpPr/>
          <p:nvPr/>
        </p:nvCxnSpPr>
        <p:spPr>
          <a:xfrm>
            <a:off x="449580" y="1614956"/>
            <a:ext cx="11183112" cy="0"/>
          </a:xfrm>
          <a:prstGeom prst="line">
            <a:avLst/>
          </a:prstGeom>
          <a:ln w="28575">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75" name="Connector 87">
            <a:extLst>
              <a:ext uri="{FF2B5EF4-FFF2-40B4-BE49-F238E27FC236}">
                <a16:creationId xmlns:a16="http://schemas.microsoft.com/office/drawing/2014/main" id="{3C11C241-DC7A-8E05-3C9B-9C8D159C3E4A}"/>
              </a:ext>
            </a:extLst>
          </p:cNvPr>
          <p:cNvCxnSpPr/>
          <p:nvPr/>
        </p:nvCxnSpPr>
        <p:spPr>
          <a:xfrm>
            <a:off x="502920" y="6510528"/>
            <a:ext cx="11183112" cy="0"/>
          </a:xfrm>
          <a:prstGeom prst="line">
            <a:avLst/>
          </a:prstGeom>
          <a:ln w="8890">
            <a:solidFill>
              <a:srgbClr val="E2E8F0"/>
            </a:solidFill>
          </a:ln>
        </p:spPr>
        <p:style>
          <a:lnRef idx="2">
            <a:schemeClr val="accent1"/>
          </a:lnRef>
          <a:fillRef idx="0">
            <a:schemeClr val="accent1"/>
          </a:fillRef>
          <a:effectRef idx="1">
            <a:schemeClr val="accent1"/>
          </a:effectRef>
          <a:fontRef idx="minor">
            <a:schemeClr val="tx1"/>
          </a:fontRef>
        </p:style>
      </p:cxnSp>
      <p:sp>
        <p:nvSpPr>
          <p:cNvPr id="176" name="TextBox 88">
            <a:extLst>
              <a:ext uri="{FF2B5EF4-FFF2-40B4-BE49-F238E27FC236}">
                <a16:creationId xmlns:a16="http://schemas.microsoft.com/office/drawing/2014/main" id="{1755AC16-3E86-A033-7661-BC1EB0F37970}"/>
              </a:ext>
            </a:extLst>
          </p:cNvPr>
          <p:cNvSpPr txBox="1"/>
          <p:nvPr/>
        </p:nvSpPr>
        <p:spPr>
          <a:xfrm>
            <a:off x="638048" y="6748272"/>
            <a:ext cx="9875520" cy="164592"/>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64748B"/>
                </a:solidFill>
                <a:effectLst/>
                <a:uLnTx/>
                <a:uFillTx/>
                <a:latin typeface="Noto Sans CJK SC"/>
                <a:ea typeface="微软雅黑"/>
                <a:cs typeface="+mn-cs"/>
              </a:rPr>
              <a:t>Paper Fig. 3, Table 2, Fig. 4; §5.2</a:t>
            </a:r>
          </a:p>
        </p:txBody>
      </p:sp>
      <p:sp>
        <p:nvSpPr>
          <p:cNvPr id="177" name="TextBox 89">
            <a:extLst>
              <a:ext uri="{FF2B5EF4-FFF2-40B4-BE49-F238E27FC236}">
                <a16:creationId xmlns:a16="http://schemas.microsoft.com/office/drawing/2014/main" id="{DE565273-6508-37E2-3016-133D97B8E4C1}"/>
              </a:ext>
            </a:extLst>
          </p:cNvPr>
          <p:cNvSpPr txBox="1"/>
          <p:nvPr/>
        </p:nvSpPr>
        <p:spPr>
          <a:xfrm>
            <a:off x="10789920" y="6547104"/>
            <a:ext cx="822960" cy="164592"/>
          </a:xfrm>
          <a:prstGeom prst="rect">
            <a:avLst/>
          </a:prstGeom>
          <a:noFill/>
        </p:spPr>
        <p:txBody>
          <a:bodyPr wrap="none" lIns="36576" tIns="36576" rIns="36576" bIns="36576"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4748B"/>
                </a:solidFill>
                <a:effectLst/>
                <a:uLnTx/>
                <a:uFillTx/>
                <a:latin typeface="Noto Sans CJK SC"/>
                <a:ea typeface="微软雅黑"/>
                <a:cs typeface="+mn-cs"/>
              </a:rPr>
              <a:t>12 / 14</a:t>
            </a:r>
          </a:p>
        </p:txBody>
      </p:sp>
      <p:sp>
        <p:nvSpPr>
          <p:cNvPr id="3" name="矩形: 圆角 2">
            <a:extLst>
              <a:ext uri="{FF2B5EF4-FFF2-40B4-BE49-F238E27FC236}">
                <a16:creationId xmlns:a16="http://schemas.microsoft.com/office/drawing/2014/main" id="{06C27302-26A9-51E3-5385-8986FB13727C}"/>
              </a:ext>
            </a:extLst>
          </p:cNvPr>
          <p:cNvSpPr/>
          <p:nvPr/>
        </p:nvSpPr>
        <p:spPr>
          <a:xfrm>
            <a:off x="1174877" y="5045999"/>
            <a:ext cx="10125710" cy="1487059"/>
          </a:xfrm>
          <a:prstGeom prst="roundRect">
            <a:avLst>
              <a:gd name="adj" fmla="val 19196"/>
            </a:avLst>
          </a:prstGeom>
          <a:solidFill>
            <a:schemeClr val="accent4">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15" name="矩形: 圆角 14">
            <a:extLst>
              <a:ext uri="{FF2B5EF4-FFF2-40B4-BE49-F238E27FC236}">
                <a16:creationId xmlns:a16="http://schemas.microsoft.com/office/drawing/2014/main" id="{DBD838EA-8479-070C-4038-FA753F887976}"/>
              </a:ext>
            </a:extLst>
          </p:cNvPr>
          <p:cNvSpPr/>
          <p:nvPr/>
        </p:nvSpPr>
        <p:spPr>
          <a:xfrm>
            <a:off x="1174877" y="3469453"/>
            <a:ext cx="10125710" cy="1487059"/>
          </a:xfrm>
          <a:prstGeom prst="roundRect">
            <a:avLst>
              <a:gd name="adj" fmla="val 19196"/>
            </a:avLst>
          </a:prstGeom>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17" name="矩形: 圆角 16">
            <a:extLst>
              <a:ext uri="{FF2B5EF4-FFF2-40B4-BE49-F238E27FC236}">
                <a16:creationId xmlns:a16="http://schemas.microsoft.com/office/drawing/2014/main" id="{B51CB4DC-4FF2-C274-0CE1-BFED0203FC1C}"/>
              </a:ext>
            </a:extLst>
          </p:cNvPr>
          <p:cNvSpPr/>
          <p:nvPr/>
        </p:nvSpPr>
        <p:spPr>
          <a:xfrm>
            <a:off x="1174877" y="1874326"/>
            <a:ext cx="10125710" cy="1487059"/>
          </a:xfrm>
          <a:prstGeom prst="roundRect">
            <a:avLst>
              <a:gd name="adj" fmla="val 19196"/>
            </a:avLst>
          </a:prstGeom>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19" name="Rounded Rectangle 21">
            <a:extLst>
              <a:ext uri="{FF2B5EF4-FFF2-40B4-BE49-F238E27FC236}">
                <a16:creationId xmlns:a16="http://schemas.microsoft.com/office/drawing/2014/main" id="{534B5E51-9879-981D-16FE-27F5248B5305}"/>
              </a:ext>
            </a:extLst>
          </p:cNvPr>
          <p:cNvSpPr/>
          <p:nvPr/>
        </p:nvSpPr>
        <p:spPr>
          <a:xfrm>
            <a:off x="1402081" y="1980307"/>
            <a:ext cx="9111487" cy="1275098"/>
          </a:xfrm>
          <a:prstGeom prst="roundRect">
            <a:avLst>
              <a:gd name="adj" fmla="val 8000"/>
            </a:avLst>
          </a:prstGeom>
          <a:solidFill>
            <a:srgbClr val="F5F8FC"/>
          </a:solidFill>
          <a:ln w="19050">
            <a:solidFill>
              <a:schemeClr val="bg1">
                <a:lumMod val="8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21" name="Oval 19">
            <a:extLst>
              <a:ext uri="{FF2B5EF4-FFF2-40B4-BE49-F238E27FC236}">
                <a16:creationId xmlns:a16="http://schemas.microsoft.com/office/drawing/2014/main" id="{7456940C-89C1-AA50-B2A0-BD209879A2F7}"/>
              </a:ext>
            </a:extLst>
          </p:cNvPr>
          <p:cNvSpPr/>
          <p:nvPr/>
        </p:nvSpPr>
        <p:spPr>
          <a:xfrm>
            <a:off x="1678432" y="2183132"/>
            <a:ext cx="429768" cy="418357"/>
          </a:xfrm>
          <a:prstGeom prst="ellipse">
            <a:avLst/>
          </a:prstGeom>
          <a:solidFill>
            <a:schemeClr val="tx2">
              <a:lumMod val="75000"/>
            </a:schemeClr>
          </a:solidFill>
          <a:ln>
            <a:solidFill>
              <a:schemeClr val="accent1">
                <a:lumMod val="60000"/>
                <a:lumOff val="40000"/>
              </a:schemeClr>
            </a:solidFill>
          </a:ln>
          <a:effectLst/>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a:ea typeface="微软雅黑"/>
                <a:cs typeface="+mn-cs"/>
              </a:rPr>
              <a:t>1</a:t>
            </a:r>
            <a:endParaRPr kumimoji="0"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23" name="文本框 22">
            <a:extLst>
              <a:ext uri="{FF2B5EF4-FFF2-40B4-BE49-F238E27FC236}">
                <a16:creationId xmlns:a16="http://schemas.microsoft.com/office/drawing/2014/main" id="{4D307142-2D9C-59C0-1C2B-3D00B96C0869}"/>
              </a:ext>
            </a:extLst>
          </p:cNvPr>
          <p:cNvSpPr txBox="1"/>
          <p:nvPr/>
        </p:nvSpPr>
        <p:spPr>
          <a:xfrm>
            <a:off x="2295079" y="2210389"/>
            <a:ext cx="1525081"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ambria"/>
                <a:ea typeface="微软雅黑"/>
                <a:cs typeface="+mn-cs"/>
              </a:rPr>
              <a:t>Contrastive-tuning</a:t>
            </a:r>
            <a:r>
              <a:rPr kumimoji="0" lang="zh-CN" altLang="en-US" sz="1800" b="1" i="0" u="none" strike="noStrike" kern="1200" cap="none" spc="0" normalizeH="0" baseline="0" noProof="0" dirty="0">
                <a:ln>
                  <a:noFill/>
                </a:ln>
                <a:solidFill>
                  <a:prstClr val="black"/>
                </a:solidFill>
                <a:effectLst/>
                <a:uLnTx/>
                <a:uFillTx/>
                <a:latin typeface="Cambria"/>
                <a:ea typeface="微软雅黑"/>
                <a:cs typeface="+mn-cs"/>
              </a:rPr>
              <a:t>与</a:t>
            </a:r>
            <a:r>
              <a:rPr kumimoji="0" lang="en-US" altLang="zh-CN" sz="1800" b="1" i="0" u="none" strike="noStrike" kern="1200" cap="none" spc="0" normalizeH="0" baseline="0" noProof="0" dirty="0" err="1">
                <a:ln>
                  <a:noFill/>
                </a:ln>
                <a:solidFill>
                  <a:prstClr val="black"/>
                </a:solidFill>
                <a:effectLst/>
                <a:uLnTx/>
                <a:uFillTx/>
                <a:latin typeface="Cambria"/>
                <a:ea typeface="微软雅黑"/>
                <a:cs typeface="+mn-cs"/>
              </a:rPr>
              <a:t>LiT</a:t>
            </a:r>
            <a:endParaRPr kumimoji="0" lang="zh-CN" altLang="en-US" sz="1800" b="1"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25" name="文本框 24">
            <a:extLst>
              <a:ext uri="{FF2B5EF4-FFF2-40B4-BE49-F238E27FC236}">
                <a16:creationId xmlns:a16="http://schemas.microsoft.com/office/drawing/2014/main" id="{98306146-D4D8-4B2B-D3A1-4A18084CEB5C}"/>
              </a:ext>
            </a:extLst>
          </p:cNvPr>
          <p:cNvSpPr txBox="1"/>
          <p:nvPr/>
        </p:nvSpPr>
        <p:spPr>
          <a:xfrm>
            <a:off x="4050053" y="2195098"/>
            <a:ext cx="6058754"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zh-CN" sz="1600" b="0" i="0" u="none" strike="noStrike" kern="1200" cap="none" spc="0" normalizeH="0" baseline="0" noProof="0" dirty="0">
                <a:ln>
                  <a:noFill/>
                </a:ln>
                <a:solidFill>
                  <a:prstClr val="black"/>
                </a:solidFill>
                <a:effectLst/>
                <a:uLnTx/>
                <a:uFillTx/>
                <a:latin typeface="Cambria"/>
                <a:ea typeface="微软雅黑"/>
                <a:cs typeface="+mn-cs"/>
              </a:rPr>
              <a:t>重新审视传统图文对比学习的训练方式。不再默认图像塔和文本塔都必须从头联合训练，而是系统研究如何复用已有预训练模型进行图文对齐</a:t>
            </a:r>
            <a:r>
              <a:rPr kumimoji="0" lang="zh-CN" altLang="en-US" sz="1600" b="0" i="0" u="none" strike="noStrike" kern="1200" cap="none" spc="0" normalizeH="0" baseline="0" noProof="0" dirty="0">
                <a:ln>
                  <a:noFill/>
                </a:ln>
                <a:solidFill>
                  <a:prstClr val="black"/>
                </a:solidFill>
                <a:effectLst/>
                <a:uLnTx/>
                <a:uFillTx/>
                <a:latin typeface="Cambria"/>
                <a:ea typeface="微软雅黑"/>
                <a:cs typeface="+mn-cs"/>
              </a:rPr>
              <a:t>，并得到 </a:t>
            </a:r>
            <a:r>
              <a:rPr kumimoji="0" lang="en-US" altLang="zh-CN" sz="1600" b="0" i="0" u="none" strike="noStrike" kern="1200" cap="none" spc="0" normalizeH="0" baseline="0" noProof="0" dirty="0" err="1">
                <a:ln>
                  <a:noFill/>
                </a:ln>
                <a:solidFill>
                  <a:prstClr val="black"/>
                </a:solidFill>
                <a:effectLst/>
                <a:uLnTx/>
                <a:uFillTx/>
                <a:latin typeface="Cambria"/>
                <a:ea typeface="微软雅黑"/>
                <a:cs typeface="+mn-cs"/>
              </a:rPr>
              <a:t>LiT</a:t>
            </a:r>
            <a:endParaRPr kumimoji="0" lang="zh-CN" altLang="en-US"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endParaRPr>
          </a:p>
        </p:txBody>
      </p:sp>
      <p:sp>
        <p:nvSpPr>
          <p:cNvPr id="27" name="Rounded Rectangle 21">
            <a:extLst>
              <a:ext uri="{FF2B5EF4-FFF2-40B4-BE49-F238E27FC236}">
                <a16:creationId xmlns:a16="http://schemas.microsoft.com/office/drawing/2014/main" id="{DC5D37AD-73D6-9F1E-F3EC-99168884BBBB}"/>
              </a:ext>
            </a:extLst>
          </p:cNvPr>
          <p:cNvSpPr/>
          <p:nvPr/>
        </p:nvSpPr>
        <p:spPr>
          <a:xfrm>
            <a:off x="1402081" y="3580114"/>
            <a:ext cx="9111487" cy="1275098"/>
          </a:xfrm>
          <a:prstGeom prst="roundRect">
            <a:avLst>
              <a:gd name="adj" fmla="val 8000"/>
            </a:avLst>
          </a:prstGeom>
          <a:solidFill>
            <a:schemeClr val="accent3">
              <a:lumMod val="20000"/>
              <a:lumOff val="80000"/>
            </a:schemeClr>
          </a:solidFill>
          <a:ln w="19050">
            <a:solidFill>
              <a:schemeClr val="bg1">
                <a:lumMod val="8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29" name="Oval 19">
            <a:extLst>
              <a:ext uri="{FF2B5EF4-FFF2-40B4-BE49-F238E27FC236}">
                <a16:creationId xmlns:a16="http://schemas.microsoft.com/office/drawing/2014/main" id="{6307EB83-0129-21CB-F71F-B8C48CF9CAA0}"/>
              </a:ext>
            </a:extLst>
          </p:cNvPr>
          <p:cNvSpPr/>
          <p:nvPr/>
        </p:nvSpPr>
        <p:spPr>
          <a:xfrm>
            <a:off x="1678432" y="3782939"/>
            <a:ext cx="429768" cy="418357"/>
          </a:xfrm>
          <a:prstGeom prst="ellipse">
            <a:avLst/>
          </a:prstGeom>
          <a:solidFill>
            <a:schemeClr val="accent3">
              <a:lumMod val="50000"/>
            </a:schemeClr>
          </a:solidFill>
          <a:ln>
            <a:solidFill>
              <a:schemeClr val="accent3">
                <a:lumMod val="60000"/>
                <a:lumOff val="40000"/>
              </a:schemeClr>
            </a:solidFill>
          </a:ln>
          <a:effectLst/>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a:ea typeface="微软雅黑"/>
                <a:cs typeface="+mn-cs"/>
              </a:rPr>
              <a:t>2</a:t>
            </a:r>
            <a:endParaRPr kumimoji="0"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31" name="文本框 30">
            <a:extLst>
              <a:ext uri="{FF2B5EF4-FFF2-40B4-BE49-F238E27FC236}">
                <a16:creationId xmlns:a16="http://schemas.microsoft.com/office/drawing/2014/main" id="{3211CF8E-7FF4-E17E-61E4-93F83C2E5E6F}"/>
              </a:ext>
            </a:extLst>
          </p:cNvPr>
          <p:cNvSpPr txBox="1"/>
          <p:nvPr/>
        </p:nvSpPr>
        <p:spPr>
          <a:xfrm>
            <a:off x="2295078" y="4233487"/>
            <a:ext cx="121058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Cambria"/>
                <a:ea typeface="微软雅黑"/>
                <a:cs typeface="+mn-cs"/>
              </a:rPr>
              <a:t>问题解耦</a:t>
            </a:r>
          </a:p>
        </p:txBody>
      </p:sp>
      <p:sp>
        <p:nvSpPr>
          <p:cNvPr id="33" name="文本框 32">
            <a:extLst>
              <a:ext uri="{FF2B5EF4-FFF2-40B4-BE49-F238E27FC236}">
                <a16:creationId xmlns:a16="http://schemas.microsoft.com/office/drawing/2014/main" id="{4F90AE22-92F6-B5E7-F876-50F3444BFEB2}"/>
              </a:ext>
            </a:extLst>
          </p:cNvPr>
          <p:cNvSpPr txBox="1"/>
          <p:nvPr/>
        </p:nvSpPr>
        <p:spPr>
          <a:xfrm>
            <a:off x="2295078" y="3810196"/>
            <a:ext cx="1289135"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mbria"/>
                <a:ea typeface="微软雅黑"/>
                <a:cs typeface="+mn-cs"/>
              </a:rPr>
              <a:t>Decouple</a:t>
            </a:r>
            <a:endParaRPr kumimoji="0" lang="zh-CN" altLang="en-US" sz="2000" b="1"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35" name="文本框 34">
            <a:extLst>
              <a:ext uri="{FF2B5EF4-FFF2-40B4-BE49-F238E27FC236}">
                <a16:creationId xmlns:a16="http://schemas.microsoft.com/office/drawing/2014/main" id="{1BF1120D-2635-5C21-5077-EFD20C759A91}"/>
              </a:ext>
            </a:extLst>
          </p:cNvPr>
          <p:cNvSpPr txBox="1"/>
          <p:nvPr/>
        </p:nvSpPr>
        <p:spPr>
          <a:xfrm>
            <a:off x="3929856" y="3794905"/>
            <a:ext cx="6178950" cy="87716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LiT </a:t>
            </a:r>
            <a:r>
              <a:rPr kumimoji="0" lang="zh-CN" altLang="en-US"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将传统图文对比学习解耦：先利用高质量视觉数据学习强 </a:t>
            </a:r>
            <a:r>
              <a:rPr kumimoji="0" lang="en-US" altLang="zh-CN"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representation</a:t>
            </a:r>
            <a:r>
              <a:rPr kumimoji="0" lang="zh-CN" altLang="en-US"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，再利用开放图文数据学习 </a:t>
            </a:r>
            <a:r>
              <a:rPr kumimoji="0" lang="en-US" altLang="zh-CN"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vision-language alignment</a:t>
            </a:r>
            <a:r>
              <a:rPr kumimoji="0" lang="zh-CN" altLang="en-US"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，让不同数据各自完成更擅长的任务。</a:t>
            </a:r>
          </a:p>
        </p:txBody>
      </p:sp>
      <p:sp>
        <p:nvSpPr>
          <p:cNvPr id="37" name="Rounded Rectangle 21">
            <a:extLst>
              <a:ext uri="{FF2B5EF4-FFF2-40B4-BE49-F238E27FC236}">
                <a16:creationId xmlns:a16="http://schemas.microsoft.com/office/drawing/2014/main" id="{992A4BA2-3747-7AE3-835F-15730EF3725A}"/>
              </a:ext>
            </a:extLst>
          </p:cNvPr>
          <p:cNvSpPr/>
          <p:nvPr/>
        </p:nvSpPr>
        <p:spPr>
          <a:xfrm>
            <a:off x="1402080" y="5159337"/>
            <a:ext cx="9111487" cy="1275098"/>
          </a:xfrm>
          <a:prstGeom prst="roundRect">
            <a:avLst>
              <a:gd name="adj" fmla="val 8000"/>
            </a:avLst>
          </a:prstGeom>
          <a:solidFill>
            <a:schemeClr val="accent4">
              <a:lumMod val="20000"/>
              <a:lumOff val="80000"/>
            </a:schemeClr>
          </a:solidFill>
          <a:ln w="19050">
            <a:solidFill>
              <a:schemeClr val="bg1">
                <a:lumMod val="8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39" name="Oval 19">
            <a:extLst>
              <a:ext uri="{FF2B5EF4-FFF2-40B4-BE49-F238E27FC236}">
                <a16:creationId xmlns:a16="http://schemas.microsoft.com/office/drawing/2014/main" id="{50FDEABF-7FF8-873A-9683-775FB5827E3A}"/>
              </a:ext>
            </a:extLst>
          </p:cNvPr>
          <p:cNvSpPr/>
          <p:nvPr/>
        </p:nvSpPr>
        <p:spPr>
          <a:xfrm>
            <a:off x="1678431" y="5362162"/>
            <a:ext cx="429768" cy="418357"/>
          </a:xfrm>
          <a:prstGeom prst="ellipse">
            <a:avLst/>
          </a:prstGeom>
          <a:solidFill>
            <a:schemeClr val="accent4">
              <a:lumMod val="50000"/>
            </a:schemeClr>
          </a:solidFill>
          <a:ln>
            <a:solidFill>
              <a:schemeClr val="accent4">
                <a:lumMod val="60000"/>
                <a:lumOff val="40000"/>
              </a:schemeClr>
            </a:solidFill>
          </a:ln>
          <a:effectLst/>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mbria"/>
                <a:ea typeface="微软雅黑"/>
                <a:cs typeface="+mn-cs"/>
              </a:rPr>
              <a:t>3</a:t>
            </a:r>
            <a:endParaRPr kumimoji="0"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41" name="文本框 40">
            <a:extLst>
              <a:ext uri="{FF2B5EF4-FFF2-40B4-BE49-F238E27FC236}">
                <a16:creationId xmlns:a16="http://schemas.microsoft.com/office/drawing/2014/main" id="{5D4C4254-5B2E-F601-C08B-45CF7C3FA046}"/>
              </a:ext>
            </a:extLst>
          </p:cNvPr>
          <p:cNvSpPr txBox="1"/>
          <p:nvPr/>
        </p:nvSpPr>
        <p:spPr>
          <a:xfrm>
            <a:off x="2295077" y="5812710"/>
            <a:ext cx="121058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Cambria"/>
                <a:ea typeface="微软雅黑"/>
                <a:cs typeface="+mn-cs"/>
              </a:rPr>
              <a:t>模型复用</a:t>
            </a:r>
          </a:p>
        </p:txBody>
      </p:sp>
      <p:sp>
        <p:nvSpPr>
          <p:cNvPr id="43" name="文本框 42">
            <a:extLst>
              <a:ext uri="{FF2B5EF4-FFF2-40B4-BE49-F238E27FC236}">
                <a16:creationId xmlns:a16="http://schemas.microsoft.com/office/drawing/2014/main" id="{508F3C64-E45F-E3C7-0CE6-254D41D587D0}"/>
              </a:ext>
            </a:extLst>
          </p:cNvPr>
          <p:cNvSpPr txBox="1"/>
          <p:nvPr/>
        </p:nvSpPr>
        <p:spPr>
          <a:xfrm>
            <a:off x="2295077" y="5389419"/>
            <a:ext cx="893386"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mbria"/>
                <a:ea typeface="微软雅黑"/>
                <a:cs typeface="+mn-cs"/>
              </a:rPr>
              <a:t>Reuse</a:t>
            </a:r>
            <a:endParaRPr kumimoji="0" lang="zh-CN" altLang="en-US" sz="2000" b="1"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45" name="文本框 44">
            <a:extLst>
              <a:ext uri="{FF2B5EF4-FFF2-40B4-BE49-F238E27FC236}">
                <a16:creationId xmlns:a16="http://schemas.microsoft.com/office/drawing/2014/main" id="{AA75206E-BD9E-A9EA-40C6-EA220E022415}"/>
              </a:ext>
            </a:extLst>
          </p:cNvPr>
          <p:cNvSpPr txBox="1"/>
          <p:nvPr/>
        </p:nvSpPr>
        <p:spPr>
          <a:xfrm>
            <a:off x="3929855" y="5374128"/>
            <a:ext cx="6178950" cy="87716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Pretrained model </a:t>
            </a:r>
            <a:r>
              <a:rPr kumimoji="0" lang="zh-CN" altLang="en-US"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不应只被视为继续 </a:t>
            </a:r>
            <a:r>
              <a:rPr kumimoji="0" lang="en-US" altLang="zh-CN"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fine-tuning </a:t>
            </a:r>
            <a:r>
              <a:rPr kumimoji="0" lang="zh-CN" altLang="en-US"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的 </a:t>
            </a:r>
            <a:r>
              <a:rPr kumimoji="0" lang="en-US" altLang="zh-CN"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initialization</a:t>
            </a:r>
            <a:r>
              <a:rPr kumimoji="0" lang="zh-CN" altLang="en-US"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，也可以作为已经积累好的 </a:t>
            </a:r>
            <a:r>
              <a:rPr kumimoji="0" lang="en-US" altLang="zh-CN"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knowledge asset</a:t>
            </a:r>
            <a:r>
              <a:rPr kumimoji="0" lang="zh-CN" altLang="en-US" sz="1700" b="0" i="0" u="none" strike="noStrike" kern="1200" cap="none" spc="0" normalizeH="0" baseline="0" noProof="0" dirty="0">
                <a:ln>
                  <a:noFill/>
                </a:ln>
                <a:solidFill>
                  <a:prstClr val="black">
                    <a:lumMod val="85000"/>
                    <a:lumOff val="15000"/>
                  </a:prstClr>
                </a:solidFill>
                <a:effectLst/>
                <a:uLnTx/>
                <a:uFillTx/>
                <a:latin typeface="Cambria"/>
                <a:ea typeface="微软雅黑"/>
                <a:cs typeface="+mn-cs"/>
              </a:rPr>
              <a:t>。对于已经具备的能力直接保留，只学习新任务真正缺失的部分。</a:t>
            </a:r>
          </a:p>
        </p:txBody>
      </p:sp>
      <p:sp>
        <p:nvSpPr>
          <p:cNvPr id="47" name="文本框 46">
            <a:extLst>
              <a:ext uri="{FF2B5EF4-FFF2-40B4-BE49-F238E27FC236}">
                <a16:creationId xmlns:a16="http://schemas.microsoft.com/office/drawing/2014/main" id="{8E88F502-A05D-370D-2AB9-0EA3F6F97DFA}"/>
              </a:ext>
            </a:extLst>
          </p:cNvPr>
          <p:cNvSpPr txBox="1"/>
          <p:nvPr/>
        </p:nvSpPr>
        <p:spPr>
          <a:xfrm>
            <a:off x="10676245" y="2083943"/>
            <a:ext cx="461665" cy="1015663"/>
          </a:xfrm>
          <a:prstGeom prst="rect">
            <a:avLst/>
          </a:prstGeom>
          <a:noFill/>
        </p:spPr>
        <p:txBody>
          <a:bodyPr vert="eaVert"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Cambria"/>
                <a:ea typeface="微软雅黑"/>
                <a:cs typeface="+mn-cs"/>
              </a:rPr>
              <a:t>方法创新</a:t>
            </a:r>
          </a:p>
        </p:txBody>
      </p:sp>
      <p:sp>
        <p:nvSpPr>
          <p:cNvPr id="49" name="文本框 48">
            <a:extLst>
              <a:ext uri="{FF2B5EF4-FFF2-40B4-BE49-F238E27FC236}">
                <a16:creationId xmlns:a16="http://schemas.microsoft.com/office/drawing/2014/main" id="{B4389C41-332A-308D-0F7C-F4AA38B1A3AB}"/>
              </a:ext>
            </a:extLst>
          </p:cNvPr>
          <p:cNvSpPr txBox="1"/>
          <p:nvPr/>
        </p:nvSpPr>
        <p:spPr>
          <a:xfrm>
            <a:off x="10676245" y="3725655"/>
            <a:ext cx="461665" cy="1015663"/>
          </a:xfrm>
          <a:prstGeom prst="rect">
            <a:avLst/>
          </a:prstGeom>
          <a:noFill/>
        </p:spPr>
        <p:txBody>
          <a:bodyPr vert="eaVert"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Cambria"/>
                <a:ea typeface="微软雅黑"/>
                <a:cs typeface="+mn-cs"/>
              </a:rPr>
              <a:t>思想创新</a:t>
            </a:r>
          </a:p>
        </p:txBody>
      </p:sp>
      <p:sp>
        <p:nvSpPr>
          <p:cNvPr id="51" name="文本框 50">
            <a:extLst>
              <a:ext uri="{FF2B5EF4-FFF2-40B4-BE49-F238E27FC236}">
                <a16:creationId xmlns:a16="http://schemas.microsoft.com/office/drawing/2014/main" id="{195F4065-19CF-850C-4556-2933C392E58C}"/>
              </a:ext>
            </a:extLst>
          </p:cNvPr>
          <p:cNvSpPr txBox="1"/>
          <p:nvPr/>
        </p:nvSpPr>
        <p:spPr>
          <a:xfrm>
            <a:off x="10676245" y="5304877"/>
            <a:ext cx="461665" cy="1015663"/>
          </a:xfrm>
          <a:prstGeom prst="rect">
            <a:avLst/>
          </a:prstGeom>
          <a:noFill/>
        </p:spPr>
        <p:txBody>
          <a:bodyPr vert="eaVert"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Cambria"/>
                <a:ea typeface="微软雅黑"/>
                <a:cs typeface="+mn-cs"/>
              </a:rPr>
              <a:t>思想创新</a:t>
            </a:r>
          </a:p>
        </p:txBody>
      </p:sp>
    </p:spTree>
    <p:extLst>
      <p:ext uri="{BB962C8B-B14F-4D97-AF65-F5344CB8AC3E}">
        <p14:creationId xmlns:p14="http://schemas.microsoft.com/office/powerpoint/2010/main" val="1909566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8F06B-17DD-F50F-0B1B-BED6FDAF5D0F}"/>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AD9ABF15-D632-EBCA-46A8-73D36D3C9FDD}"/>
              </a:ext>
            </a:extLst>
          </p:cNvPr>
          <p:cNvSpPr/>
          <p:nvPr/>
        </p:nvSpPr>
        <p:spPr>
          <a:xfrm>
            <a:off x="513588"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6" name="TextBox 3">
            <a:extLst>
              <a:ext uri="{FF2B5EF4-FFF2-40B4-BE49-F238E27FC236}">
                <a16:creationId xmlns:a16="http://schemas.microsoft.com/office/drawing/2014/main" id="{4EED47A0-5D57-77EA-4F5B-798336E71079}"/>
              </a:ext>
            </a:extLst>
          </p:cNvPr>
          <p:cNvSpPr txBox="1"/>
          <p:nvPr/>
        </p:nvSpPr>
        <p:spPr>
          <a:xfrm>
            <a:off x="1266465"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研究动机</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7" name="Rectangle 4">
            <a:extLst>
              <a:ext uri="{FF2B5EF4-FFF2-40B4-BE49-F238E27FC236}">
                <a16:creationId xmlns:a16="http://schemas.microsoft.com/office/drawing/2014/main" id="{2B64391E-C82B-967F-45E5-8D7F8467DF00}"/>
              </a:ext>
            </a:extLst>
          </p:cNvPr>
          <p:cNvSpPr/>
          <p:nvPr/>
        </p:nvSpPr>
        <p:spPr>
          <a:xfrm>
            <a:off x="3375660"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8" name="TextBox 6">
            <a:extLst>
              <a:ext uri="{FF2B5EF4-FFF2-40B4-BE49-F238E27FC236}">
                <a16:creationId xmlns:a16="http://schemas.microsoft.com/office/drawing/2014/main" id="{68E6F0EB-58C0-B71D-CE2F-0159C6C207D3}"/>
              </a:ext>
            </a:extLst>
          </p:cNvPr>
          <p:cNvSpPr txBox="1"/>
          <p:nvPr/>
        </p:nvSpPr>
        <p:spPr>
          <a:xfrm>
            <a:off x="4168374" y="626130"/>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E293B"/>
                </a:solidFill>
                <a:effectLst/>
                <a:uLnTx/>
                <a:uFillTx/>
                <a:latin typeface="Noto Sans CJK SC"/>
                <a:ea typeface="微软雅黑"/>
                <a:cs typeface="+mn-cs"/>
              </a:rPr>
              <a:t>研究方法</a:t>
            </a:r>
          </a:p>
        </p:txBody>
      </p:sp>
      <p:sp>
        <p:nvSpPr>
          <p:cNvPr id="9" name="Rectangle 7">
            <a:extLst>
              <a:ext uri="{FF2B5EF4-FFF2-40B4-BE49-F238E27FC236}">
                <a16:creationId xmlns:a16="http://schemas.microsoft.com/office/drawing/2014/main" id="{BB7AA86E-DFBC-BE45-DA7F-CBECE46C4CA3}"/>
              </a:ext>
            </a:extLst>
          </p:cNvPr>
          <p:cNvSpPr/>
          <p:nvPr/>
        </p:nvSpPr>
        <p:spPr>
          <a:xfrm>
            <a:off x="6237732" y="609116"/>
            <a:ext cx="2487168" cy="329184"/>
          </a:xfrm>
          <a:prstGeom prst="rect">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0" name="TextBox 9">
            <a:extLst>
              <a:ext uri="{FF2B5EF4-FFF2-40B4-BE49-F238E27FC236}">
                <a16:creationId xmlns:a16="http://schemas.microsoft.com/office/drawing/2014/main" id="{9D227014-B71F-E70C-B2F3-689633349E55}"/>
              </a:ext>
            </a:extLst>
          </p:cNvPr>
          <p:cNvSpPr txBox="1"/>
          <p:nvPr/>
        </p:nvSpPr>
        <p:spPr>
          <a:xfrm>
            <a:off x="7085310" y="609116"/>
            <a:ext cx="792012"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rPr>
              <a:t>实验设计</a:t>
            </a:r>
            <a:endParaRPr kumimoji="0" sz="1400" b="1" i="0" u="none" strike="noStrike" kern="1200" cap="none" spc="0" normalizeH="0" baseline="0" noProof="0" dirty="0">
              <a:ln>
                <a:noFill/>
              </a:ln>
              <a:solidFill>
                <a:srgbClr val="1F497D">
                  <a:lumMod val="75000"/>
                </a:srgbClr>
              </a:solidFill>
              <a:effectLst/>
              <a:uLnTx/>
              <a:uFillTx/>
              <a:latin typeface="Noto Sans CJK SC"/>
              <a:ea typeface="微软雅黑"/>
              <a:cs typeface="+mn-cs"/>
            </a:endParaRPr>
          </a:p>
        </p:txBody>
      </p:sp>
      <p:sp>
        <p:nvSpPr>
          <p:cNvPr id="11" name="Rectangle 10">
            <a:extLst>
              <a:ext uri="{FF2B5EF4-FFF2-40B4-BE49-F238E27FC236}">
                <a16:creationId xmlns:a16="http://schemas.microsoft.com/office/drawing/2014/main" id="{EC77B95E-8C93-0215-46FC-CF4F2AF73FD1}"/>
              </a:ext>
            </a:extLst>
          </p:cNvPr>
          <p:cNvSpPr/>
          <p:nvPr/>
        </p:nvSpPr>
        <p:spPr>
          <a:xfrm>
            <a:off x="9099804" y="609116"/>
            <a:ext cx="2487168" cy="329184"/>
          </a:xfrm>
          <a:prstGeom prst="rect">
            <a:avLst/>
          </a:prstGeom>
          <a:solidFill>
            <a:schemeClr val="tx2">
              <a:lumMod val="75000"/>
            </a:schemeClr>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12" name="TextBox 12">
            <a:extLst>
              <a:ext uri="{FF2B5EF4-FFF2-40B4-BE49-F238E27FC236}">
                <a16:creationId xmlns:a16="http://schemas.microsoft.com/office/drawing/2014/main" id="{6E82CEC7-6D03-6781-DD19-93DB8BD7F46C}"/>
              </a:ext>
            </a:extLst>
          </p:cNvPr>
          <p:cNvSpPr txBox="1"/>
          <p:nvPr/>
        </p:nvSpPr>
        <p:spPr>
          <a:xfrm>
            <a:off x="9866758" y="621113"/>
            <a:ext cx="971548" cy="289310"/>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err="1">
                <a:ln>
                  <a:noFill/>
                </a:ln>
                <a:solidFill>
                  <a:prstClr val="white"/>
                </a:solidFill>
                <a:effectLst/>
                <a:uLnTx/>
                <a:uFillTx/>
                <a:latin typeface="Noto Sans CJK SC"/>
                <a:ea typeface="微软雅黑"/>
                <a:cs typeface="+mn-cs"/>
              </a:rPr>
              <a:t>总结与启发</a:t>
            </a:r>
            <a:endParaRPr kumimoji="0" sz="1400" b="1" i="0" u="none" strike="noStrike" kern="1200" cap="none" spc="0" normalizeH="0" baseline="0" noProof="0" dirty="0">
              <a:ln>
                <a:noFill/>
              </a:ln>
              <a:solidFill>
                <a:prstClr val="white"/>
              </a:solidFill>
              <a:effectLst/>
              <a:uLnTx/>
              <a:uFillTx/>
              <a:latin typeface="Noto Sans CJK SC"/>
              <a:ea typeface="微软雅黑"/>
              <a:cs typeface="+mn-cs"/>
            </a:endParaRPr>
          </a:p>
        </p:txBody>
      </p:sp>
      <p:sp>
        <p:nvSpPr>
          <p:cNvPr id="13" name="TextBox 16">
            <a:extLst>
              <a:ext uri="{FF2B5EF4-FFF2-40B4-BE49-F238E27FC236}">
                <a16:creationId xmlns:a16="http://schemas.microsoft.com/office/drawing/2014/main" id="{4D6E2A6C-9731-8451-764C-CAD136404FF4}"/>
              </a:ext>
            </a:extLst>
          </p:cNvPr>
          <p:cNvSpPr txBox="1"/>
          <p:nvPr/>
        </p:nvSpPr>
        <p:spPr>
          <a:xfrm>
            <a:off x="449580" y="1057172"/>
            <a:ext cx="1356269" cy="458587"/>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500" b="1" i="0" u="none" strike="noStrike" kern="1200" cap="none" spc="0" normalizeH="0" baseline="0" noProof="0" dirty="0">
                <a:ln>
                  <a:noFill/>
                </a:ln>
                <a:solidFill>
                  <a:srgbClr val="14233E"/>
                </a:solidFill>
                <a:effectLst/>
                <a:uLnTx/>
                <a:uFillTx/>
                <a:latin typeface="Noto Sans CJK SC"/>
                <a:ea typeface="微软雅黑"/>
                <a:cs typeface="+mn-cs"/>
              </a:rPr>
              <a:t>研究演进</a:t>
            </a:r>
          </a:p>
        </p:txBody>
      </p:sp>
      <p:cxnSp>
        <p:nvCxnSpPr>
          <p:cNvPr id="14" name="Connector 17">
            <a:extLst>
              <a:ext uri="{FF2B5EF4-FFF2-40B4-BE49-F238E27FC236}">
                <a16:creationId xmlns:a16="http://schemas.microsoft.com/office/drawing/2014/main" id="{580C485E-FC45-61CC-E327-1DCC0249292D}"/>
              </a:ext>
            </a:extLst>
          </p:cNvPr>
          <p:cNvCxnSpPr/>
          <p:nvPr/>
        </p:nvCxnSpPr>
        <p:spPr>
          <a:xfrm>
            <a:off x="449580" y="1614956"/>
            <a:ext cx="11183112" cy="0"/>
          </a:xfrm>
          <a:prstGeom prst="line">
            <a:avLst/>
          </a:prstGeom>
          <a:ln w="28575">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sp>
        <p:nvSpPr>
          <p:cNvPr id="176" name="TextBox 88">
            <a:extLst>
              <a:ext uri="{FF2B5EF4-FFF2-40B4-BE49-F238E27FC236}">
                <a16:creationId xmlns:a16="http://schemas.microsoft.com/office/drawing/2014/main" id="{65FEC6F3-CDA8-BF9A-6CE3-D45C48B5E50E}"/>
              </a:ext>
            </a:extLst>
          </p:cNvPr>
          <p:cNvSpPr txBox="1"/>
          <p:nvPr/>
        </p:nvSpPr>
        <p:spPr>
          <a:xfrm>
            <a:off x="638048" y="6748272"/>
            <a:ext cx="9875520" cy="164592"/>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64748B"/>
                </a:solidFill>
                <a:effectLst/>
                <a:uLnTx/>
                <a:uFillTx/>
                <a:latin typeface="Noto Sans CJK SC"/>
                <a:ea typeface="微软雅黑"/>
                <a:cs typeface="+mn-cs"/>
              </a:rPr>
              <a:t>Paper Fig. 3, Table 2, Fig. 4; §5.2</a:t>
            </a:r>
          </a:p>
        </p:txBody>
      </p:sp>
      <p:sp>
        <p:nvSpPr>
          <p:cNvPr id="177" name="TextBox 89">
            <a:extLst>
              <a:ext uri="{FF2B5EF4-FFF2-40B4-BE49-F238E27FC236}">
                <a16:creationId xmlns:a16="http://schemas.microsoft.com/office/drawing/2014/main" id="{728F75C7-D6C8-6A1A-76AD-213B440CCA64}"/>
              </a:ext>
            </a:extLst>
          </p:cNvPr>
          <p:cNvSpPr txBox="1"/>
          <p:nvPr/>
        </p:nvSpPr>
        <p:spPr>
          <a:xfrm>
            <a:off x="10789920" y="6547104"/>
            <a:ext cx="822960" cy="164592"/>
          </a:xfrm>
          <a:prstGeom prst="rect">
            <a:avLst/>
          </a:prstGeom>
          <a:noFill/>
        </p:spPr>
        <p:txBody>
          <a:bodyPr wrap="none" lIns="36576" tIns="36576" rIns="36576" bIns="36576"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4748B"/>
                </a:solidFill>
                <a:effectLst/>
                <a:uLnTx/>
                <a:uFillTx/>
                <a:latin typeface="Noto Sans CJK SC"/>
                <a:ea typeface="微软雅黑"/>
                <a:cs typeface="+mn-cs"/>
              </a:rPr>
              <a:t>12 / 14</a:t>
            </a:r>
          </a:p>
        </p:txBody>
      </p:sp>
      <p:sp>
        <p:nvSpPr>
          <p:cNvPr id="133" name="Rounded Rectangle 21">
            <a:extLst>
              <a:ext uri="{FF2B5EF4-FFF2-40B4-BE49-F238E27FC236}">
                <a16:creationId xmlns:a16="http://schemas.microsoft.com/office/drawing/2014/main" id="{465E496C-7718-0BF0-0AC5-884AB6C315E3}"/>
              </a:ext>
            </a:extLst>
          </p:cNvPr>
          <p:cNvSpPr/>
          <p:nvPr/>
        </p:nvSpPr>
        <p:spPr>
          <a:xfrm>
            <a:off x="899032" y="1794290"/>
            <a:ext cx="6400799" cy="1405981"/>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165" name="矩形: 圆角 164">
            <a:extLst>
              <a:ext uri="{FF2B5EF4-FFF2-40B4-BE49-F238E27FC236}">
                <a16:creationId xmlns:a16="http://schemas.microsoft.com/office/drawing/2014/main" id="{4745B073-2C86-EB55-565F-636F66AD1B4F}"/>
              </a:ext>
            </a:extLst>
          </p:cNvPr>
          <p:cNvSpPr/>
          <p:nvPr/>
        </p:nvSpPr>
        <p:spPr>
          <a:xfrm>
            <a:off x="876648" y="1779997"/>
            <a:ext cx="1362074" cy="455314"/>
          </a:xfrm>
          <a:prstGeom prst="roundRect">
            <a:avLst/>
          </a:prstGeom>
          <a:solidFill>
            <a:schemeClr val="tx2">
              <a:lumMod val="75000"/>
            </a:schemeClr>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white"/>
                </a:solidFill>
                <a:effectLst/>
                <a:uLnTx/>
                <a:uFillTx/>
                <a:latin typeface="Cambria"/>
                <a:ea typeface="微软雅黑"/>
                <a:cs typeface="+mn-cs"/>
              </a:rPr>
              <a:t>SigLiT</a:t>
            </a:r>
            <a:endParaRPr kumimoji="0" lang="zh-CN" altLang="en-US"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166" name="矩形: 圆角 165">
            <a:extLst>
              <a:ext uri="{FF2B5EF4-FFF2-40B4-BE49-F238E27FC236}">
                <a16:creationId xmlns:a16="http://schemas.microsoft.com/office/drawing/2014/main" id="{987B15B1-2E24-B3E0-8B63-2C689346054E}"/>
              </a:ext>
            </a:extLst>
          </p:cNvPr>
          <p:cNvSpPr/>
          <p:nvPr/>
        </p:nvSpPr>
        <p:spPr>
          <a:xfrm>
            <a:off x="877730" y="2249604"/>
            <a:ext cx="1360992" cy="455314"/>
          </a:xfrm>
          <a:prstGeom prst="roundRect">
            <a:avLst/>
          </a:prstGeom>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ambria"/>
                <a:ea typeface="微软雅黑"/>
                <a:cs typeface="+mn-cs"/>
              </a:rPr>
              <a:t>ICCV2023</a:t>
            </a:r>
            <a:endParaRPr kumimoji="0" lang="zh-CN" altLang="en-US" sz="1800" b="0"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167" name="文本框 166">
            <a:extLst>
              <a:ext uri="{FF2B5EF4-FFF2-40B4-BE49-F238E27FC236}">
                <a16:creationId xmlns:a16="http://schemas.microsoft.com/office/drawing/2014/main" id="{63D5DEE6-DEF8-3EF4-B480-F4AF9AB70AEC}"/>
              </a:ext>
            </a:extLst>
          </p:cNvPr>
          <p:cNvSpPr txBox="1"/>
          <p:nvPr/>
        </p:nvSpPr>
        <p:spPr>
          <a:xfrm>
            <a:off x="2307371" y="2119893"/>
            <a:ext cx="4768940" cy="7848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500" b="1" i="0" u="none" strike="noStrike" kern="1200" cap="none" spc="0" normalizeH="0" baseline="0" noProof="0" dirty="0">
                <a:ln>
                  <a:noFill/>
                </a:ln>
                <a:solidFill>
                  <a:srgbClr val="1F497D">
                    <a:lumMod val="75000"/>
                  </a:srgbClr>
                </a:solidFill>
                <a:effectLst/>
                <a:uLnTx/>
                <a:uFillTx/>
                <a:latin typeface="Cambria"/>
                <a:ea typeface="微软雅黑"/>
                <a:cs typeface="+mn-cs"/>
              </a:rPr>
              <a:t>受启发：继续质疑默认设计是否有必要</a:t>
            </a:r>
            <a:endParaRPr kumimoji="0" lang="en-US" altLang="zh-CN" sz="1500" b="1" i="0" u="none" strike="noStrike" kern="1200" cap="none" spc="0" normalizeH="0" baseline="0" noProof="0" dirty="0">
              <a:ln>
                <a:noFill/>
              </a:ln>
              <a:solidFill>
                <a:srgbClr val="1F497D">
                  <a:lumMod val="75000"/>
                </a:srgb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取消默认的</a:t>
            </a:r>
            <a:r>
              <a:rPr kumimoji="0" lang="zh-CN" altLang="zh-CN"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global softmax normalization</a:t>
            </a: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，将</a:t>
            </a:r>
            <a:r>
              <a:rPr kumimoji="0" lang="zh-CN" altLang="zh-CN"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Global Softmax </a:t>
            </a: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转为</a:t>
            </a:r>
            <a:r>
              <a:rPr kumimoji="0" lang="zh-CN" altLang="zh-CN"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Pairwise Sigmoid</a:t>
            </a:r>
            <a:endPar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endParaRPr>
          </a:p>
        </p:txBody>
      </p:sp>
      <p:sp>
        <p:nvSpPr>
          <p:cNvPr id="169" name="Rounded Rectangle 21">
            <a:extLst>
              <a:ext uri="{FF2B5EF4-FFF2-40B4-BE49-F238E27FC236}">
                <a16:creationId xmlns:a16="http://schemas.microsoft.com/office/drawing/2014/main" id="{110FE8CE-CEC6-3982-DD03-E252954EA3CF}"/>
              </a:ext>
            </a:extLst>
          </p:cNvPr>
          <p:cNvSpPr/>
          <p:nvPr/>
        </p:nvSpPr>
        <p:spPr>
          <a:xfrm>
            <a:off x="877730" y="3378259"/>
            <a:ext cx="6422101" cy="1405981"/>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171" name="矩形: 圆角 170">
            <a:extLst>
              <a:ext uri="{FF2B5EF4-FFF2-40B4-BE49-F238E27FC236}">
                <a16:creationId xmlns:a16="http://schemas.microsoft.com/office/drawing/2014/main" id="{B74215E3-931D-3F5F-1B01-030DD0896EEB}"/>
              </a:ext>
            </a:extLst>
          </p:cNvPr>
          <p:cNvSpPr/>
          <p:nvPr/>
        </p:nvSpPr>
        <p:spPr>
          <a:xfrm>
            <a:off x="855346" y="3363966"/>
            <a:ext cx="1362074" cy="455314"/>
          </a:xfrm>
          <a:prstGeom prst="roundRect">
            <a:avLst/>
          </a:prstGeom>
          <a:solidFill>
            <a:schemeClr val="tx2">
              <a:lumMod val="75000"/>
            </a:schemeClr>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Cambria"/>
                <a:ea typeface="微软雅黑"/>
                <a:cs typeface="+mn-cs"/>
              </a:rPr>
              <a:t>LiT-Decoder</a:t>
            </a:r>
            <a:endParaRPr kumimoji="0" lang="zh-CN" altLang="en-US"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173" name="矩形: 圆角 172">
            <a:extLst>
              <a:ext uri="{FF2B5EF4-FFF2-40B4-BE49-F238E27FC236}">
                <a16:creationId xmlns:a16="http://schemas.microsoft.com/office/drawing/2014/main" id="{D1D10B0B-D695-E608-382E-00055BB6BAA1}"/>
              </a:ext>
            </a:extLst>
          </p:cNvPr>
          <p:cNvSpPr/>
          <p:nvPr/>
        </p:nvSpPr>
        <p:spPr>
          <a:xfrm>
            <a:off x="856428" y="3833573"/>
            <a:ext cx="1360992" cy="455314"/>
          </a:xfrm>
          <a:prstGeom prst="roundRect">
            <a:avLst/>
          </a:prstGeom>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ambria"/>
                <a:ea typeface="微软雅黑"/>
                <a:cs typeface="+mn-cs"/>
              </a:rPr>
              <a:t>CVPR2023</a:t>
            </a:r>
            <a:endParaRPr kumimoji="0" lang="zh-CN" altLang="en-US" sz="1800" b="0"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178" name="文本框 177">
            <a:extLst>
              <a:ext uri="{FF2B5EF4-FFF2-40B4-BE49-F238E27FC236}">
                <a16:creationId xmlns:a16="http://schemas.microsoft.com/office/drawing/2014/main" id="{F2D0A934-E610-B5C5-E617-702A0FA09827}"/>
              </a:ext>
            </a:extLst>
          </p:cNvPr>
          <p:cNvSpPr txBox="1"/>
          <p:nvPr/>
        </p:nvSpPr>
        <p:spPr>
          <a:xfrm>
            <a:off x="2286069" y="3703862"/>
            <a:ext cx="4790242" cy="7848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500" b="1" i="0" u="none" strike="noStrike" kern="1200" cap="none" spc="0" normalizeH="0" baseline="0" noProof="0" dirty="0">
                <a:ln>
                  <a:noFill/>
                </a:ln>
                <a:solidFill>
                  <a:srgbClr val="1F497D">
                    <a:lumMod val="75000"/>
                  </a:srgbClr>
                </a:solidFill>
                <a:effectLst/>
                <a:uLnTx/>
                <a:uFillTx/>
                <a:latin typeface="Cambria"/>
                <a:ea typeface="微软雅黑"/>
                <a:cs typeface="+mn-cs"/>
              </a:rPr>
              <a:t>受启发：</a:t>
            </a:r>
            <a:r>
              <a:rPr kumimoji="0" lang="en-US" altLang="zh-CN" sz="1500" b="1" i="0" u="none" strike="noStrike" kern="1200" cap="none" spc="0" normalizeH="0" baseline="0" noProof="0" dirty="0">
                <a:ln>
                  <a:noFill/>
                </a:ln>
                <a:solidFill>
                  <a:srgbClr val="1F497D">
                    <a:lumMod val="75000"/>
                  </a:srgbClr>
                </a:solidFill>
                <a:effectLst/>
                <a:uLnTx/>
                <a:uFillTx/>
                <a:latin typeface="Cambria"/>
                <a:ea typeface="微软雅黑"/>
                <a:cs typeface="+mn-cs"/>
              </a:rPr>
              <a:t>LiT</a:t>
            </a:r>
            <a:r>
              <a:rPr kumimoji="0" lang="zh-CN" altLang="en-US" sz="1500" b="1" i="0" u="none" strike="noStrike" kern="1200" cap="none" spc="0" normalizeH="0" baseline="0" noProof="0" dirty="0">
                <a:ln>
                  <a:noFill/>
                </a:ln>
                <a:solidFill>
                  <a:srgbClr val="1F497D">
                    <a:lumMod val="75000"/>
                  </a:srgbClr>
                </a:solidFill>
                <a:effectLst/>
                <a:uLnTx/>
                <a:uFillTx/>
                <a:latin typeface="Cambria"/>
                <a:ea typeface="微软雅黑"/>
                <a:cs typeface="+mn-cs"/>
              </a:rPr>
              <a:t>能否用于更复杂任务</a:t>
            </a:r>
            <a:endParaRPr kumimoji="0" lang="en-US" altLang="zh-CN" sz="1500" b="1" i="0" u="none" strike="noStrike" kern="1200" cap="none" spc="0" normalizeH="0" baseline="0" noProof="0" dirty="0">
              <a:ln>
                <a:noFill/>
              </a:ln>
              <a:solidFill>
                <a:srgbClr val="1F497D">
                  <a:lumMod val="75000"/>
                </a:srgb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将把</a:t>
            </a:r>
            <a:r>
              <a:rPr kumimoji="0" lang="en-US" altLang="zh-CN"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test encoder</a:t>
            </a: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换成一个生成式 </a:t>
            </a:r>
            <a:r>
              <a:rPr kumimoji="0" lang="en-US" altLang="zh-CN"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decoder,</a:t>
            </a: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把研究范围扩展到了 </a:t>
            </a:r>
            <a:r>
              <a:rPr kumimoji="0" lang="en-US" altLang="zh-CN"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captioning</a:t>
            </a: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a:t>
            </a:r>
            <a:r>
              <a:rPr kumimoji="0" lang="en-US" altLang="zh-CN"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VQA </a:t>
            </a: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和 </a:t>
            </a:r>
            <a:r>
              <a:rPr kumimoji="0" lang="en-US" altLang="zh-CN"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OCR </a:t>
            </a: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等多任务视觉问题</a:t>
            </a:r>
          </a:p>
        </p:txBody>
      </p:sp>
      <p:sp>
        <p:nvSpPr>
          <p:cNvPr id="182" name="Rounded Rectangle 21">
            <a:extLst>
              <a:ext uri="{FF2B5EF4-FFF2-40B4-BE49-F238E27FC236}">
                <a16:creationId xmlns:a16="http://schemas.microsoft.com/office/drawing/2014/main" id="{381FF852-1CF8-53A8-B15F-8C0784CADBA5}"/>
              </a:ext>
            </a:extLst>
          </p:cNvPr>
          <p:cNvSpPr/>
          <p:nvPr/>
        </p:nvSpPr>
        <p:spPr>
          <a:xfrm>
            <a:off x="876648" y="5003783"/>
            <a:ext cx="6422101" cy="1405981"/>
          </a:xfrm>
          <a:prstGeom prst="roundRect">
            <a:avLst>
              <a:gd name="adj" fmla="val 8000"/>
            </a:avLst>
          </a:prstGeom>
          <a:solidFill>
            <a:srgbClr val="F5F8FC"/>
          </a:solidFill>
          <a:ln w="19050">
            <a:solidFill>
              <a:schemeClr val="tx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dirty="0">
              <a:ln>
                <a:noFill/>
              </a:ln>
              <a:solidFill>
                <a:srgbClr val="1F497D">
                  <a:lumMod val="75000"/>
                </a:srgbClr>
              </a:solidFill>
              <a:effectLst/>
              <a:uLnTx/>
              <a:uFillTx/>
              <a:latin typeface="Cambria"/>
              <a:ea typeface="微软雅黑"/>
              <a:cs typeface="+mn-cs"/>
            </a:endParaRPr>
          </a:p>
        </p:txBody>
      </p:sp>
      <p:sp>
        <p:nvSpPr>
          <p:cNvPr id="186" name="矩形: 圆角 185">
            <a:extLst>
              <a:ext uri="{FF2B5EF4-FFF2-40B4-BE49-F238E27FC236}">
                <a16:creationId xmlns:a16="http://schemas.microsoft.com/office/drawing/2014/main" id="{5DD71A3C-BCC3-01D0-1E29-0252972338D2}"/>
              </a:ext>
            </a:extLst>
          </p:cNvPr>
          <p:cNvSpPr/>
          <p:nvPr/>
        </p:nvSpPr>
        <p:spPr>
          <a:xfrm>
            <a:off x="854264" y="4989490"/>
            <a:ext cx="1362074" cy="455314"/>
          </a:xfrm>
          <a:prstGeom prst="roundRect">
            <a:avLst/>
          </a:prstGeom>
          <a:solidFill>
            <a:schemeClr val="tx2">
              <a:lumMod val="75000"/>
            </a:schemeClr>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Cambria"/>
                <a:ea typeface="微软雅黑"/>
                <a:cs typeface="+mn-cs"/>
              </a:rPr>
              <a:t>BLIP-2</a:t>
            </a:r>
            <a:endParaRPr kumimoji="0" lang="zh-CN" altLang="en-US" sz="1800" b="0" i="0" u="none" strike="noStrike" kern="1200" cap="none" spc="0" normalizeH="0" baseline="0" noProof="0" dirty="0">
              <a:ln>
                <a:noFill/>
              </a:ln>
              <a:solidFill>
                <a:prstClr val="white"/>
              </a:solidFill>
              <a:effectLst/>
              <a:uLnTx/>
              <a:uFillTx/>
              <a:latin typeface="Cambria"/>
              <a:ea typeface="微软雅黑"/>
              <a:cs typeface="+mn-cs"/>
            </a:endParaRPr>
          </a:p>
        </p:txBody>
      </p:sp>
      <p:sp>
        <p:nvSpPr>
          <p:cNvPr id="190" name="矩形: 圆角 189">
            <a:extLst>
              <a:ext uri="{FF2B5EF4-FFF2-40B4-BE49-F238E27FC236}">
                <a16:creationId xmlns:a16="http://schemas.microsoft.com/office/drawing/2014/main" id="{316B017A-3E9B-27A9-1C4C-6AC7C5B09D50}"/>
              </a:ext>
            </a:extLst>
          </p:cNvPr>
          <p:cNvSpPr/>
          <p:nvPr/>
        </p:nvSpPr>
        <p:spPr>
          <a:xfrm>
            <a:off x="855346" y="5459097"/>
            <a:ext cx="1360992" cy="455314"/>
          </a:xfrm>
          <a:prstGeom prst="roundRect">
            <a:avLst/>
          </a:prstGeom>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ambria"/>
                <a:ea typeface="微软雅黑"/>
                <a:cs typeface="+mn-cs"/>
              </a:rPr>
              <a:t>ICML2023</a:t>
            </a:r>
            <a:endParaRPr kumimoji="0" lang="zh-CN" altLang="en-US" sz="1800" b="0" i="0" u="none" strike="noStrike" kern="1200" cap="none" spc="0" normalizeH="0" baseline="0" noProof="0" dirty="0">
              <a:ln>
                <a:noFill/>
              </a:ln>
              <a:solidFill>
                <a:prstClr val="black"/>
              </a:solidFill>
              <a:effectLst/>
              <a:uLnTx/>
              <a:uFillTx/>
              <a:latin typeface="Cambria"/>
              <a:ea typeface="微软雅黑"/>
              <a:cs typeface="+mn-cs"/>
            </a:endParaRPr>
          </a:p>
        </p:txBody>
      </p:sp>
      <p:sp>
        <p:nvSpPr>
          <p:cNvPr id="194" name="文本框 193">
            <a:extLst>
              <a:ext uri="{FF2B5EF4-FFF2-40B4-BE49-F238E27FC236}">
                <a16:creationId xmlns:a16="http://schemas.microsoft.com/office/drawing/2014/main" id="{501504BB-4011-7EF6-EC7A-2278C9DFB495}"/>
              </a:ext>
            </a:extLst>
          </p:cNvPr>
          <p:cNvSpPr txBox="1"/>
          <p:nvPr/>
        </p:nvSpPr>
        <p:spPr>
          <a:xfrm>
            <a:off x="2284987" y="5329386"/>
            <a:ext cx="4790242"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500" b="1" i="0" u="none" strike="noStrike" kern="1200" cap="none" spc="0" normalizeH="0" baseline="0" noProof="0" dirty="0">
                <a:ln>
                  <a:noFill/>
                </a:ln>
                <a:solidFill>
                  <a:srgbClr val="1F497D">
                    <a:lumMod val="75000"/>
                  </a:srgbClr>
                </a:solidFill>
                <a:effectLst/>
                <a:uLnTx/>
                <a:uFillTx/>
                <a:latin typeface="Cambria"/>
                <a:ea typeface="微软雅黑"/>
                <a:cs typeface="+mn-cs"/>
              </a:rPr>
              <a:t>受启发：</a:t>
            </a:r>
            <a:r>
              <a:rPr kumimoji="0" lang="zh-CN" altLang="zh-CN" sz="1600" b="0" i="0" u="none" strike="noStrike" kern="1200" cap="none" spc="0" normalizeH="0" baseline="0" noProof="0" dirty="0">
                <a:ln>
                  <a:noFill/>
                </a:ln>
                <a:solidFill>
                  <a:prstClr val="black"/>
                </a:solidFill>
                <a:effectLst/>
                <a:uLnTx/>
                <a:uFillTx/>
                <a:latin typeface="Cambria"/>
                <a:ea typeface="微软雅黑"/>
                <a:cs typeface="+mn-cs"/>
              </a:rPr>
              <a:t>Image Encoder </a:t>
            </a:r>
            <a:r>
              <a:rPr kumimoji="0" lang="zh-CN" altLang="en-US" sz="1600" b="0" i="0" u="none" strike="noStrike" kern="1200" cap="none" spc="0" normalizeH="0" baseline="0" noProof="0" dirty="0">
                <a:ln>
                  <a:noFill/>
                </a:ln>
                <a:solidFill>
                  <a:prstClr val="black"/>
                </a:solidFill>
                <a:effectLst/>
                <a:uLnTx/>
                <a:uFillTx/>
                <a:latin typeface="Cambria"/>
                <a:ea typeface="微软雅黑"/>
                <a:cs typeface="+mn-cs"/>
              </a:rPr>
              <a:t>和</a:t>
            </a:r>
            <a:r>
              <a:rPr kumimoji="0" lang="zh-CN" altLang="zh-CN" sz="1600" b="0" i="0" u="none" strike="noStrike" kern="1200" cap="none" spc="0" normalizeH="0" baseline="0" noProof="0" dirty="0">
                <a:ln>
                  <a:noFill/>
                </a:ln>
                <a:solidFill>
                  <a:prstClr val="black"/>
                </a:solidFill>
                <a:effectLst/>
                <a:uLnTx/>
                <a:uFillTx/>
                <a:latin typeface="Cambria"/>
                <a:ea typeface="微软雅黑"/>
                <a:cs typeface="+mn-cs"/>
              </a:rPr>
              <a:t>LLM </a:t>
            </a:r>
            <a:r>
              <a:rPr kumimoji="0" lang="zh-CN" altLang="en-US" sz="1600" b="0" i="0" u="none" strike="noStrike" kern="1200" cap="none" spc="0" normalizeH="0" baseline="0" noProof="0" dirty="0">
                <a:ln>
                  <a:noFill/>
                </a:ln>
                <a:solidFill>
                  <a:prstClr val="black"/>
                </a:solidFill>
                <a:effectLst/>
                <a:uLnTx/>
                <a:uFillTx/>
                <a:latin typeface="Cambria"/>
                <a:ea typeface="微软雅黑"/>
                <a:cs typeface="+mn-cs"/>
              </a:rPr>
              <a:t>都很好</a:t>
            </a:r>
            <a:r>
              <a:rPr kumimoji="0" lang="zh-CN" altLang="zh-CN" sz="1600" b="0" i="0" u="none" strike="noStrike" kern="1200" cap="none" spc="0" normalizeH="0" baseline="0" noProof="0" dirty="0">
                <a:ln>
                  <a:noFill/>
                </a:ln>
                <a:solidFill>
                  <a:prstClr val="black"/>
                </a:solidFill>
                <a:effectLst/>
                <a:uLnTx/>
                <a:uFillTx/>
                <a:latin typeface="Cambria"/>
                <a:ea typeface="微软雅黑"/>
                <a:cs typeface="+mn-cs"/>
              </a:rPr>
              <a:t>，为什么要重新训练任何一端？</a:t>
            </a:r>
            <a:endParaRPr kumimoji="0" lang="en-US" altLang="zh-CN" sz="1500" b="1" i="0" u="none" strike="noStrike" kern="1200" cap="none" spc="0" normalizeH="0" baseline="0" noProof="0" dirty="0">
              <a:ln>
                <a:noFill/>
              </a:ln>
              <a:solidFill>
                <a:srgbClr val="1F497D">
                  <a:lumMod val="75000"/>
                </a:srgbClr>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rPr>
              <a:t>两端冻结，只训练</a:t>
            </a:r>
            <a:r>
              <a:rPr kumimoji="0" lang="zh-CN" altLang="zh-CN" sz="1600" b="0" i="0" u="none" strike="noStrike" kern="1200" cap="none" spc="0" normalizeH="0" baseline="0" noProof="0" dirty="0">
                <a:ln>
                  <a:noFill/>
                </a:ln>
                <a:solidFill>
                  <a:prstClr val="black"/>
                </a:solidFill>
                <a:effectLst/>
                <a:uLnTx/>
                <a:uFillTx/>
                <a:latin typeface="Cambria"/>
                <a:ea typeface="微软雅黑"/>
                <a:cs typeface="+mn-cs"/>
              </a:rPr>
              <a:t>一个轻量的桥梁，让两个已经训练好的强模型能够交流。</a:t>
            </a:r>
            <a:endParaRPr kumimoji="0" lang="zh-CN" altLang="en-US" sz="1500" b="0" i="0" u="none" strike="noStrike" kern="1200" cap="none" spc="0" normalizeH="0" baseline="0" noProof="0" dirty="0">
              <a:ln>
                <a:noFill/>
              </a:ln>
              <a:solidFill>
                <a:prstClr val="black">
                  <a:lumMod val="75000"/>
                  <a:lumOff val="25000"/>
                </a:prstClr>
              </a:solidFill>
              <a:effectLst/>
              <a:uLnTx/>
              <a:uFillTx/>
              <a:latin typeface="Cambria"/>
              <a:ea typeface="微软雅黑"/>
              <a:cs typeface="+mn-cs"/>
            </a:endParaRPr>
          </a:p>
        </p:txBody>
      </p:sp>
      <p:sp>
        <p:nvSpPr>
          <p:cNvPr id="197" name="Rounded Rectangle 31">
            <a:extLst>
              <a:ext uri="{FF2B5EF4-FFF2-40B4-BE49-F238E27FC236}">
                <a16:creationId xmlns:a16="http://schemas.microsoft.com/office/drawing/2014/main" id="{83C27A68-4768-69E1-8225-AFD05820E1DD}"/>
              </a:ext>
            </a:extLst>
          </p:cNvPr>
          <p:cNvSpPr/>
          <p:nvPr/>
        </p:nvSpPr>
        <p:spPr>
          <a:xfrm>
            <a:off x="8283070" y="1794289"/>
            <a:ext cx="2771010" cy="4612313"/>
          </a:xfrm>
          <a:prstGeom prst="roundRect">
            <a:avLst>
              <a:gd name="adj" fmla="val 8000"/>
            </a:avLst>
          </a:prstGeom>
          <a:solidFill>
            <a:schemeClr val="tx2">
              <a:lumMod val="75000"/>
            </a:schemeClr>
          </a:solidFill>
          <a:ln w="12700">
            <a:solidFill>
              <a:srgbClr val="1423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white"/>
              </a:solidFill>
              <a:effectLst/>
              <a:uLnTx/>
              <a:uFillTx/>
              <a:latin typeface="Cambria"/>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white"/>
              </a:solidFill>
              <a:effectLst/>
              <a:uLnTx/>
              <a:uFillTx/>
              <a:latin typeface="Cambria"/>
              <a:ea typeface="微软雅黑"/>
              <a:cs typeface="+mn-cs"/>
            </a:endParaRPr>
          </a:p>
          <a:p>
            <a:pPr marL="0" marR="0" lvl="0" indent="0" algn="l" defTabSz="457200" rtl="0" eaLnBrk="1" fontAlgn="auto" latinLnBrk="0" hangingPunct="1">
              <a:lnSpc>
                <a:spcPts val="3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white"/>
              </a:solidFill>
              <a:effectLst/>
              <a:uLnTx/>
              <a:uFillTx/>
              <a:latin typeface="Cambria"/>
              <a:ea typeface="微软雅黑"/>
              <a:cs typeface="+mn-cs"/>
            </a:endParaRPr>
          </a:p>
          <a:p>
            <a:pPr marL="0" marR="0" lvl="0" indent="0" algn="l" defTabSz="457200" rtl="0" eaLnBrk="1" fontAlgn="auto" latinLnBrk="0" hangingPunct="1">
              <a:lnSpc>
                <a:spcPts val="3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white"/>
                </a:solidFill>
                <a:effectLst/>
                <a:uLnTx/>
                <a:uFillTx/>
                <a:latin typeface="Cambria"/>
                <a:ea typeface="微软雅黑"/>
                <a:cs typeface="+mn-cs"/>
              </a:rPr>
              <a:t>LiT 的价值不只是“冻结 Image Encoder”，而是一种做减法的研究思维</a:t>
            </a:r>
            <a:r>
              <a:rPr kumimoji="0" lang="zh-CN" altLang="en-US" sz="1800" b="0" i="0" u="none" strike="noStrike" kern="1200" cap="none" spc="0" normalizeH="0" baseline="0" noProof="0" dirty="0">
                <a:ln>
                  <a:noFill/>
                </a:ln>
                <a:solidFill>
                  <a:prstClr val="white"/>
                </a:solidFill>
                <a:effectLst/>
                <a:uLnTx/>
                <a:uFillTx/>
                <a:latin typeface="Cambria"/>
                <a:ea typeface="微软雅黑"/>
                <a:cs typeface="+mn-cs"/>
              </a:rPr>
              <a:t>。</a:t>
            </a:r>
            <a:endParaRPr kumimoji="0" lang="en-US" altLang="zh-CN" sz="1800" b="0" i="0" u="none" strike="noStrike" kern="1200" cap="none" spc="0" normalizeH="0" baseline="0" noProof="0" dirty="0">
              <a:ln>
                <a:noFill/>
              </a:ln>
              <a:solidFill>
                <a:prstClr val="white"/>
              </a:solidFill>
              <a:effectLst/>
              <a:uLnTx/>
              <a:uFillTx/>
              <a:latin typeface="Cambria"/>
              <a:ea typeface="微软雅黑"/>
              <a:cs typeface="+mn-cs"/>
            </a:endParaRPr>
          </a:p>
          <a:p>
            <a:pPr marL="0" marR="0" lvl="0" indent="0" algn="l" defTabSz="457200" rtl="0" eaLnBrk="1" fontAlgn="auto" latinLnBrk="0" hangingPunct="1">
              <a:lnSpc>
                <a:spcPts val="3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white"/>
                </a:solidFill>
                <a:effectLst/>
                <a:uLnTx/>
                <a:uFillTx/>
                <a:latin typeface="Cambria"/>
                <a:ea typeface="微软雅黑"/>
                <a:cs typeface="+mn-cs"/>
              </a:rPr>
              <a:t>不盲目增加模型复杂度，而是重新审视默认范式，识别“不必要的学习”，解耦不同目标，并最大化复用已有知识。</a:t>
            </a:r>
            <a:endParaRPr kumimoji="0" lang="zh-CN" altLang="en-US" sz="1800" b="1" i="0" u="none" strike="noStrike" kern="1200" cap="none" spc="0" normalizeH="0" baseline="0" noProof="0" dirty="0">
              <a:ln>
                <a:noFill/>
              </a:ln>
              <a:solidFill>
                <a:srgbClr val="FFFFFF"/>
              </a:solidFill>
              <a:effectLst/>
              <a:uLnTx/>
              <a:uFillTx/>
              <a:latin typeface="Noto Sans CJK SC"/>
              <a:ea typeface="微软雅黑"/>
              <a:cs typeface="+mn-cs"/>
            </a:endParaRPr>
          </a:p>
        </p:txBody>
      </p:sp>
      <p:pic>
        <p:nvPicPr>
          <p:cNvPr id="201" name="图片 200">
            <a:extLst>
              <a:ext uri="{FF2B5EF4-FFF2-40B4-BE49-F238E27FC236}">
                <a16:creationId xmlns:a16="http://schemas.microsoft.com/office/drawing/2014/main" id="{CA4C75B7-AF0A-3566-2279-1E026C594439}"/>
              </a:ext>
            </a:extLst>
          </p:cNvPr>
          <p:cNvPicPr>
            <a:picLocks noChangeAspect="1"/>
          </p:cNvPicPr>
          <p:nvPr/>
        </p:nvPicPr>
        <p:blipFill>
          <a:blip r:embed="rId3"/>
          <a:stretch>
            <a:fillRect/>
          </a:stretch>
        </p:blipFill>
        <p:spPr>
          <a:xfrm>
            <a:off x="8484650" y="2133006"/>
            <a:ext cx="847578" cy="847578"/>
          </a:xfrm>
          <a:prstGeom prst="rect">
            <a:avLst/>
          </a:prstGeom>
        </p:spPr>
      </p:pic>
      <p:sp>
        <p:nvSpPr>
          <p:cNvPr id="202" name="文本框 201">
            <a:extLst>
              <a:ext uri="{FF2B5EF4-FFF2-40B4-BE49-F238E27FC236}">
                <a16:creationId xmlns:a16="http://schemas.microsoft.com/office/drawing/2014/main" id="{7C264C51-2301-26D7-AF0D-21E0A07229A6}"/>
              </a:ext>
            </a:extLst>
          </p:cNvPr>
          <p:cNvSpPr txBox="1"/>
          <p:nvPr/>
        </p:nvSpPr>
        <p:spPr>
          <a:xfrm>
            <a:off x="9366844" y="2355382"/>
            <a:ext cx="121058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Cambria"/>
                <a:ea typeface="微软雅黑"/>
                <a:cs typeface="+mn-cs"/>
              </a:rPr>
              <a:t>核心启发</a:t>
            </a:r>
          </a:p>
        </p:txBody>
      </p:sp>
    </p:spTree>
    <p:extLst>
      <p:ext uri="{BB962C8B-B14F-4D97-AF65-F5344CB8AC3E}">
        <p14:creationId xmlns:p14="http://schemas.microsoft.com/office/powerpoint/2010/main" val="797348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233E"/>
          </a:solidFill>
          <a:ln w="12700">
            <a:solidFill>
              <a:srgbClr val="14233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mbria"/>
              <a:ea typeface="微软雅黑"/>
              <a:cs typeface="+mn-cs"/>
            </a:endParaRPr>
          </a:p>
        </p:txBody>
      </p:sp>
      <p:sp>
        <p:nvSpPr>
          <p:cNvPr id="3" name="TextBox 2"/>
          <p:cNvSpPr txBox="1"/>
          <p:nvPr/>
        </p:nvSpPr>
        <p:spPr>
          <a:xfrm>
            <a:off x="731520" y="960120"/>
            <a:ext cx="1096903" cy="320088"/>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0EA5E9"/>
                </a:solidFill>
                <a:effectLst/>
                <a:uLnTx/>
                <a:uFillTx/>
                <a:latin typeface="Noto Sans CJK SC"/>
                <a:ea typeface="微软雅黑"/>
                <a:cs typeface="+mn-cs"/>
              </a:rPr>
              <a:t>THANK YOU</a:t>
            </a:r>
          </a:p>
        </p:txBody>
      </p:sp>
      <p:sp>
        <p:nvSpPr>
          <p:cNvPr id="4" name="TextBox 3"/>
          <p:cNvSpPr txBox="1"/>
          <p:nvPr/>
        </p:nvSpPr>
        <p:spPr>
          <a:xfrm>
            <a:off x="731520" y="1508760"/>
            <a:ext cx="4114800" cy="658368"/>
          </a:xfrm>
          <a:prstGeom prst="rect">
            <a:avLst/>
          </a:prstGeom>
          <a:noFill/>
        </p:spPr>
        <p:txBody>
          <a:bodyPr wrap="none" lIns="36576" tIns="36576" rIns="36576" bIns="36576"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dirty="0" err="1">
                <a:ln>
                  <a:noFill/>
                </a:ln>
                <a:solidFill>
                  <a:srgbClr val="FFFFFF"/>
                </a:solidFill>
                <a:effectLst/>
                <a:uLnTx/>
                <a:uFillTx/>
                <a:latin typeface="Noto Serif CJK SC"/>
                <a:ea typeface="微软雅黑"/>
                <a:cs typeface="+mn-cs"/>
              </a:rPr>
              <a:t>谢谢聆听</a:t>
            </a:r>
            <a:endParaRPr kumimoji="0" sz="3600" b="1" i="0" u="none" strike="noStrike" kern="1200" cap="none" spc="0" normalizeH="0" baseline="0" noProof="0" dirty="0">
              <a:ln>
                <a:noFill/>
              </a:ln>
              <a:solidFill>
                <a:srgbClr val="FFFFFF"/>
              </a:solidFill>
              <a:effectLst/>
              <a:uLnTx/>
              <a:uFillTx/>
              <a:latin typeface="Noto Serif CJK SC"/>
              <a:ea typeface="微软雅黑"/>
              <a:cs typeface="+mn-cs"/>
            </a:endParaRPr>
          </a:p>
        </p:txBody>
      </p:sp>
      <p:cxnSp>
        <p:nvCxnSpPr>
          <p:cNvPr id="5" name="Connector 4"/>
          <p:cNvCxnSpPr/>
          <p:nvPr/>
        </p:nvCxnSpPr>
        <p:spPr>
          <a:xfrm>
            <a:off x="749808" y="2423160"/>
            <a:ext cx="2313432" cy="0"/>
          </a:xfrm>
          <a:prstGeom prst="line">
            <a:avLst/>
          </a:prstGeom>
          <a:ln w="38100">
            <a:solidFill>
              <a:srgbClr val="0EA5E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89720" y="4526280"/>
            <a:ext cx="2011680" cy="329184"/>
          </a:xfrm>
          <a:prstGeom prst="rect">
            <a:avLst/>
          </a:prstGeom>
          <a:noFill/>
        </p:spPr>
        <p:txBody>
          <a:bodyPr wrap="none" lIns="36576" tIns="36576" rIns="36576" bIns="36576"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400" b="1" i="0" u="none" strike="noStrike" kern="1200" cap="none" spc="0" normalizeH="0" baseline="0" noProof="0">
                <a:ln>
                  <a:noFill/>
                </a:ln>
                <a:solidFill>
                  <a:srgbClr val="14233E"/>
                </a:solidFill>
                <a:effectLst/>
                <a:uLnTx/>
                <a:uFillTx/>
                <a:latin typeface="Noto Sans CJK SC"/>
                <a:ea typeface="微软雅黑"/>
                <a:cs typeface="+mn-cs"/>
              </a:rPr>
              <a:t>Q &amp; A</a:t>
            </a:r>
          </a:p>
        </p:txBody>
      </p:sp>
      <p:cxnSp>
        <p:nvCxnSpPr>
          <p:cNvPr id="11" name="Connector 10"/>
          <p:cNvCxnSpPr/>
          <p:nvPr/>
        </p:nvCxnSpPr>
        <p:spPr>
          <a:xfrm>
            <a:off x="502920" y="6510528"/>
            <a:ext cx="11183112" cy="0"/>
          </a:xfrm>
          <a:prstGeom prst="line">
            <a:avLst/>
          </a:prstGeom>
          <a:ln w="889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789920" y="6547104"/>
            <a:ext cx="822960" cy="164592"/>
          </a:xfrm>
          <a:prstGeom prst="rect">
            <a:avLst/>
          </a:prstGeom>
          <a:noFill/>
        </p:spPr>
        <p:txBody>
          <a:bodyPr wrap="none" lIns="36576" tIns="36576" rIns="36576" bIns="36576"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64748B"/>
                </a:solidFill>
                <a:effectLst/>
                <a:uLnTx/>
                <a:uFillTx/>
                <a:latin typeface="Noto Sans CJK SC"/>
                <a:ea typeface="微软雅黑"/>
                <a:cs typeface="+mn-cs"/>
              </a:rPr>
              <a:t>14 / 14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Grp="1"/>
          </p:cNvSpPr>
          <p:nvPr/>
        </p:nvSpPr>
        <p:spPr>
          <a:xfrm>
            <a:off x="685800" y="838200"/>
            <a:ext cx="76200" cy="4476750"/>
          </a:xfrm>
          <a:prstGeom prst="rect">
            <a:avLst/>
          </a:prstGeom>
          <a:solidFill>
            <a:srgbClr val="137C8B"/>
          </a:solidFill>
          <a:ln w="0">
            <a:noFill/>
            <a:prstDash val="solid"/>
          </a:ln>
        </p:spPr>
      </p:sp>
      <p:sp>
        <p:nvSpPr>
          <p:cNvPr id="2" name="矩形 1"/>
          <p:cNvSpPr>
            <a:spLocks noGrp="1"/>
          </p:cNvSpPr>
          <p:nvPr/>
        </p:nvSpPr>
        <p:spPr>
          <a:xfrm>
            <a:off x="1066800" y="990600"/>
            <a:ext cx="10679430" cy="723900"/>
          </a:xfrm>
          <a:prstGeom prst="rect">
            <a:avLst/>
          </a:prstGeom>
          <a:noFill/>
          <a:ln w="0">
            <a:noFill/>
          </a:ln>
        </p:spPr>
        <p:txBody>
          <a:bodyPr wrap="square" lIns="0" tIns="0" rIns="0" bIns="0" anchor="t"/>
          <a:lstStyle/>
          <a:p>
            <a:pPr algn="l">
              <a:lnSpc>
                <a:spcPct val="120000"/>
              </a:lnSpc>
              <a:buNone/>
              <a:defRPr sz="3825" b="1">
                <a:solidFill>
                  <a:srgbClr val="172B3A"/>
                </a:solidFill>
                <a:latin typeface="Arial" panose="020B0604020202090204"/>
                <a:ea typeface="Arial" panose="020B0604020202090204"/>
                <a:cs typeface="Arial" panose="020B0604020202090204"/>
              </a:defRPr>
            </a:pPr>
            <a:r>
              <a:rPr sz="2800" b="1">
                <a:solidFill>
                  <a:srgbClr val="172B3A"/>
                </a:solidFill>
                <a:latin typeface="Arial" panose="020B0604020202090204"/>
                <a:ea typeface="Arial" panose="020B0604020202090204"/>
                <a:cs typeface="Arial" panose="020B0604020202090204"/>
              </a:rPr>
              <a:t>MultiLoReFT</a:t>
            </a:r>
            <a:r>
              <a:rPr lang="en-US" altLang="zh-CN" sz="2800" b="1">
                <a:solidFill>
                  <a:srgbClr val="172B3A"/>
                </a:solidFill>
                <a:latin typeface="Arial" panose="020B0604020202090204"/>
                <a:ea typeface="Arial" panose="020B0604020202090204"/>
                <a:cs typeface="Arial" panose="020B0604020202090204"/>
              </a:rPr>
              <a:t>: Decoupling Shared and Modality-Specific Subspaces in Multimodal Learning via Low-Rank Representation Fine-Tuning</a:t>
            </a:r>
          </a:p>
        </p:txBody>
      </p:sp>
      <p:sp>
        <p:nvSpPr>
          <p:cNvPr id="3" name="矩形 2"/>
          <p:cNvSpPr>
            <a:spLocks noGrp="1"/>
          </p:cNvSpPr>
          <p:nvPr/>
        </p:nvSpPr>
        <p:spPr>
          <a:xfrm>
            <a:off x="1066800" y="2925445"/>
            <a:ext cx="9858375" cy="520065"/>
          </a:xfrm>
          <a:prstGeom prst="rect">
            <a:avLst/>
          </a:prstGeom>
          <a:noFill/>
          <a:ln w="0">
            <a:noFill/>
          </a:ln>
        </p:spPr>
        <p:txBody>
          <a:bodyPr wrap="square" lIns="0" tIns="0" rIns="0" bIns="0" anchor="t">
            <a:normAutofit/>
          </a:bodyPr>
          <a:lstStyle/>
          <a:p>
            <a:pPr algn="l">
              <a:lnSpc>
                <a:spcPct val="100000"/>
              </a:lnSpc>
              <a:buNone/>
              <a:defRPr sz="2325" b="1">
                <a:solidFill>
                  <a:srgbClr val="137C8B"/>
                </a:solidFill>
                <a:latin typeface="Arial" panose="020B0604020202090204"/>
                <a:ea typeface="Arial" panose="020B0604020202090204"/>
                <a:cs typeface="Arial" panose="020B0604020202090204"/>
              </a:defRPr>
            </a:pPr>
            <a:r>
              <a:rPr lang="zh-CN" altLang="en-US" sz="2325" b="1">
                <a:solidFill>
                  <a:srgbClr val="137C8B"/>
                </a:solidFill>
                <a:latin typeface="Arial" panose="020B0604020202090204"/>
                <a:ea typeface="Arial" panose="020B0604020202090204"/>
                <a:cs typeface="Arial" panose="020B0604020202090204"/>
              </a:rPr>
              <a:t>通过低秩表示微调实现多模态学习中共享子空间与模态特异性子空间的解耦</a:t>
            </a:r>
          </a:p>
        </p:txBody>
      </p:sp>
      <p:sp>
        <p:nvSpPr>
          <p:cNvPr id="5" name="矩形 4"/>
          <p:cNvSpPr>
            <a:spLocks noGrp="1"/>
          </p:cNvSpPr>
          <p:nvPr/>
        </p:nvSpPr>
        <p:spPr>
          <a:xfrm>
            <a:off x="1066800" y="3861435"/>
            <a:ext cx="10096500" cy="19050"/>
          </a:xfrm>
          <a:prstGeom prst="rect">
            <a:avLst/>
          </a:prstGeom>
          <a:solidFill>
            <a:srgbClr val="D7E0E6"/>
          </a:solidFill>
          <a:ln w="0">
            <a:noFill/>
            <a:prstDash val="solid"/>
          </a:ln>
        </p:spPr>
      </p:sp>
      <p:sp>
        <p:nvSpPr>
          <p:cNvPr id="6" name="矩形 5"/>
          <p:cNvSpPr>
            <a:spLocks noGrp="1"/>
          </p:cNvSpPr>
          <p:nvPr/>
        </p:nvSpPr>
        <p:spPr>
          <a:xfrm>
            <a:off x="1066800" y="4221480"/>
            <a:ext cx="9525000" cy="323850"/>
          </a:xfrm>
          <a:prstGeom prst="rect">
            <a:avLst/>
          </a:prstGeom>
          <a:noFill/>
          <a:ln w="0">
            <a:noFill/>
          </a:ln>
        </p:spPr>
        <p:txBody>
          <a:bodyPr wrap="square" lIns="0" tIns="0" rIns="0" bIns="0" anchor="t">
            <a:normAutofit/>
          </a:bodyPr>
          <a:lstStyle/>
          <a:p>
            <a:pPr algn="l">
              <a:lnSpc>
                <a:spcPct val="100000"/>
              </a:lnSpc>
              <a:buNone/>
              <a:defRPr sz="1425" b="0">
                <a:solidFill>
                  <a:srgbClr val="172B3A"/>
                </a:solidFill>
                <a:latin typeface="Arial" panose="020B0604020202090204"/>
                <a:ea typeface="Arial" panose="020B0604020202090204"/>
                <a:cs typeface="Arial" panose="020B0604020202090204"/>
              </a:defRPr>
            </a:pPr>
            <a:r>
              <a:rPr sz="1600" b="0">
                <a:solidFill>
                  <a:srgbClr val="172B3A"/>
                </a:solidFill>
                <a:latin typeface="Arial" panose="020B0604020202090204"/>
                <a:ea typeface="Arial" panose="020B0604020202090204"/>
                <a:cs typeface="Arial" panose="020B0604020202090204"/>
              </a:rPr>
              <a:t>ICML 2026</a:t>
            </a:r>
            <a:r>
              <a:rPr sz="1425" b="0">
                <a:solidFill>
                  <a:srgbClr val="172B3A"/>
                </a:solidFill>
                <a:latin typeface="Arial" panose="020B0604020202090204"/>
                <a:ea typeface="Arial" panose="020B0604020202090204"/>
                <a:cs typeface="Arial" panose="020B0604020202090204"/>
              </a:rPr>
              <a:t> </a:t>
            </a:r>
          </a:p>
        </p:txBody>
      </p:sp>
      <p:sp>
        <p:nvSpPr>
          <p:cNvPr id="8" name="矩形 7"/>
          <p:cNvSpPr>
            <a:spLocks noGrp="1"/>
          </p:cNvSpPr>
          <p:nvPr/>
        </p:nvSpPr>
        <p:spPr>
          <a:xfrm>
            <a:off x="1066800" y="4797425"/>
            <a:ext cx="10144125" cy="476250"/>
          </a:xfrm>
          <a:prstGeom prst="rect">
            <a:avLst/>
          </a:prstGeom>
          <a:noFill/>
          <a:ln w="0">
            <a:noFill/>
          </a:ln>
        </p:spPr>
        <p:txBody>
          <a:bodyPr wrap="square" lIns="0" tIns="0" rIns="0" bIns="0" anchor="t"/>
          <a:lstStyle/>
          <a:p>
            <a:pPr algn="l">
              <a:lnSpc>
                <a:spcPct val="100000"/>
              </a:lnSpc>
              <a:buNone/>
              <a:defRPr sz="1500" b="0">
                <a:solidFill>
                  <a:srgbClr val="526573"/>
                </a:solidFill>
                <a:latin typeface="Arial" panose="020B0604020202090204"/>
                <a:ea typeface="Arial" panose="020B0604020202090204"/>
                <a:cs typeface="Arial" panose="020B0604020202090204"/>
              </a:defRPr>
            </a:pPr>
            <a:r>
              <a:rPr sz="1800" b="1">
                <a:solidFill>
                  <a:srgbClr val="526573"/>
                </a:solidFill>
                <a:latin typeface="Arial" panose="020B0604020202090204"/>
                <a:ea typeface="Arial" panose="020B0604020202090204"/>
                <a:cs typeface="Arial" panose="020B0604020202090204"/>
              </a:rPr>
              <a:t>汇报</a:t>
            </a:r>
            <a:r>
              <a:rPr lang="zh-CN" sz="1800" b="1">
                <a:solidFill>
                  <a:srgbClr val="526573"/>
                </a:solidFill>
                <a:latin typeface="Arial" panose="020B0604020202090204"/>
                <a:ea typeface="宋体" pitchFamily="2" charset="-122"/>
                <a:cs typeface="Arial" panose="020B0604020202090204"/>
              </a:rPr>
              <a:t>人：</a:t>
            </a:r>
            <a:r>
              <a:rPr lang="en-US" altLang="zh-CN" sz="1800" b="1">
                <a:solidFill>
                  <a:srgbClr val="526573"/>
                </a:solidFill>
                <a:latin typeface="Arial" panose="020B0604020202090204"/>
                <a:ea typeface="宋体" pitchFamily="2" charset="-122"/>
                <a:cs typeface="Arial" panose="020B0604020202090204"/>
              </a:rPr>
              <a:t>2612196 </a:t>
            </a:r>
            <a:r>
              <a:rPr lang="zh-CN" altLang="en-US" sz="1800" b="1">
                <a:solidFill>
                  <a:srgbClr val="526573"/>
                </a:solidFill>
                <a:latin typeface="Arial" panose="020B0604020202090204"/>
                <a:ea typeface="宋体" pitchFamily="2" charset="-122"/>
                <a:cs typeface="Arial" panose="020B0604020202090204"/>
              </a:rPr>
              <a:t>肖颖</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551180" y="2132965"/>
            <a:ext cx="10225405" cy="1367790"/>
          </a:xfrm>
          <a:prstGeom prst="round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矩形 14"/>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研究动机：</a:t>
            </a:r>
            <a:r>
              <a:rPr lang="zh-CN" altLang="en-US" sz="2700" b="1">
                <a:solidFill>
                  <a:srgbClr val="172B3A"/>
                </a:solidFill>
                <a:latin typeface="Arial" panose="020B0604020202090204"/>
                <a:ea typeface="Arial" panose="020B0604020202090204"/>
                <a:cs typeface="Arial" panose="020B0604020202090204"/>
              </a:rPr>
              <a:t>多模态融合与信息来源解析</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3" name="矩形 2"/>
          <p:cNvSpPr>
            <a:spLocks noGrp="1"/>
          </p:cNvSpPr>
          <p:nvPr/>
        </p:nvSpPr>
        <p:spPr>
          <a:xfrm>
            <a:off x="685800" y="6438900"/>
            <a:ext cx="7620000" cy="209550"/>
          </a:xfrm>
          <a:prstGeom prst="rect">
            <a:avLst/>
          </a:prstGeom>
          <a:noFill/>
          <a:ln w="0">
            <a:noFill/>
          </a:ln>
        </p:spPr>
        <p:txBody>
          <a:bodyPr wrap="square" lIns="0" tIns="0" rIns="0" bIns="0" anchor="t">
            <a:normAutofit/>
          </a:bodyPr>
          <a:lstStyle/>
          <a:p>
            <a:pPr algn="l">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1 研究动机</a:t>
            </a:r>
          </a:p>
        </p:txBody>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02 / 1</a:t>
            </a:r>
            <a:r>
              <a:rPr lang="en-US" sz="1125" b="0">
                <a:solidFill>
                  <a:srgbClr val="526573"/>
                </a:solidFill>
                <a:latin typeface="Arial" panose="020B0604020202090204"/>
                <a:ea typeface="Arial" panose="020B0604020202090204"/>
                <a:cs typeface="Arial" panose="020B0604020202090204"/>
              </a:rPr>
              <a:t>9</a:t>
            </a:r>
          </a:p>
        </p:txBody>
      </p:sp>
      <p:sp>
        <p:nvSpPr>
          <p:cNvPr id="5" name="矩形 4"/>
          <p:cNvSpPr>
            <a:spLocks noGrp="1"/>
          </p:cNvSpPr>
          <p:nvPr/>
        </p:nvSpPr>
        <p:spPr>
          <a:xfrm>
            <a:off x="685800" y="1381125"/>
            <a:ext cx="10429875" cy="552450"/>
          </a:xfrm>
          <a:prstGeom prst="rect">
            <a:avLst/>
          </a:prstGeom>
          <a:noFill/>
          <a:ln w="0">
            <a:noFill/>
          </a:ln>
        </p:spPr>
        <p:txBody>
          <a:bodyPr wrap="square" lIns="0" tIns="0" rIns="0" bIns="0" anchor="t">
            <a:normAutofit/>
          </a:bodyPr>
          <a:lstStyle/>
          <a:p>
            <a:pPr algn="l">
              <a:lnSpc>
                <a:spcPct val="100000"/>
              </a:lnSpc>
              <a:buNone/>
              <a:defRPr sz="2025" b="1">
                <a:solidFill>
                  <a:srgbClr val="172B3A"/>
                </a:solidFill>
                <a:latin typeface="Arial" panose="020B0604020202090204"/>
                <a:ea typeface="Arial" panose="020B0604020202090204"/>
                <a:cs typeface="Arial" panose="020B0604020202090204"/>
              </a:defRPr>
            </a:pPr>
            <a:r>
              <a:rPr sz="2025" b="1">
                <a:solidFill>
                  <a:srgbClr val="172B3A"/>
                </a:solidFill>
                <a:latin typeface="Arial" panose="020B0604020202090204"/>
                <a:ea typeface="Arial" panose="020B0604020202090204"/>
                <a:cs typeface="Arial" panose="020B0604020202090204"/>
              </a:rPr>
              <a:t>多模态数据提供互补线索，但配对数据难收集，且模型内部的信息分工常不可见。</a:t>
            </a:r>
          </a:p>
        </p:txBody>
      </p:sp>
      <p:sp>
        <p:nvSpPr>
          <p:cNvPr id="6" name="矩形 5"/>
          <p:cNvSpPr>
            <a:spLocks noGrp="1"/>
          </p:cNvSpPr>
          <p:nvPr>
            <p:custDataLst>
              <p:tags r:id="rId1"/>
            </p:custDataLst>
          </p:nvPr>
        </p:nvSpPr>
        <p:spPr>
          <a:xfrm>
            <a:off x="876300" y="2305050"/>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D78345"/>
                </a:solidFill>
                <a:latin typeface="Arial" panose="020B0604020202090204"/>
                <a:ea typeface="Arial" panose="020B0604020202090204"/>
                <a:cs typeface="Arial" panose="020B0604020202090204"/>
              </a:defRPr>
            </a:pPr>
            <a:r>
              <a:rPr lang="en-US" sz="1575" b="1">
                <a:solidFill>
                  <a:srgbClr val="D78345"/>
                </a:solidFill>
                <a:latin typeface="Arial" panose="020B0604020202090204"/>
                <a:ea typeface="Arial" panose="020B0604020202090204"/>
                <a:cs typeface="Arial" panose="020B0604020202090204"/>
              </a:rPr>
              <a:t>1.</a:t>
            </a:r>
            <a:r>
              <a:rPr sz="1575" b="1">
                <a:solidFill>
                  <a:srgbClr val="D78345"/>
                </a:solidFill>
                <a:latin typeface="Arial" panose="020B0604020202090204"/>
                <a:ea typeface="Arial" panose="020B0604020202090204"/>
                <a:cs typeface="Arial" panose="020B0604020202090204"/>
              </a:rPr>
              <a:t>数据现实</a:t>
            </a:r>
          </a:p>
        </p:txBody>
      </p:sp>
      <p:sp>
        <p:nvSpPr>
          <p:cNvPr id="7" name="矩形 6"/>
          <p:cNvSpPr>
            <a:spLocks noGrp="1"/>
          </p:cNvSpPr>
          <p:nvPr>
            <p:custDataLst>
              <p:tags r:id="rId2"/>
            </p:custDataLst>
          </p:nvPr>
        </p:nvSpPr>
        <p:spPr>
          <a:xfrm>
            <a:off x="2733675" y="2305050"/>
            <a:ext cx="814387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医疗等观察性场景中，大规模、严格配对的数据往往稀缺或昂贵。</a:t>
            </a:r>
          </a:p>
        </p:txBody>
      </p:sp>
      <p:sp>
        <p:nvSpPr>
          <p:cNvPr id="8" name="矩形 7"/>
          <p:cNvSpPr>
            <a:spLocks noGrp="1"/>
          </p:cNvSpPr>
          <p:nvPr>
            <p:custDataLst>
              <p:tags r:id="rId3"/>
            </p:custDataLst>
          </p:nvPr>
        </p:nvSpPr>
        <p:spPr>
          <a:xfrm>
            <a:off x="876300" y="3068955"/>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137C8B"/>
                </a:solidFill>
                <a:latin typeface="Arial" panose="020B0604020202090204"/>
                <a:ea typeface="Arial" panose="020B0604020202090204"/>
                <a:cs typeface="Arial" panose="020B0604020202090204"/>
              </a:defRPr>
            </a:pPr>
            <a:r>
              <a:rPr lang="en-US" sz="1575" b="1">
                <a:solidFill>
                  <a:srgbClr val="137C8B"/>
                </a:solidFill>
                <a:latin typeface="Arial" panose="020B0604020202090204"/>
                <a:ea typeface="Arial" panose="020B0604020202090204"/>
                <a:cs typeface="Arial" panose="020B0604020202090204"/>
              </a:rPr>
              <a:t>2.</a:t>
            </a:r>
            <a:r>
              <a:rPr sz="1575" b="1">
                <a:solidFill>
                  <a:srgbClr val="137C8B"/>
                </a:solidFill>
                <a:latin typeface="Arial" panose="020B0604020202090204"/>
                <a:ea typeface="Arial" panose="020B0604020202090204"/>
                <a:cs typeface="Arial" panose="020B0604020202090204"/>
              </a:rPr>
              <a:t>模型机会</a:t>
            </a:r>
          </a:p>
        </p:txBody>
      </p:sp>
      <p:sp>
        <p:nvSpPr>
          <p:cNvPr id="9" name="矩形 8"/>
          <p:cNvSpPr>
            <a:spLocks noGrp="1"/>
          </p:cNvSpPr>
          <p:nvPr>
            <p:custDataLst>
              <p:tags r:id="rId4"/>
            </p:custDataLst>
          </p:nvPr>
        </p:nvSpPr>
        <p:spPr>
          <a:xfrm>
            <a:off x="2733675" y="3068955"/>
            <a:ext cx="814387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单模态预训练模型已积累丰富表征，可复用到小样本多模态任务。</a:t>
            </a:r>
          </a:p>
        </p:txBody>
      </p:sp>
      <p:sp>
        <p:nvSpPr>
          <p:cNvPr id="10" name="矩形 9"/>
          <p:cNvSpPr>
            <a:spLocks noGrp="1"/>
          </p:cNvSpPr>
          <p:nvPr>
            <p:custDataLst>
              <p:tags r:id="rId5"/>
            </p:custDataLst>
          </p:nvPr>
        </p:nvSpPr>
        <p:spPr>
          <a:xfrm>
            <a:off x="685800" y="4149090"/>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43875D"/>
                </a:solidFill>
                <a:latin typeface="Arial" panose="020B0604020202090204"/>
                <a:ea typeface="Arial" panose="020B0604020202090204"/>
                <a:cs typeface="Arial" panose="020B0604020202090204"/>
              </a:defRPr>
            </a:pPr>
            <a:r>
              <a:rPr sz="1575" b="1">
                <a:solidFill>
                  <a:srgbClr val="43875D"/>
                </a:solidFill>
                <a:latin typeface="Arial" panose="020B0604020202090204"/>
                <a:ea typeface="Arial" panose="020B0604020202090204"/>
                <a:cs typeface="Arial" panose="020B0604020202090204"/>
              </a:rPr>
              <a:t>研究目标</a:t>
            </a:r>
          </a:p>
        </p:txBody>
      </p:sp>
      <p:sp>
        <p:nvSpPr>
          <p:cNvPr id="11" name="矩形 10"/>
          <p:cNvSpPr>
            <a:spLocks noGrp="1"/>
          </p:cNvSpPr>
          <p:nvPr>
            <p:custDataLst>
              <p:tags r:id="rId6"/>
            </p:custDataLst>
          </p:nvPr>
        </p:nvSpPr>
        <p:spPr>
          <a:xfrm>
            <a:off x="2114550" y="4076700"/>
            <a:ext cx="814387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sz="1880">
                <a:solidFill>
                  <a:srgbClr val="172B3A"/>
                </a:solidFill>
                <a:latin typeface="Arial" panose="020B0604020202090204"/>
                <a:ea typeface="Arial" panose="020B0604020202090204"/>
                <a:cs typeface="Arial" panose="020B0604020202090204"/>
              </a:rPr>
              <a:t>在保留单模态知识的同时学习跨模态共性，并显式识别各模态独有信号。</a:t>
            </a:r>
          </a:p>
        </p:txBody>
      </p:sp>
      <p:sp>
        <p:nvSpPr>
          <p:cNvPr id="13" name="矩形 12"/>
          <p:cNvSpPr>
            <a:spLocks noGrp="1"/>
          </p:cNvSpPr>
          <p:nvPr/>
        </p:nvSpPr>
        <p:spPr>
          <a:xfrm>
            <a:off x="685800" y="4940935"/>
            <a:ext cx="1428750" cy="304800"/>
          </a:xfrm>
          <a:prstGeom prst="rect">
            <a:avLst/>
          </a:prstGeom>
          <a:noFill/>
          <a:ln w="0">
            <a:noFill/>
          </a:ln>
        </p:spPr>
        <p:txBody>
          <a:bodyPr wrap="square" lIns="0" tIns="0" rIns="0" bIns="0" anchor="t">
            <a:normAutofit/>
          </a:bodyPr>
          <a:lstStyle/>
          <a:p>
            <a:pPr algn="l">
              <a:lnSpc>
                <a:spcPct val="100000"/>
              </a:lnSpc>
              <a:buNone/>
              <a:defRPr sz="1425" b="1">
                <a:solidFill>
                  <a:srgbClr val="137C8B"/>
                </a:solidFill>
                <a:latin typeface="Arial" panose="020B0604020202090204"/>
                <a:ea typeface="Arial" panose="020B0604020202090204"/>
                <a:cs typeface="Arial" panose="020B0604020202090204"/>
              </a:defRPr>
            </a:pPr>
            <a:r>
              <a:rPr sz="1580" b="1">
                <a:solidFill>
                  <a:srgbClr val="137C8B"/>
                </a:solidFill>
                <a:latin typeface="Arial" panose="020B0604020202090204"/>
                <a:ea typeface="Arial" panose="020B0604020202090204"/>
                <a:cs typeface="Arial" panose="020B0604020202090204"/>
              </a:rPr>
              <a:t>核心问题</a:t>
            </a:r>
          </a:p>
        </p:txBody>
      </p:sp>
      <p:sp>
        <p:nvSpPr>
          <p:cNvPr id="14" name="矩形 13"/>
          <p:cNvSpPr>
            <a:spLocks noGrp="1"/>
          </p:cNvSpPr>
          <p:nvPr/>
        </p:nvSpPr>
        <p:spPr>
          <a:xfrm>
            <a:off x="2114550" y="4940935"/>
            <a:ext cx="8953500" cy="476250"/>
          </a:xfrm>
          <a:prstGeom prst="rect">
            <a:avLst/>
          </a:prstGeom>
          <a:noFill/>
          <a:ln w="0">
            <a:noFill/>
          </a:ln>
        </p:spPr>
        <p:txBody>
          <a:bodyPr wrap="square" lIns="0" tIns="0" rIns="0" bIns="0" anchor="t">
            <a:normAutofit/>
          </a:bodyPr>
          <a:lstStyle/>
          <a:p>
            <a:pPr algn="l">
              <a:lnSpc>
                <a:spcPct val="100000"/>
              </a:lnSpc>
              <a:buNone/>
              <a:defRPr sz="1875" b="1">
                <a:solidFill>
                  <a:srgbClr val="172B3A"/>
                </a:solidFill>
                <a:latin typeface="Arial" panose="020B0604020202090204"/>
                <a:ea typeface="Arial" panose="020B0604020202090204"/>
                <a:cs typeface="Arial" panose="020B0604020202090204"/>
              </a:defRPr>
            </a:pPr>
            <a:r>
              <a:rPr sz="1875" b="0">
                <a:solidFill>
                  <a:srgbClr val="172B3A"/>
                </a:solidFill>
                <a:latin typeface="Arial" panose="020B0604020202090204"/>
                <a:ea typeface="Arial" panose="020B0604020202090204"/>
                <a:cs typeface="Arial" panose="020B0604020202090204"/>
              </a:rPr>
              <a:t>能否以较少可训练参数，将“共同信息”和“模态特异信息”分开表示？</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现存痛点：</a:t>
            </a:r>
            <a:r>
              <a:rPr lang="zh-CN" altLang="en-US" sz="2700" b="1">
                <a:solidFill>
                  <a:srgbClr val="172B3A"/>
                </a:solidFill>
                <a:latin typeface="Arial" panose="020B0604020202090204"/>
                <a:ea typeface="Arial" panose="020B0604020202090204"/>
                <a:cs typeface="Arial" panose="020B0604020202090204"/>
              </a:rPr>
              <a:t>现有融合方法难以区分共享与模态特异信息</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3" name="矩形 2"/>
          <p:cNvSpPr>
            <a:spLocks noGrp="1"/>
          </p:cNvSpPr>
          <p:nvPr/>
        </p:nvSpPr>
        <p:spPr>
          <a:xfrm>
            <a:off x="685800" y="6438900"/>
            <a:ext cx="7620000" cy="209550"/>
          </a:xfrm>
          <a:prstGeom prst="rect">
            <a:avLst/>
          </a:prstGeom>
          <a:noFill/>
          <a:ln w="0">
            <a:noFill/>
          </a:ln>
        </p:spPr>
        <p:txBody>
          <a:bodyPr wrap="square" lIns="0" tIns="0" rIns="0" bIns="0" anchor="t">
            <a:normAutofit/>
          </a:bodyPr>
          <a:lstStyle/>
          <a:p>
            <a:pPr algn="l">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2 现存痛点</a:t>
            </a:r>
          </a:p>
        </p:txBody>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03 / 1</a:t>
            </a:r>
            <a:r>
              <a:rPr lang="en-US" sz="1125" b="0">
                <a:solidFill>
                  <a:srgbClr val="526573"/>
                </a:solidFill>
                <a:latin typeface="Arial" panose="020B0604020202090204"/>
                <a:ea typeface="Arial" panose="020B0604020202090204"/>
                <a:cs typeface="Arial" panose="020B0604020202090204"/>
              </a:rPr>
              <a:t>9</a:t>
            </a:r>
          </a:p>
        </p:txBody>
      </p:sp>
      <p:sp>
        <p:nvSpPr>
          <p:cNvPr id="5" name="矩形 4"/>
          <p:cNvSpPr>
            <a:spLocks noGrp="1"/>
          </p:cNvSpPr>
          <p:nvPr/>
        </p:nvSpPr>
        <p:spPr>
          <a:xfrm>
            <a:off x="685800" y="1381125"/>
            <a:ext cx="9715500" cy="457200"/>
          </a:xfrm>
          <a:prstGeom prst="rect">
            <a:avLst/>
          </a:prstGeom>
          <a:noFill/>
          <a:ln w="0">
            <a:noFill/>
          </a:ln>
        </p:spPr>
        <p:txBody>
          <a:bodyPr wrap="square" lIns="0" tIns="0" rIns="0" bIns="0" anchor="t">
            <a:normAutofit/>
          </a:bodyPr>
          <a:lstStyle/>
          <a:p>
            <a:pPr algn="l">
              <a:lnSpc>
                <a:spcPct val="100000"/>
              </a:lnSpc>
              <a:buNone/>
              <a:defRPr sz="1875" b="1">
                <a:solidFill>
                  <a:srgbClr val="172B3A"/>
                </a:solidFill>
                <a:latin typeface="Arial" panose="020B0604020202090204"/>
                <a:ea typeface="Arial" panose="020B0604020202090204"/>
                <a:cs typeface="Arial" panose="020B0604020202090204"/>
              </a:defRPr>
            </a:pPr>
            <a:r>
              <a:rPr sz="1875" b="1">
                <a:solidFill>
                  <a:srgbClr val="172B3A"/>
                </a:solidFill>
                <a:latin typeface="Arial" panose="020B0604020202090204"/>
                <a:ea typeface="Arial" panose="020B0604020202090204"/>
                <a:cs typeface="Arial" panose="020B0604020202090204"/>
              </a:rPr>
              <a:t>三类瓶颈彼此关联，限制小样本场景中的可解释性与可靠性。</a:t>
            </a:r>
          </a:p>
        </p:txBody>
      </p:sp>
      <p:sp>
        <p:nvSpPr>
          <p:cNvPr id="6" name="矩形 5"/>
          <p:cNvSpPr>
            <a:spLocks noGrp="1"/>
          </p:cNvSpPr>
          <p:nvPr>
            <p:custDataLst>
              <p:tags r:id="rId1"/>
            </p:custDataLst>
          </p:nvPr>
        </p:nvSpPr>
        <p:spPr>
          <a:xfrm>
            <a:off x="876300" y="2238375"/>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D78345"/>
                </a:solidFill>
                <a:latin typeface="Arial" panose="020B0604020202090204"/>
                <a:ea typeface="Arial" panose="020B0604020202090204"/>
                <a:cs typeface="Arial" panose="020B0604020202090204"/>
              </a:defRPr>
            </a:pPr>
            <a:r>
              <a:rPr lang="en-US" sz="1575" b="1">
                <a:solidFill>
                  <a:srgbClr val="D78345"/>
                </a:solidFill>
                <a:latin typeface="Arial" panose="020B0604020202090204"/>
                <a:ea typeface="Arial" panose="020B0604020202090204"/>
                <a:cs typeface="Arial" panose="020B0604020202090204"/>
              </a:rPr>
              <a:t>1.</a:t>
            </a:r>
            <a:r>
              <a:rPr sz="1575" b="1">
                <a:solidFill>
                  <a:srgbClr val="D78345"/>
                </a:solidFill>
                <a:latin typeface="Arial" panose="020B0604020202090204"/>
                <a:ea typeface="Arial" panose="020B0604020202090204"/>
                <a:cs typeface="Arial" panose="020B0604020202090204"/>
              </a:rPr>
              <a:t>配对数据少</a:t>
            </a:r>
          </a:p>
        </p:txBody>
      </p:sp>
      <p:sp>
        <p:nvSpPr>
          <p:cNvPr id="7" name="矩形 6"/>
          <p:cNvSpPr>
            <a:spLocks noGrp="1"/>
          </p:cNvSpPr>
          <p:nvPr>
            <p:custDataLst>
              <p:tags r:id="rId2"/>
            </p:custDataLst>
          </p:nvPr>
        </p:nvSpPr>
        <p:spPr>
          <a:xfrm>
            <a:off x="2733675" y="2238375"/>
            <a:ext cx="814387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端到端多模态训练依赖大规模对齐样本，现实数据常达不到。</a:t>
            </a:r>
          </a:p>
        </p:txBody>
      </p:sp>
      <p:sp>
        <p:nvSpPr>
          <p:cNvPr id="8" name="矩形 7"/>
          <p:cNvSpPr>
            <a:spLocks noGrp="1"/>
          </p:cNvSpPr>
          <p:nvPr>
            <p:custDataLst>
              <p:tags r:id="rId3"/>
            </p:custDataLst>
          </p:nvPr>
        </p:nvSpPr>
        <p:spPr>
          <a:xfrm>
            <a:off x="876300" y="3209925"/>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137C8B"/>
                </a:solidFill>
                <a:latin typeface="Arial" panose="020B0604020202090204"/>
                <a:ea typeface="Arial" panose="020B0604020202090204"/>
                <a:cs typeface="Arial" panose="020B0604020202090204"/>
              </a:defRPr>
            </a:pPr>
            <a:r>
              <a:rPr lang="en-US" sz="1575" b="1">
                <a:solidFill>
                  <a:srgbClr val="137C8B"/>
                </a:solidFill>
                <a:latin typeface="Arial" panose="020B0604020202090204"/>
                <a:ea typeface="Arial" panose="020B0604020202090204"/>
                <a:cs typeface="Arial" panose="020B0604020202090204"/>
              </a:rPr>
              <a:t>2.</a:t>
            </a:r>
            <a:r>
              <a:rPr sz="1575" b="1">
                <a:solidFill>
                  <a:srgbClr val="137C8B"/>
                </a:solidFill>
                <a:latin typeface="Arial" panose="020B0604020202090204"/>
                <a:ea typeface="Arial" panose="020B0604020202090204"/>
                <a:cs typeface="Arial" panose="020B0604020202090204"/>
              </a:rPr>
              <a:t>微调整体昂贵</a:t>
            </a:r>
          </a:p>
        </p:txBody>
      </p:sp>
      <p:sp>
        <p:nvSpPr>
          <p:cNvPr id="9" name="矩形 8"/>
          <p:cNvSpPr>
            <a:spLocks noGrp="1"/>
          </p:cNvSpPr>
          <p:nvPr>
            <p:custDataLst>
              <p:tags r:id="rId4"/>
            </p:custDataLst>
          </p:nvPr>
        </p:nvSpPr>
        <p:spPr>
          <a:xfrm>
            <a:off x="2733675" y="3209925"/>
            <a:ext cx="814387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全量微调成本高；简单拼接、注意力或对比学习通常不提供清晰的信息分解。</a:t>
            </a:r>
          </a:p>
        </p:txBody>
      </p:sp>
      <p:sp>
        <p:nvSpPr>
          <p:cNvPr id="10" name="矩形 9"/>
          <p:cNvSpPr>
            <a:spLocks noGrp="1"/>
          </p:cNvSpPr>
          <p:nvPr>
            <p:custDataLst>
              <p:tags r:id="rId5"/>
            </p:custDataLst>
          </p:nvPr>
        </p:nvSpPr>
        <p:spPr>
          <a:xfrm>
            <a:off x="876300" y="4181475"/>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43875D"/>
                </a:solidFill>
                <a:latin typeface="Arial" panose="020B0604020202090204"/>
                <a:ea typeface="Arial" panose="020B0604020202090204"/>
                <a:cs typeface="Arial" panose="020B0604020202090204"/>
              </a:defRPr>
            </a:pPr>
            <a:r>
              <a:rPr lang="en-US" sz="1575" b="1">
                <a:solidFill>
                  <a:srgbClr val="43875D"/>
                </a:solidFill>
                <a:latin typeface="Arial" panose="020B0604020202090204"/>
                <a:ea typeface="Arial" panose="020B0604020202090204"/>
                <a:cs typeface="Arial" panose="020B0604020202090204"/>
              </a:rPr>
              <a:t>3.</a:t>
            </a:r>
            <a:r>
              <a:rPr sz="1575" b="1">
                <a:solidFill>
                  <a:srgbClr val="43875D"/>
                </a:solidFill>
                <a:latin typeface="Arial" panose="020B0604020202090204"/>
                <a:ea typeface="Arial" panose="020B0604020202090204"/>
                <a:cs typeface="Arial" panose="020B0604020202090204"/>
              </a:rPr>
              <a:t>信息泄</a:t>
            </a:r>
            <a:r>
              <a:rPr lang="zh-CN" sz="1575" b="1">
                <a:solidFill>
                  <a:srgbClr val="43875D"/>
                </a:solidFill>
                <a:latin typeface="Arial" panose="020B0604020202090204"/>
                <a:ea typeface="宋体" pitchFamily="2" charset="-122"/>
                <a:cs typeface="Arial" panose="020B0604020202090204"/>
              </a:rPr>
              <a:t>露</a:t>
            </a:r>
          </a:p>
        </p:txBody>
      </p:sp>
      <p:sp>
        <p:nvSpPr>
          <p:cNvPr id="11" name="矩形 10"/>
          <p:cNvSpPr>
            <a:spLocks noGrp="1"/>
          </p:cNvSpPr>
          <p:nvPr>
            <p:custDataLst>
              <p:tags r:id="rId6"/>
            </p:custDataLst>
          </p:nvPr>
        </p:nvSpPr>
        <p:spPr>
          <a:xfrm>
            <a:off x="2733675" y="4181475"/>
            <a:ext cx="814387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共享与模态私有因素可能混在同一表示里，难以判断模型依赖了什么。</a:t>
            </a:r>
          </a:p>
        </p:txBody>
      </p:sp>
      <p:sp>
        <p:nvSpPr>
          <p:cNvPr id="12" name="矩形 11"/>
          <p:cNvSpPr>
            <a:spLocks noGrp="1"/>
          </p:cNvSpPr>
          <p:nvPr/>
        </p:nvSpPr>
        <p:spPr>
          <a:xfrm>
            <a:off x="876300" y="5267325"/>
            <a:ext cx="10239375" cy="438150"/>
          </a:xfrm>
          <a:prstGeom prst="rect">
            <a:avLst/>
          </a:prstGeom>
          <a:noFill/>
          <a:ln w="0">
            <a:noFill/>
          </a:ln>
        </p:spPr>
        <p:txBody>
          <a:bodyPr wrap="square" lIns="0" tIns="0" rIns="0" bIns="0" anchor="t">
            <a:normAutofit/>
          </a:bodyPr>
          <a:lstStyle/>
          <a:p>
            <a:pPr algn="l">
              <a:lnSpc>
                <a:spcPct val="100000"/>
              </a:lnSpc>
              <a:buNone/>
              <a:defRPr sz="1650" b="0">
                <a:solidFill>
                  <a:srgbClr val="526573"/>
                </a:solidFill>
                <a:latin typeface="Arial" panose="020B0604020202090204"/>
                <a:ea typeface="Arial" panose="020B0604020202090204"/>
                <a:cs typeface="Arial" panose="020B0604020202090204"/>
              </a:defRPr>
            </a:pPr>
            <a:r>
              <a:rPr sz="1650" b="0">
                <a:solidFill>
                  <a:srgbClr val="526573"/>
                </a:solidFill>
                <a:latin typeface="Arial" panose="020B0604020202090204"/>
                <a:ea typeface="Arial" panose="020B0604020202090204"/>
                <a:cs typeface="Arial" panose="020B0604020202090204"/>
              </a:rPr>
              <a:t>缺失模态时，若单模态表征没有保留跨模态可预测信息，性能也可能下降。</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模型结构：共享子空间与私有子空间并行更新</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3" name="矩形 2"/>
          <p:cNvSpPr>
            <a:spLocks noGrp="1"/>
          </p:cNvSpPr>
          <p:nvPr/>
        </p:nvSpPr>
        <p:spPr>
          <a:xfrm>
            <a:off x="685800" y="6438900"/>
            <a:ext cx="7620000" cy="209550"/>
          </a:xfrm>
          <a:prstGeom prst="rect">
            <a:avLst/>
          </a:prstGeom>
          <a:noFill/>
          <a:ln w="0">
            <a:noFill/>
          </a:ln>
        </p:spPr>
        <p:txBody>
          <a:bodyPr wrap="square" lIns="0" tIns="0" rIns="0" bIns="0" anchor="t">
            <a:normAutofit/>
          </a:bodyPr>
          <a:lstStyle/>
          <a:p>
            <a:pPr algn="l">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3 本文解决方案</a:t>
            </a:r>
          </a:p>
        </p:txBody>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05 / 1</a:t>
            </a:r>
            <a:r>
              <a:rPr lang="en-US" sz="1125" b="0">
                <a:solidFill>
                  <a:srgbClr val="526573"/>
                </a:solidFill>
                <a:latin typeface="Arial" panose="020B0604020202090204"/>
                <a:ea typeface="Arial" panose="020B0604020202090204"/>
                <a:cs typeface="Arial" panose="020B0604020202090204"/>
              </a:rPr>
              <a:t>9</a:t>
            </a:r>
          </a:p>
        </p:txBody>
      </p:sp>
      <p:pic>
        <p:nvPicPr>
          <p:cNvPr id="12" name="图片 11"/>
          <p:cNvPicPr>
            <a:picLocks noChangeAspect="1"/>
          </p:cNvPicPr>
          <p:nvPr/>
        </p:nvPicPr>
        <p:blipFill>
          <a:blip r:embed="rId3"/>
          <a:srcRect t="6155"/>
          <a:stretch>
            <a:fillRect/>
          </a:stretch>
        </p:blipFill>
        <p:spPr>
          <a:xfrm>
            <a:off x="505460" y="1269365"/>
            <a:ext cx="11000740" cy="3951605"/>
          </a:xfrm>
          <a:prstGeom prst="rect">
            <a:avLst/>
          </a:prstGeom>
        </p:spPr>
      </p:pic>
      <p:sp>
        <p:nvSpPr>
          <p:cNvPr id="6" name="矩形 5"/>
          <p:cNvSpPr>
            <a:spLocks noGrp="1"/>
          </p:cNvSpPr>
          <p:nvPr/>
        </p:nvSpPr>
        <p:spPr>
          <a:xfrm>
            <a:off x="895350" y="5638800"/>
            <a:ext cx="10382250" cy="352425"/>
          </a:xfrm>
          <a:prstGeom prst="rect">
            <a:avLst/>
          </a:prstGeom>
          <a:noFill/>
          <a:ln w="0">
            <a:noFill/>
          </a:ln>
        </p:spPr>
        <p:txBody>
          <a:bodyPr wrap="square" lIns="0" tIns="0" rIns="0" bIns="0" anchor="t">
            <a:normAutofit/>
          </a:bodyPr>
          <a:lstStyle/>
          <a:p>
            <a:pPr algn="ctr">
              <a:lnSpc>
                <a:spcPct val="100000"/>
              </a:lnSpc>
              <a:buNone/>
              <a:defRPr sz="1425" b="0">
                <a:solidFill>
                  <a:srgbClr val="526573"/>
                </a:solidFill>
                <a:latin typeface="Arial" panose="020B0604020202090204"/>
                <a:ea typeface="Arial" panose="020B0604020202090204"/>
                <a:cs typeface="Arial" panose="020B0604020202090204"/>
              </a:defRPr>
            </a:pPr>
            <a:r>
              <a:rPr sz="1425" b="0">
                <a:solidFill>
                  <a:srgbClr val="526573"/>
                </a:solidFill>
                <a:latin typeface="Arial" panose="020B0604020202090204"/>
                <a:ea typeface="Arial" panose="020B0604020202090204"/>
                <a:cs typeface="Arial" panose="020B0604020202090204"/>
              </a:rPr>
              <a:t>左：低秩投影内学习表征编辑　　右：把输出解释为共享 zₛ 与模态独有 zₘ₁、zₘ₂</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0</a:t>
            </a:r>
            <a:r>
              <a:rPr lang="en-US" sz="1125" b="0">
                <a:solidFill>
                  <a:srgbClr val="526573"/>
                </a:solidFill>
                <a:latin typeface="Arial" panose="020B0604020202090204"/>
                <a:ea typeface="Arial" panose="020B0604020202090204"/>
                <a:cs typeface="Arial" panose="020B0604020202090204"/>
              </a:rPr>
              <a:t>6</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pic>
        <p:nvPicPr>
          <p:cNvPr id="12" name="图片 11"/>
          <p:cNvPicPr>
            <a:picLocks noChangeAspect="1"/>
          </p:cNvPicPr>
          <p:nvPr/>
        </p:nvPicPr>
        <p:blipFill>
          <a:blip r:embed="rId3"/>
          <a:srcRect t="6155" r="30853"/>
          <a:stretch>
            <a:fillRect/>
          </a:stretch>
        </p:blipFill>
        <p:spPr>
          <a:xfrm>
            <a:off x="119380" y="1330960"/>
            <a:ext cx="7606665" cy="3951605"/>
          </a:xfrm>
          <a:prstGeom prst="rect">
            <a:avLst/>
          </a:prstGeom>
        </p:spPr>
      </p:pic>
      <p:sp>
        <p:nvSpPr>
          <p:cNvPr id="5" name="文本框 4"/>
          <p:cNvSpPr txBox="1"/>
          <p:nvPr/>
        </p:nvSpPr>
        <p:spPr>
          <a:xfrm>
            <a:off x="7884160" y="1628775"/>
            <a:ext cx="4363720" cy="2999740"/>
          </a:xfrm>
          <a:prstGeom prst="rect">
            <a:avLst/>
          </a:prstGeom>
          <a:noFill/>
        </p:spPr>
        <p:txBody>
          <a:bodyPr wrap="square" rtlCol="0">
            <a:spAutoFit/>
          </a:bodyPr>
          <a:lstStyle/>
          <a:p>
            <a:pPr>
              <a:lnSpc>
                <a:spcPct val="150000"/>
              </a:lnSpc>
            </a:pPr>
            <a:r>
              <a:rPr lang="en-US" altLang="zh-CN">
                <a:latin typeface="Arial" panose="020B0604020202090204" pitchFamily="34" charset="0"/>
                <a:cs typeface="Arial" panose="020B0604020202090204" pitchFamily="34" charset="0"/>
              </a:rPr>
              <a:t>R</a:t>
            </a:r>
            <a:r>
              <a:rPr lang="en-US" altLang="zh-CN" baseline="-25000">
                <a:latin typeface="Arial" panose="020B0604020202090204" pitchFamily="34" charset="0"/>
                <a:cs typeface="Arial" panose="020B0604020202090204" pitchFamily="34" charset="0"/>
              </a:rPr>
              <a:t>s</a:t>
            </a:r>
            <a:r>
              <a:rPr lang="en-US" altLang="zh-CN">
                <a:latin typeface="Arial" panose="020B0604020202090204" pitchFamily="34" charset="0"/>
                <a:cs typeface="Arial" panose="020B0604020202090204" pitchFamily="34" charset="0"/>
              </a:rPr>
              <a:t>: shared projection matrix</a:t>
            </a:r>
          </a:p>
          <a:p>
            <a:pPr>
              <a:lnSpc>
                <a:spcPct val="150000"/>
              </a:lnSpc>
            </a:pPr>
            <a:r>
              <a:rPr lang="en-US" altLang="zh-CN">
                <a:latin typeface="Arial" panose="020B0604020202090204" pitchFamily="34" charset="0"/>
                <a:cs typeface="Arial" panose="020B0604020202090204" pitchFamily="34" charset="0"/>
              </a:rPr>
              <a:t>R</a:t>
            </a:r>
            <a:r>
              <a:rPr lang="en-US" altLang="zh-CN" baseline="-25000">
                <a:latin typeface="Arial" panose="020B0604020202090204" pitchFamily="34" charset="0"/>
                <a:cs typeface="Arial" panose="020B0604020202090204" pitchFamily="34" charset="0"/>
              </a:rPr>
              <a:t>m1</a:t>
            </a:r>
            <a:r>
              <a:rPr lang="en-US" altLang="zh-CN">
                <a:latin typeface="Arial" panose="020B0604020202090204" pitchFamily="34" charset="0"/>
                <a:cs typeface="Arial" panose="020B0604020202090204" pitchFamily="34" charset="0"/>
              </a:rPr>
              <a:t>: modality 1 unique subspace</a:t>
            </a:r>
          </a:p>
          <a:p>
            <a:pPr>
              <a:lnSpc>
                <a:spcPct val="150000"/>
              </a:lnSpc>
            </a:pPr>
            <a:r>
              <a:rPr lang="en-US" altLang="zh-CN">
                <a:latin typeface="Arial" panose="020B0604020202090204" pitchFamily="34" charset="0"/>
                <a:cs typeface="Arial" panose="020B0604020202090204" pitchFamily="34" charset="0"/>
                <a:sym typeface="+mn-ea"/>
              </a:rPr>
              <a:t>R</a:t>
            </a:r>
            <a:r>
              <a:rPr lang="en-US" altLang="zh-CN" baseline="-25000">
                <a:latin typeface="Arial" panose="020B0604020202090204" pitchFamily="34" charset="0"/>
                <a:cs typeface="Arial" panose="020B0604020202090204" pitchFamily="34" charset="0"/>
                <a:sym typeface="+mn-ea"/>
              </a:rPr>
              <a:t>m1</a:t>
            </a:r>
            <a:r>
              <a:rPr lang="en-US" altLang="zh-CN">
                <a:latin typeface="Arial" panose="020B0604020202090204" pitchFamily="34" charset="0"/>
                <a:cs typeface="Arial" panose="020B0604020202090204" pitchFamily="34" charset="0"/>
                <a:sym typeface="+mn-ea"/>
              </a:rPr>
              <a:t>: modality 1 unique subspace</a:t>
            </a:r>
          </a:p>
          <a:p>
            <a:pPr>
              <a:lnSpc>
                <a:spcPct val="150000"/>
              </a:lnSpc>
            </a:pPr>
            <a:endParaRPr lang="en-US" altLang="zh-CN">
              <a:latin typeface="Arial" panose="020B0604020202090204" pitchFamily="34" charset="0"/>
              <a:cs typeface="Arial" panose="020B0604020202090204" pitchFamily="34" charset="0"/>
              <a:sym typeface="+mn-ea"/>
            </a:endParaRPr>
          </a:p>
          <a:p>
            <a:pPr>
              <a:lnSpc>
                <a:spcPct val="150000"/>
              </a:lnSpc>
            </a:pPr>
            <a:r>
              <a:rPr lang="en-US" altLang="zh-CN">
                <a:latin typeface="Arial" panose="020B0604020202090204" pitchFamily="34" charset="0"/>
                <a:cs typeface="Arial" panose="020B0604020202090204" pitchFamily="34" charset="0"/>
                <a:sym typeface="+mn-ea"/>
              </a:rPr>
              <a:t>R</a:t>
            </a:r>
            <a:r>
              <a:rPr lang="en-US" altLang="zh-CN" baseline="-25000">
                <a:latin typeface="Arial" panose="020B0604020202090204" pitchFamily="34" charset="0"/>
                <a:cs typeface="Arial" panose="020B0604020202090204" pitchFamily="34" charset="0"/>
                <a:sym typeface="+mn-ea"/>
              </a:rPr>
              <a:t>s</a:t>
            </a:r>
            <a:r>
              <a:rPr lang="en-US" altLang="zh-CN">
                <a:latin typeface="Arial" panose="020B0604020202090204" pitchFamily="34" charset="0"/>
                <a:cs typeface="Arial" panose="020B0604020202090204" pitchFamily="34" charset="0"/>
                <a:sym typeface="+mn-ea"/>
              </a:rPr>
              <a:t>h</a:t>
            </a:r>
            <a:r>
              <a:rPr lang="en-US" altLang="zh-CN" baseline="-25000">
                <a:latin typeface="Arial" panose="020B0604020202090204" pitchFamily="34" charset="0"/>
                <a:cs typeface="Arial" panose="020B0604020202090204" pitchFamily="34" charset="0"/>
                <a:sym typeface="+mn-ea"/>
              </a:rPr>
              <a:t>1</a:t>
            </a:r>
            <a:r>
              <a:rPr lang="en-US" altLang="zh-CN">
                <a:latin typeface="Arial" panose="020B0604020202090204" pitchFamily="34" charset="0"/>
                <a:cs typeface="Arial" panose="020B0604020202090204" pitchFamily="34" charset="0"/>
                <a:sym typeface="+mn-ea"/>
              </a:rPr>
              <a:t>: </a:t>
            </a:r>
            <a:r>
              <a:rPr lang="zh-CN" altLang="en-US">
                <a:latin typeface="Arial" panose="020B0604020202090204" pitchFamily="34" charset="0"/>
                <a:cs typeface="Arial" panose="020B0604020202090204" pitchFamily="34" charset="0"/>
                <a:sym typeface="+mn-ea"/>
              </a:rPr>
              <a:t>原本投影到 </a:t>
            </a:r>
            <a:r>
              <a:rPr lang="en-US" altLang="zh-CN">
                <a:latin typeface="Arial" panose="020B0604020202090204" pitchFamily="34" charset="0"/>
                <a:cs typeface="Arial" panose="020B0604020202090204" pitchFamily="34" charset="0"/>
                <a:sym typeface="+mn-ea"/>
              </a:rPr>
              <a:t>shared space </a:t>
            </a:r>
            <a:r>
              <a:rPr lang="zh-CN" altLang="en-US">
                <a:latin typeface="Arial" panose="020B0604020202090204" pitchFamily="34" charset="0"/>
                <a:cs typeface="Arial" panose="020B0604020202090204" pitchFamily="34" charset="0"/>
                <a:sym typeface="+mn-ea"/>
              </a:rPr>
              <a:t>里的特征</a:t>
            </a:r>
          </a:p>
          <a:p>
            <a:pPr>
              <a:lnSpc>
                <a:spcPct val="150000"/>
              </a:lnSpc>
            </a:pPr>
            <a:r>
              <a:rPr lang="en-US" altLang="zh-CN">
                <a:latin typeface="Arial" panose="020B0604020202090204" pitchFamily="34" charset="0"/>
                <a:cs typeface="Arial" panose="020B0604020202090204" pitchFamily="34" charset="0"/>
                <a:sym typeface="+mn-ea"/>
              </a:rPr>
              <a:t>δ1: f</a:t>
            </a:r>
            <a:r>
              <a:rPr lang="en-US" altLang="zh-CN" baseline="-25000">
                <a:latin typeface="Arial" panose="020B0604020202090204" pitchFamily="34" charset="0"/>
                <a:cs typeface="Arial" panose="020B0604020202090204" pitchFamily="34" charset="0"/>
                <a:sym typeface="+mn-ea"/>
              </a:rPr>
              <a:t>s1</a:t>
            </a:r>
            <a:r>
              <a:rPr lang="en-US" altLang="zh-CN">
                <a:latin typeface="Arial" panose="020B0604020202090204" pitchFamily="34" charset="0"/>
                <a:cs typeface="Arial" panose="020B0604020202090204" pitchFamily="34" charset="0"/>
                <a:sym typeface="+mn-ea"/>
              </a:rPr>
              <a:t>(h1)</a:t>
            </a:r>
            <a:r>
              <a:rPr lang="zh-CN" altLang="en-US">
                <a:latin typeface="Arial" panose="020B0604020202090204" pitchFamily="34" charset="0"/>
                <a:cs typeface="Arial" panose="020B0604020202090204" pitchFamily="34" charset="0"/>
                <a:sym typeface="+mn-ea"/>
              </a:rPr>
              <a:t>表示模型学出来的更合适的 </a:t>
            </a:r>
            <a:r>
              <a:rPr lang="en-US" altLang="zh-CN">
                <a:latin typeface="Arial" panose="020B0604020202090204" pitchFamily="34" charset="0"/>
                <a:cs typeface="Arial" panose="020B0604020202090204" pitchFamily="34" charset="0"/>
                <a:sym typeface="+mn-ea"/>
              </a:rPr>
              <a:t>shared </a:t>
            </a:r>
            <a:r>
              <a:rPr lang="zh-CN" altLang="en-US">
                <a:latin typeface="Arial" panose="020B0604020202090204" pitchFamily="34" charset="0"/>
                <a:cs typeface="Arial" panose="020B0604020202090204" pitchFamily="34" charset="0"/>
                <a:sym typeface="+mn-ea"/>
              </a:rPr>
              <a:t>表示</a:t>
            </a:r>
          </a:p>
        </p:txBody>
      </p:sp>
      <p:sp>
        <p:nvSpPr>
          <p:cNvPr id="10" name="矩形 9"/>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模型结构：共享子空间与私有子空间并行更新</a:t>
            </a:r>
          </a:p>
        </p:txBody>
      </p:sp>
      <p:pic>
        <p:nvPicPr>
          <p:cNvPr id="11" name="图片 10"/>
          <p:cNvPicPr>
            <a:picLocks noChangeAspect="1"/>
          </p:cNvPicPr>
          <p:nvPr/>
        </p:nvPicPr>
        <p:blipFill>
          <a:blip r:embed="rId4"/>
          <a:stretch>
            <a:fillRect/>
          </a:stretch>
        </p:blipFill>
        <p:spPr>
          <a:xfrm>
            <a:off x="911225" y="5537200"/>
            <a:ext cx="6297295" cy="99758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模型结构：共享子空间与私有子空间并行更新</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0</a:t>
            </a:r>
            <a:r>
              <a:rPr lang="en-US" sz="1125" b="0">
                <a:solidFill>
                  <a:srgbClr val="526573"/>
                </a:solidFill>
                <a:latin typeface="Arial" panose="020B0604020202090204"/>
                <a:ea typeface="Arial" panose="020B0604020202090204"/>
                <a:cs typeface="Arial" panose="020B0604020202090204"/>
              </a:rPr>
              <a:t>7</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pic>
        <p:nvPicPr>
          <p:cNvPr id="12" name="图片 11"/>
          <p:cNvPicPr>
            <a:picLocks noChangeAspect="1"/>
          </p:cNvPicPr>
          <p:nvPr/>
        </p:nvPicPr>
        <p:blipFill>
          <a:blip r:embed="rId3"/>
          <a:srcRect l="70457" t="6155" b="20328"/>
          <a:stretch>
            <a:fillRect/>
          </a:stretch>
        </p:blipFill>
        <p:spPr>
          <a:xfrm>
            <a:off x="839470" y="1158240"/>
            <a:ext cx="4197985" cy="3999230"/>
          </a:xfrm>
          <a:prstGeom prst="rect">
            <a:avLst/>
          </a:prstGeom>
        </p:spPr>
      </p:pic>
      <p:pic>
        <p:nvPicPr>
          <p:cNvPr id="5" name="图片 4"/>
          <p:cNvPicPr>
            <a:picLocks noChangeAspect="1"/>
          </p:cNvPicPr>
          <p:nvPr/>
        </p:nvPicPr>
        <p:blipFill>
          <a:blip r:embed="rId4"/>
          <a:stretch>
            <a:fillRect/>
          </a:stretch>
        </p:blipFill>
        <p:spPr>
          <a:xfrm>
            <a:off x="6167755" y="2205355"/>
            <a:ext cx="4249420" cy="1210310"/>
          </a:xfrm>
          <a:prstGeom prst="rect">
            <a:avLst/>
          </a:prstGeom>
        </p:spPr>
      </p:pic>
      <p:pic>
        <p:nvPicPr>
          <p:cNvPr id="9" name="图片 8"/>
          <p:cNvPicPr>
            <a:picLocks noChangeAspect="1"/>
          </p:cNvPicPr>
          <p:nvPr/>
        </p:nvPicPr>
        <p:blipFill>
          <a:blip r:embed="rId5"/>
          <a:stretch>
            <a:fillRect/>
          </a:stretch>
        </p:blipFill>
        <p:spPr>
          <a:xfrm>
            <a:off x="5375910" y="4797425"/>
            <a:ext cx="6638290" cy="621665"/>
          </a:xfrm>
          <a:prstGeom prst="rect">
            <a:avLst/>
          </a:prstGeom>
        </p:spPr>
      </p:pic>
      <p:sp>
        <p:nvSpPr>
          <p:cNvPr id="10" name="文本框 9"/>
          <p:cNvSpPr txBox="1"/>
          <p:nvPr/>
        </p:nvSpPr>
        <p:spPr>
          <a:xfrm>
            <a:off x="6024245" y="3645535"/>
            <a:ext cx="5288915" cy="922020"/>
          </a:xfrm>
          <a:prstGeom prst="rect">
            <a:avLst/>
          </a:prstGeom>
          <a:noFill/>
        </p:spPr>
        <p:txBody>
          <a:bodyPr wrap="square" rtlCol="0">
            <a:spAutoFit/>
          </a:bodyPr>
          <a:lstStyle/>
          <a:p>
            <a:r>
              <a:rPr lang="zh-CN" altLang="en-US"/>
              <a:t>如果两个模态都存在，最终 </a:t>
            </a:r>
            <a:r>
              <a:rPr lang="en-US" altLang="zh-CN"/>
              <a:t>shared representation z</a:t>
            </a:r>
            <a:r>
              <a:rPr lang="en-US" altLang="zh-CN" baseline="-25000"/>
              <a:t>s</a:t>
            </a:r>
            <a:r>
              <a:rPr lang="zh-CN" altLang="en-US"/>
              <a:t>可以由两者的 </a:t>
            </a:r>
            <a:r>
              <a:rPr lang="en-US" altLang="zh-CN"/>
              <a:t>shared projection </a:t>
            </a:r>
            <a:r>
              <a:rPr lang="zh-CN" altLang="en-US"/>
              <a:t>做平均；如果只剩一个模态，就使用那个模态的 </a:t>
            </a:r>
            <a:r>
              <a:rPr lang="en-US" altLang="zh-CN"/>
              <a:t>shared projection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a:spLocks noGrp="1"/>
          </p:cNvSpPr>
          <p:nvPr/>
        </p:nvSpPr>
        <p:spPr>
          <a:xfrm>
            <a:off x="6096000" y="1181100"/>
            <a:ext cx="4767580" cy="807085"/>
          </a:xfrm>
          <a:prstGeom prst="rect">
            <a:avLst/>
          </a:prstGeom>
          <a:solidFill>
            <a:srgbClr val="EEF3F6"/>
          </a:solidFill>
          <a:ln w="0">
            <a:noFill/>
            <a:prstDash val="solid"/>
          </a:ln>
        </p:spPr>
        <p:txBody>
          <a:bodyPr anchor="ctr" anchorCtr="0"/>
          <a:lstStyle/>
          <a:p>
            <a:pPr algn="ctr"/>
            <a:endParaRPr lang="en-US" altLang="zh-CN" sz="2400" baseline="-25000">
              <a:ln>
                <a:solidFill>
                  <a:sysClr val="windowText" lastClr="000000"/>
                </a:solidFill>
              </a:ln>
              <a:latin typeface="Times New Roman" panose="02020503050405090304" charset="0"/>
              <a:cs typeface="Times New Roman" panose="02020503050405090304" charset="0"/>
            </a:endParaRPr>
          </a:p>
        </p:txBody>
      </p:sp>
      <p:sp>
        <p:nvSpPr>
          <p:cNvPr id="14" name="矩形 13"/>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训练目标：分离子空间，同时保留原始信息</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0</a:t>
            </a:r>
            <a:r>
              <a:rPr lang="en-US" sz="1125" b="0">
                <a:solidFill>
                  <a:srgbClr val="526573"/>
                </a:solidFill>
                <a:latin typeface="Arial" panose="020B0604020202090204"/>
                <a:ea typeface="Arial" panose="020B0604020202090204"/>
                <a:cs typeface="Arial" panose="020B0604020202090204"/>
              </a:rPr>
              <a:t>8</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sp>
        <p:nvSpPr>
          <p:cNvPr id="5" name="矩形 4"/>
          <p:cNvSpPr>
            <a:spLocks noGrp="1"/>
          </p:cNvSpPr>
          <p:nvPr/>
        </p:nvSpPr>
        <p:spPr>
          <a:xfrm>
            <a:off x="685800" y="1381125"/>
            <a:ext cx="7620000" cy="400050"/>
          </a:xfrm>
          <a:prstGeom prst="rect">
            <a:avLst/>
          </a:prstGeom>
          <a:noFill/>
          <a:ln w="0">
            <a:noFill/>
          </a:ln>
        </p:spPr>
        <p:txBody>
          <a:bodyPr wrap="square" lIns="0" tIns="0" rIns="0" bIns="0" anchor="t">
            <a:normAutofit/>
          </a:bodyPr>
          <a:lstStyle/>
          <a:p>
            <a:pPr algn="l">
              <a:lnSpc>
                <a:spcPct val="100000"/>
              </a:lnSpc>
              <a:buNone/>
              <a:defRPr sz="2025" b="1">
                <a:solidFill>
                  <a:srgbClr val="172B3A"/>
                </a:solidFill>
                <a:latin typeface="Arial" panose="020B0604020202090204"/>
                <a:ea typeface="Arial" panose="020B0604020202090204"/>
                <a:cs typeface="Arial" panose="020B0604020202090204"/>
              </a:defRPr>
            </a:pPr>
            <a:r>
              <a:rPr sz="2025" b="1">
                <a:solidFill>
                  <a:srgbClr val="172B3A"/>
                </a:solidFill>
                <a:latin typeface="Arial" panose="020B0604020202090204"/>
                <a:ea typeface="Arial" panose="020B0604020202090204"/>
                <a:cs typeface="Arial" panose="020B0604020202090204"/>
              </a:rPr>
              <a:t>总损失由三个互补约束组成</a:t>
            </a:r>
          </a:p>
        </p:txBody>
      </p:sp>
      <p:sp>
        <p:nvSpPr>
          <p:cNvPr id="6" name="矩形 5"/>
          <p:cNvSpPr>
            <a:spLocks noGrp="1"/>
          </p:cNvSpPr>
          <p:nvPr>
            <p:custDataLst>
              <p:tags r:id="rId1"/>
            </p:custDataLst>
          </p:nvPr>
        </p:nvSpPr>
        <p:spPr>
          <a:xfrm>
            <a:off x="876300" y="2095500"/>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137C8B"/>
                </a:solidFill>
                <a:latin typeface="Arial" panose="020B0604020202090204"/>
                <a:ea typeface="Arial" panose="020B0604020202090204"/>
                <a:cs typeface="Arial" panose="020B0604020202090204"/>
              </a:defRPr>
            </a:pPr>
            <a:r>
              <a:rPr lang="zh-CN" altLang="en-US" sz="1575" b="1">
                <a:solidFill>
                  <a:srgbClr val="137C8B"/>
                </a:solidFill>
                <a:latin typeface="Arial" panose="020B0604020202090204"/>
                <a:ea typeface="宋体" pitchFamily="2" charset="-122"/>
                <a:cs typeface="Arial" panose="020B0604020202090204"/>
              </a:rPr>
              <a:t>独立损失</a:t>
            </a:r>
          </a:p>
        </p:txBody>
      </p:sp>
      <p:sp>
        <p:nvSpPr>
          <p:cNvPr id="7" name="矩形 6"/>
          <p:cNvSpPr>
            <a:spLocks noGrp="1"/>
          </p:cNvSpPr>
          <p:nvPr>
            <p:custDataLst>
              <p:tags r:id="rId2"/>
            </p:custDataLst>
          </p:nvPr>
        </p:nvSpPr>
        <p:spPr>
          <a:xfrm>
            <a:off x="2733675" y="2095500"/>
            <a:ext cx="850582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HSIC 降低共享与私有表征之间的非线性依赖，也抑制两个私有子空间间的信息泄漏。</a:t>
            </a:r>
          </a:p>
        </p:txBody>
      </p:sp>
      <p:sp>
        <p:nvSpPr>
          <p:cNvPr id="8" name="矩形 7"/>
          <p:cNvSpPr>
            <a:spLocks noGrp="1"/>
          </p:cNvSpPr>
          <p:nvPr>
            <p:custDataLst>
              <p:tags r:id="rId3"/>
            </p:custDataLst>
          </p:nvPr>
        </p:nvSpPr>
        <p:spPr>
          <a:xfrm>
            <a:off x="876300" y="3143250"/>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D78345"/>
                </a:solidFill>
                <a:latin typeface="Arial" panose="020B0604020202090204"/>
                <a:ea typeface="Arial" panose="020B0604020202090204"/>
                <a:cs typeface="Arial" panose="020B0604020202090204"/>
              </a:defRPr>
            </a:pPr>
            <a:r>
              <a:rPr sz="1575" b="1">
                <a:solidFill>
                  <a:srgbClr val="D78345"/>
                </a:solidFill>
                <a:latin typeface="Arial" panose="020B0604020202090204"/>
                <a:ea typeface="Arial" panose="020B0604020202090204"/>
                <a:cs typeface="Arial" panose="020B0604020202090204"/>
              </a:rPr>
              <a:t>正交</a:t>
            </a:r>
            <a:r>
              <a:rPr lang="zh-CN" sz="1575" b="1">
                <a:solidFill>
                  <a:srgbClr val="D78345"/>
                </a:solidFill>
                <a:latin typeface="Arial" panose="020B0604020202090204"/>
                <a:ea typeface="宋体" pitchFamily="2" charset="-122"/>
                <a:cs typeface="Arial" panose="020B0604020202090204"/>
              </a:rPr>
              <a:t>损失</a:t>
            </a:r>
          </a:p>
        </p:txBody>
      </p:sp>
      <p:sp>
        <p:nvSpPr>
          <p:cNvPr id="9" name="矩形 8"/>
          <p:cNvSpPr>
            <a:spLocks noGrp="1"/>
          </p:cNvSpPr>
          <p:nvPr>
            <p:custDataLst>
              <p:tags r:id="rId4"/>
            </p:custDataLst>
          </p:nvPr>
        </p:nvSpPr>
        <p:spPr>
          <a:xfrm>
            <a:off x="2733675" y="3143250"/>
            <a:ext cx="850582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约束共享投影与各私有投影的基向量不重叠，减少表示空间中的方向干扰。</a:t>
            </a:r>
          </a:p>
        </p:txBody>
      </p:sp>
      <p:sp>
        <p:nvSpPr>
          <p:cNvPr id="10" name="矩形 9"/>
          <p:cNvSpPr>
            <a:spLocks noGrp="1"/>
          </p:cNvSpPr>
          <p:nvPr>
            <p:custDataLst>
              <p:tags r:id="rId5"/>
            </p:custDataLst>
          </p:nvPr>
        </p:nvSpPr>
        <p:spPr>
          <a:xfrm>
            <a:off x="876300" y="4191000"/>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43875D"/>
                </a:solidFill>
                <a:latin typeface="Arial" panose="020B0604020202090204"/>
                <a:ea typeface="Arial" panose="020B0604020202090204"/>
                <a:cs typeface="Arial" panose="020B0604020202090204"/>
              </a:defRPr>
            </a:pPr>
            <a:r>
              <a:rPr sz="1575" b="1">
                <a:solidFill>
                  <a:srgbClr val="43875D"/>
                </a:solidFill>
                <a:latin typeface="Arial" panose="020B0604020202090204"/>
                <a:ea typeface="Arial" panose="020B0604020202090204"/>
                <a:cs typeface="Arial" panose="020B0604020202090204"/>
              </a:rPr>
              <a:t>互信息保留</a:t>
            </a:r>
          </a:p>
        </p:txBody>
      </p:sp>
      <p:sp>
        <p:nvSpPr>
          <p:cNvPr id="11" name="矩形 10"/>
          <p:cNvSpPr>
            <a:spLocks noGrp="1"/>
          </p:cNvSpPr>
          <p:nvPr>
            <p:custDataLst>
              <p:tags r:id="rId6"/>
            </p:custDataLst>
          </p:nvPr>
        </p:nvSpPr>
        <p:spPr>
          <a:xfrm>
            <a:off x="2733675" y="4191000"/>
            <a:ext cx="850582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InfoNCE 让更新后的投影仍包含原单模态嵌入的信息，并对齐跨模态共享内容。</a:t>
            </a:r>
          </a:p>
        </p:txBody>
      </p:sp>
      <p:sp>
        <p:nvSpPr>
          <p:cNvPr id="12" name="矩形 11"/>
          <p:cNvSpPr>
            <a:spLocks noGrp="1"/>
          </p:cNvSpPr>
          <p:nvPr/>
        </p:nvSpPr>
        <p:spPr>
          <a:xfrm>
            <a:off x="676275" y="5562600"/>
            <a:ext cx="10820400" cy="685800"/>
          </a:xfrm>
          <a:prstGeom prst="rect">
            <a:avLst/>
          </a:prstGeom>
          <a:solidFill>
            <a:srgbClr val="EEF3F6"/>
          </a:solidFill>
          <a:ln w="0">
            <a:noFill/>
            <a:prstDash val="solid"/>
          </a:ln>
        </p:spPr>
        <p:txBody>
          <a:bodyPr anchor="ctr" anchorCtr="0"/>
          <a:lstStyle/>
          <a:p>
            <a:pPr algn="ctr"/>
            <a:r>
              <a:rPr lang="en-US" altLang="zh-CN" sz="2400">
                <a:latin typeface="Times New Roman" panose="02020503050405090304" charset="0"/>
                <a:cs typeface="Times New Roman" panose="02020503050405090304" charset="0"/>
              </a:rPr>
              <a:t>L=λ</a:t>
            </a:r>
            <a:r>
              <a:rPr lang="en-US" altLang="zh-CN" sz="2400" baseline="-25000">
                <a:latin typeface="Times New Roman" panose="02020503050405090304" charset="0"/>
                <a:cs typeface="Times New Roman" panose="02020503050405090304" charset="0"/>
              </a:rPr>
              <a:t>1</a:t>
            </a:r>
            <a:r>
              <a:rPr lang="en-US" altLang="zh-CN" sz="2400">
                <a:latin typeface="Times New Roman" panose="02020503050405090304" charset="0"/>
                <a:cs typeface="Times New Roman" panose="02020503050405090304" charset="0"/>
              </a:rPr>
              <a:t>L</a:t>
            </a:r>
            <a:r>
              <a:rPr lang="en-US" altLang="zh-CN" sz="2400" baseline="-25000">
                <a:latin typeface="Times New Roman" panose="02020503050405090304" charset="0"/>
                <a:cs typeface="Times New Roman" panose="02020503050405090304" charset="0"/>
              </a:rPr>
              <a:t>indep</a:t>
            </a:r>
            <a:r>
              <a:rPr lang="en-US" altLang="zh-CN" sz="2400">
                <a:latin typeface="Times New Roman" panose="02020503050405090304" charset="0"/>
                <a:cs typeface="Times New Roman" panose="02020503050405090304" charset="0"/>
              </a:rPr>
              <a:t>+λ</a:t>
            </a:r>
            <a:r>
              <a:rPr lang="en-US" altLang="zh-CN" sz="2400" baseline="-25000">
                <a:latin typeface="Times New Roman" panose="02020503050405090304" charset="0"/>
                <a:cs typeface="Times New Roman" panose="02020503050405090304" charset="0"/>
              </a:rPr>
              <a:t>2</a:t>
            </a:r>
            <a:r>
              <a:rPr lang="en-US" altLang="zh-CN" sz="2400">
                <a:latin typeface="Times New Roman" panose="02020503050405090304" charset="0"/>
                <a:cs typeface="Times New Roman" panose="02020503050405090304" charset="0"/>
              </a:rPr>
              <a:t>L</a:t>
            </a:r>
            <a:r>
              <a:rPr lang="en-US" altLang="zh-CN" sz="2400" baseline="-25000">
                <a:latin typeface="Times New Roman" panose="02020503050405090304" charset="0"/>
                <a:cs typeface="Times New Roman" panose="02020503050405090304" charset="0"/>
              </a:rPr>
              <a:t>orth</a:t>
            </a:r>
            <a:r>
              <a:rPr lang="en-US" altLang="zh-CN" sz="2400">
                <a:latin typeface="Times New Roman" panose="02020503050405090304" charset="0"/>
                <a:cs typeface="Times New Roman" panose="02020503050405090304" charset="0"/>
              </a:rPr>
              <a:t>+λ</a:t>
            </a:r>
            <a:r>
              <a:rPr lang="en-US" altLang="zh-CN" sz="2400" baseline="-25000">
                <a:latin typeface="Times New Roman" panose="02020503050405090304" charset="0"/>
                <a:cs typeface="Times New Roman" panose="02020503050405090304" charset="0"/>
              </a:rPr>
              <a:t>3</a:t>
            </a:r>
            <a:r>
              <a:rPr lang="en-US" altLang="zh-CN" sz="2400">
                <a:latin typeface="Times New Roman" panose="02020503050405090304" charset="0"/>
                <a:cs typeface="Times New Roman" panose="02020503050405090304" charset="0"/>
              </a:rPr>
              <a:t>L</a:t>
            </a:r>
            <a:r>
              <a:rPr lang="en-US" altLang="zh-CN" sz="2400" baseline="-25000">
                <a:latin typeface="Times New Roman" panose="02020503050405090304" charset="0"/>
                <a:cs typeface="Times New Roman" panose="02020503050405090304" charset="0"/>
              </a:rPr>
              <a:t>MI</a:t>
            </a:r>
          </a:p>
        </p:txBody>
      </p:sp>
      <p:pic>
        <p:nvPicPr>
          <p:cNvPr id="16" name="图片 15"/>
          <p:cNvPicPr>
            <a:picLocks noChangeAspect="1"/>
          </p:cNvPicPr>
          <p:nvPr>
            <p:custDataLst>
              <p:tags r:id="rId7"/>
            </p:custDataLst>
          </p:nvPr>
        </p:nvPicPr>
        <p:blipFill>
          <a:blip r:embed="rId11"/>
          <a:stretch>
            <a:fillRect/>
          </a:stretch>
        </p:blipFill>
        <p:spPr>
          <a:xfrm>
            <a:off x="3215640" y="2493010"/>
            <a:ext cx="5586730" cy="356870"/>
          </a:xfrm>
          <a:prstGeom prst="rect">
            <a:avLst/>
          </a:prstGeom>
        </p:spPr>
      </p:pic>
      <p:pic>
        <p:nvPicPr>
          <p:cNvPr id="17" name="图片 16"/>
          <p:cNvPicPr>
            <a:picLocks noChangeAspect="1"/>
          </p:cNvPicPr>
          <p:nvPr>
            <p:custDataLst>
              <p:tags r:id="rId8"/>
            </p:custDataLst>
          </p:nvPr>
        </p:nvPicPr>
        <p:blipFill>
          <a:blip r:embed="rId12"/>
          <a:stretch>
            <a:fillRect/>
          </a:stretch>
        </p:blipFill>
        <p:spPr>
          <a:xfrm>
            <a:off x="3288030" y="3604895"/>
            <a:ext cx="2824480" cy="352425"/>
          </a:xfrm>
          <a:prstGeom prst="rect">
            <a:avLst/>
          </a:prstGeom>
        </p:spPr>
      </p:pic>
      <p:pic>
        <p:nvPicPr>
          <p:cNvPr id="18" name="图片 17"/>
          <p:cNvPicPr>
            <a:picLocks noChangeAspect="1"/>
          </p:cNvPicPr>
          <p:nvPr/>
        </p:nvPicPr>
        <p:blipFill>
          <a:blip r:embed="rId13"/>
          <a:stretch>
            <a:fillRect/>
          </a:stretch>
        </p:blipFill>
        <p:spPr>
          <a:xfrm>
            <a:off x="3215640" y="4581525"/>
            <a:ext cx="3710305" cy="695325"/>
          </a:xfrm>
          <a:prstGeom prst="rect">
            <a:avLst/>
          </a:prstGeom>
        </p:spPr>
      </p:pic>
      <p:sp>
        <p:nvSpPr>
          <p:cNvPr id="15" name="文本框 14"/>
          <p:cNvSpPr txBox="1"/>
          <p:nvPr/>
        </p:nvSpPr>
        <p:spPr>
          <a:xfrm>
            <a:off x="6112510" y="1217295"/>
            <a:ext cx="4702810" cy="737235"/>
          </a:xfrm>
          <a:prstGeom prst="rect">
            <a:avLst/>
          </a:prstGeom>
          <a:noFill/>
        </p:spPr>
        <p:txBody>
          <a:bodyPr wrap="square" rtlCol="0">
            <a:spAutoFit/>
          </a:bodyPr>
          <a:lstStyle/>
          <a:p>
            <a:r>
              <a:rPr lang="en-US" altLang="zh-CN" sz="1400"/>
              <a:t>HSIC</a:t>
            </a:r>
            <a:r>
              <a:rPr lang="zh-CN" altLang="en-US" sz="1400"/>
              <a:t>是两个随机变量之间统计相依性的非参数度量。给定具有特征核</a:t>
            </a:r>
            <a:r>
              <a:rPr lang="en-US" altLang="zh-CN" sz="1400"/>
              <a:t>K</a:t>
            </a:r>
            <a:r>
              <a:rPr lang="zh-CN" altLang="en-US" sz="1400"/>
              <a:t>和</a:t>
            </a:r>
            <a:r>
              <a:rPr lang="en-US" altLang="zh-CN" sz="1400"/>
              <a:t>L ( e.g. ,</a:t>
            </a:r>
            <a:r>
              <a:rPr lang="zh-CN" altLang="en-US" sz="1400"/>
              <a:t>高斯</a:t>
            </a:r>
            <a:r>
              <a:rPr lang="en-US" altLang="zh-CN" sz="1400"/>
              <a:t>RBF</a:t>
            </a:r>
            <a:r>
              <a:rPr lang="zh-CN" altLang="en-US" sz="1400"/>
              <a:t>或拉普拉斯)的随机变量</a:t>
            </a:r>
            <a:r>
              <a:rPr lang="en-US" altLang="zh-CN" sz="1400"/>
              <a:t>X</a:t>
            </a:r>
            <a:r>
              <a:rPr lang="zh-CN" altLang="en-US" sz="1400"/>
              <a:t>和</a:t>
            </a:r>
            <a:r>
              <a:rPr lang="en-US" altLang="zh-CN" sz="1400"/>
              <a:t>Y，HSIC( X , Y) = 0</a:t>
            </a:r>
            <a:r>
              <a:rPr lang="zh-CN" altLang="en-US" sz="1400"/>
              <a:t>当且仅当</a:t>
            </a:r>
            <a:r>
              <a:rPr lang="en-US" altLang="zh-CN" sz="1400"/>
              <a:t>X</a:t>
            </a:r>
            <a:r>
              <a:rPr lang="zh-CN" altLang="en-US" sz="1400"/>
              <a:t>和</a:t>
            </a:r>
            <a:r>
              <a:rPr lang="en-US" altLang="zh-CN" sz="1400"/>
              <a:t>Y</a:t>
            </a:r>
            <a:r>
              <a:rPr lang="zh-CN" altLang="en-US" sz="1400"/>
              <a:t>是统计独立的.</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自适应剪枝：让子空间维度由信息量决定</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0</a:t>
            </a:r>
            <a:r>
              <a:rPr lang="en-US" sz="1125" b="0">
                <a:solidFill>
                  <a:srgbClr val="526573"/>
                </a:solidFill>
                <a:latin typeface="Arial" panose="020B0604020202090204"/>
                <a:ea typeface="Arial" panose="020B0604020202090204"/>
                <a:cs typeface="Arial" panose="020B0604020202090204"/>
              </a:rPr>
              <a:t>9</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pic>
        <p:nvPicPr>
          <p:cNvPr id="28" name="图片 27"/>
          <p:cNvPicPr>
            <a:picLocks noChangeAspect="1"/>
          </p:cNvPicPr>
          <p:nvPr/>
        </p:nvPicPr>
        <p:blipFill>
          <a:blip r:embed="rId3"/>
          <a:stretch>
            <a:fillRect/>
          </a:stretch>
        </p:blipFill>
        <p:spPr>
          <a:xfrm>
            <a:off x="911860" y="1340485"/>
            <a:ext cx="5200015" cy="4340860"/>
          </a:xfrm>
          <a:prstGeom prst="rect">
            <a:avLst/>
          </a:prstGeom>
        </p:spPr>
      </p:pic>
      <p:sp>
        <p:nvSpPr>
          <p:cNvPr id="29" name="文本框 28"/>
          <p:cNvSpPr txBox="1"/>
          <p:nvPr/>
        </p:nvSpPr>
        <p:spPr>
          <a:xfrm>
            <a:off x="6528435" y="1219200"/>
            <a:ext cx="5128895" cy="5077460"/>
          </a:xfrm>
          <a:prstGeom prst="rect">
            <a:avLst/>
          </a:prstGeom>
          <a:noFill/>
        </p:spPr>
        <p:txBody>
          <a:bodyPr wrap="square" rtlCol="0">
            <a:spAutoFit/>
          </a:bodyPr>
          <a:lstStyle/>
          <a:p>
            <a:pPr>
              <a:lnSpc>
                <a:spcPct val="150000"/>
              </a:lnSpc>
            </a:pPr>
            <a:r>
              <a:rPr lang="zh-CN" altLang="en-US" b="1">
                <a:latin typeface="Arial" panose="020B0604020202090204" pitchFamily="34" charset="0"/>
                <a:cs typeface="Arial" panose="020B0604020202090204" pitchFamily="34" charset="0"/>
              </a:rPr>
              <a:t>核心目的：</a:t>
            </a:r>
            <a:r>
              <a:rPr lang="zh-CN" altLang="en-US">
                <a:latin typeface="Arial" panose="020B0604020202090204" pitchFamily="34" charset="0"/>
                <a:cs typeface="Arial" panose="020B0604020202090204" pitchFamily="34" charset="0"/>
              </a:rPr>
              <a:t>自动决定 </a:t>
            </a:r>
            <a:r>
              <a:rPr lang="en-US" altLang="zh-CN">
                <a:latin typeface="Arial" panose="020B0604020202090204" pitchFamily="34" charset="0"/>
                <a:cs typeface="Arial" panose="020B0604020202090204" pitchFamily="34" charset="0"/>
              </a:rPr>
              <a:t>shared / modality-specific subspace </a:t>
            </a:r>
            <a:r>
              <a:rPr lang="zh-CN" altLang="en-US">
                <a:latin typeface="Arial" panose="020B0604020202090204" pitchFamily="34" charset="0"/>
                <a:cs typeface="Arial" panose="020B0604020202090204" pitchFamily="34" charset="0"/>
              </a:rPr>
              <a:t>需要多少维，避免手工设置 </a:t>
            </a:r>
            <a:r>
              <a:rPr lang="en-US" altLang="zh-CN">
                <a:latin typeface="Arial" panose="020B0604020202090204" pitchFamily="34" charset="0"/>
                <a:cs typeface="Arial" panose="020B0604020202090204" pitchFamily="34" charset="0"/>
              </a:rPr>
              <a:t>rank</a:t>
            </a:r>
          </a:p>
          <a:p>
            <a:pPr>
              <a:lnSpc>
                <a:spcPct val="150000"/>
              </a:lnSpc>
            </a:pPr>
            <a:endParaRPr lang="en-US" altLang="zh-CN">
              <a:latin typeface="Arial" panose="020B0604020202090204" pitchFamily="34" charset="0"/>
              <a:cs typeface="Arial" panose="020B0604020202090204" pitchFamily="34" charset="0"/>
            </a:endParaRPr>
          </a:p>
          <a:p>
            <a:pPr>
              <a:lnSpc>
                <a:spcPct val="150000"/>
              </a:lnSpc>
            </a:pPr>
            <a:r>
              <a:rPr lang="zh-CN" altLang="en-US" b="1">
                <a:latin typeface="Arial" panose="020B0604020202090204" pitchFamily="34" charset="0"/>
                <a:cs typeface="Arial" panose="020B0604020202090204" pitchFamily="34" charset="0"/>
              </a:rPr>
              <a:t>关键步骤</a:t>
            </a:r>
          </a:p>
          <a:p>
            <a:pPr marL="285750" indent="-285750">
              <a:lnSpc>
                <a:spcPct val="150000"/>
              </a:lnSpc>
              <a:buFont typeface="Arial" panose="020B0604020202090204" pitchFamily="34" charset="0"/>
              <a:buChar char="•"/>
            </a:pPr>
            <a:r>
              <a:rPr lang="zh-CN" altLang="en-US">
                <a:latin typeface="Arial" panose="020B0604020202090204" pitchFamily="34" charset="0"/>
                <a:cs typeface="Arial" panose="020B0604020202090204" pitchFamily="34" charset="0"/>
              </a:rPr>
              <a:t>对</a:t>
            </a:r>
            <a:r>
              <a:rPr lang="en-US" altLang="zh-CN">
                <a:latin typeface="Arial" panose="020B0604020202090204" pitchFamily="34" charset="0"/>
                <a:cs typeface="Arial" panose="020B0604020202090204" pitchFamily="34" charset="0"/>
              </a:rPr>
              <a:t> R</a:t>
            </a:r>
            <a:r>
              <a:rPr lang="en-US" altLang="zh-CN" baseline="-25000">
                <a:latin typeface="Arial" panose="020B0604020202090204" pitchFamily="34" charset="0"/>
                <a:cs typeface="Arial" panose="020B0604020202090204" pitchFamily="34" charset="0"/>
              </a:rPr>
              <a:t>s</a:t>
            </a:r>
            <a:r>
              <a:rPr lang="en-US" altLang="zh-CN">
                <a:latin typeface="Arial" panose="020B0604020202090204" pitchFamily="34" charset="0"/>
                <a:cs typeface="Arial" panose="020B0604020202090204" pitchFamily="34" charset="0"/>
              </a:rPr>
              <a:t>,R</a:t>
            </a:r>
            <a:r>
              <a:rPr lang="en-US" altLang="zh-CN" baseline="-25000">
                <a:latin typeface="Arial" panose="020B0604020202090204" pitchFamily="34" charset="0"/>
                <a:cs typeface="Arial" panose="020B0604020202090204" pitchFamily="34" charset="0"/>
              </a:rPr>
              <a:t>m1</a:t>
            </a:r>
            <a:r>
              <a:rPr lang="en-US" altLang="zh-CN">
                <a:latin typeface="Arial" panose="020B0604020202090204" pitchFamily="34" charset="0"/>
                <a:cs typeface="Arial" panose="020B0604020202090204" pitchFamily="34" charset="0"/>
              </a:rPr>
              <a:t>,R</a:t>
            </a:r>
            <a:r>
              <a:rPr lang="en-US" altLang="zh-CN" baseline="-25000">
                <a:latin typeface="Arial" panose="020B0604020202090204" pitchFamily="34" charset="0"/>
                <a:cs typeface="Arial" panose="020B0604020202090204" pitchFamily="34" charset="0"/>
              </a:rPr>
              <a:t>m2 </a:t>
            </a:r>
            <a:r>
              <a:rPr lang="zh-CN" altLang="en-US">
                <a:latin typeface="Arial" panose="020B0604020202090204" pitchFamily="34" charset="0"/>
                <a:ea typeface="宋体" pitchFamily="2" charset="-122"/>
                <a:cs typeface="Arial" panose="020B0604020202090204" pitchFamily="34" charset="0"/>
              </a:rPr>
              <a:t>做</a:t>
            </a:r>
            <a:r>
              <a:rPr lang="en-US" altLang="zh-CN">
                <a:latin typeface="Arial" panose="020B0604020202090204" pitchFamily="34" charset="0"/>
                <a:ea typeface="宋体" pitchFamily="2" charset="-122"/>
                <a:cs typeface="Arial" panose="020B0604020202090204" pitchFamily="34" charset="0"/>
              </a:rPr>
              <a:t>SVD</a:t>
            </a:r>
          </a:p>
          <a:p>
            <a:pPr marL="285750" indent="-285750">
              <a:lnSpc>
                <a:spcPct val="150000"/>
              </a:lnSpc>
              <a:buFont typeface="Arial" panose="020B0604020202090204" pitchFamily="34" charset="0"/>
              <a:buChar char="•"/>
            </a:pPr>
            <a:r>
              <a:rPr lang="zh-CN" altLang="en-US">
                <a:latin typeface="Arial" panose="020B0604020202090204" pitchFamily="34" charset="0"/>
                <a:cs typeface="Arial" panose="020B0604020202090204" pitchFamily="34" charset="0"/>
              </a:rPr>
              <a:t>找出σi&lt;ℇ的低信息维度</a:t>
            </a:r>
          </a:p>
          <a:p>
            <a:pPr marL="285750" indent="-285750">
              <a:lnSpc>
                <a:spcPct val="150000"/>
              </a:lnSpc>
              <a:buFont typeface="Arial" panose="020B0604020202090204" pitchFamily="34" charset="0"/>
              <a:buChar char="•"/>
            </a:pPr>
            <a:r>
              <a:rPr lang="zh-CN" altLang="en-US">
                <a:latin typeface="Arial" panose="020B0604020202090204" pitchFamily="34" charset="0"/>
                <a:cs typeface="Arial" panose="020B0604020202090204" pitchFamily="34" charset="0"/>
              </a:rPr>
              <a:t>每次最多剪掉当前 </a:t>
            </a:r>
            <a:r>
              <a:rPr lang="en-US" altLang="zh-CN">
                <a:latin typeface="Arial" panose="020B0604020202090204" pitchFamily="34" charset="0"/>
                <a:cs typeface="Arial" panose="020B0604020202090204" pitchFamily="34" charset="0"/>
              </a:rPr>
              <a:t>rank </a:t>
            </a:r>
            <a:r>
              <a:rPr lang="zh-CN" altLang="en-US">
                <a:latin typeface="Arial" panose="020B0604020202090204" pitchFamily="34" charset="0"/>
                <a:cs typeface="Arial" panose="020B0604020202090204" pitchFamily="34" charset="0"/>
              </a:rPr>
              <a:t>的 10%</a:t>
            </a:r>
          </a:p>
          <a:p>
            <a:pPr marL="285750" indent="-285750">
              <a:lnSpc>
                <a:spcPct val="150000"/>
              </a:lnSpc>
              <a:buFont typeface="Arial" panose="020B0604020202090204" pitchFamily="34" charset="0"/>
              <a:buChar char="•"/>
            </a:pPr>
            <a:r>
              <a:rPr lang="zh-CN" altLang="en-US">
                <a:latin typeface="Arial" panose="020B0604020202090204" pitchFamily="34" charset="0"/>
                <a:cs typeface="Arial" panose="020B0604020202090204" pitchFamily="34" charset="0"/>
              </a:rPr>
              <a:t>同步压缩对应的 </a:t>
            </a:r>
            <a:r>
              <a:rPr lang="en-US" altLang="zh-CN">
                <a:latin typeface="Arial" panose="020B0604020202090204" pitchFamily="34" charset="0"/>
                <a:cs typeface="Arial" panose="020B0604020202090204" pitchFamily="34" charset="0"/>
              </a:rPr>
              <a:t>transformation f</a:t>
            </a:r>
          </a:p>
          <a:p>
            <a:pPr indent="0">
              <a:lnSpc>
                <a:spcPct val="150000"/>
              </a:lnSpc>
              <a:buFont typeface="Arial" panose="020B0604020202090204" pitchFamily="34" charset="0"/>
              <a:buNone/>
            </a:pPr>
            <a:endParaRPr lang="en-US" altLang="zh-CN">
              <a:latin typeface="Arial" panose="020B0604020202090204" pitchFamily="34" charset="0"/>
              <a:cs typeface="Arial" panose="020B0604020202090204" pitchFamily="34" charset="0"/>
            </a:endParaRPr>
          </a:p>
          <a:p>
            <a:pPr>
              <a:lnSpc>
                <a:spcPct val="150000"/>
              </a:lnSpc>
            </a:pPr>
            <a:r>
              <a:rPr lang="zh-CN" altLang="en-US" b="1">
                <a:latin typeface="Arial" panose="020B0604020202090204" pitchFamily="34" charset="0"/>
                <a:cs typeface="Arial" panose="020B0604020202090204" pitchFamily="34" charset="0"/>
              </a:rPr>
              <a:t>设计意义：</a:t>
            </a:r>
            <a:r>
              <a:rPr lang="zh-CN" altLang="en-US">
                <a:latin typeface="Arial" panose="020B0604020202090204" pitchFamily="34" charset="0"/>
                <a:cs typeface="Arial" panose="020B0604020202090204" pitchFamily="34" charset="0"/>
              </a:rPr>
              <a:t>保留主要信息方向，删除冗余维度，在不明显损失表示质量的前提下降低参数量，并减少信息泄漏</a:t>
            </a:r>
          </a:p>
        </p:txBody>
      </p:sp>
      <p:pic>
        <p:nvPicPr>
          <p:cNvPr id="32" name="图片 31"/>
          <p:cNvPicPr>
            <a:picLocks noChangeAspect="1"/>
          </p:cNvPicPr>
          <p:nvPr/>
        </p:nvPicPr>
        <p:blipFill>
          <a:blip r:embed="rId4"/>
          <a:stretch>
            <a:fillRect/>
          </a:stretch>
        </p:blipFill>
        <p:spPr>
          <a:xfrm>
            <a:off x="1703705" y="5948680"/>
            <a:ext cx="4392295" cy="51181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lang="en-US" altLang="zh-CN" sz="2700" b="1">
                <a:solidFill>
                  <a:srgbClr val="172B3A"/>
                </a:solidFill>
                <a:latin typeface="Arial" panose="020B0604020202090204"/>
                <a:ea typeface="Arial" panose="020B0604020202090204"/>
                <a:cs typeface="Arial" panose="020B0604020202090204"/>
              </a:rPr>
              <a:t>MultiLoReFT Training</a:t>
            </a:r>
            <a:r>
              <a:rPr lang="zh-CN" altLang="en-US" sz="2700" b="1">
                <a:solidFill>
                  <a:srgbClr val="172B3A"/>
                </a:solidFill>
                <a:latin typeface="Arial" panose="020B0604020202090204"/>
                <a:ea typeface="宋体" pitchFamily="2" charset="-122"/>
                <a:cs typeface="Arial" panose="020B0604020202090204"/>
              </a:rPr>
              <a:t>：完整训练流程</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lang="en-US" sz="1125" b="0">
                <a:solidFill>
                  <a:srgbClr val="526573"/>
                </a:solidFill>
                <a:latin typeface="Arial" panose="020B0604020202090204"/>
                <a:ea typeface="Arial" panose="020B0604020202090204"/>
                <a:cs typeface="Arial" panose="020B0604020202090204"/>
              </a:rPr>
              <a:t>10</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sp>
        <p:nvSpPr>
          <p:cNvPr id="29" name="文本框 28"/>
          <p:cNvSpPr txBox="1"/>
          <p:nvPr/>
        </p:nvSpPr>
        <p:spPr>
          <a:xfrm>
            <a:off x="6456045" y="1340485"/>
            <a:ext cx="5128895" cy="5077460"/>
          </a:xfrm>
          <a:prstGeom prst="rect">
            <a:avLst/>
          </a:prstGeom>
          <a:noFill/>
        </p:spPr>
        <p:txBody>
          <a:bodyPr wrap="square" rtlCol="0">
            <a:spAutoFit/>
          </a:bodyPr>
          <a:lstStyle/>
          <a:p>
            <a:pPr indent="0">
              <a:lnSpc>
                <a:spcPct val="150000"/>
              </a:lnSpc>
              <a:buFont typeface="Arial" panose="020B0604020202090204" pitchFamily="34" charset="0"/>
              <a:buNone/>
            </a:pPr>
            <a:r>
              <a:rPr lang="zh-CN" altLang="en-US" b="1">
                <a:latin typeface="Arial" panose="020B0604020202090204" pitchFamily="34" charset="0"/>
                <a:cs typeface="Arial" panose="020B0604020202090204" pitchFamily="34" charset="0"/>
              </a:rPr>
              <a:t>核心流程</a:t>
            </a:r>
          </a:p>
          <a:p>
            <a:pPr marL="285750" indent="-285750">
              <a:lnSpc>
                <a:spcPct val="150000"/>
              </a:lnSpc>
              <a:buFont typeface="Arial" panose="020B0604020202090204" pitchFamily="34" charset="0"/>
              <a:buChar char="•"/>
            </a:pPr>
            <a:r>
              <a:rPr lang="en-US" altLang="zh-CN">
                <a:latin typeface="Arial" panose="020B0604020202090204" pitchFamily="34" charset="0"/>
                <a:cs typeface="Arial" panose="020B0604020202090204" pitchFamily="34" charset="0"/>
              </a:rPr>
              <a:t>Frozen encoder </a:t>
            </a:r>
            <a:r>
              <a:rPr lang="zh-CN" altLang="en-US" b="1">
                <a:latin typeface="Arial" panose="020B0604020202090204" pitchFamily="34" charset="0"/>
                <a:cs typeface="Arial" panose="020B0604020202090204" pitchFamily="34" charset="0"/>
              </a:rPr>
              <a:t>提取</a:t>
            </a:r>
            <a:r>
              <a:rPr lang="en-US">
                <a:latin typeface="Arial" panose="020B0604020202090204" pitchFamily="34" charset="0"/>
                <a:cs typeface="Arial" panose="020B0604020202090204" pitchFamily="34" charset="0"/>
              </a:rPr>
              <a:t>h</a:t>
            </a:r>
            <a:r>
              <a:rPr lang="en-US" baseline="-25000">
                <a:latin typeface="Arial" panose="020B0604020202090204" pitchFamily="34" charset="0"/>
                <a:cs typeface="Arial" panose="020B0604020202090204" pitchFamily="34" charset="0"/>
              </a:rPr>
              <a:t>1</a:t>
            </a:r>
            <a:r>
              <a:rPr lang="en-US">
                <a:latin typeface="Arial" panose="020B0604020202090204" pitchFamily="34" charset="0"/>
                <a:cs typeface="Arial" panose="020B0604020202090204" pitchFamily="34" charset="0"/>
              </a:rPr>
              <a:t>,h</a:t>
            </a:r>
            <a:r>
              <a:rPr lang="en-US" baseline="-25000">
                <a:latin typeface="Arial" panose="020B0604020202090204" pitchFamily="34" charset="0"/>
                <a:cs typeface="Arial" panose="020B0604020202090204" pitchFamily="34" charset="0"/>
              </a:rPr>
              <a:t>2</a:t>
            </a:r>
            <a:endParaRPr lang="en-US" b="1">
              <a:latin typeface="Arial" panose="020B0604020202090204" pitchFamily="34" charset="0"/>
              <a:cs typeface="Arial" panose="020B0604020202090204" pitchFamily="34" charset="0"/>
            </a:endParaRPr>
          </a:p>
          <a:p>
            <a:pPr marL="285750" indent="-285750">
              <a:lnSpc>
                <a:spcPct val="150000"/>
              </a:lnSpc>
              <a:buFont typeface="Arial" panose="020B0604020202090204" pitchFamily="34" charset="0"/>
              <a:buChar char="•"/>
            </a:pPr>
            <a:r>
              <a:rPr lang="zh-CN" altLang="en-US">
                <a:latin typeface="Arial" panose="020B0604020202090204" pitchFamily="34" charset="0"/>
                <a:cs typeface="Arial" panose="020B0604020202090204" pitchFamily="34" charset="0"/>
              </a:rPr>
              <a:t>通过 </a:t>
            </a:r>
            <a:r>
              <a:rPr lang="en-US" altLang="zh-CN">
                <a:latin typeface="Arial" panose="020B0604020202090204" pitchFamily="34" charset="0"/>
                <a:cs typeface="Arial" panose="020B0604020202090204" pitchFamily="34" charset="0"/>
              </a:rPr>
              <a:t>shared / modality-specific low-rank edits </a:t>
            </a:r>
            <a:r>
              <a:rPr lang="zh-CN" altLang="en-US">
                <a:latin typeface="Arial" panose="020B0604020202090204" pitchFamily="34" charset="0"/>
                <a:cs typeface="Arial" panose="020B0604020202090204" pitchFamily="34" charset="0"/>
              </a:rPr>
              <a:t>得到</a:t>
            </a:r>
            <a:r>
              <a:rPr lang="en-US" altLang="zh-CN">
                <a:latin typeface="Arial" panose="020B0604020202090204" pitchFamily="34" charset="0"/>
                <a:cs typeface="Arial" panose="020B0604020202090204" pitchFamily="34" charset="0"/>
              </a:rPr>
              <a:t> φ</a:t>
            </a:r>
            <a:r>
              <a:rPr lang="en-US" altLang="zh-CN" baseline="-25000">
                <a:latin typeface="Arial" panose="020B0604020202090204" pitchFamily="34" charset="0"/>
                <a:cs typeface="Arial" panose="020B0604020202090204" pitchFamily="34" charset="0"/>
              </a:rPr>
              <a:t>1</a:t>
            </a:r>
            <a:r>
              <a:rPr lang="zh-CN" altLang="en-US">
                <a:latin typeface="Arial" panose="020B0604020202090204" pitchFamily="34" charset="0"/>
                <a:ea typeface="宋体" pitchFamily="2" charset="-122"/>
                <a:cs typeface="Arial" panose="020B0604020202090204" pitchFamily="34" charset="0"/>
              </a:rPr>
              <a:t>，</a:t>
            </a:r>
            <a:r>
              <a:rPr lang="en-US" altLang="zh-CN">
                <a:latin typeface="Arial" panose="020B0604020202090204" pitchFamily="34" charset="0"/>
                <a:ea typeface="宋体" pitchFamily="2" charset="-122"/>
                <a:cs typeface="Arial" panose="020B0604020202090204" pitchFamily="34" charset="0"/>
              </a:rPr>
              <a:t>φ</a:t>
            </a:r>
            <a:r>
              <a:rPr lang="en-US" altLang="zh-CN" baseline="-25000">
                <a:latin typeface="Arial" panose="020B0604020202090204" pitchFamily="34" charset="0"/>
                <a:ea typeface="宋体" pitchFamily="2" charset="-122"/>
                <a:cs typeface="Arial" panose="020B0604020202090204" pitchFamily="34" charset="0"/>
              </a:rPr>
              <a:t>2</a:t>
            </a:r>
            <a:endParaRPr lang="zh-CN" altLang="en-US">
              <a:latin typeface="Arial" panose="020B0604020202090204" pitchFamily="34" charset="0"/>
              <a:cs typeface="Arial" panose="020B0604020202090204" pitchFamily="34" charset="0"/>
            </a:endParaRPr>
          </a:p>
          <a:p>
            <a:pPr marL="285750" indent="-285750">
              <a:lnSpc>
                <a:spcPct val="150000"/>
              </a:lnSpc>
              <a:buFont typeface="Arial" panose="020B0604020202090204" pitchFamily="34" charset="0"/>
              <a:buChar char="•"/>
            </a:pPr>
            <a:r>
              <a:rPr lang="zh-CN">
                <a:latin typeface="Arial" panose="020B0604020202090204" pitchFamily="34" charset="0"/>
                <a:ea typeface="宋体" pitchFamily="2" charset="-122"/>
                <a:cs typeface="Arial" panose="020B0604020202090204" pitchFamily="34" charset="0"/>
              </a:rPr>
              <a:t>得到</a:t>
            </a:r>
            <a:r>
              <a:rPr lang="en-US" altLang="zh-CN">
                <a:latin typeface="Arial" panose="020B0604020202090204" pitchFamily="34" charset="0"/>
                <a:ea typeface="宋体" pitchFamily="2" charset="-122"/>
                <a:cs typeface="Arial" panose="020B0604020202090204" pitchFamily="34" charset="0"/>
              </a:rPr>
              <a:t> z</a:t>
            </a:r>
            <a:r>
              <a:rPr lang="en-US" altLang="zh-CN" baseline="-25000">
                <a:latin typeface="Arial" panose="020B0604020202090204" pitchFamily="34" charset="0"/>
                <a:ea typeface="宋体" pitchFamily="2" charset="-122"/>
                <a:cs typeface="Arial" panose="020B0604020202090204" pitchFamily="34" charset="0"/>
              </a:rPr>
              <a:t>s</a:t>
            </a:r>
            <a:r>
              <a:rPr lang="en-US" altLang="zh-CN">
                <a:latin typeface="Arial" panose="020B0604020202090204" pitchFamily="34" charset="0"/>
                <a:ea typeface="宋体" pitchFamily="2" charset="-122"/>
                <a:cs typeface="Arial" panose="020B0604020202090204" pitchFamily="34" charset="0"/>
              </a:rPr>
              <a:t>,z</a:t>
            </a:r>
            <a:r>
              <a:rPr lang="en-US" altLang="zh-CN" baseline="-25000">
                <a:latin typeface="Arial" panose="020B0604020202090204" pitchFamily="34" charset="0"/>
                <a:ea typeface="宋体" pitchFamily="2" charset="-122"/>
                <a:cs typeface="Arial" panose="020B0604020202090204" pitchFamily="34" charset="0"/>
              </a:rPr>
              <a:t>m1</a:t>
            </a:r>
            <a:r>
              <a:rPr lang="en-US" altLang="zh-CN">
                <a:latin typeface="Arial" panose="020B0604020202090204" pitchFamily="34" charset="0"/>
                <a:ea typeface="宋体" pitchFamily="2" charset="-122"/>
                <a:cs typeface="Arial" panose="020B0604020202090204" pitchFamily="34" charset="0"/>
              </a:rPr>
              <a:t>,z</a:t>
            </a:r>
            <a:r>
              <a:rPr lang="en-US" altLang="zh-CN" baseline="-25000">
                <a:latin typeface="Arial" panose="020B0604020202090204" pitchFamily="34" charset="0"/>
                <a:ea typeface="宋体" pitchFamily="2" charset="-122"/>
                <a:cs typeface="Arial" panose="020B0604020202090204" pitchFamily="34" charset="0"/>
              </a:rPr>
              <a:t>m2</a:t>
            </a:r>
            <a:endParaRPr lang="zh-CN">
              <a:latin typeface="Arial" panose="020B0604020202090204" pitchFamily="34" charset="0"/>
              <a:ea typeface="宋体" pitchFamily="2" charset="-122"/>
              <a:cs typeface="Arial" panose="020B0604020202090204" pitchFamily="34" charset="0"/>
            </a:endParaRPr>
          </a:p>
          <a:p>
            <a:pPr marL="285750" indent="-285750">
              <a:lnSpc>
                <a:spcPct val="150000"/>
              </a:lnSpc>
              <a:buFont typeface="Arial" panose="020B0604020202090204" pitchFamily="34" charset="0"/>
              <a:buChar char="•"/>
            </a:pPr>
            <a:r>
              <a:rPr lang="zh-CN" altLang="en-US">
                <a:latin typeface="Arial" panose="020B0604020202090204" pitchFamily="34" charset="0"/>
                <a:ea typeface="宋体" pitchFamily="2" charset="-122"/>
                <a:cs typeface="Arial" panose="020B0604020202090204" pitchFamily="34" charset="0"/>
              </a:rPr>
              <a:t>优化三类目标：</a:t>
            </a:r>
          </a:p>
          <a:p>
            <a:pPr marL="742950" lvl="1" indent="-285750">
              <a:lnSpc>
                <a:spcPct val="150000"/>
              </a:lnSpc>
              <a:buFont typeface="Arial" panose="020B0604020202090204" pitchFamily="34" charset="0"/>
              <a:buChar char="•"/>
            </a:pPr>
            <a:r>
              <a:rPr lang="en-US" altLang="zh-CN">
                <a:latin typeface="Arial" panose="020B0604020202090204" pitchFamily="34" charset="0"/>
                <a:ea typeface="宋体" pitchFamily="2" charset="-122"/>
                <a:cs typeface="Arial" panose="020B0604020202090204" pitchFamily="34" charset="0"/>
              </a:rPr>
              <a:t>Independence：</a:t>
            </a:r>
            <a:r>
              <a:rPr lang="zh-CN" altLang="en-US">
                <a:latin typeface="Arial" panose="020B0604020202090204" pitchFamily="34" charset="0"/>
                <a:ea typeface="宋体" pitchFamily="2" charset="-122"/>
                <a:cs typeface="Arial" panose="020B0604020202090204" pitchFamily="34" charset="0"/>
              </a:rPr>
              <a:t>减少信息重复</a:t>
            </a:r>
          </a:p>
          <a:p>
            <a:pPr marL="742950" lvl="1" indent="-285750">
              <a:lnSpc>
                <a:spcPct val="150000"/>
              </a:lnSpc>
              <a:buFont typeface="Arial" panose="020B0604020202090204" pitchFamily="34" charset="0"/>
              <a:buChar char="•"/>
            </a:pPr>
            <a:r>
              <a:rPr lang="en-US" altLang="zh-CN">
                <a:latin typeface="Arial" panose="020B0604020202090204" pitchFamily="34" charset="0"/>
                <a:ea typeface="宋体" pitchFamily="2" charset="-122"/>
                <a:cs typeface="Arial" panose="020B0604020202090204" pitchFamily="34" charset="0"/>
              </a:rPr>
              <a:t>Orthogonality：</a:t>
            </a:r>
            <a:r>
              <a:rPr lang="zh-CN" altLang="en-US">
                <a:latin typeface="Arial" panose="020B0604020202090204" pitchFamily="34" charset="0"/>
                <a:ea typeface="宋体" pitchFamily="2" charset="-122"/>
                <a:cs typeface="Arial" panose="020B0604020202090204" pitchFamily="34" charset="0"/>
              </a:rPr>
              <a:t>减少子空间重叠</a:t>
            </a:r>
          </a:p>
          <a:p>
            <a:pPr marL="742950" lvl="1" indent="-285750">
              <a:lnSpc>
                <a:spcPct val="150000"/>
              </a:lnSpc>
              <a:buFont typeface="Arial" panose="020B0604020202090204" pitchFamily="34" charset="0"/>
              <a:buChar char="•"/>
            </a:pPr>
            <a:r>
              <a:rPr lang="en-US" altLang="zh-CN">
                <a:latin typeface="Arial" panose="020B0604020202090204" pitchFamily="34" charset="0"/>
                <a:ea typeface="宋体" pitchFamily="2" charset="-122"/>
                <a:cs typeface="Arial" panose="020B0604020202090204" pitchFamily="34" charset="0"/>
              </a:rPr>
              <a:t>Mutual Information：</a:t>
            </a:r>
            <a:r>
              <a:rPr lang="zh-CN" altLang="en-US">
                <a:latin typeface="Arial" panose="020B0604020202090204" pitchFamily="34" charset="0"/>
                <a:ea typeface="宋体" pitchFamily="2" charset="-122"/>
                <a:cs typeface="Arial" panose="020B0604020202090204" pitchFamily="34" charset="0"/>
              </a:rPr>
              <a:t>避免有用信息丢失</a:t>
            </a:r>
          </a:p>
          <a:p>
            <a:pPr marL="285750" lvl="0" indent="-285750">
              <a:lnSpc>
                <a:spcPct val="150000"/>
              </a:lnSpc>
              <a:buFont typeface="Arial" panose="020B0604020202090204" pitchFamily="34" charset="0"/>
              <a:buChar char="•"/>
            </a:pPr>
            <a:r>
              <a:rPr lang="en-US" altLang="zh-CN">
                <a:latin typeface="Arial" panose="020B0604020202090204" pitchFamily="34" charset="0"/>
                <a:ea typeface="宋体" pitchFamily="2" charset="-122"/>
                <a:cs typeface="Arial" panose="020B0604020202090204" pitchFamily="34" charset="0"/>
              </a:rPr>
              <a:t>50 epoch warm-up </a:t>
            </a:r>
            <a:r>
              <a:rPr lang="zh-CN" altLang="en-US">
                <a:latin typeface="Arial" panose="020B0604020202090204" pitchFamily="34" charset="0"/>
                <a:ea typeface="宋体" pitchFamily="2" charset="-122"/>
                <a:cs typeface="Arial" panose="020B0604020202090204" pitchFamily="34" charset="0"/>
              </a:rPr>
              <a:t>后，满足条件时调用 </a:t>
            </a:r>
            <a:r>
              <a:rPr lang="en-US" altLang="zh-CN">
                <a:latin typeface="Arial" panose="020B0604020202090204" pitchFamily="34" charset="0"/>
                <a:ea typeface="宋体" pitchFamily="2" charset="-122"/>
                <a:cs typeface="Arial" panose="020B0604020202090204" pitchFamily="34" charset="0"/>
              </a:rPr>
              <a:t>Algorithm 1</a:t>
            </a:r>
          </a:p>
          <a:p>
            <a:pPr marL="285750" lvl="0" indent="-285750">
              <a:lnSpc>
                <a:spcPct val="150000"/>
              </a:lnSpc>
              <a:buFont typeface="Arial" panose="020B0604020202090204" pitchFamily="34" charset="0"/>
              <a:buChar char="•"/>
            </a:pPr>
            <a:r>
              <a:rPr lang="zh-CN" altLang="en-US">
                <a:latin typeface="Arial" panose="020B0604020202090204" pitchFamily="34" charset="0"/>
                <a:ea typeface="宋体" pitchFamily="2" charset="-122"/>
                <a:cs typeface="Arial" panose="020B0604020202090204" pitchFamily="34" charset="0"/>
              </a:rPr>
              <a:t>持续训练直到收敛</a:t>
            </a:r>
          </a:p>
        </p:txBody>
      </p:sp>
      <p:pic>
        <p:nvPicPr>
          <p:cNvPr id="3" name="图片 2"/>
          <p:cNvPicPr>
            <a:picLocks noChangeAspect="1"/>
          </p:cNvPicPr>
          <p:nvPr/>
        </p:nvPicPr>
        <p:blipFill>
          <a:blip r:embed="rId3"/>
          <a:stretch>
            <a:fillRect/>
          </a:stretch>
        </p:blipFill>
        <p:spPr>
          <a:xfrm>
            <a:off x="842010" y="1094105"/>
            <a:ext cx="4561840" cy="555434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lang="zh-CN" altLang="en-US" sz="2700" b="1">
                <a:solidFill>
                  <a:srgbClr val="172B3A"/>
                </a:solidFill>
                <a:latin typeface="Arial" panose="020B0604020202090204"/>
                <a:ea typeface="Arial" panose="020B0604020202090204"/>
                <a:cs typeface="Arial" panose="020B0604020202090204"/>
              </a:rPr>
              <a:t>实验验证思路：解耦效果、预测能力与缺失模态表现</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3" name="矩形 2"/>
          <p:cNvSpPr>
            <a:spLocks noGrp="1"/>
          </p:cNvSpPr>
          <p:nvPr/>
        </p:nvSpPr>
        <p:spPr>
          <a:xfrm>
            <a:off x="685800" y="6438900"/>
            <a:ext cx="7620000" cy="209550"/>
          </a:xfrm>
          <a:prstGeom prst="rect">
            <a:avLst/>
          </a:prstGeom>
          <a:noFill/>
          <a:ln w="0">
            <a:noFill/>
          </a:ln>
        </p:spPr>
        <p:txBody>
          <a:bodyPr wrap="square" lIns="0" tIns="0" rIns="0" bIns="0" anchor="t">
            <a:normAutofit/>
          </a:bodyPr>
          <a:lstStyle/>
          <a:p>
            <a:pPr algn="l">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5 论文如何论证有效性</a:t>
            </a:r>
          </a:p>
        </p:txBody>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lang="en-US" sz="1125" b="0">
                <a:solidFill>
                  <a:srgbClr val="526573"/>
                </a:solidFill>
                <a:latin typeface="Arial" panose="020B0604020202090204"/>
                <a:ea typeface="Arial" panose="020B0604020202090204"/>
                <a:cs typeface="Arial" panose="020B0604020202090204"/>
              </a:rPr>
              <a:t>11</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sp>
        <p:nvSpPr>
          <p:cNvPr id="5" name="矩形 4"/>
          <p:cNvSpPr>
            <a:spLocks noGrp="1"/>
          </p:cNvSpPr>
          <p:nvPr>
            <p:custDataLst>
              <p:tags r:id="rId1"/>
            </p:custDataLst>
          </p:nvPr>
        </p:nvSpPr>
        <p:spPr>
          <a:xfrm>
            <a:off x="876300" y="1619250"/>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137C8B"/>
                </a:solidFill>
                <a:latin typeface="Arial" panose="020B0604020202090204"/>
                <a:ea typeface="Arial" panose="020B0604020202090204"/>
                <a:cs typeface="Arial" panose="020B0604020202090204"/>
              </a:defRPr>
            </a:pPr>
            <a:r>
              <a:rPr lang="zh-CN" altLang="en-US" sz="1575" b="1">
                <a:solidFill>
                  <a:srgbClr val="137C8B"/>
                </a:solidFill>
                <a:latin typeface="Arial" panose="020B0604020202090204"/>
                <a:ea typeface="Arial" panose="020B0604020202090204"/>
                <a:cs typeface="Arial" panose="020B0604020202090204"/>
              </a:rPr>
              <a:t>解耦效果</a:t>
            </a:r>
          </a:p>
        </p:txBody>
      </p:sp>
      <p:sp>
        <p:nvSpPr>
          <p:cNvPr id="6" name="矩形 5"/>
          <p:cNvSpPr>
            <a:spLocks noGrp="1"/>
          </p:cNvSpPr>
          <p:nvPr>
            <p:custDataLst>
              <p:tags r:id="rId2"/>
            </p:custDataLst>
          </p:nvPr>
        </p:nvSpPr>
        <p:spPr>
          <a:xfrm>
            <a:off x="2733675" y="1619250"/>
            <a:ext cx="842962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lang="zh-CN" altLang="en-US" sz="1575" b="0">
                <a:solidFill>
                  <a:srgbClr val="172B3A"/>
                </a:solidFill>
                <a:latin typeface="Arial" panose="020B0604020202090204"/>
                <a:ea typeface="Arial" panose="020B0604020202090204"/>
                <a:cs typeface="Arial" panose="020B0604020202090204"/>
              </a:rPr>
              <a:t>共享信息与模态特异信息是否进入对应子空间？</a:t>
            </a:r>
          </a:p>
        </p:txBody>
      </p:sp>
      <p:sp>
        <p:nvSpPr>
          <p:cNvPr id="7" name="矩形 6"/>
          <p:cNvSpPr>
            <a:spLocks noGrp="1"/>
          </p:cNvSpPr>
          <p:nvPr>
            <p:custDataLst>
              <p:tags r:id="rId3"/>
            </p:custDataLst>
          </p:nvPr>
        </p:nvSpPr>
        <p:spPr>
          <a:xfrm>
            <a:off x="876300" y="2619375"/>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D78345"/>
                </a:solidFill>
                <a:latin typeface="Arial" panose="020B0604020202090204"/>
                <a:ea typeface="Arial" panose="020B0604020202090204"/>
                <a:cs typeface="Arial" panose="020B0604020202090204"/>
              </a:defRPr>
            </a:pPr>
            <a:r>
              <a:rPr lang="zh-CN" altLang="en-US" sz="1575" b="1">
                <a:solidFill>
                  <a:srgbClr val="D78345"/>
                </a:solidFill>
                <a:latin typeface="Arial" panose="020B0604020202090204"/>
                <a:ea typeface="Arial" panose="020B0604020202090204"/>
                <a:cs typeface="Arial" panose="020B0604020202090204"/>
              </a:rPr>
              <a:t>预测能力</a:t>
            </a:r>
          </a:p>
        </p:txBody>
      </p:sp>
      <p:sp>
        <p:nvSpPr>
          <p:cNvPr id="8" name="矩形 7"/>
          <p:cNvSpPr>
            <a:spLocks noGrp="1"/>
          </p:cNvSpPr>
          <p:nvPr>
            <p:custDataLst>
              <p:tags r:id="rId4"/>
            </p:custDataLst>
          </p:nvPr>
        </p:nvSpPr>
        <p:spPr>
          <a:xfrm>
            <a:off x="2733675" y="2619375"/>
            <a:ext cx="842962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lang="zh-CN" altLang="en-US" sz="1575" b="0">
                <a:solidFill>
                  <a:srgbClr val="172B3A"/>
                </a:solidFill>
                <a:latin typeface="Arial" panose="020B0604020202090204"/>
                <a:ea typeface="Arial" panose="020B0604020202090204"/>
                <a:cs typeface="Arial" panose="020B0604020202090204"/>
              </a:rPr>
              <a:t>解耦后的表示能否用于下游多模态预测？</a:t>
            </a:r>
          </a:p>
        </p:txBody>
      </p:sp>
      <p:sp>
        <p:nvSpPr>
          <p:cNvPr id="9" name="矩形 8"/>
          <p:cNvSpPr>
            <a:spLocks noGrp="1"/>
          </p:cNvSpPr>
          <p:nvPr>
            <p:custDataLst>
              <p:tags r:id="rId5"/>
            </p:custDataLst>
          </p:nvPr>
        </p:nvSpPr>
        <p:spPr>
          <a:xfrm>
            <a:off x="876300" y="3619500"/>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43875D"/>
                </a:solidFill>
                <a:latin typeface="Arial" panose="020B0604020202090204"/>
                <a:ea typeface="Arial" panose="020B0604020202090204"/>
                <a:cs typeface="Arial" panose="020B0604020202090204"/>
              </a:defRPr>
            </a:pPr>
            <a:r>
              <a:rPr lang="zh-CN" altLang="en-US" sz="1575" b="1">
                <a:solidFill>
                  <a:srgbClr val="43875D"/>
                </a:solidFill>
                <a:latin typeface="Arial" panose="020B0604020202090204"/>
                <a:ea typeface="宋体" pitchFamily="2" charset="-122"/>
                <a:cs typeface="Arial" panose="020B0604020202090204"/>
              </a:rPr>
              <a:t>缺失模态表现</a:t>
            </a:r>
          </a:p>
        </p:txBody>
      </p:sp>
      <p:sp>
        <p:nvSpPr>
          <p:cNvPr id="10" name="矩形 9"/>
          <p:cNvSpPr>
            <a:spLocks noGrp="1"/>
          </p:cNvSpPr>
          <p:nvPr>
            <p:custDataLst>
              <p:tags r:id="rId6"/>
            </p:custDataLst>
          </p:nvPr>
        </p:nvSpPr>
        <p:spPr>
          <a:xfrm>
            <a:off x="2733675" y="3619500"/>
            <a:ext cx="842962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lang="zh-CN" altLang="en-US" sz="1575" b="0">
                <a:solidFill>
                  <a:srgbClr val="172B3A"/>
                </a:solidFill>
                <a:latin typeface="Arial" panose="020B0604020202090204"/>
                <a:ea typeface="Arial" panose="020B0604020202090204"/>
                <a:cs typeface="Arial" panose="020B0604020202090204"/>
              </a:rPr>
              <a:t>只保留一个模态时，表示是否仍然有效？</a:t>
            </a:r>
          </a:p>
        </p:txBody>
      </p:sp>
      <p:sp>
        <p:nvSpPr>
          <p:cNvPr id="11" name="矩形 10"/>
          <p:cNvSpPr>
            <a:spLocks noGrp="1"/>
          </p:cNvSpPr>
          <p:nvPr>
            <p:custDataLst>
              <p:tags r:id="rId7"/>
            </p:custDataLst>
          </p:nvPr>
        </p:nvSpPr>
        <p:spPr>
          <a:xfrm>
            <a:off x="876300" y="4619625"/>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137C8B"/>
                </a:solidFill>
                <a:latin typeface="Arial" panose="020B0604020202090204"/>
                <a:ea typeface="Arial" panose="020B0604020202090204"/>
                <a:cs typeface="Arial" panose="020B0604020202090204"/>
              </a:defRPr>
            </a:pPr>
            <a:r>
              <a:rPr lang="zh-CN" sz="1575" b="1">
                <a:solidFill>
                  <a:srgbClr val="137C8B"/>
                </a:solidFill>
                <a:latin typeface="Arial" panose="020B0604020202090204"/>
                <a:ea typeface="宋体" pitchFamily="2" charset="-122"/>
                <a:cs typeface="Arial" panose="020B0604020202090204"/>
              </a:rPr>
              <a:t>对照公平</a:t>
            </a:r>
          </a:p>
        </p:txBody>
      </p:sp>
      <p:sp>
        <p:nvSpPr>
          <p:cNvPr id="12" name="矩形 11"/>
          <p:cNvSpPr>
            <a:spLocks noGrp="1"/>
          </p:cNvSpPr>
          <p:nvPr>
            <p:custDataLst>
              <p:tags r:id="rId8"/>
            </p:custDataLst>
          </p:nvPr>
        </p:nvSpPr>
        <p:spPr>
          <a:xfrm>
            <a:off x="2733675" y="4619625"/>
            <a:ext cx="8429625" cy="590550"/>
          </a:xfrm>
          <a:prstGeom prst="rect">
            <a:avLst/>
          </a:prstGeom>
          <a:noFill/>
          <a:ln w="0">
            <a:noFill/>
          </a:ln>
        </p:spPr>
        <p:txBody>
          <a:bodyPr wrap="square" lIns="0" tIns="0" rIns="0" bIns="0" anchor="t">
            <a:normAutofit/>
          </a:bodyPr>
          <a:lstStyle/>
          <a:p>
            <a:pPr algn="l">
              <a:lnSpc>
                <a:spcPct val="100000"/>
              </a:lnSpc>
              <a:buNone/>
              <a:defRPr sz="1575" b="0">
                <a:solidFill>
                  <a:srgbClr val="172B3A"/>
                </a:solidFill>
                <a:latin typeface="Arial" panose="020B0604020202090204"/>
                <a:ea typeface="Arial" panose="020B0604020202090204"/>
                <a:cs typeface="Arial" panose="020B0604020202090204"/>
              </a:defRPr>
            </a:pPr>
            <a:r>
              <a:rPr>
                <a:sym typeface="+mn-ea"/>
              </a:rPr>
              <a:t>基线共用同一组预训练单模态嵌入，差异聚焦在解耦/融合模块。</a:t>
            </a:r>
            <a:endParaRPr sz="1575" b="0">
              <a:solidFill>
                <a:srgbClr val="172B3A"/>
              </a:solidFill>
              <a:latin typeface="Arial" panose="020B0604020202090204"/>
              <a:ea typeface="Arial" panose="020B0604020202090204"/>
              <a:cs typeface="Arial" panose="020B060402020209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模拟数据：MultiLoReFT 更能把共享因素留在共享空间</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4" name="矩形 3"/>
          <p:cNvSpPr>
            <a:spLocks noGrp="1"/>
          </p:cNvSpPr>
          <p:nvPr/>
        </p:nvSpPr>
        <p:spPr>
          <a:xfrm>
            <a:off x="10704830" y="6482715"/>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lang="en-US" sz="1125" b="0">
                <a:solidFill>
                  <a:srgbClr val="526573"/>
                </a:solidFill>
                <a:latin typeface="Arial" panose="020B0604020202090204"/>
                <a:ea typeface="Arial" panose="020B0604020202090204"/>
                <a:cs typeface="Arial" panose="020B0604020202090204"/>
              </a:rPr>
              <a:t>12</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sp>
        <p:nvSpPr>
          <p:cNvPr id="7" name="矩形 6"/>
          <p:cNvSpPr>
            <a:spLocks noGrp="1"/>
          </p:cNvSpPr>
          <p:nvPr/>
        </p:nvSpPr>
        <p:spPr>
          <a:xfrm>
            <a:off x="6600190" y="1268730"/>
            <a:ext cx="4646295" cy="523875"/>
          </a:xfrm>
          <a:prstGeom prst="rect">
            <a:avLst/>
          </a:prstGeom>
          <a:noFill/>
          <a:ln w="0">
            <a:noFill/>
          </a:ln>
        </p:spPr>
        <p:txBody>
          <a:bodyPr wrap="square" lIns="0" tIns="0" rIns="0" bIns="0" anchor="t"/>
          <a:lstStyle/>
          <a:p>
            <a:pPr algn="l">
              <a:lnSpc>
                <a:spcPct val="150000"/>
              </a:lnSpc>
              <a:buNone/>
              <a:defRPr sz="1800" b="1">
                <a:solidFill>
                  <a:srgbClr val="172B3A"/>
                </a:solidFill>
                <a:latin typeface="Arial" panose="020B0604020202090204"/>
                <a:ea typeface="Arial" panose="020B0604020202090204"/>
                <a:cs typeface="Arial" panose="020B0604020202090204"/>
              </a:defRPr>
            </a:pPr>
            <a:r>
              <a:rPr lang="zh-CN" altLang="en-US" b="1">
                <a:solidFill>
                  <a:srgbClr val="172B3A"/>
                </a:solidFill>
                <a:latin typeface="Arial" panose="020B0604020202090204" pitchFamily="34" charset="0"/>
                <a:ea typeface="Arial" panose="020B0604020202090204"/>
                <a:cs typeface="Arial" panose="020B0604020202090204" pitchFamily="34" charset="0"/>
              </a:rPr>
              <a:t>实验目的：</a:t>
            </a:r>
            <a:r>
              <a:rPr lang="zh-CN" altLang="en-US" b="0">
                <a:solidFill>
                  <a:srgbClr val="172B3A"/>
                </a:solidFill>
                <a:latin typeface="Arial" panose="020B0604020202090204" pitchFamily="34" charset="0"/>
                <a:ea typeface="Arial" panose="020B0604020202090204"/>
                <a:cs typeface="Arial" panose="020B0604020202090204" pitchFamily="34" charset="0"/>
              </a:rPr>
              <a:t>验证 </a:t>
            </a:r>
            <a:r>
              <a:rPr lang="en-US" altLang="zh-CN" b="0">
                <a:solidFill>
                  <a:srgbClr val="172B3A"/>
                </a:solidFill>
                <a:latin typeface="Arial" panose="020B0604020202090204" pitchFamily="34" charset="0"/>
                <a:ea typeface="Arial" panose="020B0604020202090204"/>
                <a:cs typeface="Arial" panose="020B0604020202090204" pitchFamily="34" charset="0"/>
              </a:rPr>
              <a:t>MultiLoReFT </a:t>
            </a:r>
            <a:r>
              <a:rPr lang="zh-CN" altLang="en-US" b="0">
                <a:solidFill>
                  <a:srgbClr val="172B3A"/>
                </a:solidFill>
                <a:latin typeface="Arial" panose="020B0604020202090204" pitchFamily="34" charset="0"/>
                <a:ea typeface="Arial" panose="020B0604020202090204"/>
                <a:cs typeface="Arial" panose="020B0604020202090204" pitchFamily="34" charset="0"/>
              </a:rPr>
              <a:t>是否真的把 </a:t>
            </a:r>
            <a:r>
              <a:rPr lang="en-US" altLang="zh-CN" b="0">
                <a:solidFill>
                  <a:srgbClr val="172B3A"/>
                </a:solidFill>
                <a:latin typeface="Arial" panose="020B0604020202090204" pitchFamily="34" charset="0"/>
                <a:ea typeface="Arial" panose="020B0604020202090204"/>
                <a:cs typeface="Arial" panose="020B0604020202090204" pitchFamily="34" charset="0"/>
              </a:rPr>
              <a:t>shared information </a:t>
            </a:r>
            <a:r>
              <a:rPr lang="zh-CN" altLang="en-US" b="0">
                <a:solidFill>
                  <a:srgbClr val="172B3A"/>
                </a:solidFill>
                <a:latin typeface="Arial" panose="020B0604020202090204" pitchFamily="34" charset="0"/>
                <a:ea typeface="Arial" panose="020B0604020202090204"/>
                <a:cs typeface="Arial" panose="020B0604020202090204" pitchFamily="34" charset="0"/>
              </a:rPr>
              <a:t>和 </a:t>
            </a:r>
            <a:r>
              <a:rPr lang="en-US" altLang="zh-CN" b="0">
                <a:solidFill>
                  <a:srgbClr val="172B3A"/>
                </a:solidFill>
                <a:latin typeface="Arial" panose="020B0604020202090204" pitchFamily="34" charset="0"/>
                <a:ea typeface="Arial" panose="020B0604020202090204"/>
                <a:cs typeface="Arial" panose="020B0604020202090204" pitchFamily="34" charset="0"/>
              </a:rPr>
              <a:t>modality-specific information </a:t>
            </a:r>
            <a:r>
              <a:rPr lang="zh-CN" altLang="en-US" b="0">
                <a:solidFill>
                  <a:srgbClr val="172B3A"/>
                </a:solidFill>
                <a:latin typeface="Arial" panose="020B0604020202090204" pitchFamily="34" charset="0"/>
                <a:ea typeface="Arial" panose="020B0604020202090204"/>
                <a:cs typeface="Arial" panose="020B0604020202090204" pitchFamily="34" charset="0"/>
              </a:rPr>
              <a:t>分开。</a:t>
            </a:r>
          </a:p>
          <a:p>
            <a:pPr algn="l">
              <a:lnSpc>
                <a:spcPct val="150000"/>
              </a:lnSpc>
              <a:buNone/>
              <a:defRPr sz="1800" b="1">
                <a:solidFill>
                  <a:srgbClr val="172B3A"/>
                </a:solidFill>
                <a:latin typeface="Arial" panose="020B0604020202090204"/>
                <a:ea typeface="Arial" panose="020B0604020202090204"/>
                <a:cs typeface="Arial" panose="020B0604020202090204"/>
              </a:defRPr>
            </a:pPr>
            <a:endParaRPr lang="zh-CN" altLang="en-US" b="0">
              <a:solidFill>
                <a:srgbClr val="172B3A"/>
              </a:solidFill>
              <a:latin typeface="Arial" panose="020B0604020202090204" pitchFamily="34" charset="0"/>
              <a:ea typeface="Arial" panose="020B0604020202090204"/>
              <a:cs typeface="Arial" panose="020B0604020202090204" pitchFamily="34" charset="0"/>
            </a:endParaRPr>
          </a:p>
          <a:p>
            <a:pPr algn="l">
              <a:lnSpc>
                <a:spcPct val="150000"/>
              </a:lnSpc>
              <a:buNone/>
              <a:defRPr sz="1650" b="0">
                <a:solidFill>
                  <a:srgbClr val="172B3A"/>
                </a:solidFill>
                <a:latin typeface="Arial" panose="020B0604020202090204"/>
                <a:ea typeface="Arial" panose="020B0604020202090204"/>
                <a:cs typeface="Arial" panose="020B0604020202090204"/>
              </a:defRPr>
            </a:pPr>
            <a:r>
              <a:rPr lang="en-US" altLang="zh-CN" sz="1800" b="0">
                <a:latin typeface="Arial" panose="020B0604020202090204" pitchFamily="34" charset="0"/>
                <a:cs typeface="Arial" panose="020B0604020202090204" pitchFamily="34" charset="0"/>
                <a:sym typeface="+mn-ea"/>
              </a:rPr>
              <a:t>Shared label：</a:t>
            </a:r>
            <a:r>
              <a:rPr lang="zh-CN" altLang="en-US" sz="1800" b="0">
                <a:latin typeface="Arial" panose="020B0604020202090204" pitchFamily="34" charset="0"/>
                <a:cs typeface="Arial" panose="020B0604020202090204" pitchFamily="34" charset="0"/>
                <a:sym typeface="+mn-ea"/>
              </a:rPr>
              <a:t>只应在 </a:t>
            </a:r>
            <a:r>
              <a:rPr lang="en-US" altLang="zh-CN" sz="1800" b="0">
                <a:latin typeface="Arial" panose="020B0604020202090204" pitchFamily="34" charset="0"/>
                <a:cs typeface="Arial" panose="020B0604020202090204" pitchFamily="34" charset="0"/>
                <a:sym typeface="+mn-ea"/>
              </a:rPr>
              <a:t>shared subspace z</a:t>
            </a:r>
            <a:r>
              <a:rPr lang="en-US" altLang="zh-CN" sz="1800" b="0" baseline="-25000">
                <a:latin typeface="Arial" panose="020B0604020202090204" pitchFamily="34" charset="0"/>
                <a:cs typeface="Arial" panose="020B0604020202090204" pitchFamily="34" charset="0"/>
                <a:sym typeface="+mn-ea"/>
              </a:rPr>
              <a:t>s</a:t>
            </a:r>
            <a:r>
              <a:rPr lang="zh-CN" altLang="en-US" sz="1800" b="0">
                <a:latin typeface="Arial" panose="020B0604020202090204" pitchFamily="34" charset="0"/>
                <a:cs typeface="Arial" panose="020B0604020202090204" pitchFamily="34" charset="0"/>
                <a:sym typeface="+mn-ea"/>
              </a:rPr>
              <a:t>中形成明显聚类</a:t>
            </a:r>
            <a:endParaRPr lang="zh-CN" altLang="en-US" sz="1800" b="0">
              <a:solidFill>
                <a:srgbClr val="172B3A"/>
              </a:solidFill>
              <a:latin typeface="Arial" panose="020B0604020202090204" pitchFamily="34" charset="0"/>
              <a:ea typeface="Arial" panose="020B0604020202090204"/>
              <a:cs typeface="Arial" panose="020B0604020202090204" pitchFamily="34" charset="0"/>
            </a:endParaRPr>
          </a:p>
          <a:p>
            <a:pPr algn="l">
              <a:lnSpc>
                <a:spcPct val="150000"/>
              </a:lnSpc>
              <a:buNone/>
              <a:defRPr sz="1650" b="0">
                <a:solidFill>
                  <a:srgbClr val="172B3A"/>
                </a:solidFill>
                <a:latin typeface="Arial" panose="020B0604020202090204"/>
                <a:ea typeface="Arial" panose="020B0604020202090204"/>
                <a:cs typeface="Arial" panose="020B0604020202090204"/>
              </a:defRPr>
            </a:pPr>
            <a:r>
              <a:rPr lang="en-US" altLang="zh-CN" sz="1800" b="0">
                <a:latin typeface="Arial" panose="020B0604020202090204" pitchFamily="34" charset="0"/>
                <a:cs typeface="Arial" panose="020B0604020202090204" pitchFamily="34" charset="0"/>
                <a:sym typeface="+mn-ea"/>
              </a:rPr>
              <a:t>Modality 1 label：</a:t>
            </a:r>
            <a:r>
              <a:rPr lang="zh-CN" altLang="en-US" sz="1800" b="0">
                <a:latin typeface="Arial" panose="020B0604020202090204" pitchFamily="34" charset="0"/>
                <a:cs typeface="Arial" panose="020B0604020202090204" pitchFamily="34" charset="0"/>
                <a:sym typeface="+mn-ea"/>
              </a:rPr>
              <a:t>只应在</a:t>
            </a:r>
            <a:r>
              <a:rPr lang="en-US" sz="1800" b="0">
                <a:latin typeface="Arial" panose="020B0604020202090204" pitchFamily="34" charset="0"/>
                <a:cs typeface="Arial" panose="020B0604020202090204" pitchFamily="34" charset="0"/>
                <a:sym typeface="+mn-ea"/>
              </a:rPr>
              <a:t>z</a:t>
            </a:r>
            <a:r>
              <a:rPr lang="en-US" sz="1800" b="0" baseline="-25000">
                <a:latin typeface="Arial" panose="020B0604020202090204" pitchFamily="34" charset="0"/>
                <a:cs typeface="Arial" panose="020B0604020202090204" pitchFamily="34" charset="0"/>
                <a:sym typeface="+mn-ea"/>
              </a:rPr>
              <a:t>m1</a:t>
            </a:r>
            <a:r>
              <a:rPr lang="zh-CN" altLang="en-US" sz="1800" b="0">
                <a:latin typeface="Arial" panose="020B0604020202090204" pitchFamily="34" charset="0"/>
                <a:cs typeface="Arial" panose="020B0604020202090204" pitchFamily="34" charset="0"/>
                <a:sym typeface="+mn-ea"/>
              </a:rPr>
              <a:t>中形成明显聚类</a:t>
            </a:r>
            <a:endParaRPr lang="zh-CN" altLang="en-US" sz="1800" b="0">
              <a:solidFill>
                <a:srgbClr val="172B3A"/>
              </a:solidFill>
              <a:latin typeface="Arial" panose="020B0604020202090204" pitchFamily="34" charset="0"/>
              <a:ea typeface="Arial" panose="020B0604020202090204"/>
              <a:cs typeface="Arial" panose="020B0604020202090204" pitchFamily="34" charset="0"/>
            </a:endParaRPr>
          </a:p>
          <a:p>
            <a:pPr algn="l">
              <a:lnSpc>
                <a:spcPct val="150000"/>
              </a:lnSpc>
              <a:buNone/>
              <a:defRPr sz="1650" b="0">
                <a:solidFill>
                  <a:srgbClr val="172B3A"/>
                </a:solidFill>
                <a:latin typeface="Arial" panose="020B0604020202090204"/>
                <a:ea typeface="Arial" panose="020B0604020202090204"/>
                <a:cs typeface="Arial" panose="020B0604020202090204"/>
              </a:defRPr>
            </a:pPr>
            <a:r>
              <a:rPr lang="en-US" altLang="zh-CN" sz="1800" b="0">
                <a:latin typeface="Arial" panose="020B0604020202090204" pitchFamily="34" charset="0"/>
                <a:cs typeface="Arial" panose="020B0604020202090204" pitchFamily="34" charset="0"/>
                <a:sym typeface="+mn-ea"/>
              </a:rPr>
              <a:t>Modality 2 label：</a:t>
            </a:r>
            <a:r>
              <a:rPr lang="zh-CN" altLang="en-US" sz="1800" b="0">
                <a:latin typeface="Arial" panose="020B0604020202090204" pitchFamily="34" charset="0"/>
                <a:cs typeface="Arial" panose="020B0604020202090204" pitchFamily="34" charset="0"/>
                <a:sym typeface="+mn-ea"/>
              </a:rPr>
              <a:t>只应在</a:t>
            </a:r>
            <a:r>
              <a:rPr lang="en-US" sz="1800" b="0">
                <a:latin typeface="Arial" panose="020B0604020202090204" pitchFamily="34" charset="0"/>
                <a:cs typeface="Arial" panose="020B0604020202090204" pitchFamily="34" charset="0"/>
                <a:sym typeface="+mn-ea"/>
              </a:rPr>
              <a:t>z</a:t>
            </a:r>
            <a:r>
              <a:rPr lang="en-US" sz="1800" b="0" baseline="-25000">
                <a:latin typeface="Arial" panose="020B0604020202090204" pitchFamily="34" charset="0"/>
                <a:cs typeface="Arial" panose="020B0604020202090204" pitchFamily="34" charset="0"/>
                <a:sym typeface="+mn-ea"/>
              </a:rPr>
              <a:t>m2</a:t>
            </a:r>
            <a:r>
              <a:rPr lang="zh-CN" altLang="en-US" sz="1800" b="0">
                <a:latin typeface="Arial" panose="020B0604020202090204" pitchFamily="34" charset="0"/>
                <a:cs typeface="Arial" panose="020B0604020202090204" pitchFamily="34" charset="0"/>
                <a:sym typeface="+mn-ea"/>
              </a:rPr>
              <a:t>中形成明显聚类</a:t>
            </a:r>
            <a:endParaRPr lang="zh-CN" altLang="en-US" sz="1800" b="0">
              <a:solidFill>
                <a:srgbClr val="172B3A"/>
              </a:solidFill>
              <a:latin typeface="Arial" panose="020B0604020202090204" pitchFamily="34" charset="0"/>
              <a:ea typeface="Arial" panose="020B0604020202090204"/>
              <a:cs typeface="Arial" panose="020B0604020202090204" pitchFamily="34" charset="0"/>
            </a:endParaRPr>
          </a:p>
          <a:p>
            <a:pPr algn="l">
              <a:lnSpc>
                <a:spcPct val="150000"/>
              </a:lnSpc>
              <a:buNone/>
              <a:defRPr sz="1650" b="0">
                <a:solidFill>
                  <a:srgbClr val="172B3A"/>
                </a:solidFill>
                <a:latin typeface="Arial" panose="020B0604020202090204"/>
                <a:ea typeface="Arial" panose="020B0604020202090204"/>
                <a:cs typeface="Arial" panose="020B0604020202090204"/>
              </a:defRPr>
            </a:pPr>
            <a:r>
              <a:rPr lang="zh-CN" altLang="en-US" sz="1800" b="0">
                <a:latin typeface="Arial" panose="020B0604020202090204" pitchFamily="34" charset="0"/>
                <a:cs typeface="Arial" panose="020B0604020202090204" pitchFamily="34" charset="0"/>
                <a:sym typeface="+mn-ea"/>
              </a:rPr>
              <a:t>其他不相关子空间应尽量无明显结构。</a:t>
            </a:r>
          </a:p>
          <a:p>
            <a:pPr algn="l">
              <a:lnSpc>
                <a:spcPct val="150000"/>
              </a:lnSpc>
              <a:buNone/>
              <a:defRPr sz="1650" b="0">
                <a:solidFill>
                  <a:srgbClr val="172B3A"/>
                </a:solidFill>
                <a:latin typeface="Arial" panose="020B0604020202090204"/>
                <a:ea typeface="Arial" panose="020B0604020202090204"/>
                <a:cs typeface="Arial" panose="020B0604020202090204"/>
              </a:defRPr>
            </a:pPr>
            <a:endParaRPr lang="zh-CN" altLang="en-US" sz="1800" b="0">
              <a:solidFill>
                <a:srgbClr val="172B3A"/>
              </a:solidFill>
              <a:latin typeface="Arial" panose="020B0604020202090204" pitchFamily="34" charset="0"/>
              <a:ea typeface="Arial" panose="020B0604020202090204"/>
              <a:cs typeface="Arial" panose="020B0604020202090204" pitchFamily="34" charset="0"/>
              <a:sym typeface="+mn-ea"/>
            </a:endParaRPr>
          </a:p>
          <a:p>
            <a:pPr algn="l">
              <a:lnSpc>
                <a:spcPct val="150000"/>
              </a:lnSpc>
              <a:buNone/>
              <a:defRPr sz="1650" b="0">
                <a:solidFill>
                  <a:srgbClr val="172B3A"/>
                </a:solidFill>
                <a:latin typeface="Arial" panose="020B0604020202090204"/>
                <a:ea typeface="Arial" panose="020B0604020202090204"/>
                <a:cs typeface="Arial" panose="020B0604020202090204"/>
              </a:defRPr>
            </a:pPr>
            <a:r>
              <a:rPr lang="zh-CN" altLang="en-US" sz="1800" b="0">
                <a:solidFill>
                  <a:srgbClr val="172B3A"/>
                </a:solidFill>
                <a:latin typeface="Arial" panose="020B0604020202090204" pitchFamily="34" charset="0"/>
                <a:ea typeface="Arial" panose="020B0604020202090204"/>
                <a:cs typeface="Arial" panose="020B0604020202090204" pitchFamily="34" charset="0"/>
              </a:rPr>
              <a:t>结论：不同类型的信息被集中到对应子空间中，说明 </a:t>
            </a:r>
            <a:r>
              <a:rPr lang="en-US" altLang="zh-CN" sz="1800" b="0">
                <a:solidFill>
                  <a:srgbClr val="172B3A"/>
                </a:solidFill>
                <a:latin typeface="Arial" panose="020B0604020202090204" pitchFamily="34" charset="0"/>
                <a:ea typeface="Arial" panose="020B0604020202090204"/>
                <a:cs typeface="Arial" panose="020B0604020202090204" pitchFamily="34" charset="0"/>
              </a:rPr>
              <a:t>MultiLoReFT </a:t>
            </a:r>
            <a:r>
              <a:rPr lang="zh-CN" altLang="en-US" sz="1800" b="0">
                <a:solidFill>
                  <a:srgbClr val="172B3A"/>
                </a:solidFill>
                <a:latin typeface="Arial" panose="020B0604020202090204" pitchFamily="34" charset="0"/>
                <a:ea typeface="Arial" panose="020B0604020202090204"/>
                <a:cs typeface="Arial" panose="020B0604020202090204" pitchFamily="34" charset="0"/>
              </a:rPr>
              <a:t>能减少 </a:t>
            </a:r>
            <a:r>
              <a:rPr lang="en-US" altLang="zh-CN" sz="1800" b="0">
                <a:solidFill>
                  <a:srgbClr val="172B3A"/>
                </a:solidFill>
                <a:latin typeface="Arial" panose="020B0604020202090204" pitchFamily="34" charset="0"/>
                <a:ea typeface="Arial" panose="020B0604020202090204"/>
                <a:cs typeface="Arial" panose="020B0604020202090204" pitchFamily="34" charset="0"/>
              </a:rPr>
              <a:t>information leakage，</a:t>
            </a:r>
            <a:r>
              <a:rPr lang="zh-CN" altLang="en-US" sz="1800" b="0">
                <a:solidFill>
                  <a:srgbClr val="172B3A"/>
                </a:solidFill>
                <a:latin typeface="Arial" panose="020B0604020202090204" pitchFamily="34" charset="0"/>
                <a:ea typeface="Arial" panose="020B0604020202090204"/>
                <a:cs typeface="Arial" panose="020B0604020202090204" pitchFamily="34" charset="0"/>
              </a:rPr>
              <a:t>实现显式 </a:t>
            </a:r>
            <a:r>
              <a:rPr lang="en-US" altLang="zh-CN" sz="1800" b="0">
                <a:solidFill>
                  <a:srgbClr val="172B3A"/>
                </a:solidFill>
                <a:latin typeface="Arial" panose="020B0604020202090204" pitchFamily="34" charset="0"/>
                <a:ea typeface="Arial" panose="020B0604020202090204"/>
                <a:cs typeface="Arial" panose="020B0604020202090204" pitchFamily="34" charset="0"/>
              </a:rPr>
              <a:t>disentanglement。</a:t>
            </a:r>
          </a:p>
          <a:p>
            <a:pPr algn="l">
              <a:lnSpc>
                <a:spcPct val="100000"/>
              </a:lnSpc>
              <a:buNone/>
              <a:defRPr sz="1800" b="1">
                <a:solidFill>
                  <a:srgbClr val="172B3A"/>
                </a:solidFill>
                <a:latin typeface="Arial" panose="020B0604020202090204"/>
                <a:ea typeface="Arial" panose="020B0604020202090204"/>
                <a:cs typeface="Arial" panose="020B0604020202090204"/>
              </a:defRPr>
            </a:pPr>
            <a:endParaRPr lang="zh-CN" altLang="en-US" b="0">
              <a:solidFill>
                <a:srgbClr val="172B3A"/>
              </a:solidFill>
              <a:latin typeface="Arial" panose="020B0604020202090204" pitchFamily="34" charset="0"/>
              <a:ea typeface="Arial" panose="020B0604020202090204"/>
              <a:cs typeface="Arial" panose="020B0604020202090204" pitchFamily="34" charset="0"/>
            </a:endParaRPr>
          </a:p>
        </p:txBody>
      </p:sp>
      <p:sp>
        <p:nvSpPr>
          <p:cNvPr id="8" name="矩形 7"/>
          <p:cNvSpPr>
            <a:spLocks noGrp="1"/>
          </p:cNvSpPr>
          <p:nvPr/>
        </p:nvSpPr>
        <p:spPr>
          <a:xfrm>
            <a:off x="6667500" y="3028950"/>
            <a:ext cx="4286250" cy="704850"/>
          </a:xfrm>
          <a:prstGeom prst="rect">
            <a:avLst/>
          </a:prstGeom>
          <a:noFill/>
          <a:ln w="0">
            <a:noFill/>
          </a:ln>
        </p:spPr>
        <p:txBody>
          <a:bodyPr wrap="square" lIns="0" tIns="0" rIns="0" bIns="0" anchor="t">
            <a:normAutofit/>
          </a:bodyPr>
          <a:lstStyle/>
          <a:p>
            <a:pPr algn="l">
              <a:lnSpc>
                <a:spcPct val="100000"/>
              </a:lnSpc>
              <a:buNone/>
              <a:defRPr sz="1650" b="0">
                <a:solidFill>
                  <a:srgbClr val="172B3A"/>
                </a:solidFill>
                <a:latin typeface="Arial" panose="020B0604020202090204"/>
                <a:ea typeface="Arial" panose="020B0604020202090204"/>
                <a:cs typeface="Arial" panose="020B0604020202090204"/>
              </a:defRPr>
            </a:pPr>
            <a:endParaRPr lang="zh-CN" altLang="en-US" sz="1650" b="0">
              <a:solidFill>
                <a:srgbClr val="172B3A"/>
              </a:solidFill>
              <a:latin typeface="Arial" panose="020B0604020202090204"/>
              <a:ea typeface="Arial" panose="020B0604020202090204"/>
              <a:cs typeface="Arial" panose="020B0604020202090204"/>
            </a:endParaRPr>
          </a:p>
        </p:txBody>
      </p:sp>
      <p:pic>
        <p:nvPicPr>
          <p:cNvPr id="5" name="图片 4"/>
          <p:cNvPicPr>
            <a:picLocks noChangeAspect="1"/>
          </p:cNvPicPr>
          <p:nvPr/>
        </p:nvPicPr>
        <p:blipFill>
          <a:blip r:embed="rId3"/>
          <a:stretch>
            <a:fillRect/>
          </a:stretch>
        </p:blipFill>
        <p:spPr>
          <a:xfrm>
            <a:off x="623570" y="1208405"/>
            <a:ext cx="5509895" cy="4773930"/>
          </a:xfrm>
          <a:prstGeom prst="rect">
            <a:avLst/>
          </a:prstGeom>
        </p:spPr>
      </p:pic>
      <p:sp>
        <p:nvSpPr>
          <p:cNvPr id="14" name="椭圆 13"/>
          <p:cNvSpPr/>
          <p:nvPr/>
        </p:nvSpPr>
        <p:spPr>
          <a:xfrm>
            <a:off x="839470" y="3068955"/>
            <a:ext cx="1368425" cy="129667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椭圆 14"/>
          <p:cNvSpPr/>
          <p:nvPr/>
        </p:nvSpPr>
        <p:spPr>
          <a:xfrm>
            <a:off x="2711450" y="1700530"/>
            <a:ext cx="1368425" cy="129667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椭圆 15"/>
          <p:cNvSpPr/>
          <p:nvPr/>
        </p:nvSpPr>
        <p:spPr>
          <a:xfrm>
            <a:off x="4655820" y="4580890"/>
            <a:ext cx="1368425" cy="129667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文本框 17"/>
          <p:cNvSpPr txBox="1"/>
          <p:nvPr/>
        </p:nvSpPr>
        <p:spPr>
          <a:xfrm>
            <a:off x="263525" y="6114415"/>
            <a:ext cx="6363970" cy="368300"/>
          </a:xfrm>
          <a:prstGeom prst="rect">
            <a:avLst/>
          </a:prstGeom>
          <a:noFill/>
        </p:spPr>
        <p:txBody>
          <a:bodyPr wrap="square" rtlCol="0">
            <a:spAutoFit/>
          </a:bodyPr>
          <a:lstStyle/>
          <a:p>
            <a:r>
              <a:rPr lang="en-US" altLang="zh-CN"/>
              <a:t>Visualization of Learned Shared and Modality-Specific Subspaces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真实数据：可解释的信息分工能对应到具体模态线索</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1</a:t>
            </a:r>
            <a:r>
              <a:rPr lang="en-US" sz="1125" b="0">
                <a:solidFill>
                  <a:srgbClr val="526573"/>
                </a:solidFill>
                <a:latin typeface="Arial" panose="020B0604020202090204"/>
                <a:ea typeface="Arial" panose="020B0604020202090204"/>
                <a:cs typeface="Arial" panose="020B0604020202090204"/>
              </a:rPr>
              <a:t>3</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pic>
        <p:nvPicPr>
          <p:cNvPr id="17" name="图片 16"/>
          <p:cNvPicPr>
            <a:picLocks noChangeAspect="1"/>
          </p:cNvPicPr>
          <p:nvPr/>
        </p:nvPicPr>
        <p:blipFill>
          <a:blip r:embed="rId3"/>
          <a:srcRect t="9969" r="44478" b="4066"/>
          <a:stretch>
            <a:fillRect/>
          </a:stretch>
        </p:blipFill>
        <p:spPr>
          <a:xfrm>
            <a:off x="839470" y="1196340"/>
            <a:ext cx="5772150" cy="4723765"/>
          </a:xfrm>
          <a:prstGeom prst="rect">
            <a:avLst/>
          </a:prstGeom>
        </p:spPr>
      </p:pic>
      <p:sp>
        <p:nvSpPr>
          <p:cNvPr id="6" name="矩形 5"/>
          <p:cNvSpPr>
            <a:spLocks noGrp="1"/>
          </p:cNvSpPr>
          <p:nvPr/>
        </p:nvSpPr>
        <p:spPr>
          <a:xfrm>
            <a:off x="8458200" y="1524000"/>
            <a:ext cx="2857500" cy="304800"/>
          </a:xfrm>
          <a:prstGeom prst="rect">
            <a:avLst/>
          </a:prstGeom>
          <a:noFill/>
          <a:ln w="0">
            <a:noFill/>
          </a:ln>
        </p:spPr>
        <p:txBody>
          <a:bodyPr wrap="square" lIns="0" tIns="0" rIns="0" bIns="0" anchor="t">
            <a:normAutofit/>
          </a:bodyPr>
          <a:lstStyle/>
          <a:p>
            <a:pPr algn="l">
              <a:lnSpc>
                <a:spcPct val="100000"/>
              </a:lnSpc>
              <a:buNone/>
              <a:defRPr sz="1650" b="1">
                <a:solidFill>
                  <a:srgbClr val="137C8B"/>
                </a:solidFill>
                <a:latin typeface="Arial" panose="020B0604020202090204"/>
                <a:ea typeface="Arial" panose="020B0604020202090204"/>
                <a:cs typeface="Arial" panose="020B0604020202090204"/>
              </a:defRPr>
            </a:pPr>
            <a:r>
              <a:rPr sz="1650" b="1">
                <a:solidFill>
                  <a:srgbClr val="137C8B"/>
                </a:solidFill>
                <a:latin typeface="Arial" panose="020B0604020202090204"/>
                <a:ea typeface="Arial" panose="020B0604020202090204"/>
                <a:cs typeface="Arial" panose="020B0604020202090204"/>
              </a:rPr>
              <a:t>Flickr30K-Multi</a:t>
            </a:r>
          </a:p>
        </p:txBody>
      </p:sp>
      <p:sp>
        <p:nvSpPr>
          <p:cNvPr id="7" name="矩形 6"/>
          <p:cNvSpPr>
            <a:spLocks noGrp="1"/>
          </p:cNvSpPr>
          <p:nvPr/>
        </p:nvSpPr>
        <p:spPr>
          <a:xfrm>
            <a:off x="8458200" y="1952625"/>
            <a:ext cx="2971800" cy="876300"/>
          </a:xfrm>
          <a:prstGeom prst="rect">
            <a:avLst/>
          </a:prstGeom>
          <a:noFill/>
          <a:ln w="0">
            <a:noFill/>
          </a:ln>
        </p:spPr>
        <p:txBody>
          <a:bodyPr wrap="square" lIns="0" tIns="0" rIns="0" bIns="0" anchor="t">
            <a:normAutofit/>
          </a:bodyPr>
          <a:lstStyle/>
          <a:p>
            <a:pPr algn="l">
              <a:lnSpc>
                <a:spcPct val="100000"/>
              </a:lnSpc>
              <a:buNone/>
              <a:defRPr sz="1500" b="0">
                <a:solidFill>
                  <a:srgbClr val="172B3A"/>
                </a:solidFill>
                <a:latin typeface="Arial" panose="020B0604020202090204"/>
                <a:ea typeface="Arial" panose="020B0604020202090204"/>
                <a:cs typeface="Arial" panose="020B0604020202090204"/>
              </a:defRPr>
            </a:pPr>
            <a:r>
              <a:rPr sz="1500" b="0">
                <a:solidFill>
                  <a:srgbClr val="172B3A"/>
                </a:solidFill>
                <a:latin typeface="Arial" panose="020B0604020202090204"/>
                <a:ea typeface="Arial" panose="020B0604020202090204"/>
                <a:cs typeface="Arial" panose="020B0604020202090204"/>
              </a:rPr>
              <a:t>文本特异分量预测语言标签：99.7%</a:t>
            </a:r>
          </a:p>
          <a:p>
            <a:pPr algn="l">
              <a:lnSpc>
                <a:spcPct val="100000"/>
              </a:lnSpc>
              <a:buNone/>
              <a:defRPr sz="1500" b="0">
                <a:solidFill>
                  <a:srgbClr val="172B3A"/>
                </a:solidFill>
                <a:latin typeface="Arial" panose="020B0604020202090204"/>
                <a:ea typeface="Arial" panose="020B0604020202090204"/>
                <a:cs typeface="Arial" panose="020B0604020202090204"/>
              </a:defRPr>
            </a:pPr>
            <a:r>
              <a:rPr sz="1500" b="0">
                <a:solidFill>
                  <a:srgbClr val="172B3A"/>
                </a:solidFill>
                <a:latin typeface="Arial" panose="020B0604020202090204"/>
                <a:ea typeface="Arial" panose="020B0604020202090204"/>
                <a:cs typeface="Arial" panose="020B0604020202090204"/>
              </a:rPr>
              <a:t>共享分量：77.2%</a:t>
            </a:r>
          </a:p>
        </p:txBody>
      </p:sp>
      <p:sp>
        <p:nvSpPr>
          <p:cNvPr id="8" name="矩形 7"/>
          <p:cNvSpPr>
            <a:spLocks noGrp="1"/>
          </p:cNvSpPr>
          <p:nvPr/>
        </p:nvSpPr>
        <p:spPr>
          <a:xfrm>
            <a:off x="8458200" y="3133725"/>
            <a:ext cx="2857500" cy="304800"/>
          </a:xfrm>
          <a:prstGeom prst="rect">
            <a:avLst/>
          </a:prstGeom>
          <a:noFill/>
          <a:ln w="0">
            <a:noFill/>
          </a:ln>
        </p:spPr>
        <p:txBody>
          <a:bodyPr wrap="square" lIns="0" tIns="0" rIns="0" bIns="0" anchor="t">
            <a:normAutofit/>
          </a:bodyPr>
          <a:lstStyle/>
          <a:p>
            <a:pPr algn="l">
              <a:lnSpc>
                <a:spcPct val="100000"/>
              </a:lnSpc>
              <a:buNone/>
              <a:defRPr sz="1650" b="1">
                <a:solidFill>
                  <a:srgbClr val="D78345"/>
                </a:solidFill>
                <a:latin typeface="Arial" panose="020B0604020202090204"/>
                <a:ea typeface="Arial" panose="020B0604020202090204"/>
                <a:cs typeface="Arial" panose="020B0604020202090204"/>
              </a:defRPr>
            </a:pPr>
            <a:r>
              <a:rPr sz="1650" b="1">
                <a:solidFill>
                  <a:srgbClr val="D78345"/>
                </a:solidFill>
                <a:latin typeface="Arial" panose="020B0604020202090204"/>
                <a:ea typeface="Arial" panose="020B0604020202090204"/>
                <a:cs typeface="Arial" panose="020B0604020202090204"/>
              </a:rPr>
              <a:t>CREMA-D</a:t>
            </a:r>
          </a:p>
        </p:txBody>
      </p:sp>
      <p:sp>
        <p:nvSpPr>
          <p:cNvPr id="9" name="矩形 8"/>
          <p:cNvSpPr>
            <a:spLocks noGrp="1"/>
          </p:cNvSpPr>
          <p:nvPr/>
        </p:nvSpPr>
        <p:spPr>
          <a:xfrm>
            <a:off x="8458200" y="3571875"/>
            <a:ext cx="2971800" cy="781050"/>
          </a:xfrm>
          <a:prstGeom prst="rect">
            <a:avLst/>
          </a:prstGeom>
          <a:noFill/>
          <a:ln w="0">
            <a:noFill/>
          </a:ln>
        </p:spPr>
        <p:txBody>
          <a:bodyPr wrap="square" lIns="0" tIns="0" rIns="0" bIns="0" anchor="t">
            <a:normAutofit/>
          </a:bodyPr>
          <a:lstStyle/>
          <a:p>
            <a:pPr algn="l">
              <a:lnSpc>
                <a:spcPct val="100000"/>
              </a:lnSpc>
              <a:buNone/>
              <a:defRPr sz="1500" b="0">
                <a:solidFill>
                  <a:srgbClr val="172B3A"/>
                </a:solidFill>
                <a:latin typeface="Arial" panose="020B0604020202090204"/>
                <a:ea typeface="Arial" panose="020B0604020202090204"/>
                <a:cs typeface="Arial" panose="020B0604020202090204"/>
              </a:defRPr>
            </a:pPr>
            <a:r>
              <a:rPr sz="1500" b="0">
                <a:solidFill>
                  <a:srgbClr val="172B3A"/>
                </a:solidFill>
                <a:latin typeface="Arial" panose="020B0604020202090204"/>
                <a:ea typeface="Arial" panose="020B0604020202090204"/>
                <a:cs typeface="Arial" panose="020B0604020202090204"/>
              </a:rPr>
              <a:t>视频 / 音频私有分量分别捕获年龄、语句身份等线索。</a:t>
            </a:r>
          </a:p>
        </p:txBody>
      </p:sp>
      <p:sp>
        <p:nvSpPr>
          <p:cNvPr id="10" name="矩形 9"/>
          <p:cNvSpPr>
            <a:spLocks noGrp="1"/>
          </p:cNvSpPr>
          <p:nvPr/>
        </p:nvSpPr>
        <p:spPr>
          <a:xfrm>
            <a:off x="7465695" y="4653915"/>
            <a:ext cx="3964305" cy="1738630"/>
          </a:xfrm>
          <a:prstGeom prst="rect">
            <a:avLst/>
          </a:prstGeom>
          <a:solidFill>
            <a:srgbClr val="EEF3F6"/>
          </a:solidFill>
          <a:ln w="0">
            <a:noFill/>
            <a:prstDash val="solid"/>
          </a:ln>
        </p:spPr>
      </p:sp>
      <p:sp>
        <p:nvSpPr>
          <p:cNvPr id="11" name="矩形 10"/>
          <p:cNvSpPr>
            <a:spLocks noGrp="1"/>
          </p:cNvSpPr>
          <p:nvPr/>
        </p:nvSpPr>
        <p:spPr>
          <a:xfrm>
            <a:off x="7680325" y="4796790"/>
            <a:ext cx="3644900" cy="533400"/>
          </a:xfrm>
          <a:prstGeom prst="rect">
            <a:avLst/>
          </a:prstGeom>
          <a:noFill/>
          <a:ln w="0">
            <a:noFill/>
          </a:ln>
        </p:spPr>
        <p:txBody>
          <a:bodyPr wrap="square" lIns="0" tIns="0" rIns="0" bIns="0" anchor="t"/>
          <a:lstStyle/>
          <a:p>
            <a:pPr algn="l">
              <a:lnSpc>
                <a:spcPct val="100000"/>
              </a:lnSpc>
              <a:buNone/>
              <a:defRPr sz="1200" b="0">
                <a:solidFill>
                  <a:srgbClr val="172B3A"/>
                </a:solidFill>
                <a:latin typeface="Arial" panose="020B0604020202090204"/>
                <a:ea typeface="Arial" panose="020B0604020202090204"/>
                <a:cs typeface="Arial" panose="020B0604020202090204"/>
              </a:defRPr>
            </a:pPr>
            <a:r>
              <a:rPr lang="zh-CN" altLang="en-US" sz="1600" b="0">
                <a:solidFill>
                  <a:srgbClr val="172B3A"/>
                </a:solidFill>
                <a:latin typeface="Arial" panose="020B0604020202090204"/>
                <a:ea typeface="Arial" panose="020B0604020202090204"/>
                <a:cs typeface="Arial" panose="020B0604020202090204"/>
              </a:rPr>
              <a:t>在 </a:t>
            </a:r>
            <a:r>
              <a:rPr lang="en-US" altLang="zh-CN" sz="1600" b="0">
                <a:solidFill>
                  <a:srgbClr val="172B3A"/>
                </a:solidFill>
                <a:latin typeface="Arial" panose="020B0604020202090204"/>
                <a:ea typeface="Arial" panose="020B0604020202090204"/>
                <a:cs typeface="Arial" panose="020B0604020202090204"/>
              </a:rPr>
              <a:t>Crema-D </a:t>
            </a:r>
            <a:r>
              <a:rPr lang="zh-CN" altLang="en-US" sz="1600" b="0">
                <a:solidFill>
                  <a:srgbClr val="172B3A"/>
                </a:solidFill>
                <a:latin typeface="Arial" panose="020B0604020202090204"/>
                <a:ea typeface="Arial" panose="020B0604020202090204"/>
                <a:cs typeface="Arial" panose="020B0604020202090204"/>
              </a:rPr>
              <a:t>和 </a:t>
            </a:r>
            <a:r>
              <a:rPr lang="en-US" altLang="zh-CN" sz="1600" b="0">
                <a:solidFill>
                  <a:srgbClr val="172B3A"/>
                </a:solidFill>
                <a:latin typeface="Arial" panose="020B0604020202090204"/>
                <a:ea typeface="Arial" panose="020B0604020202090204"/>
                <a:cs typeface="Arial" panose="020B0604020202090204"/>
              </a:rPr>
              <a:t>Flickr30K </a:t>
            </a:r>
            <a:r>
              <a:rPr lang="zh-CN" altLang="en-US" sz="1600" b="0">
                <a:solidFill>
                  <a:srgbClr val="172B3A"/>
                </a:solidFill>
                <a:latin typeface="Arial" panose="020B0604020202090204"/>
                <a:ea typeface="Arial" panose="020B0604020202090204"/>
                <a:cs typeface="Arial" panose="020B0604020202090204"/>
              </a:rPr>
              <a:t>上观察不同属性在各子空间中的分布</a:t>
            </a:r>
          </a:p>
          <a:p>
            <a:pPr algn="l">
              <a:lnSpc>
                <a:spcPct val="100000"/>
              </a:lnSpc>
              <a:buNone/>
              <a:defRPr sz="1200" b="0">
                <a:solidFill>
                  <a:srgbClr val="172B3A"/>
                </a:solidFill>
                <a:latin typeface="Arial" panose="020B0604020202090204"/>
                <a:ea typeface="Arial" panose="020B0604020202090204"/>
                <a:cs typeface="Arial" panose="020B0604020202090204"/>
              </a:defRPr>
            </a:pPr>
            <a:r>
              <a:rPr lang="zh-CN" altLang="en-US" sz="1600" b="0">
                <a:solidFill>
                  <a:srgbClr val="172B3A"/>
                </a:solidFill>
                <a:latin typeface="Arial" panose="020B0604020202090204"/>
                <a:ea typeface="Arial" panose="020B0604020202090204"/>
                <a:cs typeface="Arial" panose="020B0604020202090204"/>
              </a:rPr>
              <a:t>与模态相关的信息主要集中在对应 </a:t>
            </a:r>
            <a:r>
              <a:rPr lang="en-US" altLang="zh-CN" sz="1600" b="0">
                <a:solidFill>
                  <a:srgbClr val="172B3A"/>
                </a:solidFill>
                <a:latin typeface="Arial" panose="020B0604020202090204"/>
                <a:ea typeface="Arial" panose="020B0604020202090204"/>
                <a:cs typeface="Arial" panose="020B0604020202090204"/>
              </a:rPr>
              <a:t>modality-specific subspace</a:t>
            </a:r>
          </a:p>
          <a:p>
            <a:pPr algn="l">
              <a:lnSpc>
                <a:spcPct val="100000"/>
              </a:lnSpc>
              <a:buNone/>
              <a:defRPr sz="1200" b="0">
                <a:solidFill>
                  <a:srgbClr val="172B3A"/>
                </a:solidFill>
                <a:latin typeface="Arial" panose="020B0604020202090204"/>
                <a:ea typeface="Arial" panose="020B0604020202090204"/>
                <a:cs typeface="Arial" panose="020B0604020202090204"/>
              </a:defRPr>
            </a:pPr>
            <a:r>
              <a:rPr lang="en-US" altLang="zh-CN" sz="1600" b="0">
                <a:solidFill>
                  <a:srgbClr val="172B3A"/>
                </a:solidFill>
                <a:latin typeface="Arial" panose="020B0604020202090204"/>
                <a:ea typeface="Arial" panose="020B0604020202090204"/>
                <a:cs typeface="Arial" panose="020B0604020202090204"/>
              </a:rPr>
              <a:t>shared subspace </a:t>
            </a:r>
            <a:r>
              <a:rPr lang="zh-CN" altLang="en-US" sz="1600" b="0">
                <a:solidFill>
                  <a:srgbClr val="172B3A"/>
                </a:solidFill>
                <a:latin typeface="Arial" panose="020B0604020202090204"/>
                <a:ea typeface="Arial" panose="020B0604020202090204"/>
                <a:cs typeface="Arial" panose="020B0604020202090204"/>
              </a:rPr>
              <a:t>对不相关的 </a:t>
            </a:r>
            <a:r>
              <a:rPr lang="en-US" altLang="zh-CN" sz="1600" b="0">
                <a:solidFill>
                  <a:srgbClr val="172B3A"/>
                </a:solidFill>
                <a:latin typeface="Arial" panose="020B0604020202090204"/>
                <a:ea typeface="Arial" panose="020B0604020202090204"/>
                <a:cs typeface="Arial" panose="020B0604020202090204"/>
              </a:rPr>
              <a:t>modality-specific </a:t>
            </a:r>
            <a:r>
              <a:rPr lang="zh-CN" altLang="en-US" sz="1600" b="0">
                <a:solidFill>
                  <a:srgbClr val="172B3A"/>
                </a:solidFill>
                <a:latin typeface="Arial" panose="020B0604020202090204"/>
                <a:ea typeface="Arial" panose="020B0604020202090204"/>
                <a:cs typeface="Arial" panose="020B0604020202090204"/>
              </a:rPr>
              <a:t>属性更弱</a:t>
            </a:r>
          </a:p>
        </p:txBody>
      </p:sp>
      <p:sp>
        <p:nvSpPr>
          <p:cNvPr id="5" name="文本框 4"/>
          <p:cNvSpPr txBox="1"/>
          <p:nvPr/>
        </p:nvSpPr>
        <p:spPr>
          <a:xfrm>
            <a:off x="839470" y="6040120"/>
            <a:ext cx="5919470" cy="389890"/>
          </a:xfrm>
          <a:prstGeom prst="rect">
            <a:avLst/>
          </a:prstGeom>
          <a:noFill/>
        </p:spPr>
        <p:txBody>
          <a:bodyPr wrap="square" rtlCol="0">
            <a:noAutofit/>
          </a:bodyPr>
          <a:lstStyle/>
          <a:p>
            <a:pPr algn="ctr"/>
            <a:r>
              <a:rPr lang="en-US" altLang="zh-CN"/>
              <a:t>PCA Visualization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真实数据：可解释的信息分工能对应到具体模态线索</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1</a:t>
            </a:r>
            <a:r>
              <a:rPr lang="en-US" sz="1125" b="0">
                <a:solidFill>
                  <a:srgbClr val="526573"/>
                </a:solidFill>
                <a:latin typeface="Arial" panose="020B0604020202090204"/>
                <a:ea typeface="Arial" panose="020B0604020202090204"/>
                <a:cs typeface="Arial" panose="020B0604020202090204"/>
              </a:rPr>
              <a:t>4</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pic>
        <p:nvPicPr>
          <p:cNvPr id="17" name="图片 16"/>
          <p:cNvPicPr>
            <a:picLocks noChangeAspect="1"/>
          </p:cNvPicPr>
          <p:nvPr/>
        </p:nvPicPr>
        <p:blipFill>
          <a:blip r:embed="rId3"/>
          <a:srcRect l="56414" t="9969" b="4066"/>
          <a:stretch>
            <a:fillRect/>
          </a:stretch>
        </p:blipFill>
        <p:spPr>
          <a:xfrm>
            <a:off x="1631950" y="1412240"/>
            <a:ext cx="3897630" cy="4063365"/>
          </a:xfrm>
          <a:prstGeom prst="rect">
            <a:avLst/>
          </a:prstGeom>
        </p:spPr>
      </p:pic>
      <p:sp>
        <p:nvSpPr>
          <p:cNvPr id="10" name="矩形 9"/>
          <p:cNvSpPr>
            <a:spLocks noGrp="1"/>
          </p:cNvSpPr>
          <p:nvPr/>
        </p:nvSpPr>
        <p:spPr>
          <a:xfrm>
            <a:off x="6823710" y="4580890"/>
            <a:ext cx="3948430" cy="1283970"/>
          </a:xfrm>
          <a:prstGeom prst="rect">
            <a:avLst/>
          </a:prstGeom>
          <a:solidFill>
            <a:srgbClr val="EEF3F6"/>
          </a:solidFill>
          <a:ln w="0">
            <a:noFill/>
            <a:prstDash val="solid"/>
          </a:ln>
        </p:spPr>
      </p:sp>
      <p:sp>
        <p:nvSpPr>
          <p:cNvPr id="11" name="矩形 10"/>
          <p:cNvSpPr>
            <a:spLocks noGrp="1"/>
          </p:cNvSpPr>
          <p:nvPr/>
        </p:nvSpPr>
        <p:spPr>
          <a:xfrm>
            <a:off x="6978015" y="4725035"/>
            <a:ext cx="3677920" cy="533400"/>
          </a:xfrm>
          <a:prstGeom prst="rect">
            <a:avLst/>
          </a:prstGeom>
          <a:noFill/>
          <a:ln w="0">
            <a:noFill/>
          </a:ln>
        </p:spPr>
        <p:txBody>
          <a:bodyPr wrap="square" lIns="0" tIns="0" rIns="0" bIns="0" anchor="t"/>
          <a:lstStyle/>
          <a:p>
            <a:pPr algn="l">
              <a:lnSpc>
                <a:spcPct val="100000"/>
              </a:lnSpc>
              <a:buNone/>
              <a:defRPr sz="1200" b="0">
                <a:solidFill>
                  <a:srgbClr val="172B3A"/>
                </a:solidFill>
                <a:latin typeface="Arial" panose="020B0604020202090204"/>
                <a:ea typeface="Arial" panose="020B0604020202090204"/>
                <a:cs typeface="Arial" panose="020B0604020202090204"/>
              </a:defRPr>
            </a:pPr>
            <a:r>
              <a:rPr lang="en-US" altLang="zh-CN" sz="1600" b="0">
                <a:solidFill>
                  <a:srgbClr val="172B3A"/>
                </a:solidFill>
                <a:latin typeface="Arial" panose="020B0604020202090204"/>
                <a:ea typeface="Arial" panose="020B0604020202090204"/>
                <a:cs typeface="Arial" panose="020B0604020202090204"/>
              </a:rPr>
              <a:t>shared space </a:t>
            </a:r>
            <a:r>
              <a:rPr lang="zh-CN" altLang="en-US" sz="1600" b="0">
                <a:solidFill>
                  <a:srgbClr val="172B3A"/>
                </a:solidFill>
                <a:latin typeface="Arial" panose="020B0604020202090204"/>
                <a:ea typeface="Arial" panose="020B0604020202090204"/>
                <a:cs typeface="Arial" panose="020B0604020202090204"/>
              </a:rPr>
              <a:t>更倾向找到“人在切割/处理材料”这类语义相近样本；</a:t>
            </a:r>
            <a:r>
              <a:rPr lang="en-US" altLang="zh-CN" sz="1600" b="0">
                <a:solidFill>
                  <a:srgbClr val="172B3A"/>
                </a:solidFill>
                <a:latin typeface="Arial" panose="020B0604020202090204"/>
                <a:ea typeface="Arial" panose="020B0604020202090204"/>
                <a:cs typeface="Arial" panose="020B0604020202090204"/>
              </a:rPr>
              <a:t>image-specific space </a:t>
            </a:r>
            <a:r>
              <a:rPr lang="zh-CN" altLang="en-US" sz="1600" b="0">
                <a:solidFill>
                  <a:srgbClr val="172B3A"/>
                </a:solidFill>
                <a:latin typeface="Arial" panose="020B0604020202090204"/>
                <a:ea typeface="Arial" panose="020B0604020202090204"/>
                <a:cs typeface="Arial" panose="020B0604020202090204"/>
              </a:rPr>
              <a:t>更容易找到“木头、树木、视觉纹理”等相似内容</a:t>
            </a:r>
          </a:p>
        </p:txBody>
      </p:sp>
      <p:sp>
        <p:nvSpPr>
          <p:cNvPr id="5" name="文本框 4"/>
          <p:cNvSpPr txBox="1"/>
          <p:nvPr/>
        </p:nvSpPr>
        <p:spPr>
          <a:xfrm>
            <a:off x="377825" y="5516880"/>
            <a:ext cx="6405880" cy="368300"/>
          </a:xfrm>
          <a:prstGeom prst="rect">
            <a:avLst/>
          </a:prstGeom>
          <a:noFill/>
        </p:spPr>
        <p:txBody>
          <a:bodyPr wrap="square" rtlCol="0">
            <a:spAutoFit/>
          </a:bodyPr>
          <a:lstStyle/>
          <a:p>
            <a:pPr algn="ctr"/>
            <a:r>
              <a:rPr lang="en-US" altLang="zh-CN"/>
              <a:t>Nearest-Neighbor Retrieval</a:t>
            </a:r>
          </a:p>
        </p:txBody>
      </p:sp>
      <p:sp>
        <p:nvSpPr>
          <p:cNvPr id="3" name="文本框 2"/>
          <p:cNvSpPr txBox="1"/>
          <p:nvPr/>
        </p:nvSpPr>
        <p:spPr>
          <a:xfrm>
            <a:off x="6167755" y="1806575"/>
            <a:ext cx="5444490" cy="1753235"/>
          </a:xfrm>
          <a:prstGeom prst="rect">
            <a:avLst/>
          </a:prstGeom>
          <a:noFill/>
        </p:spPr>
        <p:txBody>
          <a:bodyPr wrap="square" rtlCol="0">
            <a:spAutoFit/>
          </a:bodyPr>
          <a:lstStyle/>
          <a:p>
            <a:pPr marL="285750" indent="-285750">
              <a:lnSpc>
                <a:spcPct val="150000"/>
              </a:lnSpc>
              <a:buFont typeface="Arial" panose="020B0604020202090204" pitchFamily="34" charset="0"/>
              <a:buChar char="•"/>
            </a:pPr>
            <a:r>
              <a:rPr lang="en-US" altLang="zh-CN"/>
              <a:t>Shared space：</a:t>
            </a:r>
            <a:r>
              <a:rPr lang="zh-CN" altLang="en-US"/>
              <a:t>检索到高层语义相似的样本</a:t>
            </a:r>
          </a:p>
          <a:p>
            <a:pPr marL="285750" indent="-285750">
              <a:lnSpc>
                <a:spcPct val="150000"/>
              </a:lnSpc>
              <a:buFont typeface="Arial" panose="020B0604020202090204" pitchFamily="34" charset="0"/>
              <a:buChar char="•"/>
            </a:pPr>
            <a:r>
              <a:rPr lang="en-US" altLang="zh-CN"/>
              <a:t>Image-specific space：</a:t>
            </a:r>
            <a:r>
              <a:rPr lang="zh-CN" altLang="en-US"/>
              <a:t>检索到视觉细节相似的样本</a:t>
            </a:r>
          </a:p>
          <a:p>
            <a:pPr marL="285750" indent="-285750">
              <a:lnSpc>
                <a:spcPct val="150000"/>
              </a:lnSpc>
              <a:buFont typeface="Arial" panose="020B0604020202090204" pitchFamily="34" charset="0"/>
              <a:buChar char="•"/>
            </a:pPr>
            <a:r>
              <a:rPr lang="zh-CN" altLang="en-US"/>
              <a:t>说明 </a:t>
            </a:r>
            <a:r>
              <a:rPr lang="en-US" altLang="zh-CN"/>
              <a:t>shared space </a:t>
            </a:r>
            <a:r>
              <a:rPr lang="zh-CN" altLang="en-US"/>
              <a:t>学到“跨模态共同语义”</a:t>
            </a:r>
          </a:p>
          <a:p>
            <a:pPr marL="285750" indent="-285750">
              <a:lnSpc>
                <a:spcPct val="150000"/>
              </a:lnSpc>
              <a:buFont typeface="Arial" panose="020B0604020202090204" pitchFamily="34" charset="0"/>
              <a:buChar char="•"/>
            </a:pPr>
            <a:r>
              <a:rPr lang="en-US" altLang="zh-CN"/>
              <a:t>specific space </a:t>
            </a:r>
            <a:r>
              <a:rPr lang="zh-CN" altLang="en-US"/>
              <a:t>学到“单模态特有细节”</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下游预测：简单拼接微调表示，在四组任务中均领先或持平</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3" name="矩形 2"/>
          <p:cNvSpPr>
            <a:spLocks noGrp="1"/>
          </p:cNvSpPr>
          <p:nvPr/>
        </p:nvSpPr>
        <p:spPr>
          <a:xfrm>
            <a:off x="685800" y="6438900"/>
            <a:ext cx="7620000" cy="209550"/>
          </a:xfrm>
          <a:prstGeom prst="rect">
            <a:avLst/>
          </a:prstGeom>
          <a:noFill/>
          <a:ln w="0">
            <a:noFill/>
          </a:ln>
        </p:spPr>
        <p:txBody>
          <a:bodyPr wrap="square" lIns="0" tIns="0" rIns="0" bIns="0" anchor="t">
            <a:normAutofit/>
          </a:bodyPr>
          <a:lstStyle/>
          <a:p>
            <a:pPr algn="l">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5 论文如何论证有效性</a:t>
            </a:r>
          </a:p>
        </p:txBody>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1</a:t>
            </a:r>
            <a:r>
              <a:rPr lang="en-US" sz="1125" b="0">
                <a:solidFill>
                  <a:srgbClr val="526573"/>
                </a:solidFill>
                <a:latin typeface="Arial" panose="020B0604020202090204"/>
                <a:ea typeface="Arial" panose="020B0604020202090204"/>
                <a:cs typeface="Arial" panose="020B0604020202090204"/>
              </a:rPr>
              <a:t>5</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sp>
        <p:nvSpPr>
          <p:cNvPr id="5" name="矩形 4"/>
          <p:cNvSpPr>
            <a:spLocks noGrp="1"/>
          </p:cNvSpPr>
          <p:nvPr/>
        </p:nvSpPr>
        <p:spPr>
          <a:xfrm>
            <a:off x="1703705" y="1268730"/>
            <a:ext cx="10287000" cy="342900"/>
          </a:xfrm>
          <a:prstGeom prst="rect">
            <a:avLst/>
          </a:prstGeom>
          <a:noFill/>
          <a:ln w="0">
            <a:noFill/>
          </a:ln>
        </p:spPr>
        <p:txBody>
          <a:bodyPr wrap="square" lIns="0" tIns="0" rIns="0" bIns="0" anchor="t">
            <a:normAutofit/>
          </a:bodyPr>
          <a:lstStyle/>
          <a:p>
            <a:pPr algn="l">
              <a:lnSpc>
                <a:spcPct val="100000"/>
              </a:lnSpc>
              <a:buNone/>
              <a:defRPr sz="1425" b="0">
                <a:solidFill>
                  <a:srgbClr val="526573"/>
                </a:solidFill>
                <a:latin typeface="Arial" panose="020B0604020202090204"/>
                <a:ea typeface="Arial" panose="020B0604020202090204"/>
                <a:cs typeface="Arial" panose="020B0604020202090204"/>
              </a:defRPr>
            </a:pPr>
            <a:r>
              <a:rPr lang="zh-CN" altLang="en-US" sz="1800" b="0">
                <a:solidFill>
                  <a:srgbClr val="526573"/>
                </a:solidFill>
                <a:latin typeface="Arial" panose="020B0604020202090204"/>
                <a:ea typeface="Arial" panose="020B0604020202090204"/>
                <a:cs typeface="Arial" panose="020B0604020202090204"/>
              </a:rPr>
              <a:t>串联微调后的表示</a:t>
            </a:r>
            <a:r>
              <a:rPr lang="en-US" altLang="zh-CN" sz="1800" b="0">
                <a:solidFill>
                  <a:srgbClr val="526573"/>
                </a:solidFill>
                <a:latin typeface="Arial" panose="020B0604020202090204"/>
                <a:ea typeface="Arial" panose="020B0604020202090204"/>
                <a:cs typeface="Arial" panose="020B0604020202090204"/>
              </a:rPr>
              <a:t>Φ 1</a:t>
            </a:r>
            <a:r>
              <a:rPr lang="zh-CN" altLang="en-US" sz="1800" b="0">
                <a:solidFill>
                  <a:srgbClr val="526573"/>
                </a:solidFill>
                <a:latin typeface="Arial" panose="020B0604020202090204"/>
                <a:ea typeface="Arial" panose="020B0604020202090204"/>
                <a:cs typeface="Arial" panose="020B0604020202090204"/>
              </a:rPr>
              <a:t>和</a:t>
            </a:r>
            <a:r>
              <a:rPr lang="en-US" altLang="zh-CN" sz="1800" b="0">
                <a:solidFill>
                  <a:srgbClr val="526573"/>
                </a:solidFill>
                <a:latin typeface="Arial" panose="020B0604020202090204"/>
                <a:ea typeface="Arial" panose="020B0604020202090204"/>
                <a:cs typeface="Arial" panose="020B0604020202090204"/>
              </a:rPr>
              <a:t>Φ 2</a:t>
            </a:r>
            <a:r>
              <a:rPr lang="zh-CN" altLang="en-US" sz="1800" b="0">
                <a:solidFill>
                  <a:srgbClr val="526573"/>
                </a:solidFill>
                <a:latin typeface="Arial" panose="020B0604020202090204"/>
                <a:ea typeface="Arial" panose="020B0604020202090204"/>
                <a:cs typeface="Arial" panose="020B0604020202090204"/>
              </a:rPr>
              <a:t>并训练一个轻量级逻辑回归器一致优于一系列基线。</a:t>
            </a:r>
          </a:p>
        </p:txBody>
      </p:sp>
      <p:sp>
        <p:nvSpPr>
          <p:cNvPr id="7" name="矩形 6"/>
          <p:cNvSpPr>
            <a:spLocks noGrp="1"/>
          </p:cNvSpPr>
          <p:nvPr/>
        </p:nvSpPr>
        <p:spPr>
          <a:xfrm>
            <a:off x="685800" y="5372735"/>
            <a:ext cx="10820400" cy="647700"/>
          </a:xfrm>
          <a:prstGeom prst="rect">
            <a:avLst/>
          </a:prstGeom>
          <a:solidFill>
            <a:srgbClr val="D9EEF0"/>
          </a:solidFill>
          <a:ln w="0">
            <a:noFill/>
            <a:prstDash val="solid"/>
          </a:ln>
        </p:spPr>
      </p:sp>
      <p:sp>
        <p:nvSpPr>
          <p:cNvPr id="8" name="矩形 7"/>
          <p:cNvSpPr>
            <a:spLocks noGrp="1"/>
          </p:cNvSpPr>
          <p:nvPr/>
        </p:nvSpPr>
        <p:spPr>
          <a:xfrm>
            <a:off x="911860" y="5534660"/>
            <a:ext cx="10334625" cy="323850"/>
          </a:xfrm>
          <a:prstGeom prst="rect">
            <a:avLst/>
          </a:prstGeom>
          <a:noFill/>
          <a:ln w="0">
            <a:noFill/>
          </a:ln>
        </p:spPr>
        <p:txBody>
          <a:bodyPr wrap="square" lIns="0" tIns="0" rIns="0" bIns="0" anchor="t">
            <a:normAutofit/>
          </a:bodyPr>
          <a:lstStyle/>
          <a:p>
            <a:pPr algn="l">
              <a:lnSpc>
                <a:spcPct val="100000"/>
              </a:lnSpc>
              <a:buNone/>
              <a:defRPr sz="1575" b="1">
                <a:solidFill>
                  <a:srgbClr val="172B3A"/>
                </a:solidFill>
                <a:latin typeface="Arial" panose="020B0604020202090204"/>
                <a:ea typeface="Arial" panose="020B0604020202090204"/>
                <a:cs typeface="Arial" panose="020B0604020202090204"/>
              </a:defRPr>
            </a:pPr>
            <a:r>
              <a:rPr sz="1575" b="1">
                <a:solidFill>
                  <a:srgbClr val="172B3A"/>
                </a:solidFill>
                <a:latin typeface="Arial" panose="020B0604020202090204"/>
                <a:ea typeface="Arial" panose="020B0604020202090204"/>
                <a:cs typeface="Arial" panose="020B0604020202090204"/>
              </a:rPr>
              <a:t>提升幅度因任务而异；真实数据上的优势较小，UR-FUNNY raw-video 结果与 Cross-attention 接近。</a:t>
            </a:r>
          </a:p>
        </p:txBody>
      </p:sp>
      <p:pic>
        <p:nvPicPr>
          <p:cNvPr id="6" name="图片 5"/>
          <p:cNvPicPr>
            <a:picLocks noChangeAspect="1"/>
          </p:cNvPicPr>
          <p:nvPr/>
        </p:nvPicPr>
        <p:blipFill>
          <a:blip r:embed="rId3"/>
          <a:stretch>
            <a:fillRect/>
          </a:stretch>
        </p:blipFill>
        <p:spPr>
          <a:xfrm>
            <a:off x="1559560" y="1755140"/>
            <a:ext cx="9019540" cy="3474085"/>
          </a:xfrm>
          <a:prstGeom prst="rect">
            <a:avLst/>
          </a:prstGeom>
        </p:spPr>
      </p:pic>
      <p:sp>
        <p:nvSpPr>
          <p:cNvPr id="9" name="文本框 8"/>
          <p:cNvSpPr txBox="1"/>
          <p:nvPr/>
        </p:nvSpPr>
        <p:spPr>
          <a:xfrm>
            <a:off x="839470" y="4231005"/>
            <a:ext cx="1341120" cy="161925"/>
          </a:xfrm>
          <a:prstGeom prst="rect">
            <a:avLst/>
          </a:prstGeom>
          <a:noFill/>
        </p:spPr>
        <p:txBody>
          <a:bodyPr wrap="square" rtlCol="0">
            <a:noAutofit/>
          </a:bodyPr>
          <a:lstStyle/>
          <a:p>
            <a:r>
              <a:rPr lang="en-US" altLang="zh-CN" sz="1400">
                <a:solidFill>
                  <a:srgbClr val="FF0000"/>
                </a:solidFill>
              </a:rPr>
              <a:t>Multiplicative Interactions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lang="zh-CN" sz="2700" b="1">
                <a:solidFill>
                  <a:srgbClr val="172B3A"/>
                </a:solidFill>
                <a:latin typeface="Arial" panose="020B0604020202090204"/>
                <a:ea typeface="宋体" pitchFamily="2" charset="-122"/>
                <a:cs typeface="Arial" panose="020B0604020202090204"/>
              </a:rPr>
              <a:t>消融实验：</a:t>
            </a:r>
            <a:r>
              <a:rPr sz="2700" b="1">
                <a:solidFill>
                  <a:srgbClr val="172B3A"/>
                </a:solidFill>
                <a:latin typeface="Arial" panose="020B0604020202090204"/>
                <a:ea typeface="Arial" panose="020B0604020202090204"/>
                <a:cs typeface="Arial" panose="020B0604020202090204"/>
              </a:rPr>
              <a:t>缺失模态</a:t>
            </a:r>
            <a:r>
              <a:rPr lang="zh-CN" sz="2700" b="1">
                <a:solidFill>
                  <a:srgbClr val="172B3A"/>
                </a:solidFill>
                <a:latin typeface="Arial" panose="020B0604020202090204"/>
                <a:ea typeface="宋体" pitchFamily="2" charset="-122"/>
                <a:cs typeface="Arial" panose="020B0604020202090204"/>
              </a:rPr>
              <a:t>时</a:t>
            </a:r>
            <a:r>
              <a:rPr sz="2700" b="1">
                <a:solidFill>
                  <a:srgbClr val="172B3A"/>
                </a:solidFill>
                <a:latin typeface="Arial" panose="020B0604020202090204"/>
                <a:ea typeface="Arial" panose="020B0604020202090204"/>
                <a:cs typeface="Arial" panose="020B0604020202090204"/>
              </a:rPr>
              <a:t>剩余模态的微调表示仍携带跨模态信息</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3" name="矩形 2"/>
          <p:cNvSpPr>
            <a:spLocks noGrp="1"/>
          </p:cNvSpPr>
          <p:nvPr/>
        </p:nvSpPr>
        <p:spPr>
          <a:xfrm>
            <a:off x="685800" y="6438900"/>
            <a:ext cx="7620000" cy="209550"/>
          </a:xfrm>
          <a:prstGeom prst="rect">
            <a:avLst/>
          </a:prstGeom>
          <a:noFill/>
          <a:ln w="0">
            <a:noFill/>
          </a:ln>
        </p:spPr>
        <p:txBody>
          <a:bodyPr wrap="square" lIns="0" tIns="0" rIns="0" bIns="0" anchor="t">
            <a:normAutofit/>
          </a:bodyPr>
          <a:lstStyle/>
          <a:p>
            <a:pPr algn="l">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5 论文如何论证有效性</a:t>
            </a:r>
          </a:p>
        </p:txBody>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1</a:t>
            </a:r>
            <a:r>
              <a:rPr lang="en-US" sz="1125" b="0">
                <a:solidFill>
                  <a:srgbClr val="526573"/>
                </a:solidFill>
                <a:latin typeface="Arial" panose="020B0604020202090204"/>
                <a:ea typeface="Arial" panose="020B0604020202090204"/>
                <a:cs typeface="Arial" panose="020B0604020202090204"/>
              </a:rPr>
              <a:t>6</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sp>
        <p:nvSpPr>
          <p:cNvPr id="6" name="矩形 5"/>
          <p:cNvSpPr>
            <a:spLocks noGrp="1"/>
          </p:cNvSpPr>
          <p:nvPr/>
        </p:nvSpPr>
        <p:spPr>
          <a:xfrm>
            <a:off x="7191375" y="1609725"/>
            <a:ext cx="3714750" cy="361950"/>
          </a:xfrm>
          <a:prstGeom prst="rect">
            <a:avLst/>
          </a:prstGeom>
          <a:noFill/>
          <a:ln w="0">
            <a:noFill/>
          </a:ln>
        </p:spPr>
        <p:txBody>
          <a:bodyPr wrap="square" lIns="0" tIns="0" rIns="0" bIns="0" anchor="t">
            <a:normAutofit/>
          </a:bodyPr>
          <a:lstStyle/>
          <a:p>
            <a:pPr algn="l">
              <a:lnSpc>
                <a:spcPct val="100000"/>
              </a:lnSpc>
              <a:buNone/>
              <a:defRPr sz="1725" b="1">
                <a:solidFill>
                  <a:srgbClr val="137C8B"/>
                </a:solidFill>
                <a:latin typeface="Arial" panose="020B0604020202090204"/>
                <a:ea typeface="Arial" panose="020B0604020202090204"/>
                <a:cs typeface="Arial" panose="020B0604020202090204"/>
              </a:defRPr>
            </a:pPr>
            <a:r>
              <a:rPr sz="1725" b="1">
                <a:solidFill>
                  <a:srgbClr val="137C8B"/>
                </a:solidFill>
                <a:latin typeface="Arial" panose="020B0604020202090204"/>
                <a:ea typeface="Arial" panose="020B0604020202090204"/>
                <a:cs typeface="Arial" panose="020B0604020202090204"/>
              </a:rPr>
              <a:t>实验对照</a:t>
            </a:r>
          </a:p>
        </p:txBody>
      </p:sp>
      <p:sp>
        <p:nvSpPr>
          <p:cNvPr id="7" name="矩形 6"/>
          <p:cNvSpPr>
            <a:spLocks noGrp="1"/>
          </p:cNvSpPr>
          <p:nvPr/>
        </p:nvSpPr>
        <p:spPr>
          <a:xfrm>
            <a:off x="7191375" y="2114550"/>
            <a:ext cx="4000500" cy="666750"/>
          </a:xfrm>
          <a:prstGeom prst="rect">
            <a:avLst/>
          </a:prstGeom>
          <a:noFill/>
          <a:ln w="0">
            <a:noFill/>
          </a:ln>
        </p:spPr>
        <p:txBody>
          <a:bodyPr wrap="square" lIns="0" tIns="0" rIns="0" bIns="0" anchor="t">
            <a:normAutofit/>
          </a:bodyPr>
          <a:lstStyle/>
          <a:p>
            <a:pPr algn="l">
              <a:lnSpc>
                <a:spcPct val="100000"/>
              </a:lnSpc>
              <a:buNone/>
              <a:defRPr sz="1725" b="1">
                <a:solidFill>
                  <a:srgbClr val="172B3A"/>
                </a:solidFill>
                <a:latin typeface="Arial" panose="020B0604020202090204"/>
                <a:ea typeface="Arial" panose="020B0604020202090204"/>
                <a:cs typeface="Arial" panose="020B0604020202090204"/>
              </a:defRPr>
            </a:pPr>
            <a:r>
              <a:rPr sz="1725" b="1">
                <a:solidFill>
                  <a:srgbClr val="172B3A"/>
                </a:solidFill>
                <a:latin typeface="Arial" panose="020B0604020202090204"/>
                <a:ea typeface="Arial" panose="020B0604020202090204"/>
                <a:cs typeface="Arial" panose="020B0604020202090204"/>
              </a:rPr>
              <a:t>每次移除一个模态，只用剩余模态预测。</a:t>
            </a:r>
          </a:p>
        </p:txBody>
      </p:sp>
      <p:sp>
        <p:nvSpPr>
          <p:cNvPr id="8" name="矩形 7"/>
          <p:cNvSpPr>
            <a:spLocks noGrp="1"/>
          </p:cNvSpPr>
          <p:nvPr/>
        </p:nvSpPr>
        <p:spPr>
          <a:xfrm>
            <a:off x="7191375" y="3133725"/>
            <a:ext cx="4000500" cy="704850"/>
          </a:xfrm>
          <a:prstGeom prst="rect">
            <a:avLst/>
          </a:prstGeom>
          <a:noFill/>
          <a:ln w="0">
            <a:noFill/>
          </a:ln>
        </p:spPr>
        <p:txBody>
          <a:bodyPr wrap="square" lIns="0" tIns="0" rIns="0" bIns="0" anchor="t">
            <a:normAutofit/>
          </a:bodyPr>
          <a:lstStyle/>
          <a:p>
            <a:pPr algn="l">
              <a:lnSpc>
                <a:spcPct val="15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h：原始预训练表示</a:t>
            </a:r>
          </a:p>
          <a:p>
            <a:pPr algn="l">
              <a:lnSpc>
                <a:spcPct val="150000"/>
              </a:lnSpc>
              <a:buNone/>
              <a:defRPr sz="1575" b="0">
                <a:solidFill>
                  <a:srgbClr val="172B3A"/>
                </a:solidFill>
                <a:latin typeface="Arial" panose="020B0604020202090204"/>
                <a:ea typeface="Arial" panose="020B0604020202090204"/>
                <a:cs typeface="Arial" panose="020B0604020202090204"/>
              </a:defRPr>
            </a:pPr>
            <a:r>
              <a:rPr sz="1575" b="0">
                <a:solidFill>
                  <a:srgbClr val="172B3A"/>
                </a:solidFill>
                <a:latin typeface="Arial" panose="020B0604020202090204"/>
                <a:ea typeface="Arial" panose="020B0604020202090204"/>
                <a:cs typeface="Arial" panose="020B0604020202090204"/>
              </a:rPr>
              <a:t>Φ：MultiLoReFT 微调表示</a:t>
            </a:r>
          </a:p>
        </p:txBody>
      </p:sp>
      <p:sp>
        <p:nvSpPr>
          <p:cNvPr id="9" name="矩形 8"/>
          <p:cNvSpPr>
            <a:spLocks noGrp="1"/>
          </p:cNvSpPr>
          <p:nvPr/>
        </p:nvSpPr>
        <p:spPr>
          <a:xfrm>
            <a:off x="7191375" y="4238625"/>
            <a:ext cx="4000500" cy="723900"/>
          </a:xfrm>
          <a:prstGeom prst="rect">
            <a:avLst/>
          </a:prstGeom>
          <a:noFill/>
          <a:ln w="0">
            <a:noFill/>
          </a:ln>
        </p:spPr>
        <p:txBody>
          <a:bodyPr wrap="square" lIns="0" tIns="0" rIns="0" bIns="0" anchor="t">
            <a:normAutofit/>
          </a:bodyPr>
          <a:lstStyle/>
          <a:p>
            <a:pPr algn="l">
              <a:lnSpc>
                <a:spcPct val="100000"/>
              </a:lnSpc>
              <a:buNone/>
              <a:defRPr sz="1725" b="1">
                <a:solidFill>
                  <a:srgbClr val="43875D"/>
                </a:solidFill>
                <a:latin typeface="Arial" panose="020B0604020202090204"/>
                <a:ea typeface="Arial" panose="020B0604020202090204"/>
                <a:cs typeface="Arial" panose="020B0604020202090204"/>
              </a:defRPr>
            </a:pPr>
            <a:r>
              <a:rPr sz="1725" b="1">
                <a:solidFill>
                  <a:srgbClr val="FF0000"/>
                </a:solidFill>
                <a:latin typeface="Arial" panose="020B0604020202090204"/>
                <a:ea typeface="Arial" panose="020B0604020202090204"/>
                <a:cs typeface="Arial" panose="020B0604020202090204"/>
              </a:rPr>
              <a:t>三个数据集、两种缺失方向上，Φ 的准确率均高于 h。</a:t>
            </a:r>
          </a:p>
        </p:txBody>
      </p:sp>
      <p:pic>
        <p:nvPicPr>
          <p:cNvPr id="5" name="图片 4"/>
          <p:cNvPicPr>
            <a:picLocks noChangeAspect="1"/>
          </p:cNvPicPr>
          <p:nvPr/>
        </p:nvPicPr>
        <p:blipFill>
          <a:blip r:embed="rId3"/>
          <a:stretch>
            <a:fillRect/>
          </a:stretch>
        </p:blipFill>
        <p:spPr>
          <a:xfrm>
            <a:off x="381635" y="1556385"/>
            <a:ext cx="6330950" cy="3168650"/>
          </a:xfrm>
          <a:prstGeom prst="rect">
            <a:avLst/>
          </a:prstGeom>
        </p:spPr>
      </p:pic>
      <p:sp>
        <p:nvSpPr>
          <p:cNvPr id="12" name="文本框 11"/>
          <p:cNvSpPr txBox="1"/>
          <p:nvPr/>
        </p:nvSpPr>
        <p:spPr>
          <a:xfrm>
            <a:off x="1271905" y="4796790"/>
            <a:ext cx="4617720" cy="467995"/>
          </a:xfrm>
          <a:prstGeom prst="rect">
            <a:avLst/>
          </a:prstGeom>
          <a:noFill/>
        </p:spPr>
        <p:txBody>
          <a:bodyPr wrap="square" rtlCol="0">
            <a:noAutofit/>
          </a:bodyPr>
          <a:lstStyle/>
          <a:p>
            <a:pPr algn="ctr"/>
            <a:r>
              <a:rPr lang="en-US" altLang="zh-CN"/>
              <a:t>Downstream classification accuracy under missingmodality inference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核心创新：</a:t>
            </a:r>
            <a:r>
              <a:rPr lang="zh-CN" altLang="en-US" sz="2700" b="1">
                <a:solidFill>
                  <a:srgbClr val="172B3A"/>
                </a:solidFill>
                <a:latin typeface="Arial" panose="020B0604020202090204"/>
                <a:ea typeface="Arial" panose="020B0604020202090204"/>
                <a:cs typeface="Arial" panose="020B0604020202090204"/>
              </a:rPr>
              <a:t>面向多模态解耦的低秩表示微调框架</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3" name="矩形 2"/>
          <p:cNvSpPr>
            <a:spLocks noGrp="1"/>
          </p:cNvSpPr>
          <p:nvPr/>
        </p:nvSpPr>
        <p:spPr>
          <a:xfrm>
            <a:off x="685800" y="6438900"/>
            <a:ext cx="7620000" cy="209550"/>
          </a:xfrm>
          <a:prstGeom prst="rect">
            <a:avLst/>
          </a:prstGeom>
          <a:noFill/>
          <a:ln w="0">
            <a:noFill/>
          </a:ln>
        </p:spPr>
        <p:txBody>
          <a:bodyPr wrap="square" lIns="0" tIns="0" rIns="0" bIns="0" anchor="t">
            <a:normAutofit/>
          </a:bodyPr>
          <a:lstStyle/>
          <a:p>
            <a:pPr algn="l">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4 核心创新点</a:t>
            </a:r>
          </a:p>
        </p:txBody>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1</a:t>
            </a:r>
            <a:r>
              <a:rPr lang="en-US" sz="1125" b="0">
                <a:solidFill>
                  <a:srgbClr val="526573"/>
                </a:solidFill>
                <a:latin typeface="Arial" panose="020B0604020202090204"/>
                <a:ea typeface="Arial" panose="020B0604020202090204"/>
                <a:cs typeface="Arial" panose="020B0604020202090204"/>
              </a:rPr>
              <a:t>7</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sp>
        <p:nvSpPr>
          <p:cNvPr id="5" name="矩形 4"/>
          <p:cNvSpPr>
            <a:spLocks noGrp="1"/>
          </p:cNvSpPr>
          <p:nvPr>
            <p:custDataLst>
              <p:tags r:id="rId1"/>
            </p:custDataLst>
          </p:nvPr>
        </p:nvSpPr>
        <p:spPr>
          <a:xfrm>
            <a:off x="876300" y="1562100"/>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137C8B"/>
                </a:solidFill>
                <a:latin typeface="Arial" panose="020B0604020202090204"/>
                <a:ea typeface="Arial" panose="020B0604020202090204"/>
                <a:cs typeface="Arial" panose="020B0604020202090204"/>
              </a:defRPr>
            </a:pPr>
            <a:r>
              <a:rPr sz="1575" b="1">
                <a:solidFill>
                  <a:srgbClr val="137C8B"/>
                </a:solidFill>
                <a:latin typeface="Arial" panose="020B0604020202090204"/>
                <a:ea typeface="Arial" panose="020B0604020202090204"/>
                <a:cs typeface="Arial" panose="020B0604020202090204"/>
              </a:rPr>
              <a:t>方法创新</a:t>
            </a:r>
          </a:p>
        </p:txBody>
      </p:sp>
      <p:sp>
        <p:nvSpPr>
          <p:cNvPr id="6" name="矩形 5"/>
          <p:cNvSpPr>
            <a:spLocks noGrp="1"/>
          </p:cNvSpPr>
          <p:nvPr>
            <p:custDataLst>
              <p:tags r:id="rId2"/>
            </p:custDataLst>
          </p:nvPr>
        </p:nvSpPr>
        <p:spPr>
          <a:xfrm>
            <a:off x="2927350" y="1557020"/>
            <a:ext cx="8429625" cy="590550"/>
          </a:xfrm>
          <a:prstGeom prst="rect">
            <a:avLst/>
          </a:prstGeom>
          <a:noFill/>
          <a:ln w="0">
            <a:noFill/>
          </a:ln>
        </p:spPr>
        <p:txBody>
          <a:bodyPr wrap="square" lIns="0" tIns="0" rIns="0" bIns="0" anchor="t">
            <a:normAutofit/>
          </a:bodyPr>
          <a:lstStyle/>
          <a:p>
            <a:pPr algn="l">
              <a:lnSpc>
                <a:spcPct val="110000"/>
              </a:lnSpc>
              <a:buNone/>
              <a:defRPr sz="1575" b="0">
                <a:solidFill>
                  <a:srgbClr val="172B3A"/>
                </a:solidFill>
                <a:latin typeface="Arial" panose="020B0604020202090204"/>
                <a:ea typeface="Arial" panose="020B0604020202090204"/>
                <a:cs typeface="Arial" panose="020B0604020202090204"/>
              </a:defRPr>
            </a:pPr>
            <a:r>
              <a:rPr lang="zh-CN" altLang="en-US" sz="1575" b="0">
                <a:solidFill>
                  <a:srgbClr val="172B3A"/>
                </a:solidFill>
                <a:latin typeface="Arial" panose="020B0604020202090204"/>
                <a:ea typeface="Arial" panose="020B0604020202090204"/>
                <a:cs typeface="Arial" panose="020B0604020202090204"/>
              </a:rPr>
              <a:t>将 </a:t>
            </a:r>
            <a:r>
              <a:rPr lang="en-US" altLang="zh-CN" sz="1575" b="0">
                <a:solidFill>
                  <a:srgbClr val="172B3A"/>
                </a:solidFill>
                <a:latin typeface="Arial" panose="020B0604020202090204"/>
                <a:ea typeface="Arial" panose="020B0604020202090204"/>
                <a:cs typeface="Arial" panose="020B0604020202090204"/>
              </a:rPr>
              <a:t>LoReFT </a:t>
            </a:r>
            <a:r>
              <a:rPr lang="zh-CN" altLang="en-US" sz="1575" b="0">
                <a:solidFill>
                  <a:srgbClr val="172B3A"/>
                </a:solidFill>
                <a:latin typeface="Arial" panose="020B0604020202090204"/>
                <a:ea typeface="Arial" panose="020B0604020202090204"/>
                <a:cs typeface="Arial" panose="020B0604020202090204"/>
              </a:rPr>
              <a:t>扩展到多模态表示学习，显式构建共享子空间与模态特异子空间，并通过低秩表示干预实现轻量微调</a:t>
            </a:r>
            <a:r>
              <a:rPr sz="1575" b="0">
                <a:solidFill>
                  <a:srgbClr val="172B3A"/>
                </a:solidFill>
                <a:latin typeface="Arial" panose="020B0604020202090204"/>
                <a:ea typeface="Arial" panose="020B0604020202090204"/>
                <a:cs typeface="Arial" panose="020B0604020202090204"/>
              </a:rPr>
              <a:t>。</a:t>
            </a:r>
          </a:p>
        </p:txBody>
      </p:sp>
      <p:sp>
        <p:nvSpPr>
          <p:cNvPr id="7" name="矩形 6"/>
          <p:cNvSpPr>
            <a:spLocks noGrp="1"/>
          </p:cNvSpPr>
          <p:nvPr>
            <p:custDataLst>
              <p:tags r:id="rId3"/>
            </p:custDataLst>
          </p:nvPr>
        </p:nvSpPr>
        <p:spPr>
          <a:xfrm>
            <a:off x="876300" y="2352675"/>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D78345"/>
                </a:solidFill>
                <a:latin typeface="Arial" panose="020B0604020202090204"/>
                <a:ea typeface="Arial" panose="020B0604020202090204"/>
                <a:cs typeface="Arial" panose="020B0604020202090204"/>
              </a:defRPr>
            </a:pPr>
            <a:r>
              <a:rPr lang="zh-CN" sz="1575" b="1">
                <a:solidFill>
                  <a:srgbClr val="D78345"/>
                </a:solidFill>
                <a:latin typeface="Arial" panose="020B0604020202090204"/>
                <a:ea typeface="宋体" pitchFamily="2" charset="-122"/>
                <a:cs typeface="Arial" panose="020B0604020202090204"/>
              </a:rPr>
              <a:t>解耦机制</a:t>
            </a:r>
          </a:p>
        </p:txBody>
      </p:sp>
      <p:sp>
        <p:nvSpPr>
          <p:cNvPr id="8" name="矩形 7"/>
          <p:cNvSpPr>
            <a:spLocks noGrp="1"/>
          </p:cNvSpPr>
          <p:nvPr>
            <p:custDataLst>
              <p:tags r:id="rId4"/>
            </p:custDataLst>
          </p:nvPr>
        </p:nvSpPr>
        <p:spPr>
          <a:xfrm>
            <a:off x="2927350" y="2348865"/>
            <a:ext cx="8429625" cy="590550"/>
          </a:xfrm>
          <a:prstGeom prst="rect">
            <a:avLst/>
          </a:prstGeom>
          <a:noFill/>
          <a:ln w="0">
            <a:noFill/>
          </a:ln>
        </p:spPr>
        <p:txBody>
          <a:bodyPr wrap="square" lIns="0" tIns="0" rIns="0" bIns="0" anchor="t"/>
          <a:lstStyle/>
          <a:p>
            <a:pPr algn="l">
              <a:lnSpc>
                <a:spcPct val="110000"/>
              </a:lnSpc>
              <a:buNone/>
              <a:defRPr sz="1575" b="0">
                <a:solidFill>
                  <a:srgbClr val="172B3A"/>
                </a:solidFill>
                <a:latin typeface="Arial" panose="020B0604020202090204"/>
                <a:ea typeface="Arial" panose="020B0604020202090204"/>
                <a:cs typeface="Arial" panose="020B0604020202090204"/>
              </a:defRPr>
            </a:pPr>
            <a:r>
              <a:rPr lang="zh-CN" altLang="en-US" sz="1580" b="0">
                <a:solidFill>
                  <a:srgbClr val="172B3A"/>
                </a:solidFill>
                <a:latin typeface="Arial" panose="020B0604020202090204"/>
                <a:ea typeface="Arial" panose="020B0604020202090204"/>
                <a:cs typeface="Arial" panose="020B0604020202090204"/>
              </a:rPr>
              <a:t>联合使用三类</a:t>
            </a:r>
            <a:r>
              <a:rPr lang="en-US" altLang="zh-CN" sz="1580" b="0">
                <a:solidFill>
                  <a:srgbClr val="172B3A"/>
                </a:solidFill>
                <a:latin typeface="Arial" panose="020B0604020202090204"/>
                <a:ea typeface="Arial" panose="020B0604020202090204"/>
                <a:cs typeface="Arial" panose="020B0604020202090204"/>
              </a:rPr>
              <a:t>loss</a:t>
            </a:r>
            <a:r>
              <a:rPr lang="zh-CN" altLang="en-US" sz="1580" b="0">
                <a:solidFill>
                  <a:srgbClr val="172B3A"/>
                </a:solidFill>
                <a:latin typeface="Arial" panose="020B0604020202090204"/>
                <a:ea typeface="Arial" panose="020B0604020202090204"/>
                <a:cs typeface="Arial" panose="020B0604020202090204"/>
              </a:rPr>
              <a:t>实现 </a:t>
            </a:r>
            <a:r>
              <a:rPr lang="en-US" altLang="zh-CN" sz="1580" b="0">
                <a:solidFill>
                  <a:srgbClr val="172B3A"/>
                </a:solidFill>
                <a:latin typeface="Arial" panose="020B0604020202090204"/>
                <a:ea typeface="Arial" panose="020B0604020202090204"/>
                <a:cs typeface="Arial" panose="020B0604020202090204"/>
              </a:rPr>
              <a:t>shared / specific </a:t>
            </a:r>
            <a:r>
              <a:rPr lang="zh-CN" altLang="en-US" sz="1580" b="0">
                <a:solidFill>
                  <a:srgbClr val="172B3A"/>
                </a:solidFill>
                <a:latin typeface="Arial" panose="020B0604020202090204"/>
                <a:ea typeface="Arial" panose="020B0604020202090204"/>
                <a:cs typeface="Arial" panose="020B0604020202090204"/>
              </a:rPr>
              <a:t>信息分离：</a:t>
            </a:r>
          </a:p>
          <a:p>
            <a:pPr marL="285750" indent="-285750" algn="l">
              <a:lnSpc>
                <a:spcPct val="110000"/>
              </a:lnSpc>
              <a:buFont typeface="Arial" panose="020B0604020202090204" pitchFamily="34" charset="0"/>
              <a:buChar char="•"/>
              <a:defRPr sz="1575" b="0">
                <a:solidFill>
                  <a:srgbClr val="172B3A"/>
                </a:solidFill>
                <a:latin typeface="Arial" panose="020B0604020202090204"/>
                <a:ea typeface="Arial" panose="020B0604020202090204"/>
                <a:cs typeface="Arial" panose="020B0604020202090204"/>
              </a:defRPr>
            </a:pPr>
            <a:r>
              <a:rPr lang="en-US" altLang="zh-CN" sz="1580" b="0">
                <a:solidFill>
                  <a:srgbClr val="172B3A"/>
                </a:solidFill>
                <a:latin typeface="Arial" panose="020B0604020202090204"/>
                <a:ea typeface="Arial" panose="020B0604020202090204"/>
                <a:cs typeface="Arial" panose="020B0604020202090204"/>
              </a:rPr>
              <a:t>HSIC：</a:t>
            </a:r>
            <a:r>
              <a:rPr lang="zh-CN" altLang="en-US" sz="1580" b="0">
                <a:solidFill>
                  <a:srgbClr val="172B3A"/>
                </a:solidFill>
                <a:latin typeface="Arial" panose="020B0604020202090204"/>
                <a:ea typeface="Arial" panose="020B0604020202090204"/>
                <a:cs typeface="Arial" panose="020B0604020202090204"/>
              </a:rPr>
              <a:t>降低 </a:t>
            </a:r>
            <a:r>
              <a:rPr lang="en-US" altLang="zh-CN" sz="1580" b="0">
                <a:solidFill>
                  <a:srgbClr val="172B3A"/>
                </a:solidFill>
                <a:latin typeface="Arial" panose="020B0604020202090204"/>
                <a:ea typeface="Arial" panose="020B0604020202090204"/>
                <a:cs typeface="Arial" panose="020B0604020202090204"/>
              </a:rPr>
              <a:t>shared </a:t>
            </a:r>
            <a:r>
              <a:rPr lang="zh-CN" altLang="en-US" sz="1580" b="0">
                <a:solidFill>
                  <a:srgbClr val="172B3A"/>
                </a:solidFill>
                <a:latin typeface="Arial" panose="020B0604020202090204"/>
                <a:ea typeface="Arial" panose="020B0604020202090204"/>
                <a:cs typeface="Arial" panose="020B0604020202090204"/>
              </a:rPr>
              <a:t>与 </a:t>
            </a:r>
            <a:r>
              <a:rPr lang="en-US" altLang="zh-CN" sz="1580" b="0">
                <a:solidFill>
                  <a:srgbClr val="172B3A"/>
                </a:solidFill>
                <a:latin typeface="Arial" panose="020B0604020202090204"/>
                <a:ea typeface="Arial" panose="020B0604020202090204"/>
                <a:cs typeface="Arial" panose="020B0604020202090204"/>
              </a:rPr>
              <a:t>specific </a:t>
            </a:r>
            <a:r>
              <a:rPr lang="zh-CN" altLang="en-US" sz="1580" b="0">
                <a:solidFill>
                  <a:srgbClr val="172B3A"/>
                </a:solidFill>
                <a:latin typeface="Arial" panose="020B0604020202090204"/>
                <a:ea typeface="Arial" panose="020B0604020202090204"/>
                <a:cs typeface="Arial" panose="020B0604020202090204"/>
              </a:rPr>
              <a:t>表示之间的统计依赖</a:t>
            </a:r>
          </a:p>
          <a:p>
            <a:pPr marL="285750" indent="-285750" algn="l">
              <a:lnSpc>
                <a:spcPct val="110000"/>
              </a:lnSpc>
              <a:buFont typeface="Arial" panose="020B0604020202090204" pitchFamily="34" charset="0"/>
              <a:buChar char="•"/>
              <a:defRPr sz="1575" b="0">
                <a:solidFill>
                  <a:srgbClr val="172B3A"/>
                </a:solidFill>
                <a:latin typeface="Arial" panose="020B0604020202090204"/>
                <a:ea typeface="Arial" panose="020B0604020202090204"/>
                <a:cs typeface="Arial" panose="020B0604020202090204"/>
              </a:defRPr>
            </a:pPr>
            <a:r>
              <a:rPr lang="en-US" altLang="zh-CN" sz="1580" b="0">
                <a:solidFill>
                  <a:srgbClr val="172B3A"/>
                </a:solidFill>
                <a:latin typeface="Arial" panose="020B0604020202090204"/>
                <a:ea typeface="Arial" panose="020B0604020202090204"/>
                <a:cs typeface="Arial" panose="020B0604020202090204"/>
              </a:rPr>
              <a:t>Orthogonality：</a:t>
            </a:r>
            <a:r>
              <a:rPr lang="zh-CN" altLang="en-US" sz="1580" b="0">
                <a:solidFill>
                  <a:srgbClr val="172B3A"/>
                </a:solidFill>
                <a:latin typeface="Arial" panose="020B0604020202090204"/>
                <a:ea typeface="Arial" panose="020B0604020202090204"/>
                <a:cs typeface="Arial" panose="020B0604020202090204"/>
              </a:rPr>
              <a:t>减少不同子空间的几何重叠</a:t>
            </a:r>
          </a:p>
          <a:p>
            <a:pPr marL="285750" indent="-285750" algn="l">
              <a:lnSpc>
                <a:spcPct val="110000"/>
              </a:lnSpc>
              <a:buFont typeface="Arial" panose="020B0604020202090204" pitchFamily="34" charset="0"/>
              <a:buChar char="•"/>
              <a:defRPr sz="1575" b="0">
                <a:solidFill>
                  <a:srgbClr val="172B3A"/>
                </a:solidFill>
                <a:latin typeface="Arial" panose="020B0604020202090204"/>
                <a:ea typeface="Arial" panose="020B0604020202090204"/>
                <a:cs typeface="Arial" panose="020B0604020202090204"/>
              </a:defRPr>
            </a:pPr>
            <a:r>
              <a:rPr lang="en-US" altLang="zh-CN" sz="1580" b="0">
                <a:solidFill>
                  <a:srgbClr val="172B3A"/>
                </a:solidFill>
                <a:latin typeface="Arial" panose="020B0604020202090204"/>
                <a:ea typeface="Arial" panose="020B0604020202090204"/>
                <a:cs typeface="Arial" panose="020B0604020202090204"/>
              </a:rPr>
              <a:t>Mutual Information：</a:t>
            </a:r>
            <a:r>
              <a:rPr lang="zh-CN" altLang="en-US" sz="1580" b="0">
                <a:solidFill>
                  <a:srgbClr val="172B3A"/>
                </a:solidFill>
                <a:latin typeface="Arial" panose="020B0604020202090204"/>
                <a:ea typeface="Arial" panose="020B0604020202090204"/>
                <a:cs typeface="Arial" panose="020B0604020202090204"/>
              </a:rPr>
              <a:t>保证解耦过程中不过度丢失原始信息</a:t>
            </a:r>
          </a:p>
        </p:txBody>
      </p:sp>
      <p:sp>
        <p:nvSpPr>
          <p:cNvPr id="9" name="矩形 8"/>
          <p:cNvSpPr>
            <a:spLocks noGrp="1"/>
          </p:cNvSpPr>
          <p:nvPr>
            <p:custDataLst>
              <p:tags r:id="rId5"/>
            </p:custDataLst>
          </p:nvPr>
        </p:nvSpPr>
        <p:spPr>
          <a:xfrm>
            <a:off x="876300" y="3676650"/>
            <a:ext cx="1809750" cy="304800"/>
          </a:xfrm>
          <a:prstGeom prst="rect">
            <a:avLst/>
          </a:prstGeom>
          <a:noFill/>
          <a:ln w="0">
            <a:noFill/>
          </a:ln>
        </p:spPr>
        <p:txBody>
          <a:bodyPr wrap="square" lIns="0" tIns="0" rIns="0" bIns="0" anchor="t">
            <a:normAutofit/>
          </a:bodyPr>
          <a:lstStyle/>
          <a:p>
            <a:pPr algn="l">
              <a:lnSpc>
                <a:spcPct val="100000"/>
              </a:lnSpc>
              <a:buNone/>
              <a:defRPr sz="1575" b="1">
                <a:solidFill>
                  <a:srgbClr val="43875D"/>
                </a:solidFill>
                <a:latin typeface="Arial" panose="020B0604020202090204"/>
                <a:ea typeface="Arial" panose="020B0604020202090204"/>
                <a:cs typeface="Arial" panose="020B0604020202090204"/>
              </a:defRPr>
            </a:pPr>
            <a:r>
              <a:rPr lang="zh-CN" altLang="en-US" sz="1575" b="1">
                <a:solidFill>
                  <a:srgbClr val="43875D"/>
                </a:solidFill>
                <a:latin typeface="Arial" panose="020B0604020202090204"/>
                <a:ea typeface="Arial" panose="020B0604020202090204"/>
                <a:cs typeface="Arial" panose="020B0604020202090204"/>
              </a:rPr>
              <a:t>自适应结构</a:t>
            </a:r>
          </a:p>
        </p:txBody>
      </p:sp>
      <p:sp>
        <p:nvSpPr>
          <p:cNvPr id="10" name="矩形 9"/>
          <p:cNvSpPr>
            <a:spLocks noGrp="1"/>
          </p:cNvSpPr>
          <p:nvPr>
            <p:custDataLst>
              <p:tags r:id="rId6"/>
            </p:custDataLst>
          </p:nvPr>
        </p:nvSpPr>
        <p:spPr>
          <a:xfrm>
            <a:off x="2927350" y="3676650"/>
            <a:ext cx="8429625" cy="590550"/>
          </a:xfrm>
          <a:prstGeom prst="rect">
            <a:avLst/>
          </a:prstGeom>
          <a:noFill/>
          <a:ln w="0">
            <a:noFill/>
          </a:ln>
        </p:spPr>
        <p:txBody>
          <a:bodyPr wrap="square" lIns="0" tIns="0" rIns="0" bIns="0" anchor="t">
            <a:normAutofit/>
          </a:bodyPr>
          <a:lstStyle/>
          <a:p>
            <a:pPr algn="l">
              <a:lnSpc>
                <a:spcPct val="110000"/>
              </a:lnSpc>
              <a:buNone/>
              <a:defRPr sz="1575" b="0">
                <a:solidFill>
                  <a:srgbClr val="172B3A"/>
                </a:solidFill>
                <a:latin typeface="Arial" panose="020B0604020202090204"/>
                <a:ea typeface="Arial" panose="020B0604020202090204"/>
                <a:cs typeface="Arial" panose="020B0604020202090204"/>
              </a:defRPr>
            </a:pPr>
            <a:r>
              <a:rPr lang="zh-CN" altLang="en-US" sz="1575" b="0">
                <a:solidFill>
                  <a:srgbClr val="172B3A"/>
                </a:solidFill>
                <a:latin typeface="Arial" panose="020B0604020202090204"/>
                <a:ea typeface="Arial" panose="020B0604020202090204"/>
                <a:cs typeface="Arial" panose="020B0604020202090204"/>
              </a:rPr>
              <a:t>提出 </a:t>
            </a:r>
            <a:r>
              <a:rPr lang="en-US" altLang="zh-CN" sz="1575" b="0">
                <a:solidFill>
                  <a:srgbClr val="172B3A"/>
                </a:solidFill>
                <a:latin typeface="Arial" panose="020B0604020202090204"/>
                <a:ea typeface="Arial" panose="020B0604020202090204"/>
                <a:cs typeface="Arial" panose="020B0604020202090204"/>
              </a:rPr>
              <a:t>Adaptive Rank Pruning，</a:t>
            </a:r>
            <a:r>
              <a:rPr lang="zh-CN" altLang="en-US" sz="1575" b="0">
                <a:solidFill>
                  <a:srgbClr val="172B3A"/>
                </a:solidFill>
                <a:latin typeface="Arial" panose="020B0604020202090204"/>
                <a:ea typeface="Arial" panose="020B0604020202090204"/>
                <a:cs typeface="Arial" panose="020B0604020202090204"/>
              </a:rPr>
              <a:t>根据奇异值动态压缩 </a:t>
            </a:r>
            <a:r>
              <a:rPr lang="en-US" altLang="zh-CN" sz="1575" b="0">
                <a:solidFill>
                  <a:srgbClr val="172B3A"/>
                </a:solidFill>
                <a:latin typeface="Arial" panose="020B0604020202090204"/>
                <a:ea typeface="Arial" panose="020B0604020202090204"/>
                <a:cs typeface="Arial" panose="020B0604020202090204"/>
              </a:rPr>
              <a:t>R</a:t>
            </a:r>
            <a:r>
              <a:rPr lang="en-US" altLang="zh-CN" sz="1575" b="0" baseline="-25000">
                <a:solidFill>
                  <a:srgbClr val="172B3A"/>
                </a:solidFill>
                <a:latin typeface="Arial" panose="020B0604020202090204"/>
                <a:ea typeface="Arial" panose="020B0604020202090204"/>
                <a:cs typeface="Arial" panose="020B0604020202090204"/>
              </a:rPr>
              <a:t>s</a:t>
            </a:r>
            <a:r>
              <a:rPr lang="en-US" altLang="zh-CN" sz="1575" b="0">
                <a:solidFill>
                  <a:srgbClr val="172B3A"/>
                </a:solidFill>
                <a:latin typeface="Arial" panose="020B0604020202090204"/>
                <a:ea typeface="Arial" panose="020B0604020202090204"/>
                <a:cs typeface="Arial" panose="020B0604020202090204"/>
              </a:rPr>
              <a:t>,R</a:t>
            </a:r>
            <a:r>
              <a:rPr lang="en-US" altLang="zh-CN" sz="1575" b="0" baseline="-25000">
                <a:solidFill>
                  <a:srgbClr val="172B3A"/>
                </a:solidFill>
                <a:latin typeface="Arial" panose="020B0604020202090204"/>
                <a:ea typeface="Arial" panose="020B0604020202090204"/>
                <a:cs typeface="Arial" panose="020B0604020202090204"/>
              </a:rPr>
              <a:t>m1</a:t>
            </a:r>
            <a:r>
              <a:rPr lang="en-US" altLang="zh-CN" sz="1575" b="0">
                <a:solidFill>
                  <a:srgbClr val="172B3A"/>
                </a:solidFill>
                <a:latin typeface="Arial" panose="020B0604020202090204"/>
                <a:ea typeface="Arial" panose="020B0604020202090204"/>
                <a:cs typeface="Arial" panose="020B0604020202090204"/>
              </a:rPr>
              <a:t>,R</a:t>
            </a:r>
            <a:r>
              <a:rPr lang="en-US" altLang="zh-CN" sz="1575" b="0" baseline="-25000">
                <a:solidFill>
                  <a:srgbClr val="172B3A"/>
                </a:solidFill>
                <a:latin typeface="Arial" panose="020B0604020202090204"/>
                <a:ea typeface="Arial" panose="020B0604020202090204"/>
                <a:cs typeface="Arial" panose="020B0604020202090204"/>
              </a:rPr>
              <a:t>m2</a:t>
            </a:r>
            <a:r>
              <a:rPr lang="en-US" altLang="zh-CN" sz="1575" b="0">
                <a:solidFill>
                  <a:srgbClr val="172B3A"/>
                </a:solidFill>
                <a:latin typeface="Arial" panose="020B0604020202090204"/>
                <a:ea typeface="Arial" panose="020B0604020202090204"/>
                <a:cs typeface="Arial" panose="020B0604020202090204"/>
              </a:rPr>
              <a:t> </a:t>
            </a:r>
            <a:r>
              <a:rPr lang="zh-CN" altLang="en-US" sz="1575" b="0">
                <a:solidFill>
                  <a:srgbClr val="172B3A"/>
                </a:solidFill>
                <a:latin typeface="Arial" panose="020B0604020202090204"/>
                <a:ea typeface="Arial" panose="020B0604020202090204"/>
                <a:cs typeface="Arial" panose="020B0604020202090204"/>
              </a:rPr>
              <a:t>的有效维度。</a:t>
            </a:r>
          </a:p>
          <a:p>
            <a:pPr algn="l">
              <a:lnSpc>
                <a:spcPct val="110000"/>
              </a:lnSpc>
              <a:buNone/>
              <a:defRPr sz="1575" b="0">
                <a:solidFill>
                  <a:srgbClr val="172B3A"/>
                </a:solidFill>
                <a:latin typeface="Arial" panose="020B0604020202090204"/>
                <a:ea typeface="Arial" panose="020B0604020202090204"/>
                <a:cs typeface="Arial" panose="020B0604020202090204"/>
              </a:defRPr>
            </a:pPr>
            <a:r>
              <a:rPr lang="zh-CN" altLang="en-US" sz="1400" b="0">
                <a:solidFill>
                  <a:schemeClr val="tx1">
                    <a:lumMod val="50000"/>
                    <a:lumOff val="50000"/>
                  </a:schemeClr>
                </a:solidFill>
                <a:latin typeface="Arial" panose="020B0604020202090204"/>
                <a:ea typeface="Arial" panose="020B0604020202090204"/>
                <a:cs typeface="Arial" panose="020B0604020202090204"/>
              </a:rPr>
              <a:t>避免人工固定 </a:t>
            </a:r>
            <a:r>
              <a:rPr lang="en-US" altLang="zh-CN" sz="1400" b="0">
                <a:solidFill>
                  <a:schemeClr val="tx1">
                    <a:lumMod val="50000"/>
                    <a:lumOff val="50000"/>
                  </a:schemeClr>
                </a:solidFill>
                <a:latin typeface="Arial" panose="020B0604020202090204"/>
                <a:ea typeface="Arial" panose="020B0604020202090204"/>
                <a:cs typeface="Arial" panose="020B0604020202090204"/>
              </a:rPr>
              <a:t>rank，</a:t>
            </a:r>
            <a:r>
              <a:rPr lang="zh-CN" altLang="en-US" sz="1400" b="0">
                <a:solidFill>
                  <a:schemeClr val="tx1">
                    <a:lumMod val="50000"/>
                    <a:lumOff val="50000"/>
                  </a:schemeClr>
                </a:solidFill>
                <a:latin typeface="Arial" panose="020B0604020202090204"/>
                <a:ea typeface="Arial" panose="020B0604020202090204"/>
                <a:cs typeface="Arial" panose="020B0604020202090204"/>
              </a:rPr>
              <a:t>同时去除冗余表示，提高参数效率和解耦质量。</a:t>
            </a:r>
          </a:p>
        </p:txBody>
      </p:sp>
      <p:sp>
        <p:nvSpPr>
          <p:cNvPr id="11" name="矩形 10"/>
          <p:cNvSpPr>
            <a:spLocks noGrp="1"/>
          </p:cNvSpPr>
          <p:nvPr>
            <p:custDataLst>
              <p:tags r:id="rId7"/>
            </p:custDataLst>
          </p:nvPr>
        </p:nvSpPr>
        <p:spPr>
          <a:xfrm>
            <a:off x="876300" y="4733925"/>
            <a:ext cx="1809750" cy="304800"/>
          </a:xfrm>
          <a:prstGeom prst="rect">
            <a:avLst/>
          </a:prstGeom>
          <a:noFill/>
          <a:ln w="0">
            <a:noFill/>
          </a:ln>
        </p:spPr>
        <p:txBody>
          <a:bodyPr wrap="square" lIns="0" tIns="0" rIns="0" bIns="0" anchor="t">
            <a:noAutofit/>
          </a:bodyPr>
          <a:lstStyle/>
          <a:p>
            <a:pPr algn="l">
              <a:lnSpc>
                <a:spcPct val="100000"/>
              </a:lnSpc>
              <a:buNone/>
              <a:defRPr sz="1575" b="1">
                <a:solidFill>
                  <a:srgbClr val="137C8B"/>
                </a:solidFill>
                <a:latin typeface="Arial" panose="020B0604020202090204"/>
                <a:ea typeface="Arial" panose="020B0604020202090204"/>
                <a:cs typeface="Arial" panose="020B0604020202090204"/>
              </a:defRPr>
            </a:pPr>
            <a:r>
              <a:rPr lang="zh-CN" altLang="en-US" sz="1580" b="1">
                <a:solidFill>
                  <a:srgbClr val="137C8B"/>
                </a:solidFill>
                <a:latin typeface="Arial" panose="020B0604020202090204"/>
                <a:ea typeface="Arial" panose="020B0604020202090204"/>
                <a:cs typeface="Arial" panose="020B0604020202090204"/>
              </a:rPr>
              <a:t>有效性证据</a:t>
            </a:r>
          </a:p>
        </p:txBody>
      </p:sp>
      <p:sp>
        <p:nvSpPr>
          <p:cNvPr id="12" name="矩形 11"/>
          <p:cNvSpPr>
            <a:spLocks noGrp="1"/>
          </p:cNvSpPr>
          <p:nvPr>
            <p:custDataLst>
              <p:tags r:id="rId8"/>
            </p:custDataLst>
          </p:nvPr>
        </p:nvSpPr>
        <p:spPr>
          <a:xfrm>
            <a:off x="2927350" y="4733925"/>
            <a:ext cx="8429625" cy="590550"/>
          </a:xfrm>
          <a:prstGeom prst="rect">
            <a:avLst/>
          </a:prstGeom>
          <a:noFill/>
          <a:ln w="0">
            <a:noFill/>
          </a:ln>
        </p:spPr>
        <p:txBody>
          <a:bodyPr wrap="square" lIns="0" tIns="0" rIns="0" bIns="0" anchor="t">
            <a:noAutofit/>
          </a:bodyPr>
          <a:lstStyle/>
          <a:p>
            <a:pPr marL="285750" indent="-285750" algn="l">
              <a:lnSpc>
                <a:spcPct val="110000"/>
              </a:lnSpc>
              <a:buFont typeface="Arial" panose="020B0604020202090204" pitchFamily="34" charset="0"/>
              <a:buChar char="•"/>
              <a:defRPr sz="1575" b="0">
                <a:solidFill>
                  <a:srgbClr val="172B3A"/>
                </a:solidFill>
                <a:latin typeface="Arial" panose="020B0604020202090204"/>
                <a:ea typeface="Arial" panose="020B0604020202090204"/>
                <a:cs typeface="Arial" panose="020B0604020202090204"/>
              </a:defRPr>
            </a:pPr>
            <a:r>
              <a:rPr lang="en-US" altLang="zh-CN" sz="1500" b="0">
                <a:solidFill>
                  <a:srgbClr val="172B3A"/>
                </a:solidFill>
                <a:latin typeface="Arial" panose="020B0604020202090204"/>
                <a:ea typeface="Arial" panose="020B0604020202090204"/>
                <a:cs typeface="Arial" panose="020B0604020202090204"/>
              </a:rPr>
              <a:t>Synthetic data：</a:t>
            </a:r>
            <a:r>
              <a:rPr lang="zh-CN" altLang="en-US" sz="1500" b="0">
                <a:solidFill>
                  <a:srgbClr val="172B3A"/>
                </a:solidFill>
                <a:latin typeface="Arial" panose="020B0604020202090204"/>
                <a:ea typeface="Arial" panose="020B0604020202090204"/>
                <a:cs typeface="Arial" panose="020B0604020202090204"/>
              </a:rPr>
              <a:t>有 </a:t>
            </a:r>
            <a:r>
              <a:rPr lang="en-US" altLang="zh-CN" sz="1500" b="0">
                <a:solidFill>
                  <a:srgbClr val="172B3A"/>
                </a:solidFill>
                <a:latin typeface="Arial" panose="020B0604020202090204"/>
                <a:ea typeface="Arial" panose="020B0604020202090204"/>
                <a:cs typeface="Arial" panose="020B0604020202090204"/>
              </a:rPr>
              <a:t>ground truth，</a:t>
            </a:r>
            <a:r>
              <a:rPr lang="zh-CN" altLang="en-US" sz="1500" b="0">
                <a:solidFill>
                  <a:srgbClr val="172B3A"/>
                </a:solidFill>
                <a:latin typeface="Arial" panose="020B0604020202090204"/>
                <a:ea typeface="Arial" panose="020B0604020202090204"/>
                <a:cs typeface="Arial" panose="020B0604020202090204"/>
              </a:rPr>
              <a:t>可直接验证 </a:t>
            </a:r>
            <a:r>
              <a:rPr lang="en-US" altLang="zh-CN" sz="1500" b="0">
                <a:solidFill>
                  <a:srgbClr val="172B3A"/>
                </a:solidFill>
                <a:latin typeface="Arial" panose="020B0604020202090204"/>
                <a:ea typeface="Arial" panose="020B0604020202090204"/>
                <a:cs typeface="Arial" panose="020B0604020202090204"/>
              </a:rPr>
              <a:t>shared / specific </a:t>
            </a:r>
            <a:r>
              <a:rPr lang="zh-CN" altLang="en-US" sz="1500" b="0">
                <a:solidFill>
                  <a:srgbClr val="172B3A"/>
                </a:solidFill>
                <a:latin typeface="Arial" panose="020B0604020202090204"/>
                <a:ea typeface="Arial" panose="020B0604020202090204"/>
                <a:cs typeface="Arial" panose="020B0604020202090204"/>
              </a:rPr>
              <a:t>信息是否进入正确子空间</a:t>
            </a:r>
          </a:p>
          <a:p>
            <a:pPr marL="285750" indent="-285750" algn="l">
              <a:lnSpc>
                <a:spcPct val="110000"/>
              </a:lnSpc>
              <a:buFont typeface="Arial" panose="020B0604020202090204" pitchFamily="34" charset="0"/>
              <a:buChar char="•"/>
              <a:defRPr sz="1575" b="0">
                <a:solidFill>
                  <a:srgbClr val="172B3A"/>
                </a:solidFill>
                <a:latin typeface="Arial" panose="020B0604020202090204"/>
                <a:ea typeface="Arial" panose="020B0604020202090204"/>
                <a:cs typeface="Arial" panose="020B0604020202090204"/>
              </a:defRPr>
            </a:pPr>
            <a:r>
              <a:rPr lang="en-US" altLang="zh-CN" sz="1500" b="0">
                <a:solidFill>
                  <a:srgbClr val="172B3A"/>
                </a:solidFill>
                <a:latin typeface="Arial" panose="020B0604020202090204"/>
                <a:ea typeface="Arial" panose="020B0604020202090204"/>
                <a:cs typeface="Arial" panose="020B0604020202090204"/>
              </a:rPr>
              <a:t>Real-world data：</a:t>
            </a:r>
            <a:r>
              <a:rPr lang="zh-CN" altLang="en-US" sz="1500" b="0">
                <a:solidFill>
                  <a:srgbClr val="172B3A"/>
                </a:solidFill>
                <a:latin typeface="Arial" panose="020B0604020202090204"/>
                <a:ea typeface="Arial" panose="020B0604020202090204"/>
                <a:cs typeface="Arial" panose="020B0604020202090204"/>
              </a:rPr>
              <a:t>通过 </a:t>
            </a:r>
            <a:r>
              <a:rPr lang="en-US" altLang="zh-CN" sz="1500" b="0">
                <a:solidFill>
                  <a:srgbClr val="172B3A"/>
                </a:solidFill>
                <a:latin typeface="Arial" panose="020B0604020202090204"/>
                <a:ea typeface="Arial" panose="020B0604020202090204"/>
                <a:cs typeface="Arial" panose="020B0604020202090204"/>
              </a:rPr>
              <a:t>PCA </a:t>
            </a:r>
            <a:r>
              <a:rPr lang="zh-CN" altLang="en-US" sz="1500" b="0">
                <a:solidFill>
                  <a:srgbClr val="172B3A"/>
                </a:solidFill>
                <a:latin typeface="Arial" panose="020B0604020202090204"/>
                <a:ea typeface="Arial" panose="020B0604020202090204"/>
                <a:cs typeface="Arial" panose="020B0604020202090204"/>
              </a:rPr>
              <a:t>和 </a:t>
            </a:r>
            <a:r>
              <a:rPr lang="en-US" altLang="zh-CN" sz="1500" b="0">
                <a:solidFill>
                  <a:srgbClr val="172B3A"/>
                </a:solidFill>
                <a:latin typeface="Arial" panose="020B0604020202090204"/>
                <a:ea typeface="Arial" panose="020B0604020202090204"/>
                <a:cs typeface="Arial" panose="020B0604020202090204"/>
              </a:rPr>
              <a:t>nearest-neighbor </a:t>
            </a:r>
            <a:r>
              <a:rPr lang="zh-CN" altLang="en-US" sz="1500" b="0">
                <a:solidFill>
                  <a:srgbClr val="172B3A"/>
                </a:solidFill>
                <a:latin typeface="Arial" panose="020B0604020202090204"/>
                <a:ea typeface="Arial" panose="020B0604020202090204"/>
                <a:cs typeface="Arial" panose="020B0604020202090204"/>
              </a:rPr>
              <a:t>验证语义可解释性</a:t>
            </a:r>
          </a:p>
          <a:p>
            <a:pPr marL="285750" indent="-285750" algn="l">
              <a:lnSpc>
                <a:spcPct val="110000"/>
              </a:lnSpc>
              <a:buFont typeface="Arial" panose="020B0604020202090204" pitchFamily="34" charset="0"/>
              <a:buChar char="•"/>
              <a:defRPr sz="1575" b="0">
                <a:solidFill>
                  <a:srgbClr val="172B3A"/>
                </a:solidFill>
                <a:latin typeface="Arial" panose="020B0604020202090204"/>
                <a:ea typeface="Arial" panose="020B0604020202090204"/>
                <a:cs typeface="Arial" panose="020B0604020202090204"/>
              </a:defRPr>
            </a:pPr>
            <a:r>
              <a:rPr lang="en-US" altLang="zh-CN" sz="1500" b="0">
                <a:solidFill>
                  <a:srgbClr val="172B3A"/>
                </a:solidFill>
                <a:latin typeface="Arial" panose="020B0604020202090204"/>
                <a:ea typeface="Arial" panose="020B0604020202090204"/>
                <a:cs typeface="Arial" panose="020B0604020202090204"/>
              </a:rPr>
              <a:t>Downstream tasks：</a:t>
            </a:r>
            <a:r>
              <a:rPr lang="zh-CN" altLang="en-US" sz="1500" b="0">
                <a:solidFill>
                  <a:srgbClr val="172B3A"/>
                </a:solidFill>
                <a:latin typeface="Arial" panose="020B0604020202090204"/>
                <a:ea typeface="Arial" panose="020B0604020202090204"/>
                <a:cs typeface="Arial" panose="020B0604020202090204"/>
              </a:rPr>
              <a:t>解耦后仍保持或提升预测性能</a:t>
            </a:r>
          </a:p>
          <a:p>
            <a:pPr marL="285750" indent="-285750" algn="l">
              <a:lnSpc>
                <a:spcPct val="110000"/>
              </a:lnSpc>
              <a:buFont typeface="Arial" panose="020B0604020202090204" pitchFamily="34" charset="0"/>
              <a:buChar char="•"/>
              <a:defRPr sz="1575" b="0">
                <a:solidFill>
                  <a:srgbClr val="172B3A"/>
                </a:solidFill>
                <a:latin typeface="Arial" panose="020B0604020202090204"/>
                <a:ea typeface="Arial" panose="020B0604020202090204"/>
                <a:cs typeface="Arial" panose="020B0604020202090204"/>
              </a:defRPr>
            </a:pPr>
            <a:r>
              <a:rPr lang="en-US" altLang="zh-CN" sz="1500" b="0">
                <a:solidFill>
                  <a:srgbClr val="172B3A"/>
                </a:solidFill>
                <a:latin typeface="Arial" panose="020B0604020202090204"/>
                <a:ea typeface="Arial" panose="020B0604020202090204"/>
                <a:cs typeface="Arial" panose="020B0604020202090204"/>
              </a:rPr>
              <a:t>Missing modality：</a:t>
            </a:r>
            <a:r>
              <a:rPr lang="zh-CN" altLang="en-US" sz="1500" b="0">
                <a:solidFill>
                  <a:srgbClr val="172B3A"/>
                </a:solidFill>
                <a:latin typeface="Arial" panose="020B0604020202090204"/>
                <a:ea typeface="Arial" panose="020B0604020202090204"/>
                <a:cs typeface="Arial" panose="020B0604020202090204"/>
              </a:rPr>
              <a:t>单一模态缺失时，微调后的表示更稳健</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a:spLocks noGrp="1"/>
          </p:cNvSpPr>
          <p:nvPr/>
        </p:nvSpPr>
        <p:spPr>
          <a:xfrm>
            <a:off x="685800" y="361950"/>
            <a:ext cx="10810875" cy="590550"/>
          </a:xfrm>
          <a:prstGeom prst="rect">
            <a:avLst/>
          </a:prstGeom>
          <a:noFill/>
          <a:ln w="0">
            <a:noFill/>
          </a:ln>
        </p:spPr>
        <p:txBody>
          <a:bodyPr wrap="square" lIns="0" tIns="0" rIns="0" bIns="0" anchor="t">
            <a:normAutofit/>
          </a:bodyPr>
          <a:lstStyle/>
          <a:p>
            <a:pPr algn="l">
              <a:lnSpc>
                <a:spcPct val="100000"/>
              </a:lnSpc>
              <a:buNone/>
              <a:defRPr sz="2700" b="1">
                <a:solidFill>
                  <a:srgbClr val="172B3A"/>
                </a:solidFill>
                <a:latin typeface="Arial" panose="020B0604020202090204"/>
                <a:ea typeface="Arial" panose="020B0604020202090204"/>
                <a:cs typeface="Arial" panose="020B0604020202090204"/>
              </a:defRPr>
            </a:pPr>
            <a:r>
              <a:rPr sz="2700" b="1">
                <a:solidFill>
                  <a:srgbClr val="172B3A"/>
                </a:solidFill>
                <a:latin typeface="Arial" panose="020B0604020202090204"/>
                <a:ea typeface="Arial" panose="020B0604020202090204"/>
                <a:cs typeface="Arial" panose="020B0604020202090204"/>
              </a:rPr>
              <a:t>结论与启发：把“融合”推进到可检查的信息分工</a:t>
            </a:r>
          </a:p>
        </p:txBody>
      </p:sp>
      <p:sp>
        <p:nvSpPr>
          <p:cNvPr id="2" name="矩形 1"/>
          <p:cNvSpPr>
            <a:spLocks noGrp="1"/>
          </p:cNvSpPr>
          <p:nvPr/>
        </p:nvSpPr>
        <p:spPr>
          <a:xfrm>
            <a:off x="685800" y="1057275"/>
            <a:ext cx="10820400" cy="19050"/>
          </a:xfrm>
          <a:prstGeom prst="rect">
            <a:avLst/>
          </a:prstGeom>
          <a:solidFill>
            <a:srgbClr val="137C8B"/>
          </a:solidFill>
          <a:ln w="0">
            <a:noFill/>
            <a:prstDash val="solid"/>
          </a:ln>
        </p:spPr>
      </p:sp>
      <p:sp>
        <p:nvSpPr>
          <p:cNvPr id="3" name="矩形 2"/>
          <p:cNvSpPr>
            <a:spLocks noGrp="1"/>
          </p:cNvSpPr>
          <p:nvPr/>
        </p:nvSpPr>
        <p:spPr>
          <a:xfrm>
            <a:off x="685800" y="6438900"/>
            <a:ext cx="7620000" cy="209550"/>
          </a:xfrm>
          <a:prstGeom prst="rect">
            <a:avLst/>
          </a:prstGeom>
          <a:noFill/>
          <a:ln w="0">
            <a:noFill/>
          </a:ln>
        </p:spPr>
        <p:txBody>
          <a:bodyPr wrap="square" lIns="0" tIns="0" rIns="0" bIns="0" anchor="t">
            <a:normAutofit/>
          </a:bodyPr>
          <a:lstStyle/>
          <a:p>
            <a:pPr algn="l">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6 结论与启发</a:t>
            </a:r>
          </a:p>
        </p:txBody>
      </p:sp>
      <p:sp>
        <p:nvSpPr>
          <p:cNvPr id="4" name="矩形 3"/>
          <p:cNvSpPr>
            <a:spLocks noGrp="1"/>
          </p:cNvSpPr>
          <p:nvPr/>
        </p:nvSpPr>
        <p:spPr>
          <a:xfrm>
            <a:off x="10572750" y="6438900"/>
            <a:ext cx="933450" cy="209550"/>
          </a:xfrm>
          <a:prstGeom prst="rect">
            <a:avLst/>
          </a:prstGeom>
          <a:noFill/>
          <a:ln w="0">
            <a:noFill/>
          </a:ln>
        </p:spPr>
        <p:txBody>
          <a:bodyPr wrap="square" lIns="0" tIns="0" rIns="0" bIns="0" anchor="t">
            <a:normAutofit/>
          </a:bodyPr>
          <a:lstStyle/>
          <a:p>
            <a:pPr algn="r">
              <a:lnSpc>
                <a:spcPct val="100000"/>
              </a:lnSpc>
              <a:buNone/>
              <a:defRPr sz="1125" b="0">
                <a:solidFill>
                  <a:srgbClr val="526573"/>
                </a:solidFill>
                <a:latin typeface="Arial" panose="020B0604020202090204"/>
                <a:ea typeface="Arial" panose="020B0604020202090204"/>
                <a:cs typeface="Arial" panose="020B0604020202090204"/>
              </a:defRPr>
            </a:pPr>
            <a:r>
              <a:rPr sz="1125" b="0">
                <a:solidFill>
                  <a:srgbClr val="526573"/>
                </a:solidFill>
                <a:latin typeface="Arial" panose="020B0604020202090204"/>
                <a:ea typeface="Arial" panose="020B0604020202090204"/>
                <a:cs typeface="Arial" panose="020B0604020202090204"/>
              </a:rPr>
              <a:t>1</a:t>
            </a:r>
            <a:r>
              <a:rPr lang="en-US" sz="1125" b="0">
                <a:solidFill>
                  <a:srgbClr val="526573"/>
                </a:solidFill>
                <a:latin typeface="Arial" panose="020B0604020202090204"/>
                <a:ea typeface="Arial" panose="020B0604020202090204"/>
                <a:cs typeface="Arial" panose="020B0604020202090204"/>
              </a:rPr>
              <a:t>8</a:t>
            </a:r>
            <a:r>
              <a:rPr sz="1125" b="0">
                <a:solidFill>
                  <a:srgbClr val="526573"/>
                </a:solidFill>
                <a:latin typeface="Arial" panose="020B0604020202090204"/>
                <a:ea typeface="Arial" panose="020B0604020202090204"/>
                <a:cs typeface="Arial" panose="020B0604020202090204"/>
              </a:rPr>
              <a:t> / 1</a:t>
            </a:r>
            <a:r>
              <a:rPr lang="en-US" sz="1125" b="0">
                <a:solidFill>
                  <a:srgbClr val="526573"/>
                </a:solidFill>
                <a:latin typeface="Arial" panose="020B0604020202090204"/>
                <a:ea typeface="Arial" panose="020B0604020202090204"/>
                <a:cs typeface="Arial" panose="020B0604020202090204"/>
              </a:rPr>
              <a:t>9</a:t>
            </a:r>
          </a:p>
        </p:txBody>
      </p:sp>
      <p:sp>
        <p:nvSpPr>
          <p:cNvPr id="5" name="矩形 4"/>
          <p:cNvSpPr>
            <a:spLocks noGrp="1"/>
          </p:cNvSpPr>
          <p:nvPr/>
        </p:nvSpPr>
        <p:spPr>
          <a:xfrm>
            <a:off x="685800" y="1428750"/>
            <a:ext cx="2190750" cy="381000"/>
          </a:xfrm>
          <a:prstGeom prst="rect">
            <a:avLst/>
          </a:prstGeom>
          <a:noFill/>
          <a:ln w="0">
            <a:noFill/>
          </a:ln>
        </p:spPr>
        <p:txBody>
          <a:bodyPr wrap="square" lIns="0" tIns="0" rIns="0" bIns="0" anchor="t">
            <a:normAutofit/>
          </a:bodyPr>
          <a:lstStyle/>
          <a:p>
            <a:pPr algn="l">
              <a:lnSpc>
                <a:spcPct val="100000"/>
              </a:lnSpc>
              <a:buNone/>
              <a:defRPr sz="1725" b="1">
                <a:solidFill>
                  <a:srgbClr val="137C8B"/>
                </a:solidFill>
                <a:latin typeface="Arial" panose="020B0604020202090204"/>
                <a:ea typeface="Arial" panose="020B0604020202090204"/>
                <a:cs typeface="Arial" panose="020B0604020202090204"/>
              </a:defRPr>
            </a:pPr>
            <a:r>
              <a:rPr sz="1725" b="1">
                <a:solidFill>
                  <a:srgbClr val="137C8B"/>
                </a:solidFill>
                <a:latin typeface="Arial" panose="020B0604020202090204"/>
                <a:ea typeface="Arial" panose="020B0604020202090204"/>
                <a:cs typeface="Arial" panose="020B0604020202090204"/>
              </a:rPr>
              <a:t>论文结论</a:t>
            </a:r>
          </a:p>
        </p:txBody>
      </p:sp>
      <p:sp>
        <p:nvSpPr>
          <p:cNvPr id="6" name="矩形 5"/>
          <p:cNvSpPr>
            <a:spLocks noGrp="1"/>
          </p:cNvSpPr>
          <p:nvPr/>
        </p:nvSpPr>
        <p:spPr>
          <a:xfrm>
            <a:off x="685800" y="1914525"/>
            <a:ext cx="10334625" cy="685800"/>
          </a:xfrm>
          <a:prstGeom prst="rect">
            <a:avLst/>
          </a:prstGeom>
          <a:noFill/>
          <a:ln w="0">
            <a:noFill/>
          </a:ln>
        </p:spPr>
        <p:txBody>
          <a:bodyPr wrap="square" lIns="0" tIns="0" rIns="0" bIns="0" anchor="t">
            <a:normAutofit/>
          </a:bodyPr>
          <a:lstStyle/>
          <a:p>
            <a:pPr algn="l">
              <a:lnSpc>
                <a:spcPct val="100000"/>
              </a:lnSpc>
              <a:buNone/>
              <a:defRPr sz="1875" b="1">
                <a:solidFill>
                  <a:srgbClr val="172B3A"/>
                </a:solidFill>
                <a:latin typeface="Arial" panose="020B0604020202090204"/>
                <a:ea typeface="Arial" panose="020B0604020202090204"/>
                <a:cs typeface="Arial" panose="020B0604020202090204"/>
              </a:defRPr>
            </a:pPr>
            <a:r>
              <a:rPr lang="zh-CN" altLang="en-US" sz="1650" b="0">
                <a:solidFill>
                  <a:srgbClr val="172B3A"/>
                </a:solidFill>
                <a:latin typeface="Arial" panose="020B0604020202090204"/>
                <a:ea typeface="Arial" panose="020B0604020202090204"/>
                <a:cs typeface="Arial" panose="020B0604020202090204"/>
              </a:rPr>
              <a:t>冻结预训练单模态编码器，并通过低秩表示微调显式分离共享与模态特异信息，可在较低参数开销下兼顾多模态预测、表示可解释性与缺失模态鲁棒性</a:t>
            </a:r>
            <a:r>
              <a:rPr sz="1650" b="0">
                <a:solidFill>
                  <a:srgbClr val="172B3A"/>
                </a:solidFill>
                <a:latin typeface="Arial" panose="020B0604020202090204"/>
                <a:ea typeface="Arial" panose="020B0604020202090204"/>
                <a:cs typeface="Arial" panose="020B0604020202090204"/>
              </a:rPr>
              <a:t>。</a:t>
            </a:r>
          </a:p>
        </p:txBody>
      </p:sp>
      <p:sp>
        <p:nvSpPr>
          <p:cNvPr id="7" name="矩形 6"/>
          <p:cNvSpPr>
            <a:spLocks noGrp="1"/>
          </p:cNvSpPr>
          <p:nvPr/>
        </p:nvSpPr>
        <p:spPr>
          <a:xfrm>
            <a:off x="685800" y="3000375"/>
            <a:ext cx="3238500" cy="381000"/>
          </a:xfrm>
          <a:prstGeom prst="rect">
            <a:avLst/>
          </a:prstGeom>
          <a:noFill/>
          <a:ln w="0">
            <a:noFill/>
          </a:ln>
        </p:spPr>
        <p:txBody>
          <a:bodyPr wrap="square" lIns="0" tIns="0" rIns="0" bIns="0" anchor="t">
            <a:normAutofit/>
          </a:bodyPr>
          <a:lstStyle/>
          <a:p>
            <a:pPr algn="l">
              <a:lnSpc>
                <a:spcPct val="100000"/>
              </a:lnSpc>
              <a:buNone/>
              <a:defRPr sz="1650" b="1">
                <a:solidFill>
                  <a:srgbClr val="D78345"/>
                </a:solidFill>
                <a:latin typeface="Arial" panose="020B0604020202090204"/>
                <a:ea typeface="Arial" panose="020B0604020202090204"/>
                <a:cs typeface="Arial" panose="020B0604020202090204"/>
              </a:defRPr>
            </a:pPr>
            <a:r>
              <a:rPr sz="1650" b="1">
                <a:solidFill>
                  <a:srgbClr val="D78345"/>
                </a:solidFill>
                <a:latin typeface="Arial" panose="020B0604020202090204"/>
                <a:ea typeface="Arial" panose="020B0604020202090204"/>
                <a:cs typeface="Arial" panose="020B0604020202090204"/>
              </a:rPr>
              <a:t>启发</a:t>
            </a:r>
          </a:p>
        </p:txBody>
      </p:sp>
      <p:sp>
        <p:nvSpPr>
          <p:cNvPr id="8" name="矩形 7"/>
          <p:cNvSpPr>
            <a:spLocks noGrp="1"/>
          </p:cNvSpPr>
          <p:nvPr/>
        </p:nvSpPr>
        <p:spPr>
          <a:xfrm>
            <a:off x="685800" y="3448050"/>
            <a:ext cx="10334625" cy="790575"/>
          </a:xfrm>
          <a:prstGeom prst="rect">
            <a:avLst/>
          </a:prstGeom>
          <a:noFill/>
          <a:ln w="0">
            <a:noFill/>
          </a:ln>
        </p:spPr>
        <p:txBody>
          <a:bodyPr wrap="square" lIns="0" tIns="0" rIns="0" bIns="0" anchor="t">
            <a:normAutofit/>
          </a:bodyPr>
          <a:lstStyle/>
          <a:p>
            <a:pPr algn="l">
              <a:lnSpc>
                <a:spcPct val="100000"/>
              </a:lnSpc>
              <a:buNone/>
              <a:defRPr sz="1650" b="0">
                <a:solidFill>
                  <a:srgbClr val="172B3A"/>
                </a:solidFill>
                <a:latin typeface="Arial" panose="020B0604020202090204"/>
                <a:ea typeface="Arial" panose="020B0604020202090204"/>
                <a:cs typeface="Arial" panose="020B0604020202090204"/>
              </a:defRPr>
            </a:pPr>
            <a:r>
              <a:rPr lang="zh-CN" altLang="en-US" sz="1650" b="0">
                <a:solidFill>
                  <a:srgbClr val="172B3A"/>
                </a:solidFill>
                <a:latin typeface="Arial" panose="020B0604020202090204"/>
                <a:ea typeface="Arial" panose="020B0604020202090204"/>
                <a:cs typeface="Arial" panose="020B0604020202090204"/>
              </a:rPr>
              <a:t>评估多模态模型时，不应只看最终预测性能，还应检查共享因素是否真正集中在 </a:t>
            </a:r>
            <a:r>
              <a:rPr lang="en-US" altLang="zh-CN" sz="1650" b="0">
                <a:solidFill>
                  <a:srgbClr val="172B3A"/>
                </a:solidFill>
                <a:latin typeface="Arial" panose="020B0604020202090204"/>
                <a:ea typeface="Arial" panose="020B0604020202090204"/>
                <a:cs typeface="Arial" panose="020B0604020202090204"/>
              </a:rPr>
              <a:t>shared subspace，</a:t>
            </a:r>
            <a:r>
              <a:rPr lang="zh-CN" altLang="en-US" sz="1650" b="0">
                <a:solidFill>
                  <a:srgbClr val="172B3A"/>
                </a:solidFill>
                <a:latin typeface="Arial" panose="020B0604020202090204"/>
                <a:ea typeface="Arial" panose="020B0604020202090204"/>
                <a:cs typeface="Arial" panose="020B0604020202090204"/>
              </a:rPr>
              <a:t>以及模态缺失时剩余表示是否仍保留有效的跨模态信息</a:t>
            </a:r>
            <a:r>
              <a:rPr sz="1650" b="0">
                <a:solidFill>
                  <a:srgbClr val="172B3A"/>
                </a:solidFill>
                <a:latin typeface="Arial" panose="020B0604020202090204"/>
                <a:ea typeface="Arial" panose="020B0604020202090204"/>
                <a:cs typeface="Arial" panose="020B0604020202090204"/>
              </a:rPr>
              <a:t>。</a:t>
            </a:r>
          </a:p>
        </p:txBody>
      </p:sp>
      <p:sp>
        <p:nvSpPr>
          <p:cNvPr id="9" name="矩形 8"/>
          <p:cNvSpPr>
            <a:spLocks noGrp="1"/>
          </p:cNvSpPr>
          <p:nvPr/>
        </p:nvSpPr>
        <p:spPr>
          <a:xfrm>
            <a:off x="685800" y="4648200"/>
            <a:ext cx="10820400" cy="1417320"/>
          </a:xfrm>
          <a:prstGeom prst="rect">
            <a:avLst/>
          </a:prstGeom>
          <a:solidFill>
            <a:srgbClr val="EEF3F6"/>
          </a:solidFill>
          <a:ln w="0">
            <a:noFill/>
            <a:prstDash val="solid"/>
          </a:ln>
        </p:spPr>
      </p:sp>
      <p:sp>
        <p:nvSpPr>
          <p:cNvPr id="10" name="矩形 9"/>
          <p:cNvSpPr>
            <a:spLocks noGrp="1"/>
          </p:cNvSpPr>
          <p:nvPr/>
        </p:nvSpPr>
        <p:spPr>
          <a:xfrm>
            <a:off x="914400" y="4819650"/>
            <a:ext cx="1619250" cy="323850"/>
          </a:xfrm>
          <a:prstGeom prst="rect">
            <a:avLst/>
          </a:prstGeom>
          <a:noFill/>
          <a:ln w="0">
            <a:noFill/>
          </a:ln>
        </p:spPr>
        <p:txBody>
          <a:bodyPr wrap="square" lIns="0" tIns="0" rIns="0" bIns="0" anchor="t">
            <a:normAutofit/>
          </a:bodyPr>
          <a:lstStyle/>
          <a:p>
            <a:pPr algn="l">
              <a:lnSpc>
                <a:spcPct val="100000"/>
              </a:lnSpc>
              <a:buNone/>
              <a:defRPr sz="1500" b="1">
                <a:solidFill>
                  <a:srgbClr val="137C8B"/>
                </a:solidFill>
                <a:latin typeface="Arial" panose="020B0604020202090204"/>
                <a:ea typeface="Arial" panose="020B0604020202090204"/>
                <a:cs typeface="Arial" panose="020B0604020202090204"/>
              </a:defRPr>
            </a:pPr>
            <a:r>
              <a:rPr sz="1500" b="1">
                <a:solidFill>
                  <a:srgbClr val="137C8B"/>
                </a:solidFill>
                <a:latin typeface="Arial" panose="020B0604020202090204"/>
                <a:ea typeface="Arial" panose="020B0604020202090204"/>
                <a:cs typeface="Arial" panose="020B0604020202090204"/>
              </a:rPr>
              <a:t>论文边界</a:t>
            </a:r>
          </a:p>
        </p:txBody>
      </p:sp>
      <p:sp>
        <p:nvSpPr>
          <p:cNvPr id="11" name="矩形 10"/>
          <p:cNvSpPr>
            <a:spLocks noGrp="1"/>
          </p:cNvSpPr>
          <p:nvPr/>
        </p:nvSpPr>
        <p:spPr>
          <a:xfrm>
            <a:off x="914400" y="5083810"/>
            <a:ext cx="10287000" cy="869315"/>
          </a:xfrm>
          <a:prstGeom prst="rect">
            <a:avLst/>
          </a:prstGeom>
          <a:noFill/>
          <a:ln w="0">
            <a:noFill/>
          </a:ln>
        </p:spPr>
        <p:txBody>
          <a:bodyPr wrap="square" lIns="0" tIns="0" rIns="0" bIns="0" anchor="t">
            <a:normAutofit/>
          </a:bodyPr>
          <a:lstStyle/>
          <a:p>
            <a:pPr algn="l">
              <a:lnSpc>
                <a:spcPct val="140000"/>
              </a:lnSpc>
              <a:buNone/>
              <a:defRPr sz="1350" b="0">
                <a:solidFill>
                  <a:srgbClr val="172B3A"/>
                </a:solidFill>
                <a:latin typeface="Arial" panose="020B0604020202090204"/>
                <a:ea typeface="Arial" panose="020B0604020202090204"/>
                <a:cs typeface="Arial" panose="020B0604020202090204"/>
              </a:defRPr>
            </a:pPr>
            <a:r>
              <a:rPr sz="1350" b="0">
                <a:solidFill>
                  <a:srgbClr val="172B3A"/>
                </a:solidFill>
                <a:latin typeface="Arial" panose="020B0604020202090204"/>
                <a:ea typeface="Arial" panose="020B0604020202090204"/>
                <a:cs typeface="Arial" panose="020B0604020202090204"/>
              </a:rPr>
              <a:t>• 主实验以双模态为主；更多模态的部分共享因素尚难解释与验证。</a:t>
            </a:r>
          </a:p>
          <a:p>
            <a:pPr algn="l">
              <a:lnSpc>
                <a:spcPct val="140000"/>
              </a:lnSpc>
              <a:buNone/>
              <a:defRPr sz="1350" b="0">
                <a:solidFill>
                  <a:srgbClr val="172B3A"/>
                </a:solidFill>
                <a:latin typeface="Arial" panose="020B0604020202090204"/>
                <a:ea typeface="Arial" panose="020B0604020202090204"/>
                <a:cs typeface="Arial" panose="020B0604020202090204"/>
              </a:defRPr>
            </a:pPr>
            <a:r>
              <a:rPr sz="1350" b="0">
                <a:solidFill>
                  <a:srgbClr val="172B3A"/>
                </a:solidFill>
                <a:latin typeface="Arial" panose="020B0604020202090204"/>
                <a:ea typeface="Arial" panose="020B0604020202090204"/>
                <a:cs typeface="Arial" panose="020B0604020202090204"/>
              </a:rPr>
              <a:t>• </a:t>
            </a:r>
            <a:r>
              <a:rPr lang="zh-CN" altLang="en-US" sz="1350" b="0">
                <a:solidFill>
                  <a:srgbClr val="172B3A"/>
                </a:solidFill>
                <a:latin typeface="Arial" panose="020B0604020202090204"/>
                <a:ea typeface="Arial" panose="020B0604020202090204"/>
                <a:cs typeface="Arial" panose="020B0604020202090204"/>
              </a:rPr>
              <a:t>方法上限受预训练单模态编码器的表示质量与任务相关信息覆盖范围限制。</a:t>
            </a:r>
          </a:p>
          <a:p>
            <a:pPr algn="l">
              <a:lnSpc>
                <a:spcPct val="140000"/>
              </a:lnSpc>
              <a:buNone/>
              <a:defRPr sz="1350" b="0">
                <a:solidFill>
                  <a:srgbClr val="172B3A"/>
                </a:solidFill>
                <a:latin typeface="Arial" panose="020B0604020202090204"/>
                <a:ea typeface="Arial" panose="020B0604020202090204"/>
                <a:cs typeface="Arial" panose="020B0604020202090204"/>
              </a:defRPr>
            </a:pPr>
            <a:r>
              <a:rPr sz="1350" b="0">
                <a:solidFill>
                  <a:srgbClr val="172B3A"/>
                </a:solidFill>
                <a:latin typeface="Arial" panose="020B0604020202090204"/>
                <a:ea typeface="Arial" panose="020B0604020202090204"/>
                <a:cs typeface="Arial" panose="020B0604020202090204"/>
              </a:rPr>
              <a:t>• </a:t>
            </a:r>
            <a:r>
              <a:rPr lang="zh-CN" altLang="en-US" sz="1350" b="0">
                <a:solidFill>
                  <a:srgbClr val="172B3A"/>
                </a:solidFill>
                <a:latin typeface="Arial" panose="020B0604020202090204"/>
                <a:ea typeface="Arial" panose="020B0604020202090204"/>
                <a:cs typeface="Arial" panose="020B0604020202090204"/>
              </a:rPr>
              <a:t>真实数据上的下游性能提升幅度因任务而异；解耦效果的验证仍依赖可用的属性或语义标签</a:t>
            </a:r>
            <a:r>
              <a:rPr sz="1350" b="0">
                <a:solidFill>
                  <a:srgbClr val="172B3A"/>
                </a:solidFill>
                <a:latin typeface="Arial" panose="020B0604020202090204"/>
                <a:ea typeface="Arial" panose="020B0604020202090204"/>
                <a:cs typeface="Arial" panose="020B0604020202090204"/>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custDataLst>
              <p:tags r:id="rId1"/>
            </p:custDataLst>
          </p:nvPr>
        </p:nvSpPr>
        <p:spPr>
          <a:xfrm>
            <a:off x="2334256" y="704850"/>
            <a:ext cx="7522888" cy="2751150"/>
          </a:xfrm>
          <a:prstGeom prst="rect">
            <a:avLst/>
          </a:prstGeom>
        </p:spPr>
        <p:txBody>
          <a:bodyPr vert="horz" wrap="square" lIns="0" tIns="0" rIns="0" bIns="0" rtlCol="0" anchor="b">
            <a:normAutofit/>
          </a:bodyPr>
          <a:lstStyle>
            <a:lvl1pPr algn="ctr" defTabSz="914400" rtl="0" eaLnBrk="1" latinLnBrk="0" hangingPunct="1">
              <a:lnSpc>
                <a:spcPct val="100000"/>
              </a:lnSpc>
              <a:spcBef>
                <a:spcPct val="0"/>
              </a:spcBef>
              <a:buNone/>
              <a:defRPr sz="5400" b="1" kern="1200">
                <a:solidFill>
                  <a:schemeClr val="tx1"/>
                </a:solidFill>
                <a:latin typeface="+mj-lt"/>
                <a:ea typeface="+mj-ea"/>
                <a:cs typeface="+mj-cs"/>
              </a:defRPr>
            </a:lvl1pPr>
          </a:lstStyle>
          <a:p>
            <a:r>
              <a:rPr lang="zh-CN" altLang="en-US"/>
              <a:t>谢谢您的观看</a:t>
            </a:r>
          </a:p>
        </p:txBody>
      </p:sp>
      <p:sp>
        <p:nvSpPr>
          <p:cNvPr id="2" name="文本框 1"/>
          <p:cNvSpPr txBox="1"/>
          <p:nvPr/>
        </p:nvSpPr>
        <p:spPr>
          <a:xfrm>
            <a:off x="345440" y="6539230"/>
            <a:ext cx="4064000" cy="914400"/>
          </a:xfrm>
          <a:prstGeom prst="rect">
            <a:avLst/>
          </a:prstGeom>
          <a:noFill/>
        </p:spPr>
        <p:txBody>
          <a:bodyPr wrap="square" rtlCol="0">
            <a:normAutofit/>
          </a:bodyPr>
          <a:lstStyle/>
          <a:p>
            <a:pPr>
              <a:lnSpc>
                <a:spcPct val="140000"/>
              </a:lnSpc>
            </a:pPr>
            <a:endParaRPr lang="zh-CN" altLang="en-US" sz="2400" kern="100" dirty="0">
              <a:effectLst/>
              <a:latin typeface="+mn-ea"/>
              <a:cs typeface="江城圆体 400W" panose="020B0500000000000000" pitchFamily="34" charset="-122"/>
            </a:endParaRPr>
          </a:p>
        </p:txBody>
      </p:sp>
      <p:sp>
        <p:nvSpPr>
          <p:cNvPr id="3" name="文本框 2"/>
          <p:cNvSpPr txBox="1"/>
          <p:nvPr/>
        </p:nvSpPr>
        <p:spPr>
          <a:xfrm>
            <a:off x="4063365" y="4221480"/>
            <a:ext cx="4064000" cy="368300"/>
          </a:xfrm>
          <a:prstGeom prst="rect">
            <a:avLst/>
          </a:prstGeom>
          <a:noFill/>
        </p:spPr>
        <p:txBody>
          <a:bodyPr wrap="square" rtlCol="0">
            <a:spAutoFit/>
          </a:bodyPr>
          <a:lstStyle/>
          <a:p>
            <a:pPr algn="ctr"/>
            <a:r>
              <a:rPr lang="zh-CN" altLang="en-US">
                <a:sym typeface="+mn-ea"/>
              </a:rPr>
              <a:t>汇报人：</a:t>
            </a:r>
            <a:r>
              <a:rPr lang="en-US" altLang="zh-CN">
                <a:sym typeface="+mn-ea"/>
              </a:rPr>
              <a:t>2612196 </a:t>
            </a:r>
            <a:r>
              <a:rPr>
                <a:sym typeface="+mn-ea"/>
              </a:rPr>
              <a:t>肖颖</a:t>
            </a: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Grp="1"/>
          </p:cNvSpPr>
          <p:nvPr/>
        </p:nvSpPr>
        <p:spPr>
          <a:xfrm>
            <a:off x="914400" y="1866900"/>
            <a:ext cx="8572500" cy="228600"/>
          </a:xfrm>
          <a:prstGeom prst="rect">
            <a:avLst/>
          </a:prstGeom>
          <a:noFill/>
          <a:ln w="0">
            <a:noFill/>
          </a:ln>
        </p:spPr>
        <p:txBody>
          <a:bodyPr lIns="0" tIns="0" rIns="0" bIns="0" anchor="t">
            <a:noAutofit/>
          </a:bodyPr>
          <a:lstStyle/>
          <a:p>
            <a:pPr algn="l">
              <a:defRPr sz="1200" b="0">
                <a:solidFill>
                  <a:srgbClr val="69747F"/>
                </a:solidFill>
                <a:latin typeface="微软雅黑"/>
                <a:ea typeface="微软雅黑"/>
                <a:cs typeface="微软雅黑"/>
              </a:defRPr>
            </a:pPr>
            <a:r>
              <a:rPr sz="1600" dirty="0"/>
              <a:t>ICCV 2023 · Google DeepMind (Zürich)</a:t>
            </a:r>
          </a:p>
        </p:txBody>
      </p:sp>
      <p:sp>
        <p:nvSpPr>
          <p:cNvPr id="2" name="矩形 1"/>
          <p:cNvSpPr>
            <a:spLocks noGrp="1"/>
          </p:cNvSpPr>
          <p:nvPr/>
        </p:nvSpPr>
        <p:spPr>
          <a:xfrm>
            <a:off x="914400" y="2171700"/>
            <a:ext cx="9525000" cy="1181100"/>
          </a:xfrm>
          <a:prstGeom prst="rect">
            <a:avLst/>
          </a:prstGeom>
          <a:noFill/>
          <a:ln w="0">
            <a:noFill/>
          </a:ln>
        </p:spPr>
        <p:txBody>
          <a:bodyPr lIns="0" tIns="0" rIns="0" bIns="0" anchor="t">
            <a:noAutofit/>
          </a:bodyPr>
          <a:lstStyle/>
          <a:p>
            <a:pPr algn="l">
              <a:defRPr sz="3300" b="1">
                <a:solidFill>
                  <a:srgbClr val="12161C"/>
                </a:solidFill>
                <a:latin typeface="微软雅黑"/>
                <a:ea typeface="微软雅黑"/>
                <a:cs typeface="微软雅黑"/>
              </a:defRPr>
            </a:pPr>
            <a:r>
              <a:rPr sz="4000" dirty="0" err="1"/>
              <a:t>SigLIP</a:t>
            </a:r>
            <a:r>
              <a:rPr sz="4000" dirty="0"/>
              <a:t>: Sigmoid Loss</a:t>
            </a:r>
          </a:p>
          <a:p>
            <a:pPr algn="l">
              <a:defRPr sz="3300" b="1">
                <a:solidFill>
                  <a:srgbClr val="12161C"/>
                </a:solidFill>
                <a:latin typeface="微软雅黑"/>
                <a:ea typeface="微软雅黑"/>
                <a:cs typeface="微软雅黑"/>
              </a:defRPr>
            </a:pPr>
            <a:r>
              <a:rPr sz="4000" dirty="0"/>
              <a:t>for Language Image Pre-Training</a:t>
            </a:r>
          </a:p>
        </p:txBody>
      </p:sp>
      <p:sp>
        <p:nvSpPr>
          <p:cNvPr id="3" name="矩形 2"/>
          <p:cNvSpPr>
            <a:spLocks noGrp="1"/>
          </p:cNvSpPr>
          <p:nvPr/>
        </p:nvSpPr>
        <p:spPr>
          <a:xfrm>
            <a:off x="914400" y="3505200"/>
            <a:ext cx="8572500" cy="457200"/>
          </a:xfrm>
          <a:prstGeom prst="rect">
            <a:avLst/>
          </a:prstGeom>
          <a:noFill/>
          <a:ln w="0">
            <a:noFill/>
          </a:ln>
        </p:spPr>
        <p:txBody>
          <a:bodyPr lIns="0" tIns="0" rIns="0" bIns="0" anchor="t">
            <a:noAutofit/>
          </a:bodyPr>
          <a:lstStyle/>
          <a:p>
            <a:pPr algn="l">
              <a:defRPr sz="1650" b="0">
                <a:solidFill>
                  <a:srgbClr val="C2410C"/>
                </a:solidFill>
                <a:latin typeface="微软雅黑"/>
                <a:ea typeface="微软雅黑"/>
                <a:cs typeface="微软雅黑"/>
              </a:defRPr>
            </a:pPr>
            <a:r>
              <a:rPr dirty="0" err="1"/>
              <a:t>把图文对比学习从「多选」改成「判断</a:t>
            </a:r>
            <a:r>
              <a:rPr dirty="0"/>
              <a:t>」</a:t>
            </a:r>
          </a:p>
        </p:txBody>
      </p:sp>
      <p:sp>
        <p:nvSpPr>
          <p:cNvPr id="4" name="矩形 3"/>
          <p:cNvSpPr>
            <a:spLocks noGrp="1"/>
          </p:cNvSpPr>
          <p:nvPr/>
        </p:nvSpPr>
        <p:spPr>
          <a:xfrm>
            <a:off x="914400" y="4000500"/>
            <a:ext cx="1143000" cy="28575"/>
          </a:xfrm>
          <a:prstGeom prst="rect">
            <a:avLst/>
          </a:prstGeom>
          <a:solidFill>
            <a:srgbClr val="C2410C"/>
          </a:solidFill>
          <a:ln w="0">
            <a:noFill/>
          </a:ln>
        </p:spPr>
      </p:sp>
      <p:sp>
        <p:nvSpPr>
          <p:cNvPr id="5" name="矩形 4"/>
          <p:cNvSpPr>
            <a:spLocks noGrp="1"/>
          </p:cNvSpPr>
          <p:nvPr/>
        </p:nvSpPr>
        <p:spPr>
          <a:xfrm>
            <a:off x="914400" y="4267200"/>
            <a:ext cx="7620000" cy="266700"/>
          </a:xfrm>
          <a:prstGeom prst="rect">
            <a:avLst/>
          </a:prstGeom>
          <a:noFill/>
          <a:ln w="0">
            <a:noFill/>
          </a:ln>
        </p:spPr>
        <p:txBody>
          <a:bodyPr lIns="0" tIns="0" rIns="0" bIns="0" anchor="t">
            <a:noAutofit/>
          </a:bodyPr>
          <a:lstStyle/>
          <a:p>
            <a:pPr algn="l">
              <a:defRPr sz="1275" b="0">
                <a:solidFill>
                  <a:srgbClr val="39424F"/>
                </a:solidFill>
                <a:latin typeface="微软雅黑"/>
                <a:ea typeface="微软雅黑"/>
                <a:cs typeface="微软雅黑"/>
              </a:defRPr>
            </a:pPr>
            <a:r>
              <a:rPr dirty="0" err="1"/>
              <a:t>汇报人：韩敬霄</a:t>
            </a:r>
            <a:r>
              <a:rPr dirty="0"/>
              <a:t>　·　2026 年 9 月 </a:t>
            </a:r>
            <a:r>
              <a:rPr lang="en-US" dirty="0"/>
              <a:t>30 </a:t>
            </a:r>
            <a:r>
              <a:rPr dirty="0"/>
              <a:t>日</a:t>
            </a:r>
          </a:p>
        </p:txBody>
      </p:sp>
      <p:sp>
        <p:nvSpPr>
          <p:cNvPr id="6" name="矩形 5"/>
          <p:cNvSpPr>
            <a:spLocks noGrp="1"/>
          </p:cNvSpPr>
          <p:nvPr/>
        </p:nvSpPr>
        <p:spPr>
          <a:xfrm>
            <a:off x="914400" y="5638800"/>
            <a:ext cx="10363200" cy="457200"/>
          </a:xfrm>
          <a:prstGeom prst="rect">
            <a:avLst/>
          </a:prstGeom>
          <a:noFill/>
          <a:ln w="0">
            <a:noFill/>
          </a:ln>
        </p:spPr>
        <p:txBody>
          <a:bodyPr lIns="0" tIns="0" rIns="0" bIns="0" anchor="t">
            <a:noAutofit/>
          </a:bodyPr>
          <a:lstStyle/>
          <a:p>
            <a:pPr algn="l">
              <a:defRPr sz="1050" b="0">
                <a:solidFill>
                  <a:srgbClr val="69747F"/>
                </a:solidFill>
                <a:latin typeface="微软雅黑"/>
                <a:ea typeface="微软雅黑"/>
                <a:cs typeface="微软雅黑"/>
              </a:defRPr>
            </a:pPr>
            <a:r>
              <a:rPr dirty="0" err="1"/>
              <a:t>论文：Xiaohua</a:t>
            </a:r>
            <a:r>
              <a:rPr dirty="0"/>
              <a:t> Zhai, Basil Mustafa, Alexander Kolesnikov, Lucas Beyer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rPr lang="en-US" altLang="zh-CN" dirty="0" err="1"/>
              <a:t>TLDR</a:t>
            </a:r>
            <a:r>
              <a:rPr dirty="0" err="1"/>
              <a:t>：</a:t>
            </a:r>
            <a:r>
              <a:rPr lang="en-US" altLang="zh-CN" dirty="0" err="1"/>
              <a:t>SigLIP</a:t>
            </a:r>
            <a:r>
              <a:rPr dirty="0" err="1"/>
              <a:t>做了三件事</a:t>
            </a:r>
            <a:endParaRPr dirty="0"/>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2</a:t>
            </a:r>
          </a:p>
        </p:txBody>
      </p:sp>
      <p:sp>
        <p:nvSpPr>
          <p:cNvPr id="4" name="矩形 3"/>
          <p:cNvSpPr>
            <a:spLocks noGrp="1"/>
          </p:cNvSpPr>
          <p:nvPr/>
        </p:nvSpPr>
        <p:spPr>
          <a:xfrm>
            <a:off x="609600" y="1447800"/>
            <a:ext cx="47625" cy="800100"/>
          </a:xfrm>
          <a:prstGeom prst="rect">
            <a:avLst/>
          </a:prstGeom>
          <a:solidFill>
            <a:srgbClr val="C2410C"/>
          </a:solidFill>
          <a:ln w="0">
            <a:noFill/>
          </a:ln>
        </p:spPr>
      </p:sp>
      <p:sp>
        <p:nvSpPr>
          <p:cNvPr id="5" name="矩形 4"/>
          <p:cNvSpPr>
            <a:spLocks noGrp="1"/>
          </p:cNvSpPr>
          <p:nvPr/>
        </p:nvSpPr>
        <p:spPr>
          <a:xfrm>
            <a:off x="876300" y="1428750"/>
            <a:ext cx="1428750" cy="381000"/>
          </a:xfrm>
          <a:prstGeom prst="rect">
            <a:avLst/>
          </a:prstGeom>
          <a:noFill/>
          <a:ln w="0">
            <a:noFill/>
          </a:ln>
        </p:spPr>
        <p:txBody>
          <a:bodyPr lIns="0" tIns="0" rIns="0" bIns="0" anchor="t">
            <a:noAutofit/>
          </a:bodyPr>
          <a:lstStyle/>
          <a:p>
            <a:pPr algn="l">
              <a:defRPr sz="1800" b="1">
                <a:solidFill>
                  <a:srgbClr val="12161C"/>
                </a:solidFill>
                <a:latin typeface="微软雅黑"/>
                <a:ea typeface="微软雅黑"/>
                <a:cs typeface="微软雅黑"/>
              </a:defRPr>
            </a:pPr>
            <a:r>
              <a:rPr sz="2400" dirty="0" err="1"/>
              <a:t>换损失</a:t>
            </a:r>
            <a:endParaRPr sz="2400" dirty="0"/>
          </a:p>
        </p:txBody>
      </p:sp>
      <p:sp>
        <p:nvSpPr>
          <p:cNvPr id="6" name="矩形 5"/>
          <p:cNvSpPr>
            <a:spLocks noGrp="1"/>
          </p:cNvSpPr>
          <p:nvPr/>
        </p:nvSpPr>
        <p:spPr>
          <a:xfrm>
            <a:off x="876300" y="1847850"/>
            <a:ext cx="10706100" cy="304800"/>
          </a:xfrm>
          <a:prstGeom prst="rect">
            <a:avLst/>
          </a:prstGeom>
          <a:noFill/>
          <a:ln w="0">
            <a:noFill/>
          </a:ln>
        </p:spPr>
        <p:txBody>
          <a:bodyPr lIns="0" tIns="0" rIns="0" bIns="0" anchor="t">
            <a:noAutofit/>
          </a:bodyPr>
          <a:lstStyle/>
          <a:p>
            <a:pPr algn="l">
              <a:defRPr sz="1500" b="0">
                <a:solidFill>
                  <a:srgbClr val="12161C"/>
                </a:solidFill>
                <a:latin typeface="微软雅黑"/>
                <a:ea typeface="微软雅黑"/>
                <a:cs typeface="微软雅黑"/>
              </a:defRPr>
            </a:pPr>
            <a:r>
              <a:rPr dirty="0" err="1"/>
              <a:t>softmax</a:t>
            </a:r>
            <a:r>
              <a:rPr dirty="0"/>
              <a:t> → </a:t>
            </a:r>
            <a:r>
              <a:rPr dirty="0" err="1"/>
              <a:t>sigmoid：每一对图文独立判断「配</a:t>
            </a:r>
            <a:r>
              <a:rPr dirty="0"/>
              <a:t> / </a:t>
            </a:r>
            <a:r>
              <a:rPr dirty="0" err="1"/>
              <a:t>不配</a:t>
            </a:r>
            <a:r>
              <a:rPr dirty="0"/>
              <a:t>」</a:t>
            </a:r>
          </a:p>
        </p:txBody>
      </p:sp>
      <p:sp>
        <p:nvSpPr>
          <p:cNvPr id="7" name="矩形 6"/>
          <p:cNvSpPr>
            <a:spLocks noGrp="1"/>
          </p:cNvSpPr>
          <p:nvPr/>
        </p:nvSpPr>
        <p:spPr>
          <a:xfrm>
            <a:off x="876300" y="2190750"/>
            <a:ext cx="10706100" cy="285750"/>
          </a:xfrm>
          <a:prstGeom prst="rect">
            <a:avLst/>
          </a:prstGeom>
          <a:noFill/>
          <a:ln w="0">
            <a:noFill/>
          </a:ln>
        </p:spPr>
        <p:txBody>
          <a:bodyPr lIns="0" tIns="0" rIns="0" bIns="0" anchor="t">
            <a:noAutofit/>
          </a:bodyPr>
          <a:lstStyle/>
          <a:p>
            <a:pPr algn="l">
              <a:defRPr sz="1200" b="0">
                <a:solidFill>
                  <a:srgbClr val="69747F"/>
                </a:solidFill>
                <a:latin typeface="微软雅黑"/>
                <a:ea typeface="微软雅黑"/>
                <a:cs typeface="微软雅黑"/>
              </a:defRPr>
            </a:pPr>
            <a:r>
              <a:t>不再需要跨整个 batch 做归一化，也不再有方向不对称的问题</a:t>
            </a:r>
          </a:p>
        </p:txBody>
      </p:sp>
      <p:sp>
        <p:nvSpPr>
          <p:cNvPr id="8" name="矩形 7"/>
          <p:cNvSpPr>
            <a:spLocks noGrp="1"/>
          </p:cNvSpPr>
          <p:nvPr/>
        </p:nvSpPr>
        <p:spPr>
          <a:xfrm>
            <a:off x="609600" y="2628900"/>
            <a:ext cx="10972800" cy="9525"/>
          </a:xfrm>
          <a:prstGeom prst="rect">
            <a:avLst/>
          </a:prstGeom>
          <a:solidFill>
            <a:srgbClr val="DCE2E9"/>
          </a:solidFill>
          <a:ln w="0">
            <a:noFill/>
          </a:ln>
        </p:spPr>
      </p:sp>
      <p:sp>
        <p:nvSpPr>
          <p:cNvPr id="9" name="矩形 8"/>
          <p:cNvSpPr>
            <a:spLocks noGrp="1"/>
          </p:cNvSpPr>
          <p:nvPr/>
        </p:nvSpPr>
        <p:spPr>
          <a:xfrm>
            <a:off x="609600" y="2876550"/>
            <a:ext cx="47625" cy="800100"/>
          </a:xfrm>
          <a:prstGeom prst="rect">
            <a:avLst/>
          </a:prstGeom>
          <a:solidFill>
            <a:srgbClr val="C2410C"/>
          </a:solidFill>
          <a:ln w="0">
            <a:noFill/>
          </a:ln>
        </p:spPr>
      </p:sp>
      <p:sp>
        <p:nvSpPr>
          <p:cNvPr id="10" name="矩形 9"/>
          <p:cNvSpPr>
            <a:spLocks noGrp="1"/>
          </p:cNvSpPr>
          <p:nvPr/>
        </p:nvSpPr>
        <p:spPr>
          <a:xfrm>
            <a:off x="876300" y="2857500"/>
            <a:ext cx="1428750" cy="381000"/>
          </a:xfrm>
          <a:prstGeom prst="rect">
            <a:avLst/>
          </a:prstGeom>
          <a:noFill/>
          <a:ln w="0">
            <a:noFill/>
          </a:ln>
        </p:spPr>
        <p:txBody>
          <a:bodyPr lIns="0" tIns="0" rIns="0" bIns="0" anchor="t">
            <a:noAutofit/>
          </a:bodyPr>
          <a:lstStyle/>
          <a:p>
            <a:pPr algn="l">
              <a:defRPr sz="1800" b="1">
                <a:solidFill>
                  <a:srgbClr val="12161C"/>
                </a:solidFill>
                <a:latin typeface="微软雅黑"/>
                <a:ea typeface="微软雅黑"/>
                <a:cs typeface="微软雅黑"/>
              </a:defRPr>
            </a:pPr>
            <a:r>
              <a:rPr sz="2400" dirty="0" err="1"/>
              <a:t>省资源</a:t>
            </a:r>
            <a:endParaRPr sz="2400" dirty="0"/>
          </a:p>
        </p:txBody>
      </p:sp>
      <p:sp>
        <p:nvSpPr>
          <p:cNvPr id="11" name="矩形 10"/>
          <p:cNvSpPr>
            <a:spLocks noGrp="1"/>
          </p:cNvSpPr>
          <p:nvPr/>
        </p:nvSpPr>
        <p:spPr>
          <a:xfrm>
            <a:off x="876300" y="3276600"/>
            <a:ext cx="10706100" cy="304800"/>
          </a:xfrm>
          <a:prstGeom prst="rect">
            <a:avLst/>
          </a:prstGeom>
          <a:noFill/>
          <a:ln w="0">
            <a:noFill/>
          </a:ln>
        </p:spPr>
        <p:txBody>
          <a:bodyPr lIns="0" tIns="0" rIns="0" bIns="0" anchor="t">
            <a:noAutofit/>
          </a:bodyPr>
          <a:lstStyle/>
          <a:p>
            <a:pPr algn="l">
              <a:defRPr sz="1500" b="0">
                <a:solidFill>
                  <a:srgbClr val="12161C"/>
                </a:solidFill>
                <a:latin typeface="微软雅黑"/>
                <a:ea typeface="微软雅黑"/>
                <a:cs typeface="微软雅黑"/>
              </a:defRPr>
            </a:pPr>
            <a:r>
              <a:t>损失可以分块计算：显存从 |B|² 降到 b²，去掉 all-gather</a:t>
            </a:r>
          </a:p>
        </p:txBody>
      </p:sp>
      <p:sp>
        <p:nvSpPr>
          <p:cNvPr id="12" name="矩形 11"/>
          <p:cNvSpPr>
            <a:spLocks noGrp="1"/>
          </p:cNvSpPr>
          <p:nvPr/>
        </p:nvSpPr>
        <p:spPr>
          <a:xfrm>
            <a:off x="876300" y="3619500"/>
            <a:ext cx="10706100" cy="285750"/>
          </a:xfrm>
          <a:prstGeom prst="rect">
            <a:avLst/>
          </a:prstGeom>
          <a:noFill/>
          <a:ln w="0">
            <a:noFill/>
          </a:ln>
        </p:spPr>
        <p:txBody>
          <a:bodyPr lIns="0" tIns="0" rIns="0" bIns="0" anchor="t">
            <a:noAutofit/>
          </a:bodyPr>
          <a:lstStyle/>
          <a:p>
            <a:pPr algn="l">
              <a:defRPr sz="1200" b="0">
                <a:solidFill>
                  <a:srgbClr val="69747F"/>
                </a:solidFill>
                <a:latin typeface="微软雅黑"/>
                <a:ea typeface="微软雅黑"/>
                <a:cs typeface="微软雅黑"/>
              </a:defRPr>
            </a:pPr>
            <a:r>
              <a:t>同样硬件下 batch 能开得更大，而小 batch 时反而更准</a:t>
            </a:r>
          </a:p>
        </p:txBody>
      </p:sp>
      <p:sp>
        <p:nvSpPr>
          <p:cNvPr id="13" name="矩形 12"/>
          <p:cNvSpPr>
            <a:spLocks noGrp="1"/>
          </p:cNvSpPr>
          <p:nvPr/>
        </p:nvSpPr>
        <p:spPr>
          <a:xfrm>
            <a:off x="609600" y="4057650"/>
            <a:ext cx="10972800" cy="9525"/>
          </a:xfrm>
          <a:prstGeom prst="rect">
            <a:avLst/>
          </a:prstGeom>
          <a:solidFill>
            <a:srgbClr val="DCE2E9"/>
          </a:solidFill>
          <a:ln w="0">
            <a:noFill/>
          </a:ln>
        </p:spPr>
      </p:sp>
      <p:sp>
        <p:nvSpPr>
          <p:cNvPr id="14" name="矩形 13"/>
          <p:cNvSpPr>
            <a:spLocks noGrp="1"/>
          </p:cNvSpPr>
          <p:nvPr/>
        </p:nvSpPr>
        <p:spPr>
          <a:xfrm>
            <a:off x="609600" y="4305300"/>
            <a:ext cx="47625" cy="800100"/>
          </a:xfrm>
          <a:prstGeom prst="rect">
            <a:avLst/>
          </a:prstGeom>
          <a:solidFill>
            <a:srgbClr val="C2410C"/>
          </a:solidFill>
          <a:ln w="0">
            <a:noFill/>
          </a:ln>
        </p:spPr>
      </p:sp>
      <p:sp>
        <p:nvSpPr>
          <p:cNvPr id="15" name="矩形 14"/>
          <p:cNvSpPr>
            <a:spLocks noGrp="1"/>
          </p:cNvSpPr>
          <p:nvPr/>
        </p:nvSpPr>
        <p:spPr>
          <a:xfrm>
            <a:off x="876300" y="4286250"/>
            <a:ext cx="1428750" cy="381000"/>
          </a:xfrm>
          <a:prstGeom prst="rect">
            <a:avLst/>
          </a:prstGeom>
          <a:noFill/>
          <a:ln w="0">
            <a:noFill/>
          </a:ln>
        </p:spPr>
        <p:txBody>
          <a:bodyPr lIns="0" tIns="0" rIns="0" bIns="0" anchor="t">
            <a:noAutofit/>
          </a:bodyPr>
          <a:lstStyle/>
          <a:p>
            <a:pPr algn="l">
              <a:defRPr sz="1800" b="1">
                <a:solidFill>
                  <a:srgbClr val="12161C"/>
                </a:solidFill>
                <a:latin typeface="微软雅黑"/>
                <a:ea typeface="微软雅黑"/>
                <a:cs typeface="微软雅黑"/>
              </a:defRPr>
            </a:pPr>
            <a:r>
              <a:rPr sz="2400"/>
              <a:t>改认知</a:t>
            </a:r>
          </a:p>
        </p:txBody>
      </p:sp>
      <p:sp>
        <p:nvSpPr>
          <p:cNvPr id="16" name="矩形 15"/>
          <p:cNvSpPr>
            <a:spLocks noGrp="1"/>
          </p:cNvSpPr>
          <p:nvPr/>
        </p:nvSpPr>
        <p:spPr>
          <a:xfrm>
            <a:off x="876300" y="4705350"/>
            <a:ext cx="10706100" cy="304800"/>
          </a:xfrm>
          <a:prstGeom prst="rect">
            <a:avLst/>
          </a:prstGeom>
          <a:noFill/>
          <a:ln w="0">
            <a:noFill/>
          </a:ln>
        </p:spPr>
        <p:txBody>
          <a:bodyPr lIns="0" tIns="0" rIns="0" bIns="0" anchor="t">
            <a:noAutofit/>
          </a:bodyPr>
          <a:lstStyle/>
          <a:p>
            <a:pPr algn="l">
              <a:defRPr sz="1500" b="0">
                <a:solidFill>
                  <a:srgbClr val="12161C"/>
                </a:solidFill>
                <a:latin typeface="微软雅黑"/>
                <a:ea typeface="微软雅黑"/>
                <a:cs typeface="微软雅黑"/>
              </a:defRPr>
            </a:pPr>
            <a:r>
              <a:t>性能在 32k batch 就饱和，继续加大几乎无收益</a:t>
            </a:r>
          </a:p>
        </p:txBody>
      </p:sp>
      <p:sp>
        <p:nvSpPr>
          <p:cNvPr id="17" name="矩形 16"/>
          <p:cNvSpPr>
            <a:spLocks noGrp="1"/>
          </p:cNvSpPr>
          <p:nvPr/>
        </p:nvSpPr>
        <p:spPr>
          <a:xfrm>
            <a:off x="876300" y="5048250"/>
            <a:ext cx="10706100" cy="285750"/>
          </a:xfrm>
          <a:prstGeom prst="rect">
            <a:avLst/>
          </a:prstGeom>
          <a:noFill/>
          <a:ln w="0">
            <a:noFill/>
          </a:ln>
        </p:spPr>
        <p:txBody>
          <a:bodyPr lIns="0" tIns="0" rIns="0" bIns="0" anchor="t">
            <a:noAutofit/>
          </a:bodyPr>
          <a:lstStyle/>
          <a:p>
            <a:pPr algn="l">
              <a:defRPr sz="1200" b="0">
                <a:solidFill>
                  <a:srgbClr val="69747F"/>
                </a:solidFill>
                <a:latin typeface="微软雅黑"/>
                <a:ea typeface="微软雅黑"/>
                <a:cs typeface="微软雅黑"/>
              </a:defRPr>
            </a:pPr>
            <a:r>
              <a:rPr dirty="0"/>
              <a:t>batch </a:t>
            </a:r>
            <a:r>
              <a:rPr dirty="0" err="1"/>
              <a:t>推到</a:t>
            </a:r>
            <a:r>
              <a:rPr dirty="0"/>
              <a:t> 100 </a:t>
            </a:r>
            <a:r>
              <a:rPr dirty="0" err="1"/>
              <a:t>万也没用</a:t>
            </a:r>
            <a:r>
              <a:rPr dirty="0"/>
              <a:t>，「</a:t>
            </a:r>
            <a:r>
              <a:rPr dirty="0" err="1"/>
              <a:t>对比学习需要超大</a:t>
            </a:r>
            <a:r>
              <a:rPr dirty="0"/>
              <a:t> batch」</a:t>
            </a:r>
            <a:r>
              <a:rPr lang="zh-CN" altLang="en-US" dirty="0"/>
              <a:t>的思想</a:t>
            </a:r>
            <a:r>
              <a:rPr dirty="0" err="1"/>
              <a:t>需要修正</a:t>
            </a:r>
            <a:endParaRPr dirty="0"/>
          </a:p>
        </p:txBody>
      </p:sp>
      <p:sp>
        <p:nvSpPr>
          <p:cNvPr id="18" name="矩形: 圆角 17"/>
          <p:cNvSpPr>
            <a:spLocks noGrp="1"/>
          </p:cNvSpPr>
          <p:nvPr/>
        </p:nvSpPr>
        <p:spPr>
          <a:xfrm>
            <a:off x="609600" y="5772150"/>
            <a:ext cx="10972800" cy="514350"/>
          </a:xfrm>
          <a:prstGeom prst="roundRect">
            <a:avLst>
              <a:gd name="adj" fmla="val 18519"/>
            </a:avLst>
          </a:prstGeom>
          <a:solidFill>
            <a:srgbClr val="F4F6F9"/>
          </a:solidFill>
          <a:ln w="0">
            <a:noFill/>
          </a:ln>
        </p:spPr>
      </p:sp>
      <p:sp>
        <p:nvSpPr>
          <p:cNvPr id="19" name="矩形 18"/>
          <p:cNvSpPr>
            <a:spLocks noGrp="1"/>
          </p:cNvSpPr>
          <p:nvPr/>
        </p:nvSpPr>
        <p:spPr>
          <a:xfrm>
            <a:off x="838200" y="5772150"/>
            <a:ext cx="10515600" cy="514350"/>
          </a:xfrm>
          <a:prstGeom prst="rect">
            <a:avLst/>
          </a:prstGeom>
          <a:noFill/>
          <a:ln w="0">
            <a:noFill/>
          </a:ln>
        </p:spPr>
        <p:txBody>
          <a:bodyPr lIns="0" tIns="0" rIns="0" bIns="0" anchor="ctr">
            <a:noAutofit/>
          </a:bodyPr>
          <a:lstStyle/>
          <a:p>
            <a:pPr algn="l">
              <a:defRPr sz="1350" b="0">
                <a:solidFill>
                  <a:srgbClr val="12161C"/>
                </a:solidFill>
                <a:latin typeface="微软雅黑"/>
                <a:ea typeface="微软雅黑"/>
                <a:cs typeface="微软雅黑"/>
              </a:defRPr>
            </a:pPr>
            <a:r>
              <a:rPr dirty="0" err="1"/>
              <a:t>全篇只改了损失函数和两个初始化值</a:t>
            </a:r>
            <a:r>
              <a:rPr dirty="0"/>
              <a:t>，</a:t>
            </a:r>
            <a:r>
              <a:rPr lang="zh-CN" altLang="en-US" dirty="0"/>
              <a:t>没动</a:t>
            </a:r>
            <a:r>
              <a:rPr dirty="0" err="1"/>
              <a:t>模型结构</a:t>
            </a:r>
            <a:r>
              <a:rPr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背景：CLIP 怎么让图文对齐</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3</a:t>
            </a:r>
          </a:p>
        </p:txBody>
      </p:sp>
      <p:graphicFrame>
        <p:nvGraphicFramePr>
          <p:cNvPr id="13" name="表格 12"/>
          <p:cNvGraphicFramePr/>
          <p:nvPr/>
        </p:nvGraphicFramePr>
        <p:xfrm>
          <a:off x="609600" y="1447800"/>
          <a:ext cx="4476750" cy="2381250"/>
        </p:xfrm>
        <a:graphic>
          <a:graphicData uri="http://schemas.openxmlformats.org/drawingml/2006/table">
            <a:tbl>
              <a:tblPr/>
              <a:tblGrid>
                <a:gridCol w="8953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gridCol w="895350">
                  <a:extLst>
                    <a:ext uri="{9D8B030D-6E8A-4147-A177-3AD203B41FA5}">
                      <a16:colId xmlns:a16="http://schemas.microsoft.com/office/drawing/2014/main" val="20004"/>
                    </a:ext>
                  </a:extLst>
                </a:gridCol>
              </a:tblGrid>
              <a:tr h="476250">
                <a:tc>
                  <a:txBody>
                    <a:bodyPr/>
                    <a:lstStyle/>
                    <a:p>
                      <a:endParaRPr sz="2400" dirty="0"/>
                    </a:p>
                  </a:txBody>
                  <a:tcPr marL="76200" marR="76200" marT="28575" marB="28575" anchor="ctr">
                    <a:solidFill>
                      <a:srgbClr val="E9EEF4"/>
                    </a:solidFill>
                  </a:tcPr>
                </a:tc>
                <a:tc>
                  <a:txBody>
                    <a:bodyPr/>
                    <a:lstStyle/>
                    <a:p>
                      <a:pPr algn="ctr"/>
                      <a:r>
                        <a:rPr sz="1600" b="1">
                          <a:solidFill>
                            <a:srgbClr val="12161C"/>
                          </a:solidFill>
                          <a:latin typeface="微软雅黑"/>
                          <a:ea typeface="微软雅黑"/>
                          <a:cs typeface="微软雅黑"/>
                        </a:rPr>
                        <a:t>T₁</a:t>
                      </a:r>
                    </a:p>
                  </a:txBody>
                  <a:tcPr marL="76200" marR="76200" marT="28575" marB="28575" anchor="ctr">
                    <a:solidFill>
                      <a:srgbClr val="E9EEF4"/>
                    </a:solidFill>
                  </a:tcPr>
                </a:tc>
                <a:tc>
                  <a:txBody>
                    <a:bodyPr/>
                    <a:lstStyle/>
                    <a:p>
                      <a:pPr algn="ctr"/>
                      <a:r>
                        <a:rPr sz="1600" b="1">
                          <a:solidFill>
                            <a:srgbClr val="12161C"/>
                          </a:solidFill>
                          <a:latin typeface="微软雅黑"/>
                          <a:ea typeface="微软雅黑"/>
                          <a:cs typeface="微软雅黑"/>
                        </a:rPr>
                        <a:t>T₂</a:t>
                      </a:r>
                    </a:p>
                  </a:txBody>
                  <a:tcPr marL="76200" marR="76200" marT="28575" marB="28575" anchor="ctr">
                    <a:solidFill>
                      <a:srgbClr val="E9EEF4"/>
                    </a:solidFill>
                  </a:tcPr>
                </a:tc>
                <a:tc>
                  <a:txBody>
                    <a:bodyPr/>
                    <a:lstStyle/>
                    <a:p>
                      <a:pPr algn="ctr"/>
                      <a:r>
                        <a:rPr sz="1600" b="1">
                          <a:solidFill>
                            <a:srgbClr val="12161C"/>
                          </a:solidFill>
                          <a:latin typeface="微软雅黑"/>
                          <a:ea typeface="微软雅黑"/>
                          <a:cs typeface="微软雅黑"/>
                        </a:rPr>
                        <a:t>T₃</a:t>
                      </a:r>
                    </a:p>
                  </a:txBody>
                  <a:tcPr marL="76200" marR="76200" marT="28575" marB="28575" anchor="ctr">
                    <a:solidFill>
                      <a:srgbClr val="E9EEF4"/>
                    </a:solidFill>
                  </a:tcPr>
                </a:tc>
                <a:tc>
                  <a:txBody>
                    <a:bodyPr/>
                    <a:lstStyle/>
                    <a:p>
                      <a:pPr algn="ctr"/>
                      <a:r>
                        <a:rPr sz="1600" b="1">
                          <a:solidFill>
                            <a:srgbClr val="12161C"/>
                          </a:solidFill>
                          <a:latin typeface="微软雅黑"/>
                          <a:ea typeface="微软雅黑"/>
                          <a:cs typeface="微软雅黑"/>
                        </a:rPr>
                        <a:t>T₄</a:t>
                      </a:r>
                    </a:p>
                  </a:txBody>
                  <a:tcPr marL="76200" marR="76200" marT="28575" marB="28575" anchor="ctr">
                    <a:solidFill>
                      <a:srgbClr val="E9EEF4"/>
                    </a:solidFill>
                  </a:tcPr>
                </a:tc>
                <a:extLst>
                  <a:ext uri="{0D108BD9-81ED-4DB2-BD59-A6C34878D82A}">
                    <a16:rowId xmlns:a16="http://schemas.microsoft.com/office/drawing/2014/main" val="10000"/>
                  </a:ext>
                </a:extLst>
              </a:tr>
              <a:tr h="476250">
                <a:tc>
                  <a:txBody>
                    <a:bodyPr/>
                    <a:lstStyle/>
                    <a:p>
                      <a:pPr algn="ctr"/>
                      <a:r>
                        <a:rPr sz="1600" b="0" dirty="0">
                          <a:solidFill>
                            <a:srgbClr val="39424F"/>
                          </a:solidFill>
                          <a:latin typeface="微软雅黑"/>
                          <a:ea typeface="微软雅黑"/>
                          <a:cs typeface="微软雅黑"/>
                        </a:rPr>
                        <a:t>I₁</a:t>
                      </a:r>
                    </a:p>
                  </a:txBody>
                  <a:tcPr marL="76200" marR="76200" marT="28575" marB="28575" anchor="ctr">
                    <a:solidFill>
                      <a:srgbClr val="FFFFFF"/>
                    </a:solidFill>
                  </a:tcPr>
                </a:tc>
                <a:tc>
                  <a:txBody>
                    <a:bodyPr/>
                    <a:lstStyle/>
                    <a:p>
                      <a:pPr algn="ctr"/>
                      <a:r>
                        <a:rPr sz="1600" b="1" dirty="0" err="1">
                          <a:solidFill>
                            <a:srgbClr val="C2410C"/>
                          </a:solidFill>
                          <a:latin typeface="微软雅黑"/>
                          <a:ea typeface="微软雅黑"/>
                          <a:cs typeface="微软雅黑"/>
                        </a:rPr>
                        <a:t>正对</a:t>
                      </a:r>
                      <a:endParaRPr sz="1600" b="1" dirty="0">
                        <a:solidFill>
                          <a:srgbClr val="C2410C"/>
                        </a:solidFill>
                        <a:latin typeface="微软雅黑"/>
                        <a:ea typeface="微软雅黑"/>
                        <a:cs typeface="微软雅黑"/>
                      </a:endParaRPr>
                    </a:p>
                  </a:txBody>
                  <a:tcPr marL="76200" marR="76200" marT="28575" marB="28575" anchor="ctr">
                    <a:solidFill>
                      <a:srgbClr val="FDEDE4"/>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extLst>
                  <a:ext uri="{0D108BD9-81ED-4DB2-BD59-A6C34878D82A}">
                    <a16:rowId xmlns:a16="http://schemas.microsoft.com/office/drawing/2014/main" val="10001"/>
                  </a:ext>
                </a:extLst>
              </a:tr>
              <a:tr h="476250">
                <a:tc>
                  <a:txBody>
                    <a:bodyPr/>
                    <a:lstStyle/>
                    <a:p>
                      <a:pPr algn="ctr"/>
                      <a:r>
                        <a:rPr sz="1600" b="0">
                          <a:solidFill>
                            <a:srgbClr val="39424F"/>
                          </a:solidFill>
                          <a:latin typeface="微软雅黑"/>
                          <a:ea typeface="微软雅黑"/>
                          <a:cs typeface="微软雅黑"/>
                        </a:rPr>
                        <a:t>I₂</a:t>
                      </a:r>
                    </a:p>
                  </a:txBody>
                  <a:tcPr marL="76200" marR="76200" marT="28575" marB="28575" anchor="ctr">
                    <a:solidFill>
                      <a:srgbClr val="FFFFFF"/>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tc>
                  <a:txBody>
                    <a:bodyPr/>
                    <a:lstStyle/>
                    <a:p>
                      <a:pPr algn="ctr"/>
                      <a:r>
                        <a:rPr sz="1600" b="1" dirty="0" err="1">
                          <a:solidFill>
                            <a:srgbClr val="C2410C"/>
                          </a:solidFill>
                          <a:latin typeface="微软雅黑"/>
                          <a:ea typeface="微软雅黑"/>
                          <a:cs typeface="微软雅黑"/>
                        </a:rPr>
                        <a:t>正对</a:t>
                      </a:r>
                      <a:endParaRPr sz="1600" b="1" dirty="0">
                        <a:solidFill>
                          <a:srgbClr val="C2410C"/>
                        </a:solidFill>
                        <a:latin typeface="微软雅黑"/>
                        <a:ea typeface="微软雅黑"/>
                        <a:cs typeface="微软雅黑"/>
                      </a:endParaRPr>
                    </a:p>
                  </a:txBody>
                  <a:tcPr marL="76200" marR="76200" marT="28575" marB="28575" anchor="ctr">
                    <a:solidFill>
                      <a:srgbClr val="FDEDE4"/>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extLst>
                  <a:ext uri="{0D108BD9-81ED-4DB2-BD59-A6C34878D82A}">
                    <a16:rowId xmlns:a16="http://schemas.microsoft.com/office/drawing/2014/main" val="10002"/>
                  </a:ext>
                </a:extLst>
              </a:tr>
              <a:tr h="476250">
                <a:tc>
                  <a:txBody>
                    <a:bodyPr/>
                    <a:lstStyle/>
                    <a:p>
                      <a:pPr algn="ctr"/>
                      <a:r>
                        <a:rPr sz="1600" b="0">
                          <a:solidFill>
                            <a:srgbClr val="39424F"/>
                          </a:solidFill>
                          <a:latin typeface="微软雅黑"/>
                          <a:ea typeface="微软雅黑"/>
                          <a:cs typeface="微软雅黑"/>
                        </a:rPr>
                        <a:t>I₃</a:t>
                      </a:r>
                    </a:p>
                  </a:txBody>
                  <a:tcPr marL="76200" marR="76200" marT="28575" marB="28575" anchor="ctr">
                    <a:solidFill>
                      <a:srgbClr val="FFFFFF"/>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tc>
                  <a:txBody>
                    <a:bodyPr/>
                    <a:lstStyle/>
                    <a:p>
                      <a:pPr algn="ctr"/>
                      <a:r>
                        <a:rPr sz="1600" b="1" dirty="0" err="1">
                          <a:solidFill>
                            <a:srgbClr val="C2410C"/>
                          </a:solidFill>
                          <a:latin typeface="微软雅黑"/>
                          <a:ea typeface="微软雅黑"/>
                          <a:cs typeface="微软雅黑"/>
                        </a:rPr>
                        <a:t>正对</a:t>
                      </a:r>
                      <a:endParaRPr sz="1600" b="1" dirty="0">
                        <a:solidFill>
                          <a:srgbClr val="C2410C"/>
                        </a:solidFill>
                        <a:latin typeface="微软雅黑"/>
                        <a:ea typeface="微软雅黑"/>
                        <a:cs typeface="微软雅黑"/>
                      </a:endParaRPr>
                    </a:p>
                  </a:txBody>
                  <a:tcPr marL="76200" marR="76200" marT="28575" marB="28575" anchor="ctr">
                    <a:solidFill>
                      <a:srgbClr val="FDEDE4"/>
                    </a:solidFill>
                  </a:tcPr>
                </a:tc>
                <a:tc>
                  <a:txBody>
                    <a:bodyPr/>
                    <a:lstStyle/>
                    <a:p>
                      <a:pPr algn="ctr"/>
                      <a:r>
                        <a:rPr sz="1600" b="0" dirty="0" err="1">
                          <a:solidFill>
                            <a:srgbClr val="39424F"/>
                          </a:solidFill>
                          <a:latin typeface="微软雅黑"/>
                          <a:ea typeface="微软雅黑"/>
                          <a:cs typeface="微软雅黑"/>
                        </a:rPr>
                        <a:t>负对</a:t>
                      </a:r>
                      <a:endParaRPr sz="1600" b="0" dirty="0">
                        <a:solidFill>
                          <a:srgbClr val="39424F"/>
                        </a:solidFill>
                        <a:latin typeface="微软雅黑"/>
                        <a:ea typeface="微软雅黑"/>
                        <a:cs typeface="微软雅黑"/>
                      </a:endParaRPr>
                    </a:p>
                  </a:txBody>
                  <a:tcPr marL="76200" marR="76200" marT="28575" marB="28575" anchor="ctr">
                    <a:solidFill>
                      <a:srgbClr val="FFFFFF"/>
                    </a:solidFill>
                  </a:tcPr>
                </a:tc>
                <a:extLst>
                  <a:ext uri="{0D108BD9-81ED-4DB2-BD59-A6C34878D82A}">
                    <a16:rowId xmlns:a16="http://schemas.microsoft.com/office/drawing/2014/main" val="10003"/>
                  </a:ext>
                </a:extLst>
              </a:tr>
              <a:tr h="476250">
                <a:tc>
                  <a:txBody>
                    <a:bodyPr/>
                    <a:lstStyle/>
                    <a:p>
                      <a:pPr algn="ctr"/>
                      <a:r>
                        <a:rPr sz="1600" b="0">
                          <a:solidFill>
                            <a:srgbClr val="39424F"/>
                          </a:solidFill>
                          <a:latin typeface="微软雅黑"/>
                          <a:ea typeface="微软雅黑"/>
                          <a:cs typeface="微软雅黑"/>
                        </a:rPr>
                        <a:t>I₄</a:t>
                      </a:r>
                    </a:p>
                  </a:txBody>
                  <a:tcPr marL="76200" marR="76200" marT="28575" marB="28575" anchor="ctr">
                    <a:solidFill>
                      <a:srgbClr val="FFFFFF"/>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tc>
                  <a:txBody>
                    <a:bodyPr/>
                    <a:lstStyle/>
                    <a:p>
                      <a:pPr algn="ctr"/>
                      <a:r>
                        <a:rPr sz="1600" b="0">
                          <a:solidFill>
                            <a:srgbClr val="39424F"/>
                          </a:solidFill>
                          <a:latin typeface="微软雅黑"/>
                          <a:ea typeface="微软雅黑"/>
                          <a:cs typeface="微软雅黑"/>
                        </a:rPr>
                        <a:t>负对</a:t>
                      </a:r>
                    </a:p>
                  </a:txBody>
                  <a:tcPr marL="76200" marR="76200" marT="28575" marB="28575" anchor="ctr">
                    <a:solidFill>
                      <a:srgbClr val="FFFFFF"/>
                    </a:solidFill>
                  </a:tcPr>
                </a:tc>
                <a:tc>
                  <a:txBody>
                    <a:bodyPr/>
                    <a:lstStyle/>
                    <a:p>
                      <a:pPr algn="ctr"/>
                      <a:r>
                        <a:rPr sz="1600" b="1" dirty="0" err="1">
                          <a:solidFill>
                            <a:srgbClr val="C2410C"/>
                          </a:solidFill>
                          <a:latin typeface="微软雅黑"/>
                          <a:ea typeface="微软雅黑"/>
                          <a:cs typeface="微软雅黑"/>
                        </a:rPr>
                        <a:t>正对</a:t>
                      </a:r>
                      <a:endParaRPr sz="1600" b="1" dirty="0">
                        <a:solidFill>
                          <a:srgbClr val="C2410C"/>
                        </a:solidFill>
                        <a:latin typeface="微软雅黑"/>
                        <a:ea typeface="微软雅黑"/>
                        <a:cs typeface="微软雅黑"/>
                      </a:endParaRPr>
                    </a:p>
                  </a:txBody>
                  <a:tcPr marL="76200" marR="76200" marT="28575" marB="28575" anchor="ctr">
                    <a:solidFill>
                      <a:srgbClr val="FDEDE4"/>
                    </a:solidFill>
                  </a:tcPr>
                </a:tc>
                <a:extLst>
                  <a:ext uri="{0D108BD9-81ED-4DB2-BD59-A6C34878D82A}">
                    <a16:rowId xmlns:a16="http://schemas.microsoft.com/office/drawing/2014/main" val="10004"/>
                  </a:ext>
                </a:extLst>
              </a:tr>
            </a:tbl>
          </a:graphicData>
        </a:graphic>
      </p:graphicFrame>
      <p:sp>
        <p:nvSpPr>
          <p:cNvPr id="5" name="矩形 4"/>
          <p:cNvSpPr>
            <a:spLocks noGrp="1"/>
          </p:cNvSpPr>
          <p:nvPr/>
        </p:nvSpPr>
        <p:spPr>
          <a:xfrm>
            <a:off x="609600" y="3962400"/>
            <a:ext cx="4476750" cy="857250"/>
          </a:xfrm>
          <a:prstGeom prst="rect">
            <a:avLst/>
          </a:prstGeom>
          <a:noFill/>
          <a:ln w="0">
            <a:noFill/>
          </a:ln>
        </p:spPr>
        <p:txBody>
          <a:bodyPr lIns="0" tIns="0" rIns="0" bIns="0" anchor="t">
            <a:noAutofit/>
          </a:bodyPr>
          <a:lstStyle/>
          <a:p>
            <a:pPr algn="l">
              <a:defRPr sz="1200" b="0">
                <a:solidFill>
                  <a:srgbClr val="69747F"/>
                </a:solidFill>
                <a:latin typeface="微软雅黑"/>
                <a:ea typeface="微软雅黑"/>
                <a:cs typeface="微软雅黑"/>
              </a:defRPr>
            </a:pPr>
            <a:r>
              <a:t>一个 mini-batch 里 |B| 对图文，两两组合出 |B|×|B| 张分数表。</a:t>
            </a:r>
          </a:p>
          <a:p>
            <a:pPr algn="l">
              <a:defRPr sz="1200" b="0">
                <a:solidFill>
                  <a:srgbClr val="69747F"/>
                </a:solidFill>
                <a:latin typeface="微软雅黑"/>
                <a:ea typeface="微软雅黑"/>
                <a:cs typeface="微软雅黑"/>
              </a:defRPr>
            </a:pPr>
            <a:r>
              <a:t>对角线上那 |B| 个是正对，其余 |B|²−|B| 个都是负对。</a:t>
            </a:r>
          </a:p>
        </p:txBody>
      </p:sp>
      <p:sp>
        <p:nvSpPr>
          <p:cNvPr id="6" name="矩形 5"/>
          <p:cNvSpPr>
            <a:spLocks noGrp="1"/>
          </p:cNvSpPr>
          <p:nvPr/>
        </p:nvSpPr>
        <p:spPr>
          <a:xfrm>
            <a:off x="5562600" y="1409700"/>
            <a:ext cx="6019800" cy="304800"/>
          </a:xfrm>
          <a:prstGeom prst="rect">
            <a:avLst/>
          </a:prstGeom>
          <a:noFill/>
          <a:ln w="0">
            <a:noFill/>
          </a:ln>
        </p:spPr>
        <p:txBody>
          <a:bodyPr lIns="0" tIns="0" rIns="0" bIns="0" anchor="t">
            <a:noAutofit/>
          </a:bodyPr>
          <a:lstStyle/>
          <a:p>
            <a:pPr algn="l">
              <a:defRPr sz="1500" b="1">
                <a:solidFill>
                  <a:srgbClr val="12161C"/>
                </a:solidFill>
                <a:latin typeface="微软雅黑"/>
                <a:ea typeface="微软雅黑"/>
                <a:cs typeface="微软雅黑"/>
              </a:defRPr>
            </a:pPr>
            <a:r>
              <a:t>这张表里的两件事</a:t>
            </a:r>
          </a:p>
        </p:txBody>
      </p:sp>
      <p:sp>
        <p:nvSpPr>
          <p:cNvPr id="7" name="矩形 6"/>
          <p:cNvSpPr>
            <a:spLocks noGrp="1"/>
          </p:cNvSpPr>
          <p:nvPr/>
        </p:nvSpPr>
        <p:spPr>
          <a:xfrm>
            <a:off x="5562600" y="1847850"/>
            <a:ext cx="6019800" cy="2381250"/>
          </a:xfrm>
          <a:prstGeom prst="rect">
            <a:avLst/>
          </a:prstGeom>
          <a:noFill/>
          <a:ln w="0">
            <a:noFill/>
          </a:ln>
        </p:spPr>
        <p:txBody>
          <a:bodyPr lIns="0" tIns="0" rIns="0" bIns="0" anchor="t">
            <a:noAutofit/>
          </a:bodyPr>
          <a:lstStyle/>
          <a:p>
            <a:pPr marL="248285" indent="-248285" algn="l">
              <a:spcAft>
                <a:spcPts val="1400"/>
              </a:spcAft>
              <a:buChar char="•"/>
              <a:defRPr sz="1275" b="0">
                <a:solidFill>
                  <a:srgbClr val="39424F"/>
                </a:solidFill>
                <a:latin typeface="微软雅黑"/>
                <a:ea typeface="微软雅黑"/>
                <a:cs typeface="微软雅黑"/>
              </a:defRPr>
            </a:pPr>
            <a:r>
              <a:rPr sz="2000" b="1" dirty="0" err="1">
                <a:solidFill>
                  <a:srgbClr val="12161C"/>
                </a:solidFill>
              </a:rPr>
              <a:t>正对：</a:t>
            </a:r>
            <a:r>
              <a:rPr sz="2000" dirty="0" err="1"/>
              <a:t>本来就在同一条数据里的图和文，也就是对角线</a:t>
            </a:r>
            <a:r>
              <a:rPr sz="2000" dirty="0"/>
              <a:t>。</a:t>
            </a:r>
          </a:p>
          <a:p>
            <a:pPr marL="248285" indent="-248285" algn="l">
              <a:spcAft>
                <a:spcPts val="1400"/>
              </a:spcAft>
              <a:buChar char="•"/>
              <a:defRPr sz="1275" b="0">
                <a:solidFill>
                  <a:srgbClr val="39424F"/>
                </a:solidFill>
                <a:latin typeface="微软雅黑"/>
                <a:ea typeface="微软雅黑"/>
                <a:cs typeface="微软雅黑"/>
              </a:defRPr>
            </a:pPr>
            <a:r>
              <a:rPr sz="2000" b="1" dirty="0" err="1">
                <a:solidFill>
                  <a:srgbClr val="12161C"/>
                </a:solidFill>
              </a:rPr>
              <a:t>负对：</a:t>
            </a:r>
            <a:r>
              <a:rPr sz="2000" dirty="0" err="1"/>
              <a:t>同一</a:t>
            </a:r>
            <a:r>
              <a:rPr sz="2000" dirty="0"/>
              <a:t> batch </a:t>
            </a:r>
            <a:r>
              <a:rPr sz="2000" dirty="0" err="1"/>
              <a:t>里别人的配文，是「凑」出来的假设，不是标注出来的</a:t>
            </a:r>
            <a:r>
              <a:rPr sz="2000" dirty="0"/>
              <a:t>。</a:t>
            </a:r>
          </a:p>
          <a:p>
            <a:pPr marL="248285" indent="-248285" algn="l">
              <a:spcAft>
                <a:spcPts val="1400"/>
              </a:spcAft>
              <a:buChar char="•"/>
              <a:defRPr sz="1275" b="0">
                <a:solidFill>
                  <a:srgbClr val="39424F"/>
                </a:solidFill>
                <a:latin typeface="微软雅黑"/>
                <a:ea typeface="微软雅黑"/>
                <a:cs typeface="微软雅黑"/>
              </a:defRPr>
            </a:pPr>
            <a:r>
              <a:rPr sz="2000" b="1" dirty="0" err="1">
                <a:solidFill>
                  <a:srgbClr val="12161C"/>
                </a:solidFill>
              </a:rPr>
              <a:t>训练目标：</a:t>
            </a:r>
            <a:r>
              <a:rPr sz="2000" dirty="0" err="1"/>
              <a:t>让配对的两条向量接近，不配对的远离</a:t>
            </a:r>
            <a:r>
              <a:rPr sz="2000" dirty="0"/>
              <a:t>。</a:t>
            </a:r>
          </a:p>
        </p:txBody>
      </p:sp>
      <p:sp>
        <p:nvSpPr>
          <p:cNvPr id="8" name="矩形: 圆角 7"/>
          <p:cNvSpPr>
            <a:spLocks noGrp="1"/>
          </p:cNvSpPr>
          <p:nvPr/>
        </p:nvSpPr>
        <p:spPr>
          <a:xfrm>
            <a:off x="5562600" y="4572000"/>
            <a:ext cx="6019800" cy="1314450"/>
          </a:xfrm>
          <a:prstGeom prst="roundRect">
            <a:avLst>
              <a:gd name="adj" fmla="val 7246"/>
            </a:avLst>
          </a:prstGeom>
          <a:solidFill>
            <a:srgbClr val="F4F6F9"/>
          </a:solidFill>
          <a:ln w="0">
            <a:noFill/>
          </a:ln>
        </p:spPr>
      </p:sp>
      <p:sp>
        <p:nvSpPr>
          <p:cNvPr id="9" name="矩形 8"/>
          <p:cNvSpPr>
            <a:spLocks noGrp="1"/>
          </p:cNvSpPr>
          <p:nvPr/>
        </p:nvSpPr>
        <p:spPr>
          <a:xfrm>
            <a:off x="5791200" y="4705350"/>
            <a:ext cx="5562600" cy="990600"/>
          </a:xfrm>
          <a:prstGeom prst="rect">
            <a:avLst/>
          </a:prstGeom>
          <a:noFill/>
          <a:ln w="0">
            <a:noFill/>
          </a:ln>
        </p:spPr>
        <p:txBody>
          <a:bodyPr lIns="0" tIns="0" rIns="0" bIns="0" anchor="t">
            <a:noAutofit/>
          </a:bodyPr>
          <a:lstStyle/>
          <a:p>
            <a:pPr algn="l">
              <a:defRPr sz="1090" b="0">
                <a:solidFill>
                  <a:srgbClr val="39424F"/>
                </a:solidFill>
                <a:latin typeface="微软雅黑"/>
                <a:ea typeface="微软雅黑"/>
                <a:cs typeface="微软雅黑"/>
              </a:defRPr>
            </a:pPr>
            <a:r>
              <a:rPr lang="zh-CN" altLang="en-US" sz="1600" i="1" dirty="0">
                <a:solidFill>
                  <a:srgbClr val="12161C"/>
                </a:solidFill>
              </a:rPr>
              <a:t>“</a:t>
            </a:r>
            <a:r>
              <a:rPr sz="1600" i="1" dirty="0">
                <a:solidFill>
                  <a:srgbClr val="12161C"/>
                </a:solidFill>
              </a:rPr>
              <a:t>This assumption is usually noisy and imperfect.”</a:t>
            </a:r>
            <a:br>
              <a:rPr sz="1600" dirty="0">
                <a:solidFill>
                  <a:srgbClr val="69747F"/>
                </a:solidFill>
              </a:rPr>
            </a:br>
            <a:r>
              <a:rPr sz="1600" dirty="0" err="1">
                <a:solidFill>
                  <a:srgbClr val="69747F"/>
                </a:solidFill>
              </a:rPr>
              <a:t>一批数据里可能有两张狗的图、两条相似的配文，那这个「负对」其实就是误标。这句话是后面两个消融实验的伏笔</a:t>
            </a:r>
            <a:r>
              <a:rPr sz="1600" dirty="0">
                <a:solidFill>
                  <a:srgbClr val="69747F"/>
                </a:solidFill>
              </a:rPr>
              <a:t>。</a:t>
            </a:r>
          </a:p>
        </p:txBody>
      </p:sp>
      <p:pic>
        <p:nvPicPr>
          <p:cNvPr id="4" name="图片 3"/>
          <p:cNvPicPr>
            <a:picLocks noChangeAspect="1"/>
          </p:cNvPicPr>
          <p:nvPr/>
        </p:nvPicPr>
        <p:blipFill>
          <a:blip r:embed="rId3"/>
          <a:stretch>
            <a:fillRect/>
          </a:stretch>
        </p:blipFill>
        <p:spPr>
          <a:xfrm>
            <a:off x="639220" y="4572000"/>
            <a:ext cx="4447130" cy="12763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背景：softmax 损失的三个代价</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4</a:t>
            </a:r>
          </a:p>
        </p:txBody>
      </p:sp>
      <p:sp>
        <p:nvSpPr>
          <p:cNvPr id="4" name="矩形 3"/>
          <p:cNvSpPr>
            <a:spLocks noGrp="1"/>
          </p:cNvSpPr>
          <p:nvPr/>
        </p:nvSpPr>
        <p:spPr>
          <a:xfrm>
            <a:off x="609600" y="1428750"/>
            <a:ext cx="47625" cy="704850"/>
          </a:xfrm>
          <a:prstGeom prst="rect">
            <a:avLst/>
          </a:prstGeom>
          <a:solidFill>
            <a:srgbClr val="2E4B6B"/>
          </a:solidFill>
          <a:ln w="0">
            <a:noFill/>
          </a:ln>
        </p:spPr>
      </p:sp>
      <p:sp>
        <p:nvSpPr>
          <p:cNvPr id="5" name="矩形 4"/>
          <p:cNvSpPr>
            <a:spLocks noGrp="1"/>
          </p:cNvSpPr>
          <p:nvPr/>
        </p:nvSpPr>
        <p:spPr>
          <a:xfrm>
            <a:off x="876300" y="1504949"/>
            <a:ext cx="1238250" cy="514349"/>
          </a:xfrm>
          <a:prstGeom prst="rect">
            <a:avLst/>
          </a:prstGeom>
          <a:noFill/>
          <a:ln w="0">
            <a:noFill/>
          </a:ln>
        </p:spPr>
        <p:txBody>
          <a:bodyPr lIns="0" tIns="0" rIns="0" bIns="0" anchor="t">
            <a:noAutofit/>
          </a:bodyPr>
          <a:lstStyle/>
          <a:p>
            <a:pPr algn="l">
              <a:defRPr sz="1650" b="1">
                <a:solidFill>
                  <a:srgbClr val="12161C"/>
                </a:solidFill>
                <a:latin typeface="微软雅黑"/>
                <a:ea typeface="微软雅黑"/>
                <a:cs typeface="微软雅黑"/>
              </a:defRPr>
            </a:pPr>
            <a:r>
              <a:rPr sz="2400" dirty="0" err="1"/>
              <a:t>通信</a:t>
            </a:r>
            <a:endParaRPr sz="2400" dirty="0"/>
          </a:p>
        </p:txBody>
      </p:sp>
      <p:sp>
        <p:nvSpPr>
          <p:cNvPr id="6" name="矩形 5"/>
          <p:cNvSpPr>
            <a:spLocks noGrp="1"/>
          </p:cNvSpPr>
          <p:nvPr/>
        </p:nvSpPr>
        <p:spPr>
          <a:xfrm>
            <a:off x="2247900" y="1514475"/>
            <a:ext cx="9334500" cy="285750"/>
          </a:xfrm>
          <a:prstGeom prst="rect">
            <a:avLst/>
          </a:prstGeom>
          <a:noFill/>
          <a:ln w="0">
            <a:noFill/>
          </a:ln>
        </p:spPr>
        <p:txBody>
          <a:bodyPr lIns="0" tIns="0" rIns="0" bIns="0" anchor="t">
            <a:noAutofit/>
          </a:bodyPr>
          <a:lstStyle/>
          <a:p>
            <a:pPr algn="l">
              <a:defRPr sz="1425" b="1">
                <a:solidFill>
                  <a:srgbClr val="2E4B6B"/>
                </a:solidFill>
                <a:latin typeface="微软雅黑"/>
                <a:ea typeface="微软雅黑"/>
                <a:cs typeface="微软雅黑"/>
              </a:defRPr>
            </a:pPr>
            <a:r>
              <a:t>分母跨越整个 batch</a:t>
            </a:r>
          </a:p>
        </p:txBody>
      </p:sp>
      <p:sp>
        <p:nvSpPr>
          <p:cNvPr id="7" name="矩形 6"/>
          <p:cNvSpPr>
            <a:spLocks noGrp="1"/>
          </p:cNvSpPr>
          <p:nvPr/>
        </p:nvSpPr>
        <p:spPr>
          <a:xfrm>
            <a:off x="2247900" y="1876425"/>
            <a:ext cx="9334500" cy="571500"/>
          </a:xfrm>
          <a:prstGeom prst="rect">
            <a:avLst/>
          </a:prstGeom>
          <a:noFill/>
          <a:ln w="0">
            <a:noFill/>
          </a:ln>
        </p:spPr>
        <p:txBody>
          <a:bodyPr lIns="0" tIns="0" rIns="0" bIns="0" anchor="t">
            <a:noAutofit/>
          </a:bodyPr>
          <a:lstStyle/>
          <a:p>
            <a:pPr algn="l">
              <a:defRPr sz="1200" b="0">
                <a:solidFill>
                  <a:srgbClr val="69747F"/>
                </a:solidFill>
                <a:latin typeface="微软雅黑"/>
                <a:ea typeface="微软雅黑"/>
                <a:cs typeface="微软雅黑"/>
              </a:defRPr>
            </a:pPr>
            <a:r>
              <a:rPr sz="1400" dirty="0" err="1"/>
              <a:t>每张卡必须先把全部图文嵌入</a:t>
            </a:r>
            <a:r>
              <a:rPr sz="1400" dirty="0"/>
              <a:t> all-gather </a:t>
            </a:r>
            <a:r>
              <a:rPr sz="1400" dirty="0" err="1"/>
              <a:t>过来，算完还要减最大值做数值稳定，等于再遍历一遍</a:t>
            </a:r>
            <a:r>
              <a:rPr sz="1400" dirty="0"/>
              <a:t> batch。</a:t>
            </a:r>
          </a:p>
        </p:txBody>
      </p:sp>
      <p:sp>
        <p:nvSpPr>
          <p:cNvPr id="8" name="矩形 7"/>
          <p:cNvSpPr>
            <a:spLocks noGrp="1"/>
          </p:cNvSpPr>
          <p:nvPr/>
        </p:nvSpPr>
        <p:spPr>
          <a:xfrm>
            <a:off x="609600" y="2381250"/>
            <a:ext cx="10972800" cy="9525"/>
          </a:xfrm>
          <a:prstGeom prst="rect">
            <a:avLst/>
          </a:prstGeom>
          <a:solidFill>
            <a:srgbClr val="DCE2E9"/>
          </a:solidFill>
          <a:ln w="0">
            <a:noFill/>
          </a:ln>
        </p:spPr>
      </p:sp>
      <p:sp>
        <p:nvSpPr>
          <p:cNvPr id="9" name="矩形 8"/>
          <p:cNvSpPr>
            <a:spLocks noGrp="1"/>
          </p:cNvSpPr>
          <p:nvPr/>
        </p:nvSpPr>
        <p:spPr>
          <a:xfrm>
            <a:off x="609600" y="2590800"/>
            <a:ext cx="47625" cy="704850"/>
          </a:xfrm>
          <a:prstGeom prst="rect">
            <a:avLst/>
          </a:prstGeom>
          <a:solidFill>
            <a:srgbClr val="2E4B6B"/>
          </a:solidFill>
          <a:ln w="0">
            <a:noFill/>
          </a:ln>
        </p:spPr>
      </p:sp>
      <p:sp>
        <p:nvSpPr>
          <p:cNvPr id="10" name="矩形 9"/>
          <p:cNvSpPr>
            <a:spLocks noGrp="1"/>
          </p:cNvSpPr>
          <p:nvPr/>
        </p:nvSpPr>
        <p:spPr>
          <a:xfrm>
            <a:off x="876300" y="2666999"/>
            <a:ext cx="1238250" cy="514349"/>
          </a:xfrm>
          <a:prstGeom prst="rect">
            <a:avLst/>
          </a:prstGeom>
          <a:noFill/>
          <a:ln w="0">
            <a:noFill/>
          </a:ln>
        </p:spPr>
        <p:txBody>
          <a:bodyPr lIns="0" tIns="0" rIns="0" bIns="0" anchor="t">
            <a:noAutofit/>
          </a:bodyPr>
          <a:lstStyle/>
          <a:p>
            <a:pPr algn="l">
              <a:defRPr sz="1650" b="1">
                <a:solidFill>
                  <a:srgbClr val="12161C"/>
                </a:solidFill>
                <a:latin typeface="微软雅黑"/>
                <a:ea typeface="微软雅黑"/>
                <a:cs typeface="微软雅黑"/>
              </a:defRPr>
            </a:pPr>
            <a:r>
              <a:rPr sz="2400" dirty="0" err="1"/>
              <a:t>显存</a:t>
            </a:r>
            <a:endParaRPr sz="2400" dirty="0"/>
          </a:p>
        </p:txBody>
      </p:sp>
      <p:sp>
        <p:nvSpPr>
          <p:cNvPr id="11" name="矩形 10"/>
          <p:cNvSpPr>
            <a:spLocks noGrp="1"/>
          </p:cNvSpPr>
          <p:nvPr/>
        </p:nvSpPr>
        <p:spPr>
          <a:xfrm>
            <a:off x="2247900" y="2676525"/>
            <a:ext cx="9334500" cy="285750"/>
          </a:xfrm>
          <a:prstGeom prst="rect">
            <a:avLst/>
          </a:prstGeom>
          <a:noFill/>
          <a:ln w="0">
            <a:noFill/>
          </a:ln>
        </p:spPr>
        <p:txBody>
          <a:bodyPr lIns="0" tIns="0" rIns="0" bIns="0" anchor="t">
            <a:noAutofit/>
          </a:bodyPr>
          <a:lstStyle/>
          <a:p>
            <a:pPr algn="l">
              <a:defRPr sz="1425" b="1">
                <a:solidFill>
                  <a:srgbClr val="2E4B6B"/>
                </a:solidFill>
                <a:latin typeface="微软雅黑"/>
                <a:ea typeface="微软雅黑"/>
                <a:cs typeface="微软雅黑"/>
              </a:defRPr>
            </a:pPr>
            <a:r>
              <a:t>要同时物化 |B|×|B| 的相似度矩阵</a:t>
            </a:r>
          </a:p>
        </p:txBody>
      </p:sp>
      <p:sp>
        <p:nvSpPr>
          <p:cNvPr id="12" name="矩形 11"/>
          <p:cNvSpPr>
            <a:spLocks noGrp="1"/>
          </p:cNvSpPr>
          <p:nvPr/>
        </p:nvSpPr>
        <p:spPr>
          <a:xfrm>
            <a:off x="2247900" y="3038475"/>
            <a:ext cx="9334500" cy="571500"/>
          </a:xfrm>
          <a:prstGeom prst="rect">
            <a:avLst/>
          </a:prstGeom>
          <a:noFill/>
          <a:ln w="0">
            <a:noFill/>
          </a:ln>
        </p:spPr>
        <p:txBody>
          <a:bodyPr lIns="0" tIns="0" rIns="0" bIns="0" anchor="t">
            <a:noAutofit/>
          </a:bodyPr>
          <a:lstStyle/>
          <a:p>
            <a:pPr algn="l">
              <a:defRPr sz="1200" b="0">
                <a:solidFill>
                  <a:srgbClr val="69747F"/>
                </a:solidFill>
                <a:latin typeface="微软雅黑"/>
                <a:ea typeface="微软雅黑"/>
                <a:cs typeface="微软雅黑"/>
              </a:defRPr>
            </a:pPr>
            <a:r>
              <a:rPr sz="1400" dirty="0" err="1"/>
              <a:t>矩阵规模随</a:t>
            </a:r>
            <a:r>
              <a:rPr sz="1400" dirty="0"/>
              <a:t> batch </a:t>
            </a:r>
            <a:r>
              <a:rPr sz="1400" dirty="0" err="1"/>
              <a:t>平方增长：batch</a:t>
            </a:r>
            <a:r>
              <a:rPr sz="1400" dirty="0"/>
              <a:t> </a:t>
            </a:r>
            <a:r>
              <a:rPr sz="1400" dirty="0" err="1"/>
              <a:t>翻倍，显存需求变成四倍</a:t>
            </a:r>
            <a:r>
              <a:rPr sz="1400" dirty="0"/>
              <a:t>。</a:t>
            </a:r>
          </a:p>
        </p:txBody>
      </p:sp>
      <p:sp>
        <p:nvSpPr>
          <p:cNvPr id="13" name="矩形 12"/>
          <p:cNvSpPr>
            <a:spLocks noGrp="1"/>
          </p:cNvSpPr>
          <p:nvPr/>
        </p:nvSpPr>
        <p:spPr>
          <a:xfrm>
            <a:off x="609600" y="3543300"/>
            <a:ext cx="10972800" cy="9525"/>
          </a:xfrm>
          <a:prstGeom prst="rect">
            <a:avLst/>
          </a:prstGeom>
          <a:solidFill>
            <a:srgbClr val="DCE2E9"/>
          </a:solidFill>
          <a:ln w="0">
            <a:noFill/>
          </a:ln>
        </p:spPr>
      </p:sp>
      <p:sp>
        <p:nvSpPr>
          <p:cNvPr id="14" name="矩形 13"/>
          <p:cNvSpPr>
            <a:spLocks noGrp="1"/>
          </p:cNvSpPr>
          <p:nvPr/>
        </p:nvSpPr>
        <p:spPr>
          <a:xfrm>
            <a:off x="609600" y="3752850"/>
            <a:ext cx="47625" cy="704850"/>
          </a:xfrm>
          <a:prstGeom prst="rect">
            <a:avLst/>
          </a:prstGeom>
          <a:solidFill>
            <a:srgbClr val="2E4B6B"/>
          </a:solidFill>
          <a:ln w="0">
            <a:noFill/>
          </a:ln>
        </p:spPr>
      </p:sp>
      <p:sp>
        <p:nvSpPr>
          <p:cNvPr id="15" name="矩形 14"/>
          <p:cNvSpPr>
            <a:spLocks noGrp="1"/>
          </p:cNvSpPr>
          <p:nvPr/>
        </p:nvSpPr>
        <p:spPr>
          <a:xfrm>
            <a:off x="876300" y="3829049"/>
            <a:ext cx="1238250" cy="514349"/>
          </a:xfrm>
          <a:prstGeom prst="rect">
            <a:avLst/>
          </a:prstGeom>
          <a:noFill/>
          <a:ln w="0">
            <a:noFill/>
          </a:ln>
        </p:spPr>
        <p:txBody>
          <a:bodyPr lIns="0" tIns="0" rIns="0" bIns="0" anchor="t">
            <a:noAutofit/>
          </a:bodyPr>
          <a:lstStyle/>
          <a:p>
            <a:pPr algn="l">
              <a:defRPr sz="1650" b="1">
                <a:solidFill>
                  <a:srgbClr val="12161C"/>
                </a:solidFill>
                <a:latin typeface="微软雅黑"/>
                <a:ea typeface="微软雅黑"/>
                <a:cs typeface="微软雅黑"/>
              </a:defRPr>
            </a:pPr>
            <a:r>
              <a:rPr sz="2400" dirty="0" err="1"/>
              <a:t>任务</a:t>
            </a:r>
            <a:endParaRPr sz="2400" dirty="0"/>
          </a:p>
        </p:txBody>
      </p:sp>
      <p:sp>
        <p:nvSpPr>
          <p:cNvPr id="16" name="矩形 15"/>
          <p:cNvSpPr>
            <a:spLocks noGrp="1"/>
          </p:cNvSpPr>
          <p:nvPr/>
        </p:nvSpPr>
        <p:spPr>
          <a:xfrm>
            <a:off x="2247900" y="3838575"/>
            <a:ext cx="9334500" cy="285750"/>
          </a:xfrm>
          <a:prstGeom prst="rect">
            <a:avLst/>
          </a:prstGeom>
          <a:noFill/>
          <a:ln w="0">
            <a:noFill/>
          </a:ln>
        </p:spPr>
        <p:txBody>
          <a:bodyPr lIns="0" tIns="0" rIns="0" bIns="0" anchor="t">
            <a:noAutofit/>
          </a:bodyPr>
          <a:lstStyle/>
          <a:p>
            <a:pPr algn="l">
              <a:defRPr sz="1425" b="1">
                <a:solidFill>
                  <a:srgbClr val="2E4B6B"/>
                </a:solidFill>
                <a:latin typeface="微软雅黑"/>
                <a:ea typeface="微软雅黑"/>
                <a:cs typeface="微软雅黑"/>
              </a:defRPr>
            </a:pPr>
            <a:r>
              <a:t>batch 被写进损失的定义里</a:t>
            </a:r>
          </a:p>
        </p:txBody>
      </p:sp>
      <p:sp>
        <p:nvSpPr>
          <p:cNvPr id="17" name="矩形 16"/>
          <p:cNvSpPr>
            <a:spLocks noGrp="1"/>
          </p:cNvSpPr>
          <p:nvPr/>
        </p:nvSpPr>
        <p:spPr>
          <a:xfrm>
            <a:off x="2247900" y="4200525"/>
            <a:ext cx="9334500" cy="571500"/>
          </a:xfrm>
          <a:prstGeom prst="rect">
            <a:avLst/>
          </a:prstGeom>
          <a:noFill/>
          <a:ln w="0">
            <a:noFill/>
          </a:ln>
        </p:spPr>
        <p:txBody>
          <a:bodyPr lIns="0" tIns="0" rIns="0" bIns="0" anchor="t">
            <a:noAutofit/>
          </a:bodyPr>
          <a:lstStyle/>
          <a:p>
            <a:pPr algn="l">
              <a:defRPr sz="1200" b="0">
                <a:solidFill>
                  <a:srgbClr val="69747F"/>
                </a:solidFill>
                <a:latin typeface="微软雅黑"/>
                <a:ea typeface="微软雅黑"/>
                <a:cs typeface="微软雅黑"/>
              </a:defRPr>
            </a:pPr>
            <a:r>
              <a:rPr sz="1400" dirty="0" err="1"/>
              <a:t>换一个</a:t>
            </a:r>
            <a:r>
              <a:rPr sz="1400" dirty="0"/>
              <a:t> batch </a:t>
            </a:r>
            <a:r>
              <a:rPr sz="1400" dirty="0" err="1"/>
              <a:t>就等于换了一个任务；小</a:t>
            </a:r>
            <a:r>
              <a:rPr sz="1400" dirty="0"/>
              <a:t> batch </a:t>
            </a:r>
            <a:r>
              <a:rPr sz="1400" dirty="0" err="1"/>
              <a:t>下负例太少，softmax</a:t>
            </a:r>
            <a:r>
              <a:rPr sz="1400" dirty="0"/>
              <a:t> </a:t>
            </a:r>
            <a:r>
              <a:rPr sz="1400" dirty="0" err="1"/>
              <a:t>明显吃亏</a:t>
            </a:r>
            <a:r>
              <a:rPr sz="1400" dirty="0"/>
              <a:t>。</a:t>
            </a:r>
          </a:p>
        </p:txBody>
      </p:sp>
      <p:sp>
        <p:nvSpPr>
          <p:cNvPr id="18" name="矩形: 圆角 17"/>
          <p:cNvSpPr>
            <a:spLocks noGrp="1"/>
          </p:cNvSpPr>
          <p:nvPr/>
        </p:nvSpPr>
        <p:spPr>
          <a:xfrm>
            <a:off x="609600" y="5048250"/>
            <a:ext cx="10972800" cy="1238250"/>
          </a:xfrm>
          <a:prstGeom prst="roundRect">
            <a:avLst>
              <a:gd name="adj" fmla="val 7692"/>
            </a:avLst>
          </a:prstGeom>
          <a:solidFill>
            <a:srgbClr val="F4F6F9"/>
          </a:solidFill>
          <a:ln w="0">
            <a:noFill/>
          </a:ln>
        </p:spPr>
      </p:sp>
      <p:sp>
        <p:nvSpPr>
          <p:cNvPr id="19" name="矩形 18"/>
          <p:cNvSpPr>
            <a:spLocks noGrp="1"/>
          </p:cNvSpPr>
          <p:nvPr/>
        </p:nvSpPr>
        <p:spPr>
          <a:xfrm>
            <a:off x="876300" y="5257800"/>
            <a:ext cx="10439400" cy="857250"/>
          </a:xfrm>
          <a:prstGeom prst="rect">
            <a:avLst/>
          </a:prstGeom>
          <a:noFill/>
          <a:ln w="0">
            <a:noFill/>
          </a:ln>
        </p:spPr>
        <p:txBody>
          <a:bodyPr lIns="0" tIns="0" rIns="0" bIns="0" anchor="t">
            <a:noAutofit/>
          </a:bodyPr>
          <a:lstStyle/>
          <a:p>
            <a:pPr algn="l">
              <a:defRPr sz="1425" b="0">
                <a:solidFill>
                  <a:srgbClr val="39424F"/>
                </a:solidFill>
                <a:latin typeface="微软雅黑"/>
                <a:ea typeface="微软雅黑"/>
                <a:cs typeface="微软雅黑"/>
              </a:defRPr>
            </a:pPr>
            <a:r>
              <a:rPr sz="2000" b="1" dirty="0" err="1">
                <a:solidFill>
                  <a:srgbClr val="12161C"/>
                </a:solidFill>
              </a:rPr>
              <a:t>于是「大</a:t>
            </a:r>
            <a:r>
              <a:rPr sz="2000" b="1" dirty="0">
                <a:solidFill>
                  <a:srgbClr val="12161C"/>
                </a:solidFill>
              </a:rPr>
              <a:t> </a:t>
            </a:r>
            <a:r>
              <a:rPr sz="2000" b="1" dirty="0" err="1">
                <a:solidFill>
                  <a:srgbClr val="12161C"/>
                </a:solidFill>
              </a:rPr>
              <a:t>batch」变成了必需品</a:t>
            </a:r>
            <a:r>
              <a:rPr sz="2000" b="1" dirty="0">
                <a:solidFill>
                  <a:srgbClr val="12161C"/>
                </a:solidFill>
              </a:rPr>
              <a:t>。</a:t>
            </a:r>
            <a:br>
              <a:rPr sz="2000" dirty="0">
                <a:solidFill>
                  <a:srgbClr val="39424F"/>
                </a:solidFill>
              </a:rPr>
            </a:br>
            <a:r>
              <a:rPr sz="2000" dirty="0" err="1">
                <a:solidFill>
                  <a:srgbClr val="39424F"/>
                </a:solidFill>
              </a:rPr>
              <a:t>但大</a:t>
            </a:r>
            <a:r>
              <a:rPr sz="2000" dirty="0">
                <a:solidFill>
                  <a:srgbClr val="39424F"/>
                </a:solidFill>
              </a:rPr>
              <a:t> batch </a:t>
            </a:r>
            <a:r>
              <a:rPr sz="2000" dirty="0" err="1">
                <a:solidFill>
                  <a:srgbClr val="39424F"/>
                </a:solidFill>
              </a:rPr>
              <a:t>意味着更多芯片、更大显存、更贵的通信</a:t>
            </a:r>
            <a:r>
              <a:rPr sz="2000" dirty="0">
                <a:solidFill>
                  <a:srgbClr val="39424F"/>
                </a:solidFill>
              </a:rPr>
              <a:t>——</a:t>
            </a:r>
            <a:r>
              <a:rPr sz="2000" dirty="0" err="1">
                <a:solidFill>
                  <a:srgbClr val="39424F"/>
                </a:solidFill>
              </a:rPr>
              <a:t>这正是</a:t>
            </a:r>
            <a:r>
              <a:rPr lang="en-US" altLang="zh-CN" sz="2000" dirty="0" err="1">
                <a:solidFill>
                  <a:srgbClr val="39424F"/>
                </a:solidFill>
              </a:rPr>
              <a:t>SigLIP</a:t>
            </a:r>
            <a:r>
              <a:rPr sz="2000" dirty="0" err="1">
                <a:solidFill>
                  <a:srgbClr val="39424F"/>
                </a:solidFill>
              </a:rPr>
              <a:t>想绕开的东西</a:t>
            </a:r>
            <a:r>
              <a:rPr sz="2000" dirty="0">
                <a:solidFill>
                  <a:srgbClr val="39424F"/>
                </a:solidFill>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rPr dirty="0" err="1"/>
              <a:t>核心改动：从</a:t>
            </a:r>
            <a:r>
              <a:rPr dirty="0"/>
              <a:t>「</a:t>
            </a:r>
            <a:r>
              <a:rPr lang="zh-CN" altLang="en-US" dirty="0"/>
              <a:t>多选</a:t>
            </a:r>
            <a:r>
              <a:rPr dirty="0"/>
              <a:t>」</a:t>
            </a:r>
            <a:r>
              <a:rPr dirty="0" err="1"/>
              <a:t>变成</a:t>
            </a:r>
            <a:r>
              <a:rPr dirty="0"/>
              <a:t>「</a:t>
            </a:r>
            <a:r>
              <a:rPr lang="zh-CN" altLang="en-US" dirty="0"/>
              <a:t>判断</a:t>
            </a:r>
            <a:r>
              <a:rPr dirty="0"/>
              <a:t>」</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5</a:t>
            </a:r>
          </a:p>
        </p:txBody>
      </p:sp>
      <p:sp>
        <p:nvSpPr>
          <p:cNvPr id="4" name="矩形: 圆角 3"/>
          <p:cNvSpPr>
            <a:spLocks noGrp="1"/>
          </p:cNvSpPr>
          <p:nvPr/>
        </p:nvSpPr>
        <p:spPr>
          <a:xfrm>
            <a:off x="609600" y="1295400"/>
            <a:ext cx="5334000" cy="1981200"/>
          </a:xfrm>
          <a:prstGeom prst="roundRect">
            <a:avLst>
              <a:gd name="adj" fmla="val 4808"/>
            </a:avLst>
          </a:prstGeom>
          <a:solidFill>
            <a:srgbClr val="FFFFFF"/>
          </a:solidFill>
          <a:ln w="9525">
            <a:solidFill>
              <a:srgbClr val="DCE2E9"/>
            </a:solidFill>
            <a:prstDash val="solid"/>
          </a:ln>
        </p:spPr>
      </p:sp>
      <p:sp>
        <p:nvSpPr>
          <p:cNvPr id="5" name="矩形 4"/>
          <p:cNvSpPr>
            <a:spLocks noGrp="1"/>
          </p:cNvSpPr>
          <p:nvPr/>
        </p:nvSpPr>
        <p:spPr>
          <a:xfrm>
            <a:off x="838200" y="1466850"/>
            <a:ext cx="4876800" cy="266700"/>
          </a:xfrm>
          <a:prstGeom prst="rect">
            <a:avLst/>
          </a:prstGeom>
          <a:noFill/>
          <a:ln w="0">
            <a:noFill/>
          </a:ln>
        </p:spPr>
        <p:txBody>
          <a:bodyPr lIns="0" tIns="0" rIns="0" bIns="0" anchor="t">
            <a:noAutofit/>
          </a:bodyPr>
          <a:lstStyle/>
          <a:p>
            <a:pPr algn="l">
              <a:defRPr sz="1350" b="1">
                <a:solidFill>
                  <a:srgbClr val="2E4B6B"/>
                </a:solidFill>
                <a:latin typeface="微软雅黑"/>
                <a:ea typeface="微软雅黑"/>
                <a:cs typeface="微软雅黑"/>
              </a:defRPr>
            </a:pPr>
            <a:r>
              <a:t>softmax 对比损失（原 CLIP）</a:t>
            </a:r>
          </a:p>
        </p:txBody>
      </p:sp>
      <p:sp>
        <p:nvSpPr>
          <p:cNvPr id="7" name="矩形 6"/>
          <p:cNvSpPr>
            <a:spLocks noGrp="1"/>
          </p:cNvSpPr>
          <p:nvPr/>
        </p:nvSpPr>
        <p:spPr>
          <a:xfrm>
            <a:off x="838200" y="2724150"/>
            <a:ext cx="4876800" cy="419100"/>
          </a:xfrm>
          <a:prstGeom prst="rect">
            <a:avLst/>
          </a:prstGeom>
          <a:noFill/>
          <a:ln w="0">
            <a:noFill/>
          </a:ln>
        </p:spPr>
        <p:txBody>
          <a:bodyPr lIns="0" tIns="0" rIns="0" bIns="0" anchor="t">
            <a:noAutofit/>
          </a:bodyPr>
          <a:lstStyle/>
          <a:p>
            <a:pPr algn="l">
              <a:defRPr sz="1125" b="0">
                <a:solidFill>
                  <a:srgbClr val="69747F"/>
                </a:solidFill>
                <a:latin typeface="微软雅黑"/>
                <a:ea typeface="微软雅黑"/>
                <a:cs typeface="微软雅黑"/>
              </a:defRPr>
            </a:pPr>
            <a:r>
              <a:rPr sz="1400" dirty="0" err="1"/>
              <a:t>对每张图，从</a:t>
            </a:r>
            <a:r>
              <a:rPr sz="1400" dirty="0"/>
              <a:t> |B| </a:t>
            </a:r>
            <a:r>
              <a:rPr sz="1400" dirty="0" err="1"/>
              <a:t>段文本里挑出正确的那一段。分母</a:t>
            </a:r>
            <a:r>
              <a:rPr sz="1400" dirty="0"/>
              <a:t> Σⱼ </a:t>
            </a:r>
            <a:r>
              <a:rPr sz="1400" dirty="0" err="1"/>
              <a:t>跨越整个</a:t>
            </a:r>
            <a:r>
              <a:rPr sz="1400" dirty="0"/>
              <a:t> </a:t>
            </a:r>
            <a:r>
              <a:rPr sz="1400" dirty="0" err="1"/>
              <a:t>batch，图像方向和文本方向还要各归一化一次</a:t>
            </a:r>
            <a:r>
              <a:rPr sz="1400" dirty="0"/>
              <a:t>。</a:t>
            </a:r>
          </a:p>
        </p:txBody>
      </p:sp>
      <p:sp>
        <p:nvSpPr>
          <p:cNvPr id="8" name="矩形: 圆角 7"/>
          <p:cNvSpPr>
            <a:spLocks noGrp="1"/>
          </p:cNvSpPr>
          <p:nvPr/>
        </p:nvSpPr>
        <p:spPr>
          <a:xfrm>
            <a:off x="6248400" y="1295400"/>
            <a:ext cx="5334000" cy="1981200"/>
          </a:xfrm>
          <a:prstGeom prst="roundRect">
            <a:avLst>
              <a:gd name="adj" fmla="val 4808"/>
            </a:avLst>
          </a:prstGeom>
          <a:noFill/>
          <a:ln w="9525">
            <a:solidFill>
              <a:srgbClr val="F0CDB8"/>
            </a:solidFill>
            <a:prstDash val="solid"/>
          </a:ln>
        </p:spPr>
      </p:sp>
      <p:sp>
        <p:nvSpPr>
          <p:cNvPr id="9" name="矩形 8"/>
          <p:cNvSpPr>
            <a:spLocks noGrp="1"/>
          </p:cNvSpPr>
          <p:nvPr/>
        </p:nvSpPr>
        <p:spPr>
          <a:xfrm>
            <a:off x="6477000" y="1466850"/>
            <a:ext cx="4876800" cy="266700"/>
          </a:xfrm>
          <a:prstGeom prst="rect">
            <a:avLst/>
          </a:prstGeom>
          <a:noFill/>
          <a:ln w="0">
            <a:noFill/>
          </a:ln>
        </p:spPr>
        <p:txBody>
          <a:bodyPr lIns="0" tIns="0" rIns="0" bIns="0" anchor="t">
            <a:noAutofit/>
          </a:bodyPr>
          <a:lstStyle/>
          <a:p>
            <a:pPr algn="l">
              <a:defRPr sz="1350" b="1">
                <a:solidFill>
                  <a:srgbClr val="C2410C"/>
                </a:solidFill>
                <a:latin typeface="微软雅黑"/>
                <a:ea typeface="微软雅黑"/>
                <a:cs typeface="微软雅黑"/>
              </a:defRPr>
            </a:pPr>
            <a:r>
              <a:t>sigmoid 损失（本文）</a:t>
            </a:r>
          </a:p>
        </p:txBody>
      </p:sp>
      <p:sp>
        <p:nvSpPr>
          <p:cNvPr id="11" name="矩形 10"/>
          <p:cNvSpPr>
            <a:spLocks noGrp="1"/>
          </p:cNvSpPr>
          <p:nvPr/>
        </p:nvSpPr>
        <p:spPr>
          <a:xfrm>
            <a:off x="6477000" y="2752725"/>
            <a:ext cx="4876800" cy="428625"/>
          </a:xfrm>
          <a:prstGeom prst="rect">
            <a:avLst/>
          </a:prstGeom>
          <a:noFill/>
          <a:ln w="0">
            <a:noFill/>
          </a:ln>
        </p:spPr>
        <p:txBody>
          <a:bodyPr lIns="0" tIns="0" rIns="0" bIns="0" anchor="t">
            <a:noAutofit/>
          </a:bodyPr>
          <a:lstStyle/>
          <a:p>
            <a:pPr algn="l">
              <a:defRPr sz="1125" b="0">
                <a:solidFill>
                  <a:srgbClr val="69747F"/>
                </a:solidFill>
                <a:latin typeface="微软雅黑"/>
                <a:ea typeface="微软雅黑"/>
                <a:cs typeface="微软雅黑"/>
              </a:defRPr>
            </a:pPr>
            <a:r>
              <a:rPr sz="1400" dirty="0" err="1"/>
              <a:t>每一对图文独立做一个二分类，没有任何一项跨越样本。损失天然对称，一遍算完</a:t>
            </a:r>
            <a:r>
              <a:rPr sz="1400" dirty="0"/>
              <a:t>。</a:t>
            </a:r>
          </a:p>
        </p:txBody>
      </p:sp>
      <p:sp>
        <p:nvSpPr>
          <p:cNvPr id="12" name="矩形 11"/>
          <p:cNvSpPr>
            <a:spLocks noGrp="1"/>
          </p:cNvSpPr>
          <p:nvPr/>
        </p:nvSpPr>
        <p:spPr>
          <a:xfrm>
            <a:off x="609600" y="3390900"/>
            <a:ext cx="10972800" cy="323850"/>
          </a:xfrm>
          <a:prstGeom prst="rect">
            <a:avLst/>
          </a:prstGeom>
          <a:noFill/>
          <a:ln w="0">
            <a:noFill/>
          </a:ln>
        </p:spPr>
        <p:txBody>
          <a:bodyPr lIns="0" tIns="0" rIns="0" bIns="0" anchor="t">
            <a:noAutofit/>
          </a:bodyPr>
          <a:lstStyle/>
          <a:p>
            <a:pPr algn="l">
              <a:defRPr sz="1425" b="1">
                <a:solidFill>
                  <a:srgbClr val="12161C"/>
                </a:solidFill>
                <a:latin typeface="微软雅黑"/>
                <a:ea typeface="微软雅黑"/>
                <a:cs typeface="微软雅黑"/>
              </a:defRPr>
            </a:pPr>
            <a:r>
              <a:t>一句话：softmax 是「从 |B| 个里选一个」，sigmoid 是「这一对配不配」。</a:t>
            </a:r>
          </a:p>
        </p:txBody>
      </p:sp>
      <p:graphicFrame>
        <p:nvGraphicFramePr>
          <p:cNvPr id="26" name="表格 25"/>
          <p:cNvGraphicFramePr/>
          <p:nvPr/>
        </p:nvGraphicFramePr>
        <p:xfrm>
          <a:off x="609600" y="3810000"/>
          <a:ext cx="10972800" cy="2333625"/>
        </p:xfrm>
        <a:graphic>
          <a:graphicData uri="http://schemas.openxmlformats.org/drawingml/2006/table">
            <a:tbl>
              <a:tblPr/>
              <a:tblGrid>
                <a:gridCol w="2965622">
                  <a:extLst>
                    <a:ext uri="{9D8B030D-6E8A-4147-A177-3AD203B41FA5}">
                      <a16:colId xmlns:a16="http://schemas.microsoft.com/office/drawing/2014/main" val="20000"/>
                    </a:ext>
                  </a:extLst>
                </a:gridCol>
                <a:gridCol w="4003589">
                  <a:extLst>
                    <a:ext uri="{9D8B030D-6E8A-4147-A177-3AD203B41FA5}">
                      <a16:colId xmlns:a16="http://schemas.microsoft.com/office/drawing/2014/main" val="20001"/>
                    </a:ext>
                  </a:extLst>
                </a:gridCol>
                <a:gridCol w="4003589">
                  <a:extLst>
                    <a:ext uri="{9D8B030D-6E8A-4147-A177-3AD203B41FA5}">
                      <a16:colId xmlns:a16="http://schemas.microsoft.com/office/drawing/2014/main" val="20002"/>
                    </a:ext>
                  </a:extLst>
                </a:gridCol>
              </a:tblGrid>
              <a:tr h="466725">
                <a:tc>
                  <a:txBody>
                    <a:bodyPr/>
                    <a:lstStyle/>
                    <a:p>
                      <a:pPr algn="l"/>
                      <a:endParaRPr sz="2000" dirty="0"/>
                    </a:p>
                  </a:txBody>
                  <a:tcPr marL="76200" marR="76200" marT="28575" marB="28575" anchor="ctr">
                    <a:solidFill>
                      <a:srgbClr val="E9EEF4"/>
                    </a:solidFill>
                  </a:tcPr>
                </a:tc>
                <a:tc>
                  <a:txBody>
                    <a:bodyPr/>
                    <a:lstStyle/>
                    <a:p>
                      <a:pPr algn="l"/>
                      <a:r>
                        <a:rPr sz="1400" b="1" dirty="0" err="1">
                          <a:solidFill>
                            <a:srgbClr val="12161C"/>
                          </a:solidFill>
                          <a:latin typeface="微软雅黑"/>
                          <a:ea typeface="微软雅黑"/>
                          <a:cs typeface="微软雅黑"/>
                        </a:rPr>
                        <a:t>softmax</a:t>
                      </a:r>
                      <a:r>
                        <a:rPr sz="1400" b="1" dirty="0">
                          <a:solidFill>
                            <a:srgbClr val="12161C"/>
                          </a:solidFill>
                          <a:latin typeface="微软雅黑"/>
                          <a:ea typeface="微软雅黑"/>
                          <a:cs typeface="微软雅黑"/>
                        </a:rPr>
                        <a:t> </a:t>
                      </a:r>
                      <a:r>
                        <a:rPr sz="1400" b="1" dirty="0" err="1">
                          <a:solidFill>
                            <a:srgbClr val="12161C"/>
                          </a:solidFill>
                          <a:latin typeface="微软雅黑"/>
                          <a:ea typeface="微软雅黑"/>
                          <a:cs typeface="微软雅黑"/>
                        </a:rPr>
                        <a:t>对比损失</a:t>
                      </a:r>
                      <a:endParaRPr sz="1400" b="1" dirty="0">
                        <a:solidFill>
                          <a:srgbClr val="12161C"/>
                        </a:solidFill>
                        <a:latin typeface="微软雅黑"/>
                        <a:ea typeface="微软雅黑"/>
                        <a:cs typeface="微软雅黑"/>
                      </a:endParaRPr>
                    </a:p>
                  </a:txBody>
                  <a:tcPr marL="76200" marR="76200" marT="28575" marB="28575" anchor="ctr">
                    <a:solidFill>
                      <a:srgbClr val="E9EEF4"/>
                    </a:solidFill>
                  </a:tcPr>
                </a:tc>
                <a:tc>
                  <a:txBody>
                    <a:bodyPr/>
                    <a:lstStyle/>
                    <a:p>
                      <a:pPr algn="l"/>
                      <a:r>
                        <a:rPr sz="1400" b="1" dirty="0">
                          <a:solidFill>
                            <a:srgbClr val="12161C"/>
                          </a:solidFill>
                          <a:latin typeface="微软雅黑"/>
                          <a:ea typeface="微软雅黑"/>
                          <a:cs typeface="微软雅黑"/>
                        </a:rPr>
                        <a:t>sigmoid </a:t>
                      </a:r>
                      <a:r>
                        <a:rPr sz="1400" b="1" dirty="0" err="1">
                          <a:solidFill>
                            <a:srgbClr val="12161C"/>
                          </a:solidFill>
                          <a:latin typeface="微软雅黑"/>
                          <a:ea typeface="微软雅黑"/>
                          <a:cs typeface="微软雅黑"/>
                        </a:rPr>
                        <a:t>损失</a:t>
                      </a:r>
                      <a:endParaRPr sz="1400" b="1" dirty="0">
                        <a:solidFill>
                          <a:srgbClr val="12161C"/>
                        </a:solidFill>
                        <a:latin typeface="微软雅黑"/>
                        <a:ea typeface="微软雅黑"/>
                        <a:cs typeface="微软雅黑"/>
                      </a:endParaRPr>
                    </a:p>
                  </a:txBody>
                  <a:tcPr marL="76200" marR="76200" marT="28575" marB="28575" anchor="ctr">
                    <a:solidFill>
                      <a:srgbClr val="E9EEF4"/>
                    </a:solidFill>
                  </a:tcPr>
                </a:tc>
                <a:extLst>
                  <a:ext uri="{0D108BD9-81ED-4DB2-BD59-A6C34878D82A}">
                    <a16:rowId xmlns:a16="http://schemas.microsoft.com/office/drawing/2014/main" val="10000"/>
                  </a:ext>
                </a:extLst>
              </a:tr>
              <a:tr h="466725">
                <a:tc>
                  <a:txBody>
                    <a:bodyPr/>
                    <a:lstStyle/>
                    <a:p>
                      <a:pPr algn="l"/>
                      <a:r>
                        <a:rPr sz="1400" b="0">
                          <a:solidFill>
                            <a:srgbClr val="39424F"/>
                          </a:solidFill>
                          <a:latin typeface="微软雅黑"/>
                          <a:ea typeface="微软雅黑"/>
                          <a:cs typeface="微软雅黑"/>
                        </a:rPr>
                        <a:t>任务形态</a:t>
                      </a:r>
                    </a:p>
                  </a:txBody>
                  <a:tcPr marL="76200" marR="76200" marT="28575" marB="28575" anchor="ctr">
                    <a:solidFill>
                      <a:srgbClr val="FFFFFF"/>
                    </a:solidFill>
                  </a:tcPr>
                </a:tc>
                <a:tc>
                  <a:txBody>
                    <a:bodyPr/>
                    <a:lstStyle/>
                    <a:p>
                      <a:pPr algn="l"/>
                      <a:r>
                        <a:rPr sz="1400" b="0" dirty="0">
                          <a:solidFill>
                            <a:srgbClr val="39424F"/>
                          </a:solidFill>
                          <a:latin typeface="微软雅黑"/>
                          <a:ea typeface="微软雅黑"/>
                          <a:cs typeface="微软雅黑"/>
                        </a:rPr>
                        <a:t>|B| </a:t>
                      </a:r>
                      <a:r>
                        <a:rPr sz="1400" b="0" dirty="0" err="1">
                          <a:solidFill>
                            <a:srgbClr val="39424F"/>
                          </a:solidFill>
                          <a:latin typeface="微软雅黑"/>
                          <a:ea typeface="微软雅黑"/>
                          <a:cs typeface="微软雅黑"/>
                        </a:rPr>
                        <a:t>类的分类问题</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tc>
                  <a:txBody>
                    <a:bodyPr/>
                    <a:lstStyle/>
                    <a:p>
                      <a:pPr algn="l"/>
                      <a:r>
                        <a:rPr sz="1400" b="0">
                          <a:solidFill>
                            <a:srgbClr val="39424F"/>
                          </a:solidFill>
                          <a:latin typeface="微软雅黑"/>
                          <a:ea typeface="微软雅黑"/>
                          <a:cs typeface="微软雅黑"/>
                        </a:rPr>
                        <a:t>|B|² 个独立二分类</a:t>
                      </a:r>
                    </a:p>
                  </a:txBody>
                  <a:tcPr marL="76200" marR="76200" marT="28575" marB="28575" anchor="ctr">
                    <a:solidFill>
                      <a:srgbClr val="FFFFFF"/>
                    </a:solidFill>
                  </a:tcPr>
                </a:tc>
                <a:extLst>
                  <a:ext uri="{0D108BD9-81ED-4DB2-BD59-A6C34878D82A}">
                    <a16:rowId xmlns:a16="http://schemas.microsoft.com/office/drawing/2014/main" val="10001"/>
                  </a:ext>
                </a:extLst>
              </a:tr>
              <a:tr h="466725">
                <a:tc>
                  <a:txBody>
                    <a:bodyPr/>
                    <a:lstStyle/>
                    <a:p>
                      <a:pPr algn="l"/>
                      <a:r>
                        <a:rPr sz="1400" b="0">
                          <a:solidFill>
                            <a:srgbClr val="39424F"/>
                          </a:solidFill>
                          <a:latin typeface="微软雅黑"/>
                          <a:ea typeface="微软雅黑"/>
                          <a:cs typeface="微软雅黑"/>
                        </a:rPr>
                        <a:t>跨 batch 归一化</a:t>
                      </a:r>
                    </a:p>
                  </a:txBody>
                  <a:tcPr marL="76200" marR="76200" marT="28575" marB="28575" anchor="ctr">
                    <a:solidFill>
                      <a:srgbClr val="FFFFFF"/>
                    </a:solidFill>
                  </a:tcPr>
                </a:tc>
                <a:tc>
                  <a:txBody>
                    <a:bodyPr/>
                    <a:lstStyle/>
                    <a:p>
                      <a:pPr algn="l"/>
                      <a:r>
                        <a:rPr sz="1400" b="0" dirty="0" err="1">
                          <a:solidFill>
                            <a:srgbClr val="39424F"/>
                          </a:solidFill>
                          <a:latin typeface="微软雅黑"/>
                          <a:ea typeface="微软雅黑"/>
                          <a:cs typeface="微软雅黑"/>
                        </a:rPr>
                        <a:t>需要</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tc>
                  <a:txBody>
                    <a:bodyPr/>
                    <a:lstStyle/>
                    <a:p>
                      <a:pPr algn="l"/>
                      <a:r>
                        <a:rPr sz="1400" b="0" dirty="0" err="1">
                          <a:solidFill>
                            <a:srgbClr val="39424F"/>
                          </a:solidFill>
                          <a:latin typeface="微软雅黑"/>
                          <a:ea typeface="微软雅黑"/>
                          <a:cs typeface="微软雅黑"/>
                        </a:rPr>
                        <a:t>不需要</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extLst>
                  <a:ext uri="{0D108BD9-81ED-4DB2-BD59-A6C34878D82A}">
                    <a16:rowId xmlns:a16="http://schemas.microsoft.com/office/drawing/2014/main" val="10002"/>
                  </a:ext>
                </a:extLst>
              </a:tr>
              <a:tr h="466725">
                <a:tc>
                  <a:txBody>
                    <a:bodyPr/>
                    <a:lstStyle/>
                    <a:p>
                      <a:pPr algn="l"/>
                      <a:r>
                        <a:rPr sz="1400" b="0">
                          <a:solidFill>
                            <a:srgbClr val="39424F"/>
                          </a:solidFill>
                          <a:latin typeface="微软雅黑"/>
                          <a:ea typeface="微软雅黑"/>
                          <a:cs typeface="微软雅黑"/>
                        </a:rPr>
                        <a:t>负对的作用</a:t>
                      </a:r>
                    </a:p>
                  </a:txBody>
                  <a:tcPr marL="76200" marR="76200" marT="28575" marB="28575" anchor="ctr">
                    <a:solidFill>
                      <a:srgbClr val="FFFFFF"/>
                    </a:solidFill>
                  </a:tcPr>
                </a:tc>
                <a:tc>
                  <a:txBody>
                    <a:bodyPr/>
                    <a:lstStyle/>
                    <a:p>
                      <a:pPr algn="l"/>
                      <a:r>
                        <a:rPr sz="1400" b="0">
                          <a:solidFill>
                            <a:srgbClr val="39424F"/>
                          </a:solidFill>
                          <a:latin typeface="微软雅黑"/>
                          <a:ea typeface="微软雅黑"/>
                          <a:cs typeface="微软雅黑"/>
                        </a:rPr>
                        <a:t>只作分母里的干扰项</a:t>
                      </a:r>
                    </a:p>
                  </a:txBody>
                  <a:tcPr marL="76200" marR="76200" marT="28575" marB="28575" anchor="ctr">
                    <a:solidFill>
                      <a:srgbClr val="FFFFFF"/>
                    </a:solidFill>
                  </a:tcPr>
                </a:tc>
                <a:tc>
                  <a:txBody>
                    <a:bodyPr/>
                    <a:lstStyle/>
                    <a:p>
                      <a:pPr algn="l"/>
                      <a:r>
                        <a:rPr sz="1400" b="1" dirty="0" err="1">
                          <a:solidFill>
                            <a:srgbClr val="C2410C"/>
                          </a:solidFill>
                          <a:latin typeface="微软雅黑"/>
                          <a:ea typeface="微软雅黑"/>
                          <a:cs typeface="微软雅黑"/>
                        </a:rPr>
                        <a:t>每一对都直接产生一个损失项</a:t>
                      </a:r>
                      <a:endParaRPr sz="1400" b="1" dirty="0">
                        <a:solidFill>
                          <a:srgbClr val="C2410C"/>
                        </a:solidFill>
                        <a:latin typeface="微软雅黑"/>
                        <a:ea typeface="微软雅黑"/>
                        <a:cs typeface="微软雅黑"/>
                      </a:endParaRPr>
                    </a:p>
                  </a:txBody>
                  <a:tcPr marL="76200" marR="76200" marT="28575" marB="28575" anchor="ctr">
                    <a:solidFill>
                      <a:srgbClr val="FDEDE4"/>
                    </a:solidFill>
                  </a:tcPr>
                </a:tc>
                <a:extLst>
                  <a:ext uri="{0D108BD9-81ED-4DB2-BD59-A6C34878D82A}">
                    <a16:rowId xmlns:a16="http://schemas.microsoft.com/office/drawing/2014/main" val="10003"/>
                  </a:ext>
                </a:extLst>
              </a:tr>
              <a:tr h="466725">
                <a:tc>
                  <a:txBody>
                    <a:bodyPr/>
                    <a:lstStyle/>
                    <a:p>
                      <a:pPr algn="l"/>
                      <a:r>
                        <a:rPr sz="1400" b="0">
                          <a:solidFill>
                            <a:srgbClr val="39424F"/>
                          </a:solidFill>
                          <a:latin typeface="微软雅黑"/>
                          <a:ea typeface="微软雅黑"/>
                          <a:cs typeface="微软雅黑"/>
                        </a:rPr>
                        <a:t>显存占用</a:t>
                      </a:r>
                    </a:p>
                  </a:txBody>
                  <a:tcPr marL="76200" marR="76200" marT="28575" marB="28575" anchor="ctr">
                    <a:solidFill>
                      <a:srgbClr val="FFFFFF"/>
                    </a:solidFill>
                  </a:tcPr>
                </a:tc>
                <a:tc>
                  <a:txBody>
                    <a:bodyPr/>
                    <a:lstStyle/>
                    <a:p>
                      <a:pPr algn="l"/>
                      <a:r>
                        <a:rPr sz="1400" b="0">
                          <a:solidFill>
                            <a:srgbClr val="39424F"/>
                          </a:solidFill>
                          <a:latin typeface="微软雅黑"/>
                          <a:ea typeface="微软雅黑"/>
                          <a:cs typeface="微软雅黑"/>
                        </a:rPr>
                        <a:t>|B|×|B| 全矩阵必须同时在位</a:t>
                      </a:r>
                    </a:p>
                  </a:txBody>
                  <a:tcPr marL="76200" marR="76200" marT="28575" marB="28575" anchor="ctr">
                    <a:solidFill>
                      <a:srgbClr val="FFFFFF"/>
                    </a:solidFill>
                  </a:tcPr>
                </a:tc>
                <a:tc>
                  <a:txBody>
                    <a:bodyPr/>
                    <a:lstStyle/>
                    <a:p>
                      <a:pPr algn="l"/>
                      <a:r>
                        <a:rPr sz="1400" b="1" dirty="0" err="1">
                          <a:solidFill>
                            <a:srgbClr val="C2410C"/>
                          </a:solidFill>
                          <a:latin typeface="微软雅黑"/>
                          <a:ea typeface="微软雅黑"/>
                          <a:cs typeface="微软雅黑"/>
                        </a:rPr>
                        <a:t>每对独立，可以拆成分块</a:t>
                      </a:r>
                      <a:endParaRPr sz="1400" b="1" dirty="0">
                        <a:solidFill>
                          <a:srgbClr val="C2410C"/>
                        </a:solidFill>
                        <a:latin typeface="微软雅黑"/>
                        <a:ea typeface="微软雅黑"/>
                        <a:cs typeface="微软雅黑"/>
                      </a:endParaRPr>
                    </a:p>
                  </a:txBody>
                  <a:tcPr marL="76200" marR="76200" marT="28575" marB="28575" anchor="ctr">
                    <a:solidFill>
                      <a:srgbClr val="FDEDE4"/>
                    </a:solidFill>
                  </a:tcPr>
                </a:tc>
                <a:extLst>
                  <a:ext uri="{0D108BD9-81ED-4DB2-BD59-A6C34878D82A}">
                    <a16:rowId xmlns:a16="http://schemas.microsoft.com/office/drawing/2014/main" val="10004"/>
                  </a:ext>
                </a:extLst>
              </a:tr>
            </a:tbl>
          </a:graphicData>
        </a:graphic>
      </p:graphicFrame>
      <p:pic>
        <p:nvPicPr>
          <p:cNvPr id="13" name="图片 12"/>
          <p:cNvPicPr>
            <a:picLocks noChangeAspect="1"/>
          </p:cNvPicPr>
          <p:nvPr/>
        </p:nvPicPr>
        <p:blipFill>
          <a:blip r:embed="rId3"/>
          <a:stretch>
            <a:fillRect/>
          </a:stretch>
        </p:blipFill>
        <p:spPr>
          <a:xfrm>
            <a:off x="1628062" y="1693377"/>
            <a:ext cx="3425539" cy="983148"/>
          </a:xfrm>
          <a:prstGeom prst="rect">
            <a:avLst/>
          </a:prstGeom>
        </p:spPr>
      </p:pic>
      <p:pic>
        <p:nvPicPr>
          <p:cNvPr id="15" name="图片 14"/>
          <p:cNvPicPr>
            <a:picLocks noChangeAspect="1"/>
          </p:cNvPicPr>
          <p:nvPr/>
        </p:nvPicPr>
        <p:blipFill>
          <a:blip r:embed="rId4"/>
          <a:stretch>
            <a:fillRect/>
          </a:stretch>
        </p:blipFill>
        <p:spPr>
          <a:xfrm>
            <a:off x="7088769" y="1676169"/>
            <a:ext cx="3274431" cy="103321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方法细节：b = −10 让训练起点接近先验</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6</a:t>
            </a:r>
          </a:p>
        </p:txBody>
      </p:sp>
      <p:sp>
        <p:nvSpPr>
          <p:cNvPr id="4" name="矩形 3"/>
          <p:cNvSpPr>
            <a:spLocks noGrp="1"/>
          </p:cNvSpPr>
          <p:nvPr/>
        </p:nvSpPr>
        <p:spPr>
          <a:xfrm>
            <a:off x="609600" y="1390650"/>
            <a:ext cx="4953000" cy="590550"/>
          </a:xfrm>
          <a:prstGeom prst="rect">
            <a:avLst/>
          </a:prstGeom>
          <a:noFill/>
          <a:ln w="0">
            <a:noFill/>
          </a:ln>
        </p:spPr>
        <p:txBody>
          <a:bodyPr lIns="0" tIns="0" rIns="0" bIns="0" anchor="t">
            <a:noAutofit/>
          </a:bodyPr>
          <a:lstStyle/>
          <a:p>
            <a:pPr algn="l">
              <a:defRPr sz="3300" b="1">
                <a:solidFill>
                  <a:srgbClr val="C2410C"/>
                </a:solidFill>
                <a:latin typeface="微软雅黑"/>
                <a:ea typeface="微软雅黑"/>
                <a:cs typeface="微软雅黑"/>
              </a:defRPr>
            </a:pPr>
            <a:r>
              <a:t>1 : 16384</a:t>
            </a:r>
          </a:p>
        </p:txBody>
      </p:sp>
      <p:sp>
        <p:nvSpPr>
          <p:cNvPr id="5" name="矩形 4"/>
          <p:cNvSpPr>
            <a:spLocks noGrp="1"/>
          </p:cNvSpPr>
          <p:nvPr/>
        </p:nvSpPr>
        <p:spPr>
          <a:xfrm>
            <a:off x="609600" y="2038350"/>
            <a:ext cx="4953000" cy="533400"/>
          </a:xfrm>
          <a:prstGeom prst="rect">
            <a:avLst/>
          </a:prstGeom>
          <a:noFill/>
          <a:ln w="0">
            <a:noFill/>
          </a:ln>
        </p:spPr>
        <p:txBody>
          <a:bodyPr lIns="0" tIns="0" rIns="0" bIns="0" anchor="t">
            <a:noAutofit/>
          </a:bodyPr>
          <a:lstStyle/>
          <a:p>
            <a:pPr algn="l">
              <a:defRPr sz="1275" b="0">
                <a:solidFill>
                  <a:srgbClr val="12161C"/>
                </a:solidFill>
                <a:latin typeface="微软雅黑"/>
                <a:ea typeface="微软雅黑"/>
                <a:cs typeface="微软雅黑"/>
              </a:defRPr>
            </a:pPr>
            <a:r>
              <a:rPr sz="1600" dirty="0"/>
              <a:t>16k 的 batch </a:t>
            </a:r>
            <a:r>
              <a:rPr sz="1600" dirty="0" err="1"/>
              <a:t>里有</a:t>
            </a:r>
            <a:r>
              <a:rPr sz="1600" dirty="0"/>
              <a:t> 268M </a:t>
            </a:r>
            <a:r>
              <a:rPr sz="1600" dirty="0" err="1"/>
              <a:t>个负对，正对只有</a:t>
            </a:r>
            <a:r>
              <a:rPr sz="1600" dirty="0"/>
              <a:t> 16k 个。</a:t>
            </a:r>
          </a:p>
        </p:txBody>
      </p:sp>
      <p:sp>
        <p:nvSpPr>
          <p:cNvPr id="6" name="矩形 5"/>
          <p:cNvSpPr>
            <a:spLocks noGrp="1"/>
          </p:cNvSpPr>
          <p:nvPr/>
        </p:nvSpPr>
        <p:spPr>
          <a:xfrm>
            <a:off x="609600" y="2781300"/>
            <a:ext cx="4953000" cy="1428750"/>
          </a:xfrm>
          <a:prstGeom prst="rect">
            <a:avLst/>
          </a:prstGeom>
          <a:noFill/>
          <a:ln w="0">
            <a:noFill/>
          </a:ln>
        </p:spPr>
        <p:txBody>
          <a:bodyPr lIns="0" tIns="0" rIns="0" bIns="0" anchor="t">
            <a:noAutofit/>
          </a:bodyPr>
          <a:lstStyle/>
          <a:p>
            <a:pPr algn="l">
              <a:defRPr sz="1275" b="0">
                <a:solidFill>
                  <a:srgbClr val="39424F"/>
                </a:solidFill>
                <a:latin typeface="微软雅黑"/>
                <a:ea typeface="微软雅黑"/>
                <a:cs typeface="微软雅黑"/>
              </a:defRPr>
            </a:pPr>
            <a:r>
              <a:rPr lang="zh-CN" altLang="en-US" sz="2000" dirty="0"/>
              <a:t>初始时 </a:t>
            </a:r>
            <a:r>
              <a:rPr lang="en-US" altLang="zh-CN" sz="2000" dirty="0"/>
              <a:t>logit ≈ 0</a:t>
            </a:r>
            <a:r>
              <a:rPr lang="zh-CN" altLang="en-US" sz="2000" dirty="0"/>
              <a:t>，模型对每一对都预测「五五开」。但正对实际只占 </a:t>
            </a:r>
            <a:r>
              <a:rPr lang="en-US" altLang="zh-CN" sz="2000" dirty="0"/>
              <a:t>0.006%</a:t>
            </a:r>
            <a:r>
              <a:rPr lang="zh-CN" altLang="en-US" sz="2000" dirty="0"/>
              <a:t>，于是损失几乎全由负例贡献，训练一开始就会产生巨大的过校正步长。</a:t>
            </a:r>
            <a:endParaRPr sz="2000" dirty="0"/>
          </a:p>
        </p:txBody>
      </p:sp>
      <p:sp>
        <p:nvSpPr>
          <p:cNvPr id="7" name="矩形 6"/>
          <p:cNvSpPr>
            <a:spLocks noGrp="1"/>
          </p:cNvSpPr>
          <p:nvPr/>
        </p:nvSpPr>
        <p:spPr>
          <a:xfrm>
            <a:off x="6324600" y="1390650"/>
            <a:ext cx="5257800" cy="304800"/>
          </a:xfrm>
          <a:prstGeom prst="rect">
            <a:avLst/>
          </a:prstGeom>
          <a:noFill/>
          <a:ln w="0">
            <a:noFill/>
          </a:ln>
        </p:spPr>
        <p:txBody>
          <a:bodyPr lIns="0" tIns="0" rIns="0" bIns="0" anchor="t">
            <a:noAutofit/>
          </a:bodyPr>
          <a:lstStyle/>
          <a:p>
            <a:pPr algn="l">
              <a:defRPr sz="1500" b="1">
                <a:solidFill>
                  <a:srgbClr val="12161C"/>
                </a:solidFill>
                <a:latin typeface="微软雅黑"/>
                <a:ea typeface="微软雅黑"/>
                <a:cs typeface="微软雅黑"/>
              </a:defRPr>
            </a:pPr>
            <a:r>
              <a:t>解法：加一个可学习偏置 b</a:t>
            </a:r>
          </a:p>
        </p:txBody>
      </p:sp>
      <p:sp>
        <p:nvSpPr>
          <p:cNvPr id="8" name="矩形 7"/>
          <p:cNvSpPr>
            <a:spLocks noGrp="1"/>
          </p:cNvSpPr>
          <p:nvPr/>
        </p:nvSpPr>
        <p:spPr>
          <a:xfrm>
            <a:off x="6324600" y="1790700"/>
            <a:ext cx="5257800" cy="838200"/>
          </a:xfrm>
          <a:prstGeom prst="rect">
            <a:avLst/>
          </a:prstGeom>
          <a:noFill/>
          <a:ln w="0">
            <a:noFill/>
          </a:ln>
        </p:spPr>
        <p:txBody>
          <a:bodyPr lIns="0" tIns="0" rIns="0" bIns="0" anchor="t">
            <a:noAutofit/>
          </a:bodyPr>
          <a:lstStyle/>
          <a:p>
            <a:pPr algn="l">
              <a:defRPr sz="1200" b="0">
                <a:solidFill>
                  <a:srgbClr val="39424F"/>
                </a:solidFill>
                <a:latin typeface="微软雅黑"/>
                <a:ea typeface="微软雅黑"/>
                <a:cs typeface="微软雅黑"/>
              </a:defRPr>
            </a:pPr>
            <a:r>
              <a:rPr sz="1600" dirty="0"/>
              <a:t>b </a:t>
            </a:r>
            <a:r>
              <a:rPr sz="1600" dirty="0" err="1"/>
              <a:t>和温度</a:t>
            </a:r>
            <a:r>
              <a:rPr sz="1600" dirty="0"/>
              <a:t> t′ </a:t>
            </a:r>
            <a:r>
              <a:rPr sz="1600" dirty="0" err="1"/>
              <a:t>一起初始化：t</a:t>
            </a:r>
            <a:r>
              <a:rPr sz="1600" dirty="0"/>
              <a:t>′ = log 10（即 t = 10）、b = −10，让训练起点接近真实先验，不需要大幅纠偏。</a:t>
            </a:r>
          </a:p>
        </p:txBody>
      </p:sp>
      <p:graphicFrame>
        <p:nvGraphicFramePr>
          <p:cNvPr id="21" name="表格 20"/>
          <p:cNvGraphicFramePr/>
          <p:nvPr/>
        </p:nvGraphicFramePr>
        <p:xfrm>
          <a:off x="6324600" y="2781300"/>
          <a:ext cx="5257800" cy="2000250"/>
        </p:xfrm>
        <a:graphic>
          <a:graphicData uri="http://schemas.openxmlformats.org/drawingml/2006/table">
            <a:tbl>
              <a:tblPr/>
              <a:tblGrid>
                <a:gridCol w="10515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400050">
                <a:tc>
                  <a:txBody>
                    <a:bodyPr/>
                    <a:lstStyle/>
                    <a:p>
                      <a:pPr algn="ctr"/>
                      <a:r>
                        <a:rPr sz="1400" b="1">
                          <a:solidFill>
                            <a:srgbClr val="12161C"/>
                          </a:solidFill>
                          <a:latin typeface="微软雅黑"/>
                          <a:ea typeface="微软雅黑"/>
                          <a:cs typeface="微软雅黑"/>
                        </a:rPr>
                        <a:t>b</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t′</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INet-0</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Pet-0</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C100-0</a:t>
                      </a:r>
                    </a:p>
                  </a:txBody>
                  <a:tcPr marL="76200" marR="76200" marT="28575" marB="28575" anchor="ctr">
                    <a:solidFill>
                      <a:srgbClr val="E9EEF4"/>
                    </a:solidFill>
                  </a:tcPr>
                </a:tc>
                <a:extLst>
                  <a:ext uri="{0D108BD9-81ED-4DB2-BD59-A6C34878D82A}">
                    <a16:rowId xmlns:a16="http://schemas.microsoft.com/office/drawing/2014/main" val="10000"/>
                  </a:ext>
                </a:extLst>
              </a:tr>
              <a:tr h="400050">
                <a:tc>
                  <a:txBody>
                    <a:bodyPr/>
                    <a:lstStyle/>
                    <a:p>
                      <a:pPr algn="ctr"/>
                      <a:r>
                        <a:rPr sz="1400" b="0">
                          <a:solidFill>
                            <a:srgbClr val="39424F"/>
                          </a:solidFill>
                          <a:latin typeface="微软雅黑"/>
                          <a:ea typeface="微软雅黑"/>
                          <a:cs typeface="微软雅黑"/>
                        </a:rPr>
                        <a:t>无偏置</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log 10</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62.0</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81.8</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59.9</a:t>
                      </a:r>
                    </a:p>
                  </a:txBody>
                  <a:tcPr marL="76200" marR="76200"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1400" b="1">
                          <a:solidFill>
                            <a:srgbClr val="C2410C"/>
                          </a:solidFill>
                          <a:latin typeface="微软雅黑"/>
                          <a:ea typeface="微软雅黑"/>
                          <a:cs typeface="微软雅黑"/>
                        </a:rPr>
                        <a:t>−10</a:t>
                      </a:r>
                    </a:p>
                  </a:txBody>
                  <a:tcPr marL="76200" marR="76200" marT="28575" marB="28575" anchor="ctr">
                    <a:solidFill>
                      <a:srgbClr val="FDEDE4"/>
                    </a:solidFill>
                  </a:tcPr>
                </a:tc>
                <a:tc>
                  <a:txBody>
                    <a:bodyPr/>
                    <a:lstStyle/>
                    <a:p>
                      <a:pPr algn="ctr"/>
                      <a:r>
                        <a:rPr sz="1400" b="0">
                          <a:solidFill>
                            <a:srgbClr val="39424F"/>
                          </a:solidFill>
                          <a:latin typeface="微软雅黑"/>
                          <a:ea typeface="微软雅黑"/>
                          <a:cs typeface="微软雅黑"/>
                        </a:rPr>
                        <a:t>log 10</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63.0</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82.4</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61.0</a:t>
                      </a:r>
                    </a:p>
                  </a:txBody>
                  <a:tcPr marL="76200" marR="76200" marT="28575" marB="28575" anchor="ctr">
                    <a:solidFill>
                      <a:srgbClr val="FFFFFF"/>
                    </a:solidFill>
                  </a:tcPr>
                </a:tc>
                <a:extLst>
                  <a:ext uri="{0D108BD9-81ED-4DB2-BD59-A6C34878D82A}">
                    <a16:rowId xmlns:a16="http://schemas.microsoft.com/office/drawing/2014/main" val="10002"/>
                  </a:ext>
                </a:extLst>
              </a:tr>
              <a:tr h="400050">
                <a:tc>
                  <a:txBody>
                    <a:bodyPr/>
                    <a:lstStyle/>
                    <a:p>
                      <a:pPr algn="ctr"/>
                      <a:r>
                        <a:rPr sz="1400" b="0">
                          <a:solidFill>
                            <a:srgbClr val="39424F"/>
                          </a:solidFill>
                          <a:latin typeface="微软雅黑"/>
                          <a:ea typeface="微软雅黑"/>
                          <a:cs typeface="微软雅黑"/>
                        </a:rPr>
                        <a:t>0</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log 10</a:t>
                      </a:r>
                    </a:p>
                  </a:txBody>
                  <a:tcPr marL="76200" marR="76200" marT="28575" marB="28575" anchor="ctr">
                    <a:solidFill>
                      <a:srgbClr val="FFFFFF"/>
                    </a:solidFill>
                  </a:tcPr>
                </a:tc>
                <a:tc>
                  <a:txBody>
                    <a:bodyPr/>
                    <a:lstStyle/>
                    <a:p>
                      <a:pPr algn="ctr"/>
                      <a:r>
                        <a:rPr sz="1400" b="0" dirty="0">
                          <a:solidFill>
                            <a:srgbClr val="39424F"/>
                          </a:solidFill>
                          <a:latin typeface="微软雅黑"/>
                          <a:ea typeface="微软雅黑"/>
                          <a:cs typeface="微软雅黑"/>
                        </a:rPr>
                        <a:t>61.7</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79.9</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59.0</a:t>
                      </a:r>
                    </a:p>
                  </a:txBody>
                  <a:tcPr marL="76200" marR="76200" marT="28575" marB="28575" anchor="ctr">
                    <a:solidFill>
                      <a:srgbClr val="FFFFFF"/>
                    </a:solidFill>
                  </a:tcPr>
                </a:tc>
                <a:extLst>
                  <a:ext uri="{0D108BD9-81ED-4DB2-BD59-A6C34878D82A}">
                    <a16:rowId xmlns:a16="http://schemas.microsoft.com/office/drawing/2014/main" val="10003"/>
                  </a:ext>
                </a:extLst>
              </a:tr>
              <a:tr h="400050">
                <a:tc>
                  <a:txBody>
                    <a:bodyPr/>
                    <a:lstStyle/>
                    <a:p>
                      <a:pPr algn="ctr"/>
                      <a:r>
                        <a:rPr sz="1400" b="0">
                          <a:solidFill>
                            <a:srgbClr val="39424F"/>
                          </a:solidFill>
                          <a:latin typeface="微软雅黑"/>
                          <a:ea typeface="微软雅黑"/>
                          <a:cs typeface="微软雅黑"/>
                        </a:rPr>
                        <a:t>0</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log 1</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53.7</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73.2</a:t>
                      </a:r>
                    </a:p>
                  </a:txBody>
                  <a:tcPr marL="76200" marR="76200" marT="28575" marB="28575" anchor="ctr">
                    <a:solidFill>
                      <a:srgbClr val="FFFFFF"/>
                    </a:solidFill>
                  </a:tcPr>
                </a:tc>
                <a:tc>
                  <a:txBody>
                    <a:bodyPr/>
                    <a:lstStyle/>
                    <a:p>
                      <a:pPr algn="ctr"/>
                      <a:r>
                        <a:rPr sz="1400" b="0" dirty="0">
                          <a:solidFill>
                            <a:srgbClr val="39424F"/>
                          </a:solidFill>
                          <a:latin typeface="微软雅黑"/>
                          <a:ea typeface="微软雅黑"/>
                          <a:cs typeface="微软雅黑"/>
                        </a:rPr>
                        <a:t>53.8</a:t>
                      </a:r>
                    </a:p>
                  </a:txBody>
                  <a:tcPr marL="76200" marR="76200"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10" name="矩形 9"/>
          <p:cNvSpPr>
            <a:spLocks noGrp="1"/>
          </p:cNvSpPr>
          <p:nvPr/>
        </p:nvSpPr>
        <p:spPr>
          <a:xfrm>
            <a:off x="6324600" y="4838700"/>
            <a:ext cx="5257800" cy="247650"/>
          </a:xfrm>
          <a:prstGeom prst="rect">
            <a:avLst/>
          </a:prstGeom>
          <a:noFill/>
          <a:ln w="0">
            <a:noFill/>
          </a:ln>
        </p:spPr>
        <p:txBody>
          <a:bodyPr lIns="0" tIns="0" rIns="0" bIns="0" anchor="t">
            <a:noAutofit/>
          </a:bodyPr>
          <a:lstStyle/>
          <a:p>
            <a:pPr algn="l">
              <a:defRPr sz="975" b="0">
                <a:solidFill>
                  <a:srgbClr val="69747F"/>
                </a:solidFill>
                <a:latin typeface="微软雅黑"/>
                <a:ea typeface="微软雅黑"/>
                <a:cs typeface="微软雅黑"/>
              </a:defRPr>
            </a:pPr>
            <a:r>
              <a:t>表 4：Base 架构、8k batch、900M 样本，ImageNet / Pet / CIFAR-100 零样本准确率。</a:t>
            </a:r>
          </a:p>
        </p:txBody>
      </p:sp>
      <p:sp>
        <p:nvSpPr>
          <p:cNvPr id="11" name="矩形: 圆角 10"/>
          <p:cNvSpPr>
            <a:spLocks noGrp="1"/>
          </p:cNvSpPr>
          <p:nvPr/>
        </p:nvSpPr>
        <p:spPr>
          <a:xfrm>
            <a:off x="609600" y="4533900"/>
            <a:ext cx="5257800" cy="1600200"/>
          </a:xfrm>
          <a:prstGeom prst="roundRect">
            <a:avLst>
              <a:gd name="adj" fmla="val 5952"/>
            </a:avLst>
          </a:prstGeom>
          <a:solidFill>
            <a:srgbClr val="F4F6F9"/>
          </a:solidFill>
          <a:ln w="0">
            <a:noFill/>
          </a:ln>
        </p:spPr>
      </p:sp>
      <p:sp>
        <p:nvSpPr>
          <p:cNvPr id="12" name="矩形 11"/>
          <p:cNvSpPr>
            <a:spLocks noGrp="1"/>
          </p:cNvSpPr>
          <p:nvPr/>
        </p:nvSpPr>
        <p:spPr>
          <a:xfrm>
            <a:off x="838200" y="4724400"/>
            <a:ext cx="4800600" cy="1257300"/>
          </a:xfrm>
          <a:prstGeom prst="rect">
            <a:avLst/>
          </a:prstGeom>
          <a:noFill/>
          <a:ln w="0">
            <a:noFill/>
          </a:ln>
        </p:spPr>
        <p:txBody>
          <a:bodyPr lIns="0" tIns="0" rIns="0" bIns="0" anchor="t">
            <a:noAutofit/>
          </a:bodyPr>
          <a:lstStyle/>
          <a:p>
            <a:pPr algn="l">
              <a:defRPr sz="1090" b="0">
                <a:solidFill>
                  <a:srgbClr val="39424F"/>
                </a:solidFill>
                <a:latin typeface="微软雅黑"/>
                <a:ea typeface="微软雅黑"/>
                <a:cs typeface="微软雅黑"/>
              </a:defRPr>
            </a:pPr>
            <a:r>
              <a:rPr sz="1400" b="1" dirty="0" err="1">
                <a:solidFill>
                  <a:srgbClr val="12161C"/>
                </a:solidFill>
              </a:rPr>
              <a:t>论文的表述：</a:t>
            </a:r>
            <a:r>
              <a:rPr sz="1400" dirty="0" err="1">
                <a:solidFill>
                  <a:srgbClr val="12161C"/>
                </a:solidFill>
              </a:rPr>
              <a:t>b</a:t>
            </a:r>
            <a:r>
              <a:rPr sz="1400" dirty="0">
                <a:solidFill>
                  <a:srgbClr val="12161C"/>
                </a:solidFill>
              </a:rPr>
              <a:t> = −10 </a:t>
            </a:r>
            <a:r>
              <a:rPr sz="1400" dirty="0" err="1">
                <a:solidFill>
                  <a:srgbClr val="12161C"/>
                </a:solidFill>
              </a:rPr>
              <a:t>使训练「starts</a:t>
            </a:r>
            <a:r>
              <a:rPr sz="1400" dirty="0">
                <a:solidFill>
                  <a:srgbClr val="12161C"/>
                </a:solidFill>
              </a:rPr>
              <a:t> roughly close to the prior」，</a:t>
            </a:r>
            <a:r>
              <a:rPr sz="1400" dirty="0" err="1">
                <a:solidFill>
                  <a:srgbClr val="12161C"/>
                </a:solidFill>
              </a:rPr>
              <a:t>不需要</a:t>
            </a:r>
            <a:r>
              <a:rPr sz="1400" dirty="0">
                <a:solidFill>
                  <a:srgbClr val="12161C"/>
                </a:solidFill>
              </a:rPr>
              <a:t> massive over-correction。</a:t>
            </a:r>
            <a:br>
              <a:rPr sz="1400" dirty="0">
                <a:solidFill>
                  <a:srgbClr val="12161C"/>
                </a:solidFill>
              </a:rPr>
            </a:br>
            <a:r>
              <a:rPr sz="1400" dirty="0" err="1">
                <a:solidFill>
                  <a:srgbClr val="69747F"/>
                </a:solidFill>
              </a:rPr>
              <a:t>消融结果：加偏置比不加稳定高</a:t>
            </a:r>
            <a:r>
              <a:rPr sz="1400" dirty="0">
                <a:solidFill>
                  <a:srgbClr val="69747F"/>
                </a:solidFill>
              </a:rPr>
              <a:t> 1.0 </a:t>
            </a:r>
            <a:r>
              <a:rPr sz="1400" dirty="0" err="1">
                <a:solidFill>
                  <a:srgbClr val="69747F"/>
                </a:solidFill>
              </a:rPr>
              <a:t>分；而随机初始化（b</a:t>
            </a:r>
            <a:r>
              <a:rPr sz="1400" dirty="0">
                <a:solidFill>
                  <a:srgbClr val="69747F"/>
                </a:solidFill>
              </a:rPr>
              <a:t> = 0）反而更差，温度初始化小的时候直接崩到 53.7。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工程实现：分块计算，显存 |B|² → b²</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7</a:t>
            </a:r>
          </a:p>
        </p:txBody>
      </p:sp>
      <p:pic>
        <p:nvPicPr>
          <p:cNvPr id="15" name="图片 14"/>
          <p:cNvPicPr>
            <a:picLocks noChangeAspect="1"/>
          </p:cNvPicPr>
          <p:nvPr/>
        </p:nvPicPr>
        <p:blipFill>
          <a:blip r:embed="rId3"/>
          <a:stretch>
            <a:fillRect/>
          </a:stretch>
        </p:blipFill>
        <p:spPr>
          <a:xfrm>
            <a:off x="610786" y="1238250"/>
            <a:ext cx="10970428" cy="3524250"/>
          </a:xfrm>
          <a:prstGeom prst="rect">
            <a:avLst/>
          </a:prstGeom>
        </p:spPr>
      </p:pic>
      <p:sp>
        <p:nvSpPr>
          <p:cNvPr id="5" name="矩形 4"/>
          <p:cNvSpPr>
            <a:spLocks noGrp="1"/>
          </p:cNvSpPr>
          <p:nvPr/>
        </p:nvSpPr>
        <p:spPr>
          <a:xfrm>
            <a:off x="609600" y="4819650"/>
            <a:ext cx="8572500" cy="228600"/>
          </a:xfrm>
          <a:prstGeom prst="rect">
            <a:avLst/>
          </a:prstGeom>
          <a:noFill/>
          <a:ln w="0">
            <a:noFill/>
          </a:ln>
        </p:spPr>
        <p:txBody>
          <a:bodyPr lIns="0" tIns="0" rIns="0" bIns="0" anchor="t">
            <a:noAutofit/>
          </a:bodyPr>
          <a:lstStyle/>
          <a:p>
            <a:pPr algn="l">
              <a:defRPr sz="975" b="0">
                <a:solidFill>
                  <a:srgbClr val="69747F"/>
                </a:solidFill>
                <a:latin typeface="微软雅黑"/>
                <a:ea typeface="微软雅黑"/>
                <a:cs typeface="微软雅黑"/>
              </a:defRPr>
            </a:pPr>
            <a:r>
              <a:t>论文 Figure 1：3 张设备、全局 batch 为 12 的分块示例</a:t>
            </a:r>
          </a:p>
        </p:txBody>
      </p:sp>
      <p:sp>
        <p:nvSpPr>
          <p:cNvPr id="6" name="矩形 5"/>
          <p:cNvSpPr>
            <a:spLocks noGrp="1"/>
          </p:cNvSpPr>
          <p:nvPr/>
        </p:nvSpPr>
        <p:spPr>
          <a:xfrm>
            <a:off x="609600" y="5200650"/>
            <a:ext cx="3543300" cy="285750"/>
          </a:xfrm>
          <a:prstGeom prst="rect">
            <a:avLst/>
          </a:prstGeom>
          <a:noFill/>
          <a:ln w="0">
            <a:noFill/>
          </a:ln>
        </p:spPr>
        <p:txBody>
          <a:bodyPr lIns="0" tIns="0" rIns="0" bIns="0" anchor="t">
            <a:noAutofit/>
          </a:bodyPr>
          <a:lstStyle/>
          <a:p>
            <a:pPr algn="l">
              <a:defRPr sz="1350" b="1">
                <a:solidFill>
                  <a:srgbClr val="12161C"/>
                </a:solidFill>
                <a:latin typeface="微软雅黑"/>
                <a:ea typeface="微软雅黑"/>
                <a:cs typeface="微软雅黑"/>
              </a:defRPr>
            </a:pPr>
            <a:r>
              <a:rPr sz="1600"/>
              <a:t>不需要 all-gather</a:t>
            </a:r>
          </a:p>
        </p:txBody>
      </p:sp>
      <p:sp>
        <p:nvSpPr>
          <p:cNvPr id="7" name="矩形 6"/>
          <p:cNvSpPr>
            <a:spLocks noGrp="1"/>
          </p:cNvSpPr>
          <p:nvPr/>
        </p:nvSpPr>
        <p:spPr>
          <a:xfrm>
            <a:off x="609600" y="5543550"/>
            <a:ext cx="3543300" cy="590550"/>
          </a:xfrm>
          <a:prstGeom prst="rect">
            <a:avLst/>
          </a:prstGeom>
          <a:noFill/>
          <a:ln w="0">
            <a:noFill/>
          </a:ln>
        </p:spPr>
        <p:txBody>
          <a:bodyPr lIns="0" tIns="0" rIns="0" bIns="0" anchor="t">
            <a:noAutofit/>
          </a:bodyPr>
          <a:lstStyle/>
          <a:p>
            <a:pPr algn="l">
              <a:defRPr sz="1125" b="0">
                <a:solidFill>
                  <a:srgbClr val="69747F"/>
                </a:solidFill>
                <a:latin typeface="微软雅黑"/>
                <a:ea typeface="微软雅黑"/>
                <a:cs typeface="微软雅黑"/>
              </a:defRPr>
            </a:pPr>
            <a:r>
              <a:rPr sz="1400"/>
              <a:t>D 次 collective permute 通常比 2 次 all-gather 更快</a:t>
            </a:r>
          </a:p>
        </p:txBody>
      </p:sp>
      <p:sp>
        <p:nvSpPr>
          <p:cNvPr id="8" name="矩形 7"/>
          <p:cNvSpPr>
            <a:spLocks noGrp="1"/>
          </p:cNvSpPr>
          <p:nvPr/>
        </p:nvSpPr>
        <p:spPr>
          <a:xfrm>
            <a:off x="4343400" y="5200650"/>
            <a:ext cx="3543300" cy="285750"/>
          </a:xfrm>
          <a:prstGeom prst="rect">
            <a:avLst/>
          </a:prstGeom>
          <a:noFill/>
          <a:ln w="0">
            <a:noFill/>
          </a:ln>
        </p:spPr>
        <p:txBody>
          <a:bodyPr lIns="0" tIns="0" rIns="0" bIns="0" anchor="t">
            <a:noAutofit/>
          </a:bodyPr>
          <a:lstStyle/>
          <a:p>
            <a:pPr algn="l">
              <a:defRPr sz="1350" b="1">
                <a:solidFill>
                  <a:srgbClr val="12161C"/>
                </a:solidFill>
                <a:latin typeface="微软雅黑"/>
                <a:ea typeface="微软雅黑"/>
                <a:cs typeface="微软雅黑"/>
              </a:defRPr>
            </a:pPr>
            <a:r>
              <a:rPr sz="1600"/>
              <a:t>显存 |B|² → b²</a:t>
            </a:r>
          </a:p>
        </p:txBody>
      </p:sp>
      <p:sp>
        <p:nvSpPr>
          <p:cNvPr id="9" name="矩形 8"/>
          <p:cNvSpPr>
            <a:spLocks noGrp="1"/>
          </p:cNvSpPr>
          <p:nvPr/>
        </p:nvSpPr>
        <p:spPr>
          <a:xfrm>
            <a:off x="4343400" y="5543550"/>
            <a:ext cx="3543300" cy="590550"/>
          </a:xfrm>
          <a:prstGeom prst="rect">
            <a:avLst/>
          </a:prstGeom>
          <a:noFill/>
          <a:ln w="0">
            <a:noFill/>
          </a:ln>
        </p:spPr>
        <p:txBody>
          <a:bodyPr lIns="0" tIns="0" rIns="0" bIns="0" anchor="t">
            <a:noAutofit/>
          </a:bodyPr>
          <a:lstStyle/>
          <a:p>
            <a:pPr algn="l">
              <a:defRPr sz="1125" b="0">
                <a:solidFill>
                  <a:srgbClr val="69747F"/>
                </a:solidFill>
                <a:latin typeface="微软雅黑"/>
                <a:ea typeface="微软雅黑"/>
                <a:cs typeface="微软雅黑"/>
              </a:defRPr>
            </a:pPr>
            <a:r>
              <a:rPr sz="1400"/>
              <a:t>每张卡任意时刻只需要装下 b×b 的分块，b = |B| / D</a:t>
            </a:r>
          </a:p>
        </p:txBody>
      </p:sp>
      <p:sp>
        <p:nvSpPr>
          <p:cNvPr id="10" name="矩形 9"/>
          <p:cNvSpPr>
            <a:spLocks noGrp="1"/>
          </p:cNvSpPr>
          <p:nvPr/>
        </p:nvSpPr>
        <p:spPr>
          <a:xfrm>
            <a:off x="8077200" y="5200650"/>
            <a:ext cx="3543300" cy="285750"/>
          </a:xfrm>
          <a:prstGeom prst="rect">
            <a:avLst/>
          </a:prstGeom>
          <a:noFill/>
          <a:ln w="0">
            <a:noFill/>
          </a:ln>
        </p:spPr>
        <p:txBody>
          <a:bodyPr lIns="0" tIns="0" rIns="0" bIns="0" anchor="t">
            <a:noAutofit/>
          </a:bodyPr>
          <a:lstStyle/>
          <a:p>
            <a:pPr algn="l">
              <a:defRPr sz="1350" b="1">
                <a:solidFill>
                  <a:srgbClr val="12161C"/>
                </a:solidFill>
                <a:latin typeface="微软雅黑"/>
                <a:ea typeface="微软雅黑"/>
                <a:cs typeface="微软雅黑"/>
              </a:defRPr>
            </a:pPr>
            <a:r>
              <a:rPr sz="1600"/>
              <a:t>各卡独立算再求和</a:t>
            </a:r>
          </a:p>
        </p:txBody>
      </p:sp>
      <p:sp>
        <p:nvSpPr>
          <p:cNvPr id="11" name="矩形 10"/>
          <p:cNvSpPr>
            <a:spLocks noGrp="1"/>
          </p:cNvSpPr>
          <p:nvPr/>
        </p:nvSpPr>
        <p:spPr>
          <a:xfrm>
            <a:off x="8077200" y="5543550"/>
            <a:ext cx="3543300" cy="590550"/>
          </a:xfrm>
          <a:prstGeom prst="rect">
            <a:avLst/>
          </a:prstGeom>
          <a:noFill/>
          <a:ln w="0">
            <a:noFill/>
          </a:ln>
        </p:spPr>
        <p:txBody>
          <a:bodyPr lIns="0" tIns="0" rIns="0" bIns="0" anchor="t">
            <a:noAutofit/>
          </a:bodyPr>
          <a:lstStyle/>
          <a:p>
            <a:pPr algn="l">
              <a:defRPr sz="1125" b="0">
                <a:solidFill>
                  <a:srgbClr val="69747F"/>
                </a:solidFill>
                <a:latin typeface="微软雅黑"/>
                <a:ea typeface="微软雅黑"/>
                <a:cs typeface="微软雅黑"/>
              </a:defRPr>
            </a:pPr>
            <a:r>
              <a:rPr sz="1400"/>
              <a:t>损失的加法性质让分块计算在数学上完全等价</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实验在回答什么：四个问题</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8</a:t>
            </a:r>
          </a:p>
        </p:txBody>
      </p:sp>
      <p:graphicFrame>
        <p:nvGraphicFramePr>
          <p:cNvPr id="16" name="表格 15"/>
          <p:cNvGraphicFramePr/>
          <p:nvPr/>
        </p:nvGraphicFramePr>
        <p:xfrm>
          <a:off x="609600" y="1257300"/>
          <a:ext cx="10972799" cy="2857500"/>
        </p:xfrm>
        <a:graphic>
          <a:graphicData uri="http://schemas.openxmlformats.org/drawingml/2006/table">
            <a:tbl>
              <a:tblPr/>
              <a:tblGrid>
                <a:gridCol w="3153103">
                  <a:extLst>
                    <a:ext uri="{9D8B030D-6E8A-4147-A177-3AD203B41FA5}">
                      <a16:colId xmlns:a16="http://schemas.microsoft.com/office/drawing/2014/main" val="20000"/>
                    </a:ext>
                  </a:extLst>
                </a:gridCol>
                <a:gridCol w="4666593">
                  <a:extLst>
                    <a:ext uri="{9D8B030D-6E8A-4147-A177-3AD203B41FA5}">
                      <a16:colId xmlns:a16="http://schemas.microsoft.com/office/drawing/2014/main" val="20001"/>
                    </a:ext>
                  </a:extLst>
                </a:gridCol>
                <a:gridCol w="3153103">
                  <a:extLst>
                    <a:ext uri="{9D8B030D-6E8A-4147-A177-3AD203B41FA5}">
                      <a16:colId xmlns:a16="http://schemas.microsoft.com/office/drawing/2014/main" val="20002"/>
                    </a:ext>
                  </a:extLst>
                </a:gridCol>
              </a:tblGrid>
              <a:tr h="571500">
                <a:tc>
                  <a:txBody>
                    <a:bodyPr/>
                    <a:lstStyle/>
                    <a:p>
                      <a:pPr algn="l"/>
                      <a:r>
                        <a:rPr sz="1400" b="1">
                          <a:solidFill>
                            <a:srgbClr val="12161C"/>
                          </a:solidFill>
                          <a:latin typeface="微软雅黑"/>
                          <a:ea typeface="微软雅黑"/>
                          <a:cs typeface="微软雅黑"/>
                        </a:rPr>
                        <a:t>要回答的问题</a:t>
                      </a:r>
                    </a:p>
                  </a:txBody>
                  <a:tcPr marL="76200" marR="76200" marT="28575" marB="28575" anchor="ctr">
                    <a:solidFill>
                      <a:srgbClr val="E9EEF4"/>
                    </a:solidFill>
                  </a:tcPr>
                </a:tc>
                <a:tc>
                  <a:txBody>
                    <a:bodyPr/>
                    <a:lstStyle/>
                    <a:p>
                      <a:pPr algn="l"/>
                      <a:r>
                        <a:rPr sz="1400" b="1">
                          <a:solidFill>
                            <a:srgbClr val="12161C"/>
                          </a:solidFill>
                          <a:latin typeface="微软雅黑"/>
                          <a:ea typeface="微软雅黑"/>
                          <a:cs typeface="微软雅黑"/>
                        </a:rPr>
                        <a:t>对应的实验</a:t>
                      </a:r>
                    </a:p>
                  </a:txBody>
                  <a:tcPr marL="76200" marR="76200" marT="28575" marB="28575" anchor="ctr">
                    <a:solidFill>
                      <a:srgbClr val="E9EEF4"/>
                    </a:solidFill>
                  </a:tcPr>
                </a:tc>
                <a:tc>
                  <a:txBody>
                    <a:bodyPr/>
                    <a:lstStyle/>
                    <a:p>
                      <a:pPr algn="l"/>
                      <a:r>
                        <a:rPr sz="1400" b="1">
                          <a:solidFill>
                            <a:srgbClr val="12161C"/>
                          </a:solidFill>
                          <a:latin typeface="微软雅黑"/>
                          <a:ea typeface="微软雅黑"/>
                          <a:cs typeface="微软雅黑"/>
                        </a:rPr>
                        <a:t>结论</a:t>
                      </a:r>
                    </a:p>
                  </a:txBody>
                  <a:tcPr marL="76200" marR="76200" marT="28575" marB="28575" anchor="ctr">
                    <a:solidFill>
                      <a:srgbClr val="E9EEF4"/>
                    </a:solidFill>
                  </a:tcPr>
                </a:tc>
                <a:extLst>
                  <a:ext uri="{0D108BD9-81ED-4DB2-BD59-A6C34878D82A}">
                    <a16:rowId xmlns:a16="http://schemas.microsoft.com/office/drawing/2014/main" val="10000"/>
                  </a:ext>
                </a:extLst>
              </a:tr>
              <a:tr h="571500">
                <a:tc>
                  <a:txBody>
                    <a:bodyPr/>
                    <a:lstStyle/>
                    <a:p>
                      <a:pPr algn="l"/>
                      <a:r>
                        <a:rPr sz="1400" b="0">
                          <a:solidFill>
                            <a:srgbClr val="39424F"/>
                          </a:solidFill>
                          <a:latin typeface="微软雅黑"/>
                          <a:ea typeface="微软雅黑"/>
                          <a:cs typeface="微软雅黑"/>
                        </a:rPr>
                        <a:t>换成 sigmoid，效果会不会变差？</a:t>
                      </a:r>
                    </a:p>
                  </a:txBody>
                  <a:tcPr marL="76200" marR="76200" marT="28575" marB="28575" anchor="ctr">
                    <a:solidFill>
                      <a:srgbClr val="FFFFFF"/>
                    </a:solidFill>
                  </a:tcPr>
                </a:tc>
                <a:tc>
                  <a:txBody>
                    <a:bodyPr/>
                    <a:lstStyle/>
                    <a:p>
                      <a:pPr algn="l"/>
                      <a:r>
                        <a:rPr sz="1400" b="0">
                          <a:solidFill>
                            <a:srgbClr val="39424F"/>
                          </a:solidFill>
                          <a:latin typeface="微软雅黑"/>
                          <a:ea typeface="微软雅黑"/>
                          <a:cs typeface="微软雅黑"/>
                        </a:rPr>
                        <a:t>SigLiT / SigLIP 在完全相同的设定下只换损失，扫一遍 batch size</a:t>
                      </a:r>
                    </a:p>
                  </a:txBody>
                  <a:tcPr marL="76200" marR="76200" marT="28575" marB="28575" anchor="ctr">
                    <a:solidFill>
                      <a:srgbClr val="FFFFFF"/>
                    </a:solidFill>
                  </a:tcPr>
                </a:tc>
                <a:tc>
                  <a:txBody>
                    <a:bodyPr/>
                    <a:lstStyle/>
                    <a:p>
                      <a:pPr algn="l"/>
                      <a:r>
                        <a:rPr sz="1400" b="0">
                          <a:solidFill>
                            <a:srgbClr val="39424F"/>
                          </a:solidFill>
                          <a:latin typeface="微软雅黑"/>
                          <a:ea typeface="微软雅黑"/>
                          <a:cs typeface="微软雅黑"/>
                        </a:rPr>
                        <a:t>小 batch 明显更好；大 batch 略好</a:t>
                      </a:r>
                    </a:p>
                  </a:txBody>
                  <a:tcPr marL="76200" marR="76200" marT="28575" marB="28575" anchor="ctr">
                    <a:solidFill>
                      <a:srgbClr val="FFFFFF"/>
                    </a:solidFill>
                  </a:tcPr>
                </a:tc>
                <a:extLst>
                  <a:ext uri="{0D108BD9-81ED-4DB2-BD59-A6C34878D82A}">
                    <a16:rowId xmlns:a16="http://schemas.microsoft.com/office/drawing/2014/main" val="10001"/>
                  </a:ext>
                </a:extLst>
              </a:tr>
              <a:tr h="571500">
                <a:tc>
                  <a:txBody>
                    <a:bodyPr/>
                    <a:lstStyle/>
                    <a:p>
                      <a:pPr algn="l"/>
                      <a:r>
                        <a:rPr sz="1400" b="0">
                          <a:solidFill>
                            <a:srgbClr val="39424F"/>
                          </a:solidFill>
                          <a:latin typeface="微软雅黑"/>
                          <a:ea typeface="微软雅黑"/>
                          <a:cs typeface="微软雅黑"/>
                        </a:rPr>
                        <a:t>batch 还要不要很大？</a:t>
                      </a:r>
                    </a:p>
                  </a:txBody>
                  <a:tcPr marL="76200" marR="76200" marT="28575" marB="28575" anchor="ctr">
                    <a:solidFill>
                      <a:srgbClr val="FFFFFF"/>
                    </a:solidFill>
                  </a:tcPr>
                </a:tc>
                <a:tc>
                  <a:txBody>
                    <a:bodyPr/>
                    <a:lstStyle/>
                    <a:p>
                      <a:pPr algn="l"/>
                      <a:r>
                        <a:rPr sz="1400" b="0" dirty="0">
                          <a:solidFill>
                            <a:srgbClr val="39424F"/>
                          </a:solidFill>
                          <a:latin typeface="微软雅黑"/>
                          <a:ea typeface="微软雅黑"/>
                          <a:cs typeface="微软雅黑"/>
                        </a:rPr>
                        <a:t>batch 从 512 </a:t>
                      </a:r>
                      <a:r>
                        <a:rPr lang="zh-CN" altLang="en-US" sz="1400" b="0" dirty="0">
                          <a:solidFill>
                            <a:srgbClr val="39424F"/>
                          </a:solidFill>
                          <a:latin typeface="微软雅黑"/>
                          <a:ea typeface="微软雅黑"/>
                          <a:cs typeface="微软雅黑"/>
                        </a:rPr>
                        <a:t>实验到</a:t>
                      </a:r>
                      <a:r>
                        <a:rPr sz="1400" b="0" dirty="0">
                          <a:solidFill>
                            <a:srgbClr val="39424F"/>
                          </a:solidFill>
                          <a:latin typeface="微软雅黑"/>
                          <a:ea typeface="微软雅黑"/>
                          <a:cs typeface="微软雅黑"/>
                        </a:rPr>
                        <a:t> 100 </a:t>
                      </a:r>
                      <a:r>
                        <a:rPr sz="1400" b="0" dirty="0" err="1">
                          <a:solidFill>
                            <a:srgbClr val="39424F"/>
                          </a:solidFill>
                          <a:latin typeface="微软雅黑"/>
                          <a:ea typeface="微软雅黑"/>
                          <a:cs typeface="微软雅黑"/>
                        </a:rPr>
                        <a:t>万；多语言设定另外扫一遍</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tc>
                  <a:txBody>
                    <a:bodyPr/>
                    <a:lstStyle/>
                    <a:p>
                      <a:pPr algn="l"/>
                      <a:r>
                        <a:rPr sz="1400" b="0">
                          <a:solidFill>
                            <a:srgbClr val="39424F"/>
                          </a:solidFill>
                          <a:latin typeface="微软雅黑"/>
                          <a:ea typeface="微软雅黑"/>
                          <a:cs typeface="微软雅黑"/>
                        </a:rPr>
                        <a:t>32k 就饱和，再大没有收益甚至更差</a:t>
                      </a:r>
                    </a:p>
                  </a:txBody>
                  <a:tcPr marL="76200" marR="76200" marT="28575" marB="28575" anchor="ctr">
                    <a:solidFill>
                      <a:srgbClr val="FFFFFF"/>
                    </a:solidFill>
                  </a:tcPr>
                </a:tc>
                <a:extLst>
                  <a:ext uri="{0D108BD9-81ED-4DB2-BD59-A6C34878D82A}">
                    <a16:rowId xmlns:a16="http://schemas.microsoft.com/office/drawing/2014/main" val="10002"/>
                  </a:ext>
                </a:extLst>
              </a:tr>
              <a:tr h="571500">
                <a:tc>
                  <a:txBody>
                    <a:bodyPr/>
                    <a:lstStyle/>
                    <a:p>
                      <a:pPr algn="l"/>
                      <a:r>
                        <a:rPr sz="1400" b="0" dirty="0" err="1">
                          <a:solidFill>
                            <a:srgbClr val="39424F"/>
                          </a:solidFill>
                          <a:latin typeface="微软雅黑"/>
                          <a:ea typeface="微软雅黑"/>
                          <a:cs typeface="微软雅黑"/>
                        </a:rPr>
                        <a:t>省下来的资源真能用上吗</a:t>
                      </a:r>
                      <a:r>
                        <a:rPr sz="1400" b="0" dirty="0">
                          <a:solidFill>
                            <a:srgbClr val="39424F"/>
                          </a:solidFill>
                          <a:latin typeface="微软雅黑"/>
                          <a:ea typeface="微软雅黑"/>
                          <a:cs typeface="微软雅黑"/>
                        </a:rPr>
                        <a:t>？</a:t>
                      </a:r>
                    </a:p>
                  </a:txBody>
                  <a:tcPr marL="76200" marR="76200" marT="28575" marB="28575" anchor="ctr">
                    <a:solidFill>
                      <a:srgbClr val="FFFFFF"/>
                    </a:solidFill>
                  </a:tcPr>
                </a:tc>
                <a:tc>
                  <a:txBody>
                    <a:bodyPr/>
                    <a:lstStyle/>
                    <a:p>
                      <a:pPr algn="l"/>
                      <a:r>
                        <a:rPr sz="1400" b="0">
                          <a:solidFill>
                            <a:srgbClr val="39424F"/>
                          </a:solidFill>
                          <a:latin typeface="微软雅黑"/>
                          <a:ea typeface="微软雅黑"/>
                          <a:cs typeface="微软雅黑"/>
                        </a:rPr>
                        <a:t>用 4 / 16 / 32 张 TPUv4 训练，并给出配套工程配方</a:t>
                      </a:r>
                    </a:p>
                  </a:txBody>
                  <a:tcPr marL="76200" marR="76200" marT="28575" marB="28575" anchor="ctr">
                    <a:solidFill>
                      <a:srgbClr val="FFFFFF"/>
                    </a:solidFill>
                  </a:tcPr>
                </a:tc>
                <a:tc>
                  <a:txBody>
                    <a:bodyPr/>
                    <a:lstStyle/>
                    <a:p>
                      <a:pPr algn="l"/>
                      <a:r>
                        <a:rPr sz="1400" b="0">
                          <a:solidFill>
                            <a:srgbClr val="39424F"/>
                          </a:solidFill>
                          <a:latin typeface="微软雅黑"/>
                          <a:ea typeface="微软雅黑"/>
                          <a:cs typeface="微软雅黑"/>
                        </a:rPr>
                        <a:t>4 张卡 2 天训到 84.5%</a:t>
                      </a:r>
                    </a:p>
                  </a:txBody>
                  <a:tcPr marL="76200" marR="76200" marT="28575" marB="28575" anchor="ctr">
                    <a:solidFill>
                      <a:srgbClr val="FFFFFF"/>
                    </a:solidFill>
                  </a:tcPr>
                </a:tc>
                <a:extLst>
                  <a:ext uri="{0D108BD9-81ED-4DB2-BD59-A6C34878D82A}">
                    <a16:rowId xmlns:a16="http://schemas.microsoft.com/office/drawing/2014/main" val="10003"/>
                  </a:ext>
                </a:extLst>
              </a:tr>
              <a:tr h="571500">
                <a:tc>
                  <a:txBody>
                    <a:bodyPr/>
                    <a:lstStyle/>
                    <a:p>
                      <a:pPr algn="l"/>
                      <a:r>
                        <a:rPr sz="1400" b="0">
                          <a:solidFill>
                            <a:srgbClr val="39424F"/>
                          </a:solidFill>
                          <a:latin typeface="微软雅黑"/>
                          <a:ea typeface="微软雅黑"/>
                          <a:cs typeface="微软雅黑"/>
                        </a:rPr>
                        <a:t>负对假设出错会怎样？</a:t>
                      </a:r>
                    </a:p>
                  </a:txBody>
                  <a:tcPr marL="76200" marR="76200" marT="28575" marB="28575" anchor="ctr">
                    <a:solidFill>
                      <a:srgbClr val="FFFFFF"/>
                    </a:solidFill>
                  </a:tcPr>
                </a:tc>
                <a:tc>
                  <a:txBody>
                    <a:bodyPr/>
                    <a:lstStyle/>
                    <a:p>
                      <a:pPr algn="l"/>
                      <a:r>
                        <a:rPr sz="1400" b="0">
                          <a:solidFill>
                            <a:srgbClr val="39424F"/>
                          </a:solidFill>
                          <a:latin typeface="微软雅黑"/>
                          <a:ea typeface="微软雅黑"/>
                          <a:cs typeface="微软雅黑"/>
                        </a:rPr>
                        <a:t>遮蔽负例调整正负比；往训练数据里注入标签噪声</a:t>
                      </a:r>
                    </a:p>
                  </a:txBody>
                  <a:tcPr marL="76200" marR="76200" marT="28575" marB="28575" anchor="ctr">
                    <a:solidFill>
                      <a:srgbClr val="FFFFFF"/>
                    </a:solidFill>
                  </a:tcPr>
                </a:tc>
                <a:tc>
                  <a:txBody>
                    <a:bodyPr/>
                    <a:lstStyle/>
                    <a:p>
                      <a:pPr algn="l"/>
                      <a:r>
                        <a:rPr sz="1400" b="0" dirty="0" err="1">
                          <a:solidFill>
                            <a:srgbClr val="39424F"/>
                          </a:solidFill>
                          <a:latin typeface="微软雅黑"/>
                          <a:ea typeface="微软雅黑"/>
                          <a:cs typeface="微软雅黑"/>
                        </a:rPr>
                        <a:t>对噪声更鲁棒；难负例是主要信号</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5" name="矩形: 圆角 4"/>
          <p:cNvSpPr>
            <a:spLocks noGrp="1"/>
          </p:cNvSpPr>
          <p:nvPr/>
        </p:nvSpPr>
        <p:spPr>
          <a:xfrm>
            <a:off x="609600" y="4305300"/>
            <a:ext cx="10972800" cy="1828800"/>
          </a:xfrm>
          <a:prstGeom prst="roundRect">
            <a:avLst>
              <a:gd name="adj" fmla="val 5208"/>
            </a:avLst>
          </a:prstGeom>
          <a:solidFill>
            <a:srgbClr val="F4F6F9"/>
          </a:solidFill>
          <a:ln w="0">
            <a:noFill/>
          </a:ln>
        </p:spPr>
      </p:sp>
      <p:sp>
        <p:nvSpPr>
          <p:cNvPr id="6" name="矩形 5"/>
          <p:cNvSpPr>
            <a:spLocks noGrp="1"/>
          </p:cNvSpPr>
          <p:nvPr/>
        </p:nvSpPr>
        <p:spPr>
          <a:xfrm>
            <a:off x="838200" y="4438650"/>
            <a:ext cx="10515600" cy="266700"/>
          </a:xfrm>
          <a:prstGeom prst="rect">
            <a:avLst/>
          </a:prstGeom>
          <a:noFill/>
          <a:ln w="0">
            <a:noFill/>
          </a:ln>
        </p:spPr>
        <p:txBody>
          <a:bodyPr lIns="0" tIns="0" rIns="0" bIns="0" anchor="t">
            <a:noAutofit/>
          </a:bodyPr>
          <a:lstStyle/>
          <a:p>
            <a:pPr algn="l">
              <a:defRPr sz="1275" b="1">
                <a:solidFill>
                  <a:srgbClr val="12161C"/>
                </a:solidFill>
                <a:latin typeface="微软雅黑"/>
                <a:ea typeface="微软雅黑"/>
                <a:cs typeface="微软雅黑"/>
              </a:defRPr>
            </a:pPr>
            <a:r>
              <a:rPr sz="1600" dirty="0" err="1"/>
              <a:t>三个指标</a:t>
            </a:r>
            <a:endParaRPr sz="1600" dirty="0"/>
          </a:p>
        </p:txBody>
      </p:sp>
      <p:sp>
        <p:nvSpPr>
          <p:cNvPr id="7" name="矩形 6"/>
          <p:cNvSpPr>
            <a:spLocks noGrp="1"/>
          </p:cNvSpPr>
          <p:nvPr/>
        </p:nvSpPr>
        <p:spPr>
          <a:xfrm>
            <a:off x="838200" y="4819650"/>
            <a:ext cx="3333750" cy="285750"/>
          </a:xfrm>
          <a:prstGeom prst="rect">
            <a:avLst/>
          </a:prstGeom>
          <a:noFill/>
          <a:ln w="0">
            <a:noFill/>
          </a:ln>
        </p:spPr>
        <p:txBody>
          <a:bodyPr lIns="0" tIns="0" rIns="0" bIns="0" anchor="t">
            <a:noAutofit/>
          </a:bodyPr>
          <a:lstStyle/>
          <a:p>
            <a:pPr algn="l">
              <a:defRPr sz="1125" b="1">
                <a:solidFill>
                  <a:srgbClr val="C2410C"/>
                </a:solidFill>
                <a:latin typeface="微软雅黑"/>
                <a:ea typeface="微软雅黑"/>
                <a:cs typeface="微软雅黑"/>
              </a:defRPr>
            </a:pPr>
            <a:r>
              <a:rPr sz="1400"/>
              <a:t>ImageNet 零样本 top-1（INet-0）</a:t>
            </a:r>
          </a:p>
        </p:txBody>
      </p:sp>
      <p:sp>
        <p:nvSpPr>
          <p:cNvPr id="8" name="矩形 7"/>
          <p:cNvSpPr>
            <a:spLocks noGrp="1"/>
          </p:cNvSpPr>
          <p:nvPr/>
        </p:nvSpPr>
        <p:spPr>
          <a:xfrm>
            <a:off x="838200" y="5181600"/>
            <a:ext cx="3333750" cy="838200"/>
          </a:xfrm>
          <a:prstGeom prst="rect">
            <a:avLst/>
          </a:prstGeom>
          <a:noFill/>
          <a:ln w="0">
            <a:noFill/>
          </a:ln>
        </p:spPr>
        <p:txBody>
          <a:bodyPr lIns="0" tIns="0" rIns="0" bIns="0" anchor="t">
            <a:noAutofit/>
          </a:bodyPr>
          <a:lstStyle/>
          <a:p>
            <a:pPr algn="l">
              <a:defRPr sz="1050" b="0">
                <a:solidFill>
                  <a:srgbClr val="39424F"/>
                </a:solidFill>
                <a:latin typeface="微软雅黑"/>
                <a:ea typeface="微软雅黑"/>
                <a:cs typeface="微软雅黑"/>
              </a:defRPr>
            </a:pPr>
            <a:r>
              <a:rPr sz="1200" dirty="0" err="1"/>
              <a:t>模型没在</a:t>
            </a:r>
            <a:r>
              <a:rPr sz="1200" dirty="0"/>
              <a:t> ImageNet </a:t>
            </a:r>
            <a:r>
              <a:rPr sz="1200" dirty="0" err="1"/>
              <a:t>上训过，靠「a</a:t>
            </a:r>
            <a:r>
              <a:rPr sz="1200" dirty="0"/>
              <a:t> photo of a {类}」</a:t>
            </a:r>
            <a:r>
              <a:rPr sz="1200" dirty="0" err="1"/>
              <a:t>这类文本去匹配分类，数字就是准确率</a:t>
            </a:r>
            <a:r>
              <a:rPr sz="1200" dirty="0"/>
              <a:t>。</a:t>
            </a:r>
          </a:p>
        </p:txBody>
      </p:sp>
      <p:sp>
        <p:nvSpPr>
          <p:cNvPr id="9" name="矩形 8"/>
          <p:cNvSpPr>
            <a:spLocks noGrp="1"/>
          </p:cNvSpPr>
          <p:nvPr/>
        </p:nvSpPr>
        <p:spPr>
          <a:xfrm>
            <a:off x="4438650" y="4819650"/>
            <a:ext cx="3333750" cy="285750"/>
          </a:xfrm>
          <a:prstGeom prst="rect">
            <a:avLst/>
          </a:prstGeom>
          <a:noFill/>
          <a:ln w="0">
            <a:noFill/>
          </a:ln>
        </p:spPr>
        <p:txBody>
          <a:bodyPr lIns="0" tIns="0" rIns="0" bIns="0" anchor="t">
            <a:noAutofit/>
          </a:bodyPr>
          <a:lstStyle/>
          <a:p>
            <a:pPr algn="l">
              <a:defRPr sz="1125" b="1">
                <a:solidFill>
                  <a:srgbClr val="C2410C"/>
                </a:solidFill>
                <a:latin typeface="微软雅黑"/>
                <a:ea typeface="微软雅黑"/>
                <a:cs typeface="微软雅黑"/>
              </a:defRPr>
            </a:pPr>
            <a:r>
              <a:rPr sz="1400"/>
              <a:t>XM3600 recall@1</a:t>
            </a:r>
          </a:p>
        </p:txBody>
      </p:sp>
      <p:sp>
        <p:nvSpPr>
          <p:cNvPr id="10" name="矩形 9"/>
          <p:cNvSpPr>
            <a:spLocks noGrp="1"/>
          </p:cNvSpPr>
          <p:nvPr/>
        </p:nvSpPr>
        <p:spPr>
          <a:xfrm>
            <a:off x="4438650" y="5181600"/>
            <a:ext cx="3333750" cy="838200"/>
          </a:xfrm>
          <a:prstGeom prst="rect">
            <a:avLst/>
          </a:prstGeom>
          <a:noFill/>
          <a:ln w="0">
            <a:noFill/>
          </a:ln>
        </p:spPr>
        <p:txBody>
          <a:bodyPr lIns="0" tIns="0" rIns="0" bIns="0" anchor="t">
            <a:noAutofit/>
          </a:bodyPr>
          <a:lstStyle/>
          <a:p>
            <a:pPr algn="l">
              <a:defRPr sz="1050" b="0">
                <a:solidFill>
                  <a:srgbClr val="39424F"/>
                </a:solidFill>
                <a:latin typeface="微软雅黑"/>
                <a:ea typeface="微软雅黑"/>
                <a:cs typeface="微软雅黑"/>
              </a:defRPr>
            </a:pPr>
            <a:r>
              <a:rPr sz="1200"/>
              <a:t>覆盖 36 种语言的跨模态检索；T→I 指「给文找图」，数值是正确项排第一的比例。</a:t>
            </a:r>
          </a:p>
        </p:txBody>
      </p:sp>
      <p:sp>
        <p:nvSpPr>
          <p:cNvPr id="11" name="矩形 10"/>
          <p:cNvSpPr>
            <a:spLocks noGrp="1"/>
          </p:cNvSpPr>
          <p:nvPr/>
        </p:nvSpPr>
        <p:spPr>
          <a:xfrm>
            <a:off x="8039100" y="4819650"/>
            <a:ext cx="3333750" cy="285750"/>
          </a:xfrm>
          <a:prstGeom prst="rect">
            <a:avLst/>
          </a:prstGeom>
          <a:noFill/>
          <a:ln w="0">
            <a:noFill/>
          </a:ln>
        </p:spPr>
        <p:txBody>
          <a:bodyPr lIns="0" tIns="0" rIns="0" bIns="0" anchor="t">
            <a:noAutofit/>
          </a:bodyPr>
          <a:lstStyle/>
          <a:p>
            <a:pPr algn="l">
              <a:defRPr sz="1125" b="1">
                <a:solidFill>
                  <a:srgbClr val="C2410C"/>
                </a:solidFill>
                <a:latin typeface="微软雅黑"/>
                <a:ea typeface="微软雅黑"/>
                <a:cs typeface="微软雅黑"/>
              </a:defRPr>
            </a:pPr>
            <a:r>
              <a:rPr sz="1400" dirty="0"/>
              <a:t>ImageNet 10-shot </a:t>
            </a:r>
            <a:r>
              <a:rPr sz="1400" dirty="0" err="1"/>
              <a:t>线性分类</a:t>
            </a:r>
            <a:endParaRPr sz="1400" dirty="0"/>
          </a:p>
        </p:txBody>
      </p:sp>
      <p:sp>
        <p:nvSpPr>
          <p:cNvPr id="12" name="矩形 11"/>
          <p:cNvSpPr>
            <a:spLocks noGrp="1"/>
          </p:cNvSpPr>
          <p:nvPr/>
        </p:nvSpPr>
        <p:spPr>
          <a:xfrm>
            <a:off x="8039100" y="5181600"/>
            <a:ext cx="3333750" cy="838200"/>
          </a:xfrm>
          <a:prstGeom prst="rect">
            <a:avLst/>
          </a:prstGeom>
          <a:noFill/>
          <a:ln w="0">
            <a:noFill/>
          </a:ln>
        </p:spPr>
        <p:txBody>
          <a:bodyPr lIns="0" tIns="0" rIns="0" bIns="0" anchor="t">
            <a:noAutofit/>
          </a:bodyPr>
          <a:lstStyle/>
          <a:p>
            <a:pPr algn="l">
              <a:defRPr sz="1050" b="0">
                <a:solidFill>
                  <a:srgbClr val="39424F"/>
                </a:solidFill>
                <a:latin typeface="微软雅黑"/>
                <a:ea typeface="微软雅黑"/>
                <a:cs typeface="微软雅黑"/>
              </a:defRPr>
            </a:pPr>
            <a:r>
              <a:rPr sz="1200"/>
              <a:t>冻结图像塔只训一个线性分类头，用来检验图像特征本身好不好。</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实验一：batch 越小，sigmoid 的优势越大</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9</a:t>
            </a:r>
          </a:p>
        </p:txBody>
      </p:sp>
      <p:sp>
        <p:nvSpPr>
          <p:cNvPr id="7" name="矩形 6"/>
          <p:cNvSpPr>
            <a:spLocks noGrp="1"/>
          </p:cNvSpPr>
          <p:nvPr/>
        </p:nvSpPr>
        <p:spPr>
          <a:xfrm>
            <a:off x="6629400" y="1562100"/>
            <a:ext cx="5219700" cy="3038474"/>
          </a:xfrm>
          <a:prstGeom prst="rect">
            <a:avLst/>
          </a:prstGeom>
          <a:noFill/>
          <a:ln w="0">
            <a:noFill/>
          </a:ln>
        </p:spPr>
        <p:txBody>
          <a:bodyPr lIns="0" tIns="0" rIns="0" bIns="0" anchor="t">
            <a:noAutofit/>
          </a:bodyPr>
          <a:lstStyle/>
          <a:p>
            <a:pPr marL="219075" indent="-219075" algn="l">
              <a:spcAft>
                <a:spcPts val="1200"/>
              </a:spcAft>
              <a:buChar char="•"/>
              <a:defRPr sz="1125" b="0">
                <a:solidFill>
                  <a:srgbClr val="39424F"/>
                </a:solidFill>
                <a:latin typeface="微软雅黑"/>
                <a:ea typeface="微软雅黑"/>
                <a:cs typeface="微软雅黑"/>
              </a:defRPr>
            </a:pPr>
            <a:r>
              <a:rPr sz="2400" dirty="0" err="1"/>
              <a:t>差距在</a:t>
            </a:r>
            <a:r>
              <a:rPr sz="2400" dirty="0"/>
              <a:t> 16k batch </a:t>
            </a:r>
            <a:r>
              <a:rPr sz="2400" dirty="0" err="1"/>
              <a:t>以内最明显，batch</a:t>
            </a:r>
            <a:r>
              <a:rPr sz="2400" dirty="0"/>
              <a:t> </a:t>
            </a:r>
            <a:r>
              <a:rPr sz="2400" dirty="0" err="1"/>
              <a:t>越大差距越小</a:t>
            </a:r>
            <a:r>
              <a:rPr sz="2400" dirty="0"/>
              <a:t>。</a:t>
            </a:r>
          </a:p>
          <a:p>
            <a:pPr marL="219075" indent="-219075" algn="l">
              <a:spcAft>
                <a:spcPts val="1200"/>
              </a:spcAft>
              <a:buChar char="•"/>
              <a:defRPr sz="1125" b="0">
                <a:solidFill>
                  <a:srgbClr val="39424F"/>
                </a:solidFill>
                <a:latin typeface="微软雅黑"/>
                <a:ea typeface="微软雅黑"/>
                <a:cs typeface="微软雅黑"/>
              </a:defRPr>
            </a:pPr>
            <a:r>
              <a:rPr sz="2400" dirty="0"/>
              <a:t>128k 时 </a:t>
            </a:r>
            <a:r>
              <a:rPr sz="2400" dirty="0" err="1"/>
              <a:t>softmax</a:t>
            </a:r>
            <a:r>
              <a:rPr sz="2400" dirty="0"/>
              <a:t> </a:t>
            </a:r>
            <a:r>
              <a:rPr sz="2400" dirty="0" err="1"/>
              <a:t>短暂反超</a:t>
            </a:r>
            <a:r>
              <a:rPr sz="2400" dirty="0"/>
              <a:t> 0.2 </a:t>
            </a:r>
            <a:r>
              <a:rPr sz="2400" dirty="0" err="1"/>
              <a:t>分，说明大</a:t>
            </a:r>
            <a:r>
              <a:rPr sz="2400" dirty="0"/>
              <a:t> batch </a:t>
            </a:r>
            <a:r>
              <a:rPr sz="2400" dirty="0" err="1"/>
              <a:t>下两者基本持平</a:t>
            </a:r>
            <a:r>
              <a:rPr sz="2400" dirty="0"/>
              <a:t>。</a:t>
            </a:r>
          </a:p>
          <a:p>
            <a:pPr marL="219075" indent="-219075" algn="l">
              <a:spcAft>
                <a:spcPts val="1200"/>
              </a:spcAft>
              <a:buChar char="•"/>
              <a:defRPr sz="1125" b="0">
                <a:solidFill>
                  <a:srgbClr val="39424F"/>
                </a:solidFill>
                <a:latin typeface="微软雅黑"/>
                <a:ea typeface="微软雅黑"/>
                <a:cs typeface="微软雅黑"/>
              </a:defRPr>
            </a:pPr>
            <a:r>
              <a:rPr sz="2400" dirty="0" err="1"/>
              <a:t>原因：softmax</a:t>
            </a:r>
            <a:r>
              <a:rPr sz="2400" dirty="0"/>
              <a:t> </a:t>
            </a:r>
            <a:r>
              <a:rPr sz="2400" dirty="0" err="1"/>
              <a:t>只把负例放在分母里，负例少时学不充分；sigmoid</a:t>
            </a:r>
            <a:r>
              <a:rPr sz="2400" dirty="0"/>
              <a:t> </a:t>
            </a:r>
            <a:r>
              <a:rPr sz="2400" dirty="0" err="1"/>
              <a:t>每一对都直接产生损失项</a:t>
            </a:r>
            <a:r>
              <a:rPr sz="2400" dirty="0"/>
              <a:t>。</a:t>
            </a:r>
          </a:p>
        </p:txBody>
      </p:sp>
      <p:sp>
        <p:nvSpPr>
          <p:cNvPr id="8" name="矩形 7"/>
          <p:cNvSpPr>
            <a:spLocks noGrp="1"/>
          </p:cNvSpPr>
          <p:nvPr/>
        </p:nvSpPr>
        <p:spPr>
          <a:xfrm>
            <a:off x="6858000" y="4600574"/>
            <a:ext cx="3467100" cy="438150"/>
          </a:xfrm>
          <a:prstGeom prst="rect">
            <a:avLst/>
          </a:prstGeom>
          <a:noFill/>
          <a:ln w="0">
            <a:noFill/>
          </a:ln>
        </p:spPr>
        <p:txBody>
          <a:bodyPr lIns="0" tIns="0" rIns="0" bIns="0" anchor="t">
            <a:noAutofit/>
          </a:bodyPr>
          <a:lstStyle/>
          <a:p>
            <a:pPr algn="l">
              <a:defRPr sz="975" b="0">
                <a:solidFill>
                  <a:srgbClr val="69747F"/>
                </a:solidFill>
                <a:latin typeface="微软雅黑"/>
                <a:ea typeface="微软雅黑"/>
                <a:cs typeface="微软雅黑"/>
              </a:defRPr>
            </a:pPr>
            <a:r>
              <a:rPr dirty="0" err="1"/>
              <a:t>数据：论文</a:t>
            </a:r>
            <a:r>
              <a:rPr dirty="0"/>
              <a:t> Table 8（SigLiT，3B </a:t>
            </a:r>
            <a:r>
              <a:rPr dirty="0" err="1"/>
              <a:t>样本，ImageNet</a:t>
            </a:r>
            <a:r>
              <a:rPr dirty="0"/>
              <a:t> </a:t>
            </a:r>
            <a:r>
              <a:rPr dirty="0" err="1"/>
              <a:t>零样本</a:t>
            </a:r>
            <a:r>
              <a:rPr dirty="0"/>
              <a:t>）</a:t>
            </a:r>
          </a:p>
        </p:txBody>
      </p:sp>
      <p:pic>
        <p:nvPicPr>
          <p:cNvPr id="4" name="内容占位符 13"/>
          <p:cNvPicPr>
            <a:picLocks noChangeAspect="1"/>
          </p:cNvPicPr>
          <p:nvPr/>
        </p:nvPicPr>
        <p:blipFill>
          <a:blip r:embed="rId3"/>
          <a:srcRect r="65186"/>
          <a:stretch>
            <a:fillRect/>
          </a:stretch>
        </p:blipFill>
        <p:spPr>
          <a:xfrm>
            <a:off x="960753" y="1085850"/>
            <a:ext cx="5363847" cy="5225792"/>
          </a:xfrm>
          <a:prstGeom prst="rect">
            <a:avLst/>
          </a:prstGeom>
        </p:spPr>
      </p:pic>
      <p:pic>
        <p:nvPicPr>
          <p:cNvPr id="5" name="图片 4"/>
          <p:cNvPicPr>
            <a:picLocks noChangeAspect="1"/>
          </p:cNvPicPr>
          <p:nvPr/>
        </p:nvPicPr>
        <p:blipFill>
          <a:blip r:embed="rId4"/>
          <a:stretch>
            <a:fillRect/>
          </a:stretch>
        </p:blipFill>
        <p:spPr>
          <a:xfrm>
            <a:off x="4047992" y="4533840"/>
            <a:ext cx="1905266" cy="85737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实验二：32k batch 就饱和，再大没有收益</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10</a:t>
            </a:r>
          </a:p>
        </p:txBody>
      </p:sp>
      <p:sp>
        <p:nvSpPr>
          <p:cNvPr id="5" name="矩形 4"/>
          <p:cNvSpPr>
            <a:spLocks noGrp="1"/>
          </p:cNvSpPr>
          <p:nvPr/>
        </p:nvSpPr>
        <p:spPr>
          <a:xfrm>
            <a:off x="6677024" y="1295400"/>
            <a:ext cx="5059457" cy="266700"/>
          </a:xfrm>
          <a:prstGeom prst="rect">
            <a:avLst/>
          </a:prstGeom>
          <a:noFill/>
          <a:ln w="0">
            <a:noFill/>
          </a:ln>
        </p:spPr>
        <p:txBody>
          <a:bodyPr lIns="0" tIns="0" rIns="0" bIns="0" anchor="t">
            <a:noAutofit/>
          </a:bodyPr>
          <a:lstStyle/>
          <a:p>
            <a:pPr algn="l">
              <a:defRPr sz="1275" b="1">
                <a:solidFill>
                  <a:srgbClr val="12161C"/>
                </a:solidFill>
                <a:latin typeface="微软雅黑"/>
                <a:ea typeface="微软雅黑"/>
                <a:cs typeface="微软雅黑"/>
              </a:defRPr>
            </a:pPr>
            <a:r>
              <a:rPr sz="1600" dirty="0"/>
              <a:t>SigLIP（9B </a:t>
            </a:r>
            <a:r>
              <a:rPr sz="1600" dirty="0" err="1"/>
              <a:t>样本</a:t>
            </a:r>
            <a:r>
              <a:rPr sz="1600" dirty="0"/>
              <a:t>）</a:t>
            </a:r>
          </a:p>
        </p:txBody>
      </p:sp>
      <p:sp>
        <p:nvSpPr>
          <p:cNvPr id="6" name="矩形 5"/>
          <p:cNvSpPr>
            <a:spLocks noGrp="1"/>
          </p:cNvSpPr>
          <p:nvPr/>
        </p:nvSpPr>
        <p:spPr>
          <a:xfrm>
            <a:off x="6677024" y="1600200"/>
            <a:ext cx="5059457" cy="742950"/>
          </a:xfrm>
          <a:prstGeom prst="rect">
            <a:avLst/>
          </a:prstGeom>
          <a:noFill/>
          <a:ln w="0">
            <a:noFill/>
          </a:ln>
        </p:spPr>
        <p:txBody>
          <a:bodyPr lIns="0" tIns="0" rIns="0" bIns="0" anchor="t">
            <a:noAutofit/>
          </a:bodyPr>
          <a:lstStyle/>
          <a:p>
            <a:pPr algn="l">
              <a:defRPr sz="1125" b="0">
                <a:solidFill>
                  <a:srgbClr val="39424F"/>
                </a:solidFill>
                <a:latin typeface="微软雅黑"/>
                <a:ea typeface="微软雅黑"/>
                <a:cs typeface="微软雅黑"/>
              </a:defRPr>
            </a:pPr>
            <a:r>
              <a:rPr sz="1400" dirty="0"/>
              <a:t>sigmoid </a:t>
            </a:r>
            <a:r>
              <a:rPr sz="1400" dirty="0" err="1"/>
              <a:t>峰值在</a:t>
            </a:r>
            <a:r>
              <a:rPr sz="1400" dirty="0"/>
              <a:t> 32k，73.4%；</a:t>
            </a:r>
            <a:r>
              <a:rPr sz="1400" dirty="0" err="1"/>
              <a:t>softmax</a:t>
            </a:r>
            <a:r>
              <a:rPr sz="1400" dirty="0"/>
              <a:t> </a:t>
            </a:r>
            <a:r>
              <a:rPr sz="1400" dirty="0" err="1"/>
              <a:t>要到</a:t>
            </a:r>
            <a:r>
              <a:rPr sz="1400" dirty="0"/>
              <a:t> 98k </a:t>
            </a:r>
            <a:r>
              <a:rPr sz="1400" dirty="0" err="1"/>
              <a:t>才到</a:t>
            </a:r>
            <a:r>
              <a:rPr sz="1400" dirty="0"/>
              <a:t> 73.2%，</a:t>
            </a:r>
            <a:r>
              <a:rPr sz="1400" dirty="0" err="1"/>
              <a:t>仍低</a:t>
            </a:r>
            <a:r>
              <a:rPr sz="1400" dirty="0"/>
              <a:t> 0.2 分；307k </a:t>
            </a:r>
            <a:r>
              <a:rPr sz="1400" dirty="0" err="1"/>
              <a:t>时两者都退化</a:t>
            </a:r>
            <a:r>
              <a:rPr sz="1400" dirty="0"/>
              <a:t>。</a:t>
            </a:r>
          </a:p>
        </p:txBody>
      </p:sp>
      <p:sp>
        <p:nvSpPr>
          <p:cNvPr id="7" name="矩形 6"/>
          <p:cNvSpPr>
            <a:spLocks noGrp="1"/>
          </p:cNvSpPr>
          <p:nvPr/>
        </p:nvSpPr>
        <p:spPr>
          <a:xfrm>
            <a:off x="6677024" y="2400300"/>
            <a:ext cx="5059457" cy="266700"/>
          </a:xfrm>
          <a:prstGeom prst="rect">
            <a:avLst/>
          </a:prstGeom>
          <a:noFill/>
          <a:ln w="0">
            <a:noFill/>
          </a:ln>
        </p:spPr>
        <p:txBody>
          <a:bodyPr lIns="0" tIns="0" rIns="0" bIns="0" anchor="t">
            <a:noAutofit/>
          </a:bodyPr>
          <a:lstStyle/>
          <a:p>
            <a:pPr algn="l">
              <a:defRPr sz="1275" b="1">
                <a:solidFill>
                  <a:srgbClr val="12161C"/>
                </a:solidFill>
                <a:latin typeface="微软雅黑"/>
                <a:ea typeface="微软雅黑"/>
                <a:cs typeface="微软雅黑"/>
              </a:defRPr>
            </a:pPr>
            <a:r>
              <a:rPr sz="1600"/>
              <a:t>SigLiT（18B 样本）</a:t>
            </a:r>
          </a:p>
        </p:txBody>
      </p:sp>
      <p:sp>
        <p:nvSpPr>
          <p:cNvPr id="8" name="矩形 7"/>
          <p:cNvSpPr>
            <a:spLocks noGrp="1"/>
          </p:cNvSpPr>
          <p:nvPr/>
        </p:nvSpPr>
        <p:spPr>
          <a:xfrm>
            <a:off x="6677024" y="2705100"/>
            <a:ext cx="5059457" cy="742950"/>
          </a:xfrm>
          <a:prstGeom prst="rect">
            <a:avLst/>
          </a:prstGeom>
          <a:noFill/>
          <a:ln w="0">
            <a:noFill/>
          </a:ln>
        </p:spPr>
        <p:txBody>
          <a:bodyPr lIns="0" tIns="0" rIns="0" bIns="0" anchor="t">
            <a:noAutofit/>
          </a:bodyPr>
          <a:lstStyle/>
          <a:p>
            <a:pPr algn="l">
              <a:defRPr sz="1125" b="0">
                <a:solidFill>
                  <a:srgbClr val="39424F"/>
                </a:solidFill>
                <a:latin typeface="微软雅黑"/>
                <a:ea typeface="微软雅黑"/>
                <a:cs typeface="微软雅黑"/>
              </a:defRPr>
            </a:pPr>
            <a:r>
              <a:rPr sz="1400"/>
              <a:t>64k / 128k / 256k / 1024k 全都是 84.7%，完全持平——百万级 batch 是能训，不是有用。</a:t>
            </a:r>
          </a:p>
        </p:txBody>
      </p:sp>
      <p:sp>
        <p:nvSpPr>
          <p:cNvPr id="9" name="矩形 8"/>
          <p:cNvSpPr>
            <a:spLocks noGrp="1"/>
          </p:cNvSpPr>
          <p:nvPr/>
        </p:nvSpPr>
        <p:spPr>
          <a:xfrm>
            <a:off x="6677024" y="3505200"/>
            <a:ext cx="5059457" cy="266700"/>
          </a:xfrm>
          <a:prstGeom prst="rect">
            <a:avLst/>
          </a:prstGeom>
          <a:noFill/>
          <a:ln w="0">
            <a:noFill/>
          </a:ln>
        </p:spPr>
        <p:txBody>
          <a:bodyPr lIns="0" tIns="0" rIns="0" bIns="0" anchor="t">
            <a:noAutofit/>
          </a:bodyPr>
          <a:lstStyle/>
          <a:p>
            <a:pPr algn="l">
              <a:defRPr sz="1275" b="1">
                <a:solidFill>
                  <a:srgbClr val="12161C"/>
                </a:solidFill>
                <a:latin typeface="微软雅黑"/>
                <a:ea typeface="微软雅黑"/>
                <a:cs typeface="微软雅黑"/>
              </a:defRPr>
            </a:pPr>
            <a:r>
              <a:rPr sz="1600"/>
              <a:t>mSigLIP（100+ 语言，30B 样本）</a:t>
            </a:r>
          </a:p>
        </p:txBody>
      </p:sp>
      <p:sp>
        <p:nvSpPr>
          <p:cNvPr id="10" name="矩形 9"/>
          <p:cNvSpPr>
            <a:spLocks noGrp="1"/>
          </p:cNvSpPr>
          <p:nvPr/>
        </p:nvSpPr>
        <p:spPr>
          <a:xfrm>
            <a:off x="6677024" y="3810000"/>
            <a:ext cx="5059457" cy="742950"/>
          </a:xfrm>
          <a:prstGeom prst="rect">
            <a:avLst/>
          </a:prstGeom>
          <a:noFill/>
          <a:ln w="0">
            <a:noFill/>
          </a:ln>
        </p:spPr>
        <p:txBody>
          <a:bodyPr lIns="0" tIns="0" rIns="0" bIns="0" anchor="t">
            <a:noAutofit/>
          </a:bodyPr>
          <a:lstStyle/>
          <a:p>
            <a:pPr algn="l">
              <a:defRPr sz="1125" b="0">
                <a:solidFill>
                  <a:srgbClr val="39424F"/>
                </a:solidFill>
                <a:latin typeface="微软雅黑"/>
                <a:ea typeface="微软雅黑"/>
                <a:cs typeface="微软雅黑"/>
              </a:defRPr>
            </a:pPr>
            <a:r>
              <a:rPr sz="1400" dirty="0"/>
              <a:t>XM3600 36 </a:t>
            </a:r>
            <a:r>
              <a:rPr sz="1400" dirty="0" err="1"/>
              <a:t>语言平均</a:t>
            </a:r>
            <a:r>
              <a:rPr sz="1400" dirty="0"/>
              <a:t> T→I recall@1：32k 34.9 → 64k 34.4 → 128k 33.6 → 240k 32.7，越大越差。</a:t>
            </a:r>
          </a:p>
        </p:txBody>
      </p:sp>
      <p:sp>
        <p:nvSpPr>
          <p:cNvPr id="11" name="矩形: 圆角 10"/>
          <p:cNvSpPr>
            <a:spLocks noGrp="1"/>
          </p:cNvSpPr>
          <p:nvPr/>
        </p:nvSpPr>
        <p:spPr>
          <a:xfrm>
            <a:off x="6515100" y="4495800"/>
            <a:ext cx="2409825" cy="1881186"/>
          </a:xfrm>
          <a:prstGeom prst="roundRect">
            <a:avLst>
              <a:gd name="adj" fmla="val 7813"/>
            </a:avLst>
          </a:prstGeom>
          <a:solidFill>
            <a:srgbClr val="FDF4EF"/>
          </a:solidFill>
          <a:ln w="0">
            <a:noFill/>
          </a:ln>
        </p:spPr>
      </p:sp>
      <p:sp>
        <p:nvSpPr>
          <p:cNvPr id="12" name="矩形 11"/>
          <p:cNvSpPr>
            <a:spLocks noGrp="1"/>
          </p:cNvSpPr>
          <p:nvPr/>
        </p:nvSpPr>
        <p:spPr>
          <a:xfrm>
            <a:off x="6819900" y="4772025"/>
            <a:ext cx="1752600" cy="561975"/>
          </a:xfrm>
          <a:prstGeom prst="rect">
            <a:avLst/>
          </a:prstGeom>
          <a:noFill/>
          <a:ln w="0">
            <a:noFill/>
          </a:ln>
        </p:spPr>
        <p:txBody>
          <a:bodyPr lIns="0" tIns="0" rIns="0" bIns="0" anchor="t">
            <a:noAutofit/>
          </a:bodyPr>
          <a:lstStyle/>
          <a:p>
            <a:pPr algn="l">
              <a:defRPr sz="1090" b="0">
                <a:solidFill>
                  <a:srgbClr val="39424F"/>
                </a:solidFill>
                <a:latin typeface="微软雅黑"/>
                <a:ea typeface="微软雅黑"/>
                <a:cs typeface="微软雅黑"/>
              </a:defRPr>
            </a:pPr>
            <a:r>
              <a:rPr sz="1200" b="1" dirty="0" err="1">
                <a:solidFill>
                  <a:srgbClr val="C2410C"/>
                </a:solidFill>
              </a:rPr>
              <a:t>限定：</a:t>
            </a:r>
            <a:r>
              <a:rPr sz="1200" dirty="0" err="1">
                <a:solidFill>
                  <a:srgbClr val="39424F"/>
                </a:solidFill>
              </a:rPr>
              <a:t>大</a:t>
            </a:r>
            <a:r>
              <a:rPr sz="1200" dirty="0">
                <a:solidFill>
                  <a:srgbClr val="39424F"/>
                </a:solidFill>
              </a:rPr>
              <a:t> batch </a:t>
            </a:r>
            <a:r>
              <a:rPr sz="1200" dirty="0" err="1">
                <a:solidFill>
                  <a:srgbClr val="39424F"/>
                </a:solidFill>
              </a:rPr>
              <a:t>只有在训练足够长时才划算。论文</a:t>
            </a:r>
            <a:r>
              <a:rPr sz="1200" dirty="0">
                <a:solidFill>
                  <a:srgbClr val="39424F"/>
                </a:solidFill>
              </a:rPr>
              <a:t> Figure 3 里 262k batch </a:t>
            </a:r>
            <a:r>
              <a:rPr sz="1200" dirty="0" err="1">
                <a:solidFill>
                  <a:srgbClr val="39424F"/>
                </a:solidFill>
              </a:rPr>
              <a:t>要训得足够久才超过</a:t>
            </a:r>
            <a:r>
              <a:rPr sz="1200" dirty="0">
                <a:solidFill>
                  <a:srgbClr val="39424F"/>
                </a:solidFill>
              </a:rPr>
              <a:t> 8k；短 schedule </a:t>
            </a:r>
            <a:r>
              <a:rPr sz="1200" dirty="0" err="1">
                <a:solidFill>
                  <a:srgbClr val="39424F"/>
                </a:solidFill>
              </a:rPr>
              <a:t>下大</a:t>
            </a:r>
            <a:r>
              <a:rPr sz="1200" dirty="0">
                <a:solidFill>
                  <a:srgbClr val="39424F"/>
                </a:solidFill>
              </a:rPr>
              <a:t> batch </a:t>
            </a:r>
            <a:r>
              <a:rPr sz="1200" dirty="0" err="1">
                <a:solidFill>
                  <a:srgbClr val="39424F"/>
                </a:solidFill>
              </a:rPr>
              <a:t>的更新步数太少，反而更差</a:t>
            </a:r>
            <a:r>
              <a:rPr sz="1200" dirty="0">
                <a:solidFill>
                  <a:srgbClr val="39424F"/>
                </a:solidFill>
              </a:rPr>
              <a:t>。</a:t>
            </a:r>
          </a:p>
        </p:txBody>
      </p:sp>
      <p:sp>
        <p:nvSpPr>
          <p:cNvPr id="13" name="矩形 12"/>
          <p:cNvSpPr>
            <a:spLocks noGrp="1"/>
          </p:cNvSpPr>
          <p:nvPr/>
        </p:nvSpPr>
        <p:spPr>
          <a:xfrm>
            <a:off x="1495425" y="5829300"/>
            <a:ext cx="4667250" cy="438150"/>
          </a:xfrm>
          <a:prstGeom prst="rect">
            <a:avLst/>
          </a:prstGeom>
          <a:noFill/>
          <a:ln w="0">
            <a:noFill/>
          </a:ln>
        </p:spPr>
        <p:txBody>
          <a:bodyPr lIns="0" tIns="0" rIns="0" bIns="0" anchor="t">
            <a:noAutofit/>
          </a:bodyPr>
          <a:lstStyle/>
          <a:p>
            <a:pPr algn="l">
              <a:defRPr sz="975" b="0">
                <a:solidFill>
                  <a:srgbClr val="69747F"/>
                </a:solidFill>
                <a:latin typeface="微软雅黑"/>
                <a:ea typeface="微软雅黑"/>
                <a:cs typeface="微软雅黑"/>
              </a:defRPr>
            </a:pPr>
            <a:r>
              <a:rPr dirty="0" err="1"/>
              <a:t>数据：论文</a:t>
            </a:r>
            <a:r>
              <a:rPr dirty="0"/>
              <a:t> Table 5（SigLIP 9B）、Table 8（SigLiT）、Table 2（mSigLIP）</a:t>
            </a:r>
          </a:p>
        </p:txBody>
      </p:sp>
      <p:pic>
        <p:nvPicPr>
          <p:cNvPr id="4" name="内容占位符 13"/>
          <p:cNvPicPr>
            <a:picLocks noChangeAspect="1"/>
          </p:cNvPicPr>
          <p:nvPr/>
        </p:nvPicPr>
        <p:blipFill>
          <a:blip r:embed="rId3"/>
          <a:srcRect l="33825" r="33842"/>
          <a:stretch>
            <a:fillRect/>
          </a:stretch>
        </p:blipFill>
        <p:spPr>
          <a:xfrm>
            <a:off x="1019175" y="991368"/>
            <a:ext cx="4743450" cy="4780782"/>
          </a:xfrm>
          <a:prstGeom prst="rect">
            <a:avLst/>
          </a:prstGeom>
        </p:spPr>
      </p:pic>
      <p:pic>
        <p:nvPicPr>
          <p:cNvPr id="15" name="图片 14"/>
          <p:cNvPicPr>
            <a:picLocks noChangeAspect="1"/>
          </p:cNvPicPr>
          <p:nvPr/>
        </p:nvPicPr>
        <p:blipFill>
          <a:blip r:embed="rId4"/>
          <a:stretch>
            <a:fillRect/>
          </a:stretch>
        </p:blipFill>
        <p:spPr>
          <a:xfrm>
            <a:off x="8867368" y="4510087"/>
            <a:ext cx="2926671" cy="208597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实验三：四张 TPUv4 两天，训到 84.5%</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11</a:t>
            </a:r>
          </a:p>
        </p:txBody>
      </p:sp>
      <p:graphicFrame>
        <p:nvGraphicFramePr>
          <p:cNvPr id="12" name="表格 11"/>
          <p:cNvGraphicFramePr/>
          <p:nvPr/>
        </p:nvGraphicFramePr>
        <p:xfrm>
          <a:off x="609600" y="1257300"/>
          <a:ext cx="6667498" cy="2400300"/>
        </p:xfrm>
        <a:graphic>
          <a:graphicData uri="http://schemas.openxmlformats.org/drawingml/2006/table">
            <a:tbl>
              <a:tblPr/>
              <a:tblGrid>
                <a:gridCol w="733425">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714752">
                  <a:extLst>
                    <a:ext uri="{9D8B030D-6E8A-4147-A177-3AD203B41FA5}">
                      <a16:colId xmlns:a16="http://schemas.microsoft.com/office/drawing/2014/main" val="20004"/>
                    </a:ext>
                  </a:extLst>
                </a:gridCol>
                <a:gridCol w="688798">
                  <a:extLst>
                    <a:ext uri="{9D8B030D-6E8A-4147-A177-3AD203B41FA5}">
                      <a16:colId xmlns:a16="http://schemas.microsoft.com/office/drawing/2014/main" val="20005"/>
                    </a:ext>
                  </a:extLst>
                </a:gridCol>
                <a:gridCol w="787198">
                  <a:extLst>
                    <a:ext uri="{9D8B030D-6E8A-4147-A177-3AD203B41FA5}">
                      <a16:colId xmlns:a16="http://schemas.microsoft.com/office/drawing/2014/main" val="20006"/>
                    </a:ext>
                  </a:extLst>
                </a:gridCol>
              </a:tblGrid>
              <a:tr h="400050">
                <a:tc>
                  <a:txBody>
                    <a:bodyPr/>
                    <a:lstStyle/>
                    <a:p>
                      <a:pPr algn="ctr"/>
                      <a:r>
                        <a:rPr sz="1400" b="1" dirty="0" err="1">
                          <a:solidFill>
                            <a:srgbClr val="12161C"/>
                          </a:solidFill>
                          <a:latin typeface="微软雅黑"/>
                          <a:ea typeface="微软雅黑"/>
                          <a:cs typeface="微软雅黑"/>
                        </a:rPr>
                        <a:t>设定</a:t>
                      </a:r>
                      <a:endParaRPr sz="1400" b="1" dirty="0">
                        <a:solidFill>
                          <a:srgbClr val="12161C"/>
                        </a:solidFill>
                        <a:latin typeface="微软雅黑"/>
                        <a:ea typeface="微软雅黑"/>
                        <a:cs typeface="微软雅黑"/>
                      </a:endParaRPr>
                    </a:p>
                  </a:txBody>
                  <a:tcPr marL="76200" marR="76200" marT="28575" marB="28575" anchor="ctr">
                    <a:solidFill>
                      <a:srgbClr val="E9EEF4"/>
                    </a:solidFill>
                  </a:tcPr>
                </a:tc>
                <a:tc>
                  <a:txBody>
                    <a:bodyPr/>
                    <a:lstStyle/>
                    <a:p>
                      <a:pPr algn="ctr"/>
                      <a:r>
                        <a:rPr sz="1400" b="1" dirty="0" err="1">
                          <a:solidFill>
                            <a:srgbClr val="12161C"/>
                          </a:solidFill>
                          <a:latin typeface="微软雅黑"/>
                          <a:ea typeface="微软雅黑"/>
                          <a:cs typeface="微软雅黑"/>
                        </a:rPr>
                        <a:t>图像塔</a:t>
                      </a:r>
                      <a:endParaRPr sz="1400" b="1" dirty="0">
                        <a:solidFill>
                          <a:srgbClr val="12161C"/>
                        </a:solidFill>
                        <a:latin typeface="微软雅黑"/>
                        <a:ea typeface="微软雅黑"/>
                        <a:cs typeface="微软雅黑"/>
                      </a:endParaRPr>
                    </a:p>
                  </a:txBody>
                  <a:tcPr marL="76200" marR="76200" marT="28575" marB="28575" anchor="ctr">
                    <a:solidFill>
                      <a:srgbClr val="E9EEF4"/>
                    </a:solidFill>
                  </a:tcPr>
                </a:tc>
                <a:tc>
                  <a:txBody>
                    <a:bodyPr/>
                    <a:lstStyle/>
                    <a:p>
                      <a:pPr algn="ctr"/>
                      <a:r>
                        <a:rPr lang="zh-CN" altLang="en-US" sz="1400" b="1" dirty="0">
                          <a:solidFill>
                            <a:srgbClr val="12161C"/>
                          </a:solidFill>
                          <a:latin typeface="微软雅黑"/>
                          <a:ea typeface="微软雅黑"/>
                          <a:cs typeface="微软雅黑"/>
                        </a:rPr>
                        <a:t>文本塔</a:t>
                      </a:r>
                      <a:endParaRPr sz="1400" b="1" dirty="0">
                        <a:solidFill>
                          <a:srgbClr val="12161C"/>
                        </a:solidFill>
                        <a:latin typeface="微软雅黑"/>
                        <a:ea typeface="微软雅黑"/>
                        <a:cs typeface="微软雅黑"/>
                      </a:endParaRPr>
                    </a:p>
                  </a:txBody>
                  <a:tcPr marL="76200" marR="76200" marT="28575" marB="28575" anchor="ctr">
                    <a:solidFill>
                      <a:srgbClr val="E9EEF4"/>
                    </a:solidFill>
                  </a:tcPr>
                </a:tc>
                <a:tc>
                  <a:txBody>
                    <a:bodyPr/>
                    <a:lstStyle/>
                    <a:p>
                      <a:pPr algn="ctr"/>
                      <a:r>
                        <a:rPr sz="1400" b="1" dirty="0">
                          <a:solidFill>
                            <a:srgbClr val="12161C"/>
                          </a:solidFill>
                          <a:latin typeface="微软雅黑"/>
                          <a:ea typeface="微软雅黑"/>
                          <a:cs typeface="微软雅黑"/>
                        </a:rPr>
                        <a:t>batch</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芯片</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时间</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INet-0</a:t>
                      </a:r>
                    </a:p>
                  </a:txBody>
                  <a:tcPr marL="76200" marR="76200" marT="28575" marB="28575" anchor="ctr">
                    <a:solidFill>
                      <a:srgbClr val="E9EEF4"/>
                    </a:solidFill>
                  </a:tcPr>
                </a:tc>
                <a:extLst>
                  <a:ext uri="{0D108BD9-81ED-4DB2-BD59-A6C34878D82A}">
                    <a16:rowId xmlns:a16="http://schemas.microsoft.com/office/drawing/2014/main" val="10000"/>
                  </a:ext>
                </a:extLst>
              </a:tr>
              <a:tr h="400050">
                <a:tc>
                  <a:txBody>
                    <a:bodyPr/>
                    <a:lstStyle/>
                    <a:p>
                      <a:pPr algn="ctr"/>
                      <a:r>
                        <a:rPr sz="1400" b="0">
                          <a:solidFill>
                            <a:srgbClr val="39424F"/>
                          </a:solidFill>
                          <a:latin typeface="微软雅黑"/>
                          <a:ea typeface="微软雅黑"/>
                          <a:cs typeface="微软雅黑"/>
                        </a:rPr>
                        <a:t>SigLiT</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B/8（冻结）</a:t>
                      </a:r>
                    </a:p>
                  </a:txBody>
                  <a:tcPr marL="76200" marR="76200" marT="28575" marB="28575" anchor="ctr">
                    <a:solidFill>
                      <a:srgbClr val="FFFFFF"/>
                    </a:solidFill>
                  </a:tcPr>
                </a:tc>
                <a:tc>
                  <a:txBody>
                    <a:bodyPr/>
                    <a:lstStyle/>
                    <a:p>
                      <a:pPr algn="ctr"/>
                      <a:r>
                        <a:rPr lang="en-US" altLang="zh-CN" sz="1400" b="0" dirty="0">
                          <a:solidFill>
                            <a:srgbClr val="39424F"/>
                          </a:solidFill>
                          <a:latin typeface="微软雅黑"/>
                          <a:ea typeface="微软雅黑"/>
                          <a:cs typeface="微软雅黑"/>
                        </a:rPr>
                        <a:t>L*</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tc>
                  <a:txBody>
                    <a:bodyPr/>
                    <a:lstStyle/>
                    <a:p>
                      <a:pPr algn="ctr"/>
                      <a:r>
                        <a:rPr sz="1400" b="0" dirty="0">
                          <a:solidFill>
                            <a:srgbClr val="39424F"/>
                          </a:solidFill>
                          <a:latin typeface="微软雅黑"/>
                          <a:ea typeface="微软雅黑"/>
                          <a:cs typeface="微软雅黑"/>
                        </a:rPr>
                        <a:t>32k</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4</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1 天</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79.8</a:t>
                      </a:r>
                    </a:p>
                  </a:txBody>
                  <a:tcPr marL="76200" marR="76200"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1400" b="0">
                          <a:solidFill>
                            <a:srgbClr val="39424F"/>
                          </a:solidFill>
                          <a:latin typeface="微软雅黑"/>
                          <a:ea typeface="微软雅黑"/>
                          <a:cs typeface="微软雅黑"/>
                        </a:rPr>
                        <a:t>SigLiT</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g/14（冻结）</a:t>
                      </a:r>
                    </a:p>
                  </a:txBody>
                  <a:tcPr marL="76200" marR="76200" marT="28575" marB="28575" anchor="ctr">
                    <a:solidFill>
                      <a:srgbClr val="FFFFFF"/>
                    </a:solidFill>
                  </a:tcPr>
                </a:tc>
                <a:tc>
                  <a:txBody>
                    <a:bodyPr/>
                    <a:lstStyle/>
                    <a:p>
                      <a:pPr algn="ctr"/>
                      <a:r>
                        <a:rPr lang="en-US" altLang="zh-CN" sz="1400" b="0" dirty="0">
                          <a:solidFill>
                            <a:srgbClr val="39424F"/>
                          </a:solidFill>
                          <a:latin typeface="微软雅黑"/>
                          <a:ea typeface="微软雅黑"/>
                          <a:cs typeface="微软雅黑"/>
                        </a:rPr>
                        <a:t>L</a:t>
                      </a:r>
                    </a:p>
                  </a:txBody>
                  <a:tcPr marL="76200" marR="76200" marT="28575" marB="28575" anchor="ctr">
                    <a:solidFill>
                      <a:srgbClr val="FFFFFF"/>
                    </a:solidFill>
                  </a:tcPr>
                </a:tc>
                <a:tc>
                  <a:txBody>
                    <a:bodyPr/>
                    <a:lstStyle/>
                    <a:p>
                      <a:pPr algn="ctr"/>
                      <a:r>
                        <a:rPr sz="1400" b="0" dirty="0">
                          <a:solidFill>
                            <a:srgbClr val="39424F"/>
                          </a:solidFill>
                          <a:latin typeface="微软雅黑"/>
                          <a:ea typeface="微软雅黑"/>
                          <a:cs typeface="微软雅黑"/>
                        </a:rPr>
                        <a:t>20k</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4</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2 天</a:t>
                      </a:r>
                    </a:p>
                  </a:txBody>
                  <a:tcPr marL="76200" marR="76200" marT="28575" marB="28575" anchor="ctr">
                    <a:solidFill>
                      <a:srgbClr val="FFFFFF"/>
                    </a:solidFill>
                  </a:tcPr>
                </a:tc>
                <a:tc>
                  <a:txBody>
                    <a:bodyPr/>
                    <a:lstStyle/>
                    <a:p>
                      <a:pPr algn="ctr"/>
                      <a:r>
                        <a:rPr sz="1400" b="1">
                          <a:solidFill>
                            <a:srgbClr val="C2410C"/>
                          </a:solidFill>
                          <a:latin typeface="微软雅黑"/>
                          <a:ea typeface="微软雅黑"/>
                          <a:cs typeface="微软雅黑"/>
                        </a:rPr>
                        <a:t>84.5</a:t>
                      </a:r>
                    </a:p>
                  </a:txBody>
                  <a:tcPr marL="76200" marR="76200" marT="28575" marB="28575" anchor="ctr">
                    <a:solidFill>
                      <a:srgbClr val="FDEDE4"/>
                    </a:solidFill>
                  </a:tcPr>
                </a:tc>
                <a:extLst>
                  <a:ext uri="{0D108BD9-81ED-4DB2-BD59-A6C34878D82A}">
                    <a16:rowId xmlns:a16="http://schemas.microsoft.com/office/drawing/2014/main" val="10002"/>
                  </a:ext>
                </a:extLst>
              </a:tr>
              <a:tr h="400050">
                <a:tc>
                  <a:txBody>
                    <a:bodyPr/>
                    <a:lstStyle/>
                    <a:p>
                      <a:pPr algn="ctr"/>
                      <a:r>
                        <a:rPr sz="1400" b="0">
                          <a:solidFill>
                            <a:srgbClr val="39424F"/>
                          </a:solidFill>
                          <a:latin typeface="微软雅黑"/>
                          <a:ea typeface="微软雅黑"/>
                          <a:cs typeface="微软雅黑"/>
                        </a:rPr>
                        <a:t>SigLIP</a:t>
                      </a:r>
                    </a:p>
                  </a:txBody>
                  <a:tcPr marL="76200" marR="76200" marT="28575" marB="28575" anchor="ctr">
                    <a:solidFill>
                      <a:srgbClr val="FFFFFF"/>
                    </a:solidFill>
                  </a:tcPr>
                </a:tc>
                <a:tc>
                  <a:txBody>
                    <a:bodyPr/>
                    <a:lstStyle/>
                    <a:p>
                      <a:pPr algn="ctr"/>
                      <a:r>
                        <a:rPr sz="1400" b="0" dirty="0">
                          <a:solidFill>
                            <a:srgbClr val="39424F"/>
                          </a:solidFill>
                          <a:latin typeface="微软雅黑"/>
                          <a:ea typeface="微软雅黑"/>
                          <a:cs typeface="微软雅黑"/>
                        </a:rPr>
                        <a:t>B/16（预训练塔微调）</a:t>
                      </a:r>
                    </a:p>
                  </a:txBody>
                  <a:tcPr marL="76200" marR="76200" marT="28575" marB="28575" anchor="ctr">
                    <a:solidFill>
                      <a:srgbClr val="FFFFFF"/>
                    </a:solidFill>
                  </a:tcPr>
                </a:tc>
                <a:tc>
                  <a:txBody>
                    <a:bodyPr/>
                    <a:lstStyle/>
                    <a:p>
                      <a:pPr algn="ctr"/>
                      <a:r>
                        <a:rPr lang="en-US" sz="1400" b="0" dirty="0">
                          <a:solidFill>
                            <a:srgbClr val="39424F"/>
                          </a:solidFill>
                          <a:latin typeface="微软雅黑"/>
                          <a:ea typeface="微软雅黑"/>
                          <a:cs typeface="微软雅黑"/>
                        </a:rPr>
                        <a:t>B</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16k</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16</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3 天</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71.0</a:t>
                      </a:r>
                    </a:p>
                  </a:txBody>
                  <a:tcPr marL="76200" marR="76200" marT="28575" marB="28575" anchor="ctr">
                    <a:solidFill>
                      <a:srgbClr val="FFFFFF"/>
                    </a:solidFill>
                  </a:tcPr>
                </a:tc>
                <a:extLst>
                  <a:ext uri="{0D108BD9-81ED-4DB2-BD59-A6C34878D82A}">
                    <a16:rowId xmlns:a16="http://schemas.microsoft.com/office/drawing/2014/main" val="10003"/>
                  </a:ext>
                </a:extLst>
              </a:tr>
              <a:tr h="400050">
                <a:tc>
                  <a:txBody>
                    <a:bodyPr/>
                    <a:lstStyle/>
                    <a:p>
                      <a:pPr algn="ctr"/>
                      <a:r>
                        <a:rPr sz="1400" b="0">
                          <a:solidFill>
                            <a:srgbClr val="39424F"/>
                          </a:solidFill>
                          <a:latin typeface="微软雅黑"/>
                          <a:ea typeface="微软雅黑"/>
                          <a:cs typeface="微软雅黑"/>
                        </a:rPr>
                        <a:t>SigLIP</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B/16（从零）</a:t>
                      </a:r>
                    </a:p>
                  </a:txBody>
                  <a:tcPr marL="76200" marR="76200" marT="28575" marB="28575" anchor="ctr">
                    <a:solidFill>
                      <a:srgbClr val="FFFFFF"/>
                    </a:solidFill>
                  </a:tcPr>
                </a:tc>
                <a:tc>
                  <a:txBody>
                    <a:bodyPr/>
                    <a:lstStyle/>
                    <a:p>
                      <a:pPr algn="ctr"/>
                      <a:r>
                        <a:rPr lang="en-US" sz="1400" b="0" dirty="0">
                          <a:solidFill>
                            <a:srgbClr val="39424F"/>
                          </a:solidFill>
                          <a:latin typeface="微软雅黑"/>
                          <a:ea typeface="微软雅黑"/>
                          <a:cs typeface="微软雅黑"/>
                        </a:rPr>
                        <a:t>B</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32k</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32</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2 天</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72.1</a:t>
                      </a:r>
                    </a:p>
                  </a:txBody>
                  <a:tcPr marL="76200" marR="76200" marT="28575" marB="28575" anchor="ctr">
                    <a:solidFill>
                      <a:srgbClr val="FFFFFF"/>
                    </a:solidFill>
                  </a:tcPr>
                </a:tc>
                <a:extLst>
                  <a:ext uri="{0D108BD9-81ED-4DB2-BD59-A6C34878D82A}">
                    <a16:rowId xmlns:a16="http://schemas.microsoft.com/office/drawing/2014/main" val="10004"/>
                  </a:ext>
                </a:extLst>
              </a:tr>
              <a:tr h="400050">
                <a:tc>
                  <a:txBody>
                    <a:bodyPr/>
                    <a:lstStyle/>
                    <a:p>
                      <a:pPr algn="ctr"/>
                      <a:r>
                        <a:rPr sz="1400" b="0">
                          <a:solidFill>
                            <a:srgbClr val="39424F"/>
                          </a:solidFill>
                          <a:latin typeface="微软雅黑"/>
                          <a:ea typeface="微软雅黑"/>
                          <a:cs typeface="微软雅黑"/>
                        </a:rPr>
                        <a:t>SigLIP</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B/16（从零）</a:t>
                      </a:r>
                    </a:p>
                  </a:txBody>
                  <a:tcPr marL="76200" marR="76200" marT="28575" marB="28575" anchor="ctr">
                    <a:solidFill>
                      <a:srgbClr val="FFFFFF"/>
                    </a:solidFill>
                  </a:tcPr>
                </a:tc>
                <a:tc>
                  <a:txBody>
                    <a:bodyPr/>
                    <a:lstStyle/>
                    <a:p>
                      <a:pPr algn="ctr"/>
                      <a:r>
                        <a:rPr lang="en-US" sz="1400" b="0" dirty="0">
                          <a:solidFill>
                            <a:srgbClr val="39424F"/>
                          </a:solidFill>
                          <a:latin typeface="微软雅黑"/>
                          <a:ea typeface="微软雅黑"/>
                          <a:cs typeface="微软雅黑"/>
                        </a:rPr>
                        <a:t>B</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32k</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32</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5 天</a:t>
                      </a:r>
                    </a:p>
                  </a:txBody>
                  <a:tcPr marL="76200" marR="76200" marT="28575" marB="28575" anchor="ctr">
                    <a:solidFill>
                      <a:srgbClr val="FFFFFF"/>
                    </a:solidFill>
                  </a:tcPr>
                </a:tc>
                <a:tc>
                  <a:txBody>
                    <a:bodyPr/>
                    <a:lstStyle/>
                    <a:p>
                      <a:pPr algn="ctr"/>
                      <a:r>
                        <a:rPr sz="1400" b="0" dirty="0">
                          <a:solidFill>
                            <a:srgbClr val="39424F"/>
                          </a:solidFill>
                          <a:latin typeface="微软雅黑"/>
                          <a:ea typeface="微软雅黑"/>
                          <a:cs typeface="微软雅黑"/>
                        </a:rPr>
                        <a:t>73.4</a:t>
                      </a:r>
                    </a:p>
                  </a:txBody>
                  <a:tcPr marL="76200" marR="76200"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6" name="矩形 5"/>
          <p:cNvSpPr>
            <a:spLocks noGrp="1"/>
          </p:cNvSpPr>
          <p:nvPr/>
        </p:nvSpPr>
        <p:spPr>
          <a:xfrm>
            <a:off x="7620000" y="1676400"/>
            <a:ext cx="3962400" cy="2000250"/>
          </a:xfrm>
          <a:prstGeom prst="rect">
            <a:avLst/>
          </a:prstGeom>
          <a:noFill/>
          <a:ln w="0">
            <a:noFill/>
          </a:ln>
        </p:spPr>
        <p:txBody>
          <a:bodyPr lIns="0" tIns="0" rIns="0" bIns="0" anchor="t">
            <a:noAutofit/>
          </a:bodyPr>
          <a:lstStyle/>
          <a:p>
            <a:pPr marL="219075" indent="-219075" algn="l">
              <a:spcAft>
                <a:spcPts val="1200"/>
              </a:spcAft>
              <a:buChar char="•"/>
              <a:defRPr sz="1125" b="0">
                <a:solidFill>
                  <a:srgbClr val="39424F"/>
                </a:solidFill>
                <a:latin typeface="微软雅黑"/>
                <a:ea typeface="微软雅黑"/>
                <a:cs typeface="微软雅黑"/>
              </a:defRPr>
            </a:pPr>
            <a:r>
              <a:rPr lang="en-US" sz="1600" b="1" dirty="0">
                <a:solidFill>
                  <a:srgbClr val="12161C"/>
                </a:solidFill>
              </a:rPr>
              <a:t>Adam&amp; </a:t>
            </a:r>
            <a:r>
              <a:rPr lang="en-US" sz="1600" b="1" dirty="0" err="1">
                <a:solidFill>
                  <a:srgbClr val="12161C"/>
                </a:solidFill>
              </a:rPr>
              <a:t>AdaFactor</a:t>
            </a:r>
            <a:r>
              <a:rPr sz="1600" b="1" dirty="0">
                <a:solidFill>
                  <a:srgbClr val="12161C"/>
                </a:solidFill>
              </a:rPr>
              <a:t>β₂：0.999 → 0.95</a:t>
            </a:r>
            <a:br>
              <a:rPr lang="en-US" sz="1600" b="1" dirty="0">
                <a:solidFill>
                  <a:srgbClr val="12161C"/>
                </a:solidFill>
              </a:rPr>
            </a:br>
            <a:r>
              <a:rPr sz="1600" dirty="0"/>
              <a:t>大 batch 下梯度范数尖峰会打崩训练。</a:t>
            </a:r>
          </a:p>
          <a:p>
            <a:pPr marL="219075" indent="-219075" algn="l">
              <a:spcAft>
                <a:spcPts val="1200"/>
              </a:spcAft>
              <a:buChar char="•"/>
              <a:defRPr sz="1125" b="0">
                <a:solidFill>
                  <a:srgbClr val="39424F"/>
                </a:solidFill>
                <a:latin typeface="微软雅黑"/>
                <a:ea typeface="微软雅黑"/>
                <a:cs typeface="微软雅黑"/>
              </a:defRPr>
            </a:pPr>
            <a:r>
              <a:rPr sz="1600" b="1" dirty="0" err="1">
                <a:solidFill>
                  <a:srgbClr val="12161C"/>
                </a:solidFill>
              </a:rPr>
              <a:t>微调预训练图像塔时关掉</a:t>
            </a:r>
            <a:r>
              <a:rPr sz="1600" b="1" dirty="0">
                <a:solidFill>
                  <a:srgbClr val="12161C"/>
                </a:solidFill>
              </a:rPr>
              <a:t> weight </a:t>
            </a:r>
            <a:r>
              <a:rPr sz="1600" b="1" dirty="0" err="1">
                <a:solidFill>
                  <a:srgbClr val="12161C"/>
                </a:solidFill>
              </a:rPr>
              <a:t>decay</a:t>
            </a:r>
            <a:r>
              <a:rPr sz="1600" dirty="0" err="1"/>
              <a:t>否则</a:t>
            </a:r>
            <a:r>
              <a:rPr sz="1600" dirty="0"/>
              <a:t> 10-shot </a:t>
            </a:r>
            <a:r>
              <a:rPr sz="1600" dirty="0" err="1"/>
              <a:t>线性分类几乎不比从零好</a:t>
            </a:r>
            <a:r>
              <a:rPr sz="1600" dirty="0"/>
              <a:t>。</a:t>
            </a:r>
          </a:p>
          <a:p>
            <a:pPr marL="219075" indent="-219075" algn="l">
              <a:spcAft>
                <a:spcPts val="1200"/>
              </a:spcAft>
              <a:buChar char="•"/>
              <a:defRPr sz="1125" b="0">
                <a:solidFill>
                  <a:srgbClr val="39424F"/>
                </a:solidFill>
                <a:latin typeface="微软雅黑"/>
                <a:ea typeface="微软雅黑"/>
                <a:cs typeface="微软雅黑"/>
              </a:defRPr>
            </a:pPr>
            <a:r>
              <a:rPr sz="1600" b="1" dirty="0" err="1">
                <a:solidFill>
                  <a:srgbClr val="12161C"/>
                </a:solidFill>
              </a:rPr>
              <a:t>多语言用瓶颈嵌入（K</a:t>
            </a:r>
            <a:r>
              <a:rPr sz="1600" b="1" dirty="0">
                <a:solidFill>
                  <a:srgbClr val="12161C"/>
                </a:solidFill>
              </a:rPr>
              <a:t> = 96, W = 768）</a:t>
            </a:r>
            <a:r>
              <a:rPr sz="1600" dirty="0"/>
              <a:t>相比完整 250k </a:t>
            </a:r>
            <a:r>
              <a:rPr sz="1600" dirty="0" err="1"/>
              <a:t>词表只掉约</a:t>
            </a:r>
            <a:r>
              <a:rPr sz="1600" dirty="0"/>
              <a:t> 0.5 分。</a:t>
            </a:r>
          </a:p>
        </p:txBody>
      </p:sp>
      <p:sp>
        <p:nvSpPr>
          <p:cNvPr id="7" name="矩形: 圆角 6"/>
          <p:cNvSpPr>
            <a:spLocks noGrp="1"/>
          </p:cNvSpPr>
          <p:nvPr/>
        </p:nvSpPr>
        <p:spPr>
          <a:xfrm>
            <a:off x="609599" y="3886200"/>
            <a:ext cx="3362325" cy="2247900"/>
          </a:xfrm>
          <a:prstGeom prst="roundRect">
            <a:avLst>
              <a:gd name="adj" fmla="val 4237"/>
            </a:avLst>
          </a:prstGeom>
          <a:solidFill>
            <a:srgbClr val="F4F6F9"/>
          </a:solidFill>
          <a:ln w="0">
            <a:noFill/>
          </a:ln>
        </p:spPr>
      </p:sp>
      <p:sp>
        <p:nvSpPr>
          <p:cNvPr id="8" name="矩形 7"/>
          <p:cNvSpPr>
            <a:spLocks noGrp="1"/>
          </p:cNvSpPr>
          <p:nvPr/>
        </p:nvSpPr>
        <p:spPr>
          <a:xfrm>
            <a:off x="838200" y="4057650"/>
            <a:ext cx="3009900" cy="1924050"/>
          </a:xfrm>
          <a:prstGeom prst="rect">
            <a:avLst/>
          </a:prstGeom>
          <a:noFill/>
          <a:ln w="0">
            <a:noFill/>
          </a:ln>
        </p:spPr>
        <p:txBody>
          <a:bodyPr lIns="0" tIns="0" rIns="0" bIns="0" anchor="t">
            <a:noAutofit/>
          </a:bodyPr>
          <a:lstStyle/>
          <a:p>
            <a:pPr algn="l">
              <a:defRPr sz="1165" b="0">
                <a:solidFill>
                  <a:srgbClr val="39424F"/>
                </a:solidFill>
                <a:latin typeface="微软雅黑"/>
                <a:ea typeface="微软雅黑"/>
                <a:cs typeface="微软雅黑"/>
              </a:defRPr>
            </a:pPr>
            <a:r>
              <a:rPr sz="1600" dirty="0">
                <a:solidFill>
                  <a:srgbClr val="39424F"/>
                </a:solidFill>
              </a:rPr>
              <a:t>· </a:t>
            </a:r>
            <a:r>
              <a:rPr sz="1600" dirty="0" err="1">
                <a:solidFill>
                  <a:srgbClr val="39424F"/>
                </a:solidFill>
              </a:rPr>
              <a:t>前两行是</a:t>
            </a:r>
            <a:r>
              <a:rPr sz="1600" dirty="0">
                <a:solidFill>
                  <a:srgbClr val="39424F"/>
                </a:solidFill>
              </a:rPr>
              <a:t> </a:t>
            </a:r>
            <a:r>
              <a:rPr sz="1600" dirty="0" err="1">
                <a:solidFill>
                  <a:srgbClr val="39424F"/>
                </a:solidFill>
              </a:rPr>
              <a:t>SigLiT</a:t>
            </a:r>
            <a:r>
              <a:rPr sz="1600" dirty="0">
                <a:solidFill>
                  <a:srgbClr val="39424F"/>
                </a:solidFill>
              </a:rPr>
              <a:t> 设定：图像塔是冻结的，而且图片嵌入是预先算好存下来的，这部分成本不在「1 天 / 2 </a:t>
            </a:r>
            <a:r>
              <a:rPr sz="1600" dirty="0" err="1">
                <a:solidFill>
                  <a:srgbClr val="39424F"/>
                </a:solidFill>
              </a:rPr>
              <a:t>天」里</a:t>
            </a:r>
            <a:r>
              <a:rPr sz="1600" dirty="0">
                <a:solidFill>
                  <a:srgbClr val="39424F"/>
                </a:solidFill>
              </a:rPr>
              <a:t>。</a:t>
            </a:r>
            <a:br>
              <a:rPr sz="1600" dirty="0">
                <a:solidFill>
                  <a:srgbClr val="39424F"/>
                </a:solidFill>
              </a:rPr>
            </a:br>
            <a:r>
              <a:rPr sz="1600" dirty="0">
                <a:solidFill>
                  <a:srgbClr val="39424F"/>
                </a:solidFill>
              </a:rPr>
              <a:t>· </a:t>
            </a:r>
            <a:r>
              <a:rPr sz="1600" dirty="0" err="1">
                <a:solidFill>
                  <a:srgbClr val="39424F"/>
                </a:solidFill>
              </a:rPr>
              <a:t>作为参照，论文引用</a:t>
            </a:r>
            <a:r>
              <a:rPr sz="1600" dirty="0">
                <a:solidFill>
                  <a:srgbClr val="39424F"/>
                </a:solidFill>
              </a:rPr>
              <a:t> FLIP </a:t>
            </a:r>
            <a:r>
              <a:rPr sz="1600" dirty="0" err="1">
                <a:solidFill>
                  <a:srgbClr val="39424F"/>
                </a:solidFill>
              </a:rPr>
              <a:t>的数据：CLIP</a:t>
            </a:r>
            <a:r>
              <a:rPr sz="1600" dirty="0">
                <a:solidFill>
                  <a:srgbClr val="39424F"/>
                </a:solidFill>
              </a:rPr>
              <a:t> </a:t>
            </a:r>
            <a:r>
              <a:rPr sz="1600" dirty="0" err="1">
                <a:solidFill>
                  <a:srgbClr val="39424F"/>
                </a:solidFill>
              </a:rPr>
              <a:t>达到</a:t>
            </a:r>
            <a:r>
              <a:rPr sz="1600" dirty="0">
                <a:solidFill>
                  <a:srgbClr val="39424F"/>
                </a:solidFill>
              </a:rPr>
              <a:t> 72.6% </a:t>
            </a:r>
            <a:r>
              <a:rPr sz="1600" dirty="0" err="1">
                <a:solidFill>
                  <a:srgbClr val="39424F"/>
                </a:solidFill>
              </a:rPr>
              <a:t>大约需要</a:t>
            </a:r>
            <a:r>
              <a:rPr sz="1600" dirty="0">
                <a:solidFill>
                  <a:srgbClr val="39424F"/>
                </a:solidFill>
              </a:rPr>
              <a:t> 2500 TPUv3-days。</a:t>
            </a:r>
            <a:endParaRPr sz="1600" dirty="0">
              <a:solidFill>
                <a:srgbClr val="69747F"/>
              </a:solidFill>
            </a:endParaRPr>
          </a:p>
        </p:txBody>
      </p:sp>
      <p:pic>
        <p:nvPicPr>
          <p:cNvPr id="4" name="图片 3"/>
          <p:cNvPicPr>
            <a:picLocks noChangeAspect="1"/>
          </p:cNvPicPr>
          <p:nvPr/>
        </p:nvPicPr>
        <p:blipFill>
          <a:blip r:embed="rId3"/>
          <a:stretch>
            <a:fillRect/>
          </a:stretch>
        </p:blipFill>
        <p:spPr>
          <a:xfrm>
            <a:off x="8174611" y="3886200"/>
            <a:ext cx="2932176" cy="2703018"/>
          </a:xfrm>
          <a:prstGeom prst="rect">
            <a:avLst/>
          </a:prstGeom>
        </p:spPr>
      </p:pic>
      <p:pic>
        <p:nvPicPr>
          <p:cNvPr id="10" name="图片 9"/>
          <p:cNvPicPr>
            <a:picLocks noChangeAspect="1"/>
          </p:cNvPicPr>
          <p:nvPr/>
        </p:nvPicPr>
        <p:blipFill>
          <a:blip r:embed="rId4"/>
          <a:stretch>
            <a:fillRect/>
          </a:stretch>
        </p:blipFill>
        <p:spPr>
          <a:xfrm>
            <a:off x="4610098" y="3791991"/>
            <a:ext cx="2964010" cy="276120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实验四：负例不均衡不可怕，标签噪声也不可怕</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12</a:t>
            </a:r>
          </a:p>
        </p:txBody>
      </p:sp>
      <p:sp>
        <p:nvSpPr>
          <p:cNvPr id="4" name="矩形: 圆角 3"/>
          <p:cNvSpPr>
            <a:spLocks noGrp="1"/>
          </p:cNvSpPr>
          <p:nvPr/>
        </p:nvSpPr>
        <p:spPr>
          <a:xfrm>
            <a:off x="609600" y="1257300"/>
            <a:ext cx="5257800" cy="4038600"/>
          </a:xfrm>
          <a:prstGeom prst="roundRect">
            <a:avLst>
              <a:gd name="adj" fmla="val 2358"/>
            </a:avLst>
          </a:prstGeom>
          <a:solidFill>
            <a:srgbClr val="F4F6F9"/>
          </a:solidFill>
          <a:ln w="0">
            <a:noFill/>
          </a:ln>
        </p:spPr>
      </p:sp>
      <p:sp>
        <p:nvSpPr>
          <p:cNvPr id="5" name="矩形 4"/>
          <p:cNvSpPr>
            <a:spLocks noGrp="1"/>
          </p:cNvSpPr>
          <p:nvPr/>
        </p:nvSpPr>
        <p:spPr>
          <a:xfrm>
            <a:off x="838200" y="1447800"/>
            <a:ext cx="4800600" cy="533400"/>
          </a:xfrm>
          <a:prstGeom prst="rect">
            <a:avLst/>
          </a:prstGeom>
          <a:noFill/>
          <a:ln w="0">
            <a:noFill/>
          </a:ln>
        </p:spPr>
        <p:txBody>
          <a:bodyPr lIns="0" tIns="0" rIns="0" bIns="0" anchor="t">
            <a:noAutofit/>
          </a:bodyPr>
          <a:lstStyle/>
          <a:p>
            <a:pPr algn="l">
              <a:defRPr sz="1275" b="1">
                <a:solidFill>
                  <a:srgbClr val="12161C"/>
                </a:solidFill>
                <a:latin typeface="微软雅黑"/>
                <a:ea typeface="微软雅黑"/>
                <a:cs typeface="微软雅黑"/>
              </a:defRPr>
            </a:pPr>
            <a:r>
              <a:rPr sz="1400" dirty="0" err="1"/>
              <a:t>负例比例</a:t>
            </a:r>
            <a:endParaRPr sz="1400" dirty="0"/>
          </a:p>
          <a:p>
            <a:pPr algn="l">
              <a:defRPr sz="1275" b="1">
                <a:solidFill>
                  <a:srgbClr val="12161C"/>
                </a:solidFill>
                <a:latin typeface="微软雅黑"/>
                <a:ea typeface="微软雅黑"/>
                <a:cs typeface="微软雅黑"/>
              </a:defRPr>
            </a:pPr>
            <a:r>
              <a:rPr sz="1400" dirty="0"/>
              <a:t>SigLiT，16k batch，900M 步</a:t>
            </a:r>
          </a:p>
        </p:txBody>
      </p:sp>
      <p:sp>
        <p:nvSpPr>
          <p:cNvPr id="6" name="矩形 5"/>
          <p:cNvSpPr>
            <a:spLocks noGrp="1"/>
          </p:cNvSpPr>
          <p:nvPr/>
        </p:nvSpPr>
        <p:spPr>
          <a:xfrm>
            <a:off x="838200" y="1981200"/>
            <a:ext cx="4800600" cy="2952750"/>
          </a:xfrm>
          <a:prstGeom prst="rect">
            <a:avLst/>
          </a:prstGeom>
          <a:noFill/>
          <a:ln w="0">
            <a:noFill/>
          </a:ln>
        </p:spPr>
        <p:txBody>
          <a:bodyPr lIns="0" tIns="0" rIns="0" bIns="0" anchor="t">
            <a:noAutofit/>
          </a:bodyPr>
          <a:lstStyle/>
          <a:p>
            <a:pPr marL="233680" indent="-233680" algn="l">
              <a:spcAft>
                <a:spcPts val="600"/>
              </a:spcAft>
              <a:buChar char="•"/>
              <a:defRPr sz="1200" b="0">
                <a:solidFill>
                  <a:srgbClr val="39424F"/>
                </a:solidFill>
                <a:latin typeface="微软雅黑"/>
                <a:ea typeface="微软雅黑"/>
                <a:cs typeface="微软雅黑"/>
              </a:defRPr>
            </a:pPr>
            <a:r>
              <a:rPr sz="1400" dirty="0" err="1"/>
              <a:t>随机遮蔽负例，把正负比调到</a:t>
            </a:r>
            <a:r>
              <a:rPr sz="1400" dirty="0"/>
              <a:t> 1:1.6 —— </a:t>
            </a:r>
            <a:r>
              <a:rPr sz="1400" dirty="0" err="1"/>
              <a:t>掉点</a:t>
            </a:r>
            <a:endParaRPr sz="1400" dirty="0"/>
          </a:p>
          <a:p>
            <a:pPr marL="233680" indent="-233680" algn="l">
              <a:spcAft>
                <a:spcPts val="600"/>
              </a:spcAft>
              <a:buChar char="•"/>
              <a:defRPr sz="1200" b="0">
                <a:solidFill>
                  <a:srgbClr val="39424F"/>
                </a:solidFill>
                <a:latin typeface="微软雅黑"/>
                <a:ea typeface="微软雅黑"/>
                <a:cs typeface="微软雅黑"/>
              </a:defRPr>
            </a:pPr>
            <a:r>
              <a:rPr sz="1400" dirty="0" err="1"/>
              <a:t>只保留最简单的负例</a:t>
            </a:r>
            <a:r>
              <a:rPr sz="1400" dirty="0"/>
              <a:t> —— </a:t>
            </a:r>
            <a:r>
              <a:rPr sz="1400" dirty="0" err="1"/>
              <a:t>完全训不动</a:t>
            </a:r>
            <a:endParaRPr sz="1400" dirty="0"/>
          </a:p>
          <a:p>
            <a:pPr marL="233680" indent="-233680" algn="l">
              <a:spcAft>
                <a:spcPts val="600"/>
              </a:spcAft>
              <a:buChar char="•"/>
              <a:defRPr sz="1200" b="0">
                <a:solidFill>
                  <a:srgbClr val="39424F"/>
                </a:solidFill>
                <a:latin typeface="微软雅黑"/>
                <a:ea typeface="微软雅黑"/>
                <a:cs typeface="微软雅黑"/>
              </a:defRPr>
            </a:pPr>
            <a:r>
              <a:rPr sz="1400" b="1" dirty="0" err="1">
                <a:solidFill>
                  <a:srgbClr val="12161C"/>
                </a:solidFill>
              </a:rPr>
              <a:t>只保留最难的负例</a:t>
            </a:r>
            <a:r>
              <a:rPr sz="1400" b="1" dirty="0">
                <a:solidFill>
                  <a:srgbClr val="12161C"/>
                </a:solidFill>
              </a:rPr>
              <a:t> —— </a:t>
            </a:r>
            <a:r>
              <a:rPr sz="1400" b="1" dirty="0" err="1">
                <a:solidFill>
                  <a:srgbClr val="12161C"/>
                </a:solidFill>
              </a:rPr>
              <a:t>几乎不掉点</a:t>
            </a:r>
            <a:r>
              <a:rPr sz="1400" dirty="0" err="1"/>
              <a:t>；在匹配总配对数的设定下还略有提升</a:t>
            </a:r>
            <a:endParaRPr lang="en-US" sz="1400" dirty="0"/>
          </a:p>
          <a:p>
            <a:pPr marL="233680" indent="-233680" algn="l">
              <a:spcAft>
                <a:spcPts val="1400"/>
              </a:spcAft>
              <a:buChar char="•"/>
              <a:defRPr sz="1200" b="0">
                <a:solidFill>
                  <a:srgbClr val="39424F"/>
                </a:solidFill>
                <a:latin typeface="微软雅黑"/>
                <a:ea typeface="微软雅黑"/>
                <a:cs typeface="微软雅黑"/>
              </a:defRPr>
            </a:pPr>
            <a:endParaRPr lang="en-US" dirty="0"/>
          </a:p>
          <a:p>
            <a:pPr marL="233680" indent="-233680" algn="l">
              <a:spcAft>
                <a:spcPts val="1400"/>
              </a:spcAft>
              <a:buChar char="•"/>
              <a:defRPr sz="1200" b="0">
                <a:solidFill>
                  <a:srgbClr val="39424F"/>
                </a:solidFill>
                <a:latin typeface="微软雅黑"/>
                <a:ea typeface="微软雅黑"/>
                <a:cs typeface="微软雅黑"/>
              </a:defRPr>
            </a:pPr>
            <a:endParaRPr lang="en-US" dirty="0"/>
          </a:p>
          <a:p>
            <a:pPr marL="233680" indent="-233680" algn="l">
              <a:spcAft>
                <a:spcPts val="1400"/>
              </a:spcAft>
              <a:buChar char="•"/>
              <a:defRPr sz="1200" b="0">
                <a:solidFill>
                  <a:srgbClr val="39424F"/>
                </a:solidFill>
                <a:latin typeface="微软雅黑"/>
                <a:ea typeface="微软雅黑"/>
                <a:cs typeface="微软雅黑"/>
              </a:defRPr>
            </a:pPr>
            <a:endParaRPr lang="en-US" dirty="0"/>
          </a:p>
          <a:p>
            <a:pPr marL="233680" indent="-233680" algn="l">
              <a:spcAft>
                <a:spcPts val="1400"/>
              </a:spcAft>
              <a:buChar char="•"/>
              <a:defRPr sz="1200" b="0">
                <a:solidFill>
                  <a:srgbClr val="39424F"/>
                </a:solidFill>
                <a:latin typeface="微软雅黑"/>
                <a:ea typeface="微软雅黑"/>
                <a:cs typeface="微软雅黑"/>
              </a:defRPr>
            </a:pPr>
            <a:endParaRPr dirty="0"/>
          </a:p>
        </p:txBody>
      </p:sp>
      <p:sp>
        <p:nvSpPr>
          <p:cNvPr id="7" name="矩形 6"/>
          <p:cNvSpPr>
            <a:spLocks noGrp="1"/>
          </p:cNvSpPr>
          <p:nvPr/>
        </p:nvSpPr>
        <p:spPr>
          <a:xfrm>
            <a:off x="838200" y="4959355"/>
            <a:ext cx="5029200" cy="288920"/>
          </a:xfrm>
          <a:prstGeom prst="rect">
            <a:avLst/>
          </a:prstGeom>
          <a:noFill/>
          <a:ln w="0">
            <a:noFill/>
          </a:ln>
        </p:spPr>
        <p:txBody>
          <a:bodyPr lIns="0" tIns="0" rIns="0" bIns="0" anchor="t">
            <a:noAutofit/>
          </a:bodyPr>
          <a:lstStyle/>
          <a:p>
            <a:pPr algn="l">
              <a:defRPr sz="1200" b="1">
                <a:solidFill>
                  <a:srgbClr val="12161C"/>
                </a:solidFill>
                <a:latin typeface="微软雅黑"/>
                <a:ea typeface="微软雅黑"/>
                <a:cs typeface="微软雅黑"/>
              </a:defRPr>
            </a:pPr>
            <a:r>
              <a:rPr sz="1400" dirty="0" err="1"/>
              <a:t>结论：不平衡本身不是主要问题，难负例才是主要的学习信号</a:t>
            </a:r>
            <a:r>
              <a:rPr sz="1400" dirty="0"/>
              <a:t>。</a:t>
            </a:r>
          </a:p>
        </p:txBody>
      </p:sp>
      <p:sp>
        <p:nvSpPr>
          <p:cNvPr id="8" name="矩形: 圆角 7"/>
          <p:cNvSpPr>
            <a:spLocks noGrp="1"/>
          </p:cNvSpPr>
          <p:nvPr/>
        </p:nvSpPr>
        <p:spPr>
          <a:xfrm>
            <a:off x="6324600" y="1257300"/>
            <a:ext cx="5257800" cy="4038600"/>
          </a:xfrm>
          <a:prstGeom prst="roundRect">
            <a:avLst>
              <a:gd name="adj" fmla="val 2358"/>
            </a:avLst>
          </a:prstGeom>
          <a:solidFill>
            <a:srgbClr val="F4F6F9"/>
          </a:solidFill>
          <a:ln w="0">
            <a:noFill/>
          </a:ln>
        </p:spPr>
      </p:sp>
      <p:sp>
        <p:nvSpPr>
          <p:cNvPr id="9" name="矩形 8"/>
          <p:cNvSpPr>
            <a:spLocks noGrp="1"/>
          </p:cNvSpPr>
          <p:nvPr/>
        </p:nvSpPr>
        <p:spPr>
          <a:xfrm>
            <a:off x="6553200" y="1447800"/>
            <a:ext cx="4800600" cy="533400"/>
          </a:xfrm>
          <a:prstGeom prst="rect">
            <a:avLst/>
          </a:prstGeom>
          <a:noFill/>
          <a:ln w="0">
            <a:noFill/>
          </a:ln>
        </p:spPr>
        <p:txBody>
          <a:bodyPr lIns="0" tIns="0" rIns="0" bIns="0" anchor="t">
            <a:noAutofit/>
          </a:bodyPr>
          <a:lstStyle/>
          <a:p>
            <a:pPr algn="l">
              <a:defRPr sz="1275" b="1">
                <a:solidFill>
                  <a:srgbClr val="12161C"/>
                </a:solidFill>
                <a:latin typeface="微软雅黑"/>
                <a:ea typeface="微软雅黑"/>
                <a:cs typeface="微软雅黑"/>
              </a:defRPr>
            </a:pPr>
            <a:r>
              <a:rPr sz="1400" dirty="0" err="1"/>
              <a:t>标签噪声</a:t>
            </a:r>
            <a:endParaRPr sz="1400" dirty="0"/>
          </a:p>
          <a:p>
            <a:pPr algn="l">
              <a:defRPr sz="1275" b="1">
                <a:solidFill>
                  <a:srgbClr val="12161C"/>
                </a:solidFill>
                <a:latin typeface="微软雅黑"/>
                <a:ea typeface="微软雅黑"/>
                <a:cs typeface="微软雅黑"/>
              </a:defRPr>
            </a:pPr>
            <a:r>
              <a:rPr sz="1400" dirty="0"/>
              <a:t>M/16 + M 文本塔，16k batch，3.6B </a:t>
            </a:r>
            <a:r>
              <a:rPr sz="1400" dirty="0" err="1"/>
              <a:t>样本</a:t>
            </a:r>
            <a:endParaRPr sz="1400" dirty="0"/>
          </a:p>
        </p:txBody>
      </p:sp>
      <p:sp>
        <p:nvSpPr>
          <p:cNvPr id="10" name="矩形 9"/>
          <p:cNvSpPr>
            <a:spLocks noGrp="1"/>
          </p:cNvSpPr>
          <p:nvPr/>
        </p:nvSpPr>
        <p:spPr>
          <a:xfrm>
            <a:off x="6553200" y="2133600"/>
            <a:ext cx="4800600" cy="2952750"/>
          </a:xfrm>
          <a:prstGeom prst="rect">
            <a:avLst/>
          </a:prstGeom>
          <a:noFill/>
          <a:ln w="0">
            <a:noFill/>
          </a:ln>
        </p:spPr>
        <p:txBody>
          <a:bodyPr lIns="0" tIns="0" rIns="0" bIns="0" anchor="t">
            <a:noAutofit/>
          </a:bodyPr>
          <a:lstStyle/>
          <a:p>
            <a:pPr marL="233680" indent="-233680" algn="l">
              <a:spcAft>
                <a:spcPts val="1400"/>
              </a:spcAft>
              <a:buChar char="•"/>
              <a:defRPr sz="1200" b="0">
                <a:solidFill>
                  <a:srgbClr val="39424F"/>
                </a:solidFill>
                <a:latin typeface="微软雅黑"/>
                <a:ea typeface="微软雅黑"/>
                <a:cs typeface="微软雅黑"/>
              </a:defRPr>
            </a:pPr>
            <a:r>
              <a:rPr sz="1400" dirty="0" err="1"/>
              <a:t>污染方式：以概率</a:t>
            </a:r>
            <a:r>
              <a:rPr sz="1400" dirty="0"/>
              <a:t> p </a:t>
            </a:r>
            <a:r>
              <a:rPr sz="1400" dirty="0" err="1"/>
              <a:t>把图片换成随机噪声、把文本换成随机</a:t>
            </a:r>
            <a:r>
              <a:rPr sz="1400" dirty="0"/>
              <a:t> </a:t>
            </a:r>
            <a:r>
              <a:rPr sz="1400" dirty="0" err="1"/>
              <a:t>token、打乱</a:t>
            </a:r>
            <a:r>
              <a:rPr sz="1400" dirty="0"/>
              <a:t> batch </a:t>
            </a:r>
            <a:r>
              <a:rPr sz="1400" dirty="0" err="1"/>
              <a:t>内的图文对齐</a:t>
            </a:r>
            <a:endParaRPr sz="1400" dirty="0"/>
          </a:p>
          <a:p>
            <a:pPr marL="233680" indent="-233680" algn="l">
              <a:spcAft>
                <a:spcPts val="1400"/>
              </a:spcAft>
              <a:buChar char="•"/>
              <a:defRPr sz="1200" b="0">
                <a:solidFill>
                  <a:srgbClr val="39424F"/>
                </a:solidFill>
                <a:latin typeface="微软雅黑"/>
                <a:ea typeface="微软雅黑"/>
                <a:cs typeface="微软雅黑"/>
              </a:defRPr>
            </a:pPr>
            <a:r>
              <a:rPr sz="1400" b="1" dirty="0" err="1">
                <a:solidFill>
                  <a:srgbClr val="12161C"/>
                </a:solidFill>
              </a:rPr>
              <a:t>结果：随污染加重，sigmoid</a:t>
            </a:r>
            <a:r>
              <a:rPr sz="1400" b="1" dirty="0">
                <a:solidFill>
                  <a:srgbClr val="12161C"/>
                </a:solidFill>
              </a:rPr>
              <a:t> </a:t>
            </a:r>
            <a:r>
              <a:rPr sz="1400" b="1" dirty="0" err="1">
                <a:solidFill>
                  <a:srgbClr val="12161C"/>
                </a:solidFill>
              </a:rPr>
              <a:t>训练的模型始终优于对应的</a:t>
            </a:r>
            <a:r>
              <a:rPr sz="1400" b="1" dirty="0">
                <a:solidFill>
                  <a:srgbClr val="12161C"/>
                </a:solidFill>
              </a:rPr>
              <a:t> </a:t>
            </a:r>
            <a:r>
              <a:rPr sz="1400" b="1" dirty="0" err="1">
                <a:solidFill>
                  <a:srgbClr val="12161C"/>
                </a:solidFill>
              </a:rPr>
              <a:t>softmax</a:t>
            </a:r>
            <a:r>
              <a:rPr sz="1400" b="1" dirty="0">
                <a:solidFill>
                  <a:srgbClr val="12161C"/>
                </a:solidFill>
              </a:rPr>
              <a:t> </a:t>
            </a:r>
            <a:r>
              <a:rPr sz="1400" b="1" dirty="0" err="1">
                <a:solidFill>
                  <a:srgbClr val="12161C"/>
                </a:solidFill>
              </a:rPr>
              <a:t>基线</a:t>
            </a:r>
            <a:endParaRPr sz="1400" b="1" dirty="0">
              <a:solidFill>
                <a:srgbClr val="12161C"/>
              </a:solidFill>
            </a:endParaRPr>
          </a:p>
        </p:txBody>
      </p:sp>
      <p:sp>
        <p:nvSpPr>
          <p:cNvPr id="11" name="矩形 10"/>
          <p:cNvSpPr>
            <a:spLocks noGrp="1"/>
          </p:cNvSpPr>
          <p:nvPr/>
        </p:nvSpPr>
        <p:spPr>
          <a:xfrm>
            <a:off x="6553200" y="4949822"/>
            <a:ext cx="4800600" cy="273056"/>
          </a:xfrm>
          <a:prstGeom prst="rect">
            <a:avLst/>
          </a:prstGeom>
          <a:noFill/>
          <a:ln w="0">
            <a:noFill/>
          </a:ln>
        </p:spPr>
        <p:txBody>
          <a:bodyPr lIns="0" tIns="0" rIns="0" bIns="0" anchor="t">
            <a:noAutofit/>
          </a:bodyPr>
          <a:lstStyle/>
          <a:p>
            <a:pPr algn="l">
              <a:defRPr sz="1200" b="0">
                <a:solidFill>
                  <a:srgbClr val="39424F"/>
                </a:solidFill>
                <a:latin typeface="微软雅黑"/>
                <a:ea typeface="微软雅黑"/>
                <a:cs typeface="微软雅黑"/>
              </a:defRPr>
            </a:pPr>
            <a:r>
              <a:rPr sz="1400" dirty="0" err="1"/>
              <a:t>这两组实验都在回应第</a:t>
            </a:r>
            <a:r>
              <a:rPr sz="1400" dirty="0"/>
              <a:t> 3 </a:t>
            </a:r>
            <a:r>
              <a:rPr sz="1400" dirty="0" err="1"/>
              <a:t>页那句「负对假设是有噪声的</a:t>
            </a:r>
            <a:r>
              <a:rPr sz="1400" dirty="0"/>
              <a:t>」。</a:t>
            </a:r>
          </a:p>
        </p:txBody>
      </p:sp>
      <p:sp>
        <p:nvSpPr>
          <p:cNvPr id="12" name="矩形: 圆角 11"/>
          <p:cNvSpPr>
            <a:spLocks noGrp="1"/>
          </p:cNvSpPr>
          <p:nvPr/>
        </p:nvSpPr>
        <p:spPr>
          <a:xfrm>
            <a:off x="609600" y="5505450"/>
            <a:ext cx="10972800" cy="628650"/>
          </a:xfrm>
          <a:prstGeom prst="roundRect">
            <a:avLst>
              <a:gd name="adj" fmla="val 15152"/>
            </a:avLst>
          </a:prstGeom>
          <a:solidFill>
            <a:srgbClr val="FDF4EF"/>
          </a:solidFill>
          <a:ln w="0">
            <a:noFill/>
          </a:ln>
        </p:spPr>
      </p:sp>
      <p:sp>
        <p:nvSpPr>
          <p:cNvPr id="13" name="矩形 12"/>
          <p:cNvSpPr>
            <a:spLocks noGrp="1"/>
          </p:cNvSpPr>
          <p:nvPr/>
        </p:nvSpPr>
        <p:spPr>
          <a:xfrm>
            <a:off x="838200" y="5505450"/>
            <a:ext cx="10515600" cy="628650"/>
          </a:xfrm>
          <a:prstGeom prst="rect">
            <a:avLst/>
          </a:prstGeom>
          <a:noFill/>
          <a:ln w="0">
            <a:noFill/>
          </a:ln>
        </p:spPr>
        <p:txBody>
          <a:bodyPr lIns="0" tIns="0" rIns="0" bIns="0" anchor="ctr">
            <a:noAutofit/>
          </a:bodyPr>
          <a:lstStyle/>
          <a:p>
            <a:pPr algn="l">
              <a:defRPr sz="1200" b="0">
                <a:solidFill>
                  <a:srgbClr val="12161C"/>
                </a:solidFill>
                <a:latin typeface="微软雅黑"/>
                <a:ea typeface="微软雅黑"/>
                <a:cs typeface="微软雅黑"/>
              </a:defRPr>
            </a:pPr>
            <a:r>
              <a:rPr sz="1600" dirty="0" err="1"/>
              <a:t>怎样高效地把更多难负例放进</a:t>
            </a:r>
            <a:r>
              <a:rPr sz="1600" dirty="0"/>
              <a:t> </a:t>
            </a:r>
            <a:r>
              <a:rPr sz="1600" dirty="0" err="1"/>
              <a:t>batch「有希望，但并不简单</a:t>
            </a:r>
            <a:r>
              <a:rPr sz="1600" dirty="0"/>
              <a:t>」—— </a:t>
            </a:r>
            <a:r>
              <a:rPr sz="1600" dirty="0" err="1"/>
              <a:t>这个问题没有被真正解决</a:t>
            </a:r>
            <a:r>
              <a:rPr sz="1600" dirty="0"/>
              <a:t>。</a:t>
            </a:r>
          </a:p>
        </p:txBody>
      </p:sp>
      <p:pic>
        <p:nvPicPr>
          <p:cNvPr id="15" name="图片 14"/>
          <p:cNvPicPr>
            <a:picLocks noChangeAspect="1"/>
          </p:cNvPicPr>
          <p:nvPr/>
        </p:nvPicPr>
        <p:blipFill>
          <a:blip r:embed="rId3"/>
          <a:stretch>
            <a:fillRect/>
          </a:stretch>
        </p:blipFill>
        <p:spPr>
          <a:xfrm>
            <a:off x="838200" y="3132256"/>
            <a:ext cx="4800600" cy="1617550"/>
          </a:xfrm>
          <a:prstGeom prst="rect">
            <a:avLst/>
          </a:prstGeom>
        </p:spPr>
      </p:pic>
      <p:pic>
        <p:nvPicPr>
          <p:cNvPr id="16" name="图片 15"/>
          <p:cNvPicPr>
            <a:picLocks noChangeAspect="1"/>
          </p:cNvPicPr>
          <p:nvPr/>
        </p:nvPicPr>
        <p:blipFill>
          <a:blip r:embed="rId4"/>
          <a:stretch>
            <a:fillRect/>
          </a:stretch>
        </p:blipFill>
        <p:spPr>
          <a:xfrm>
            <a:off x="6437768" y="3358512"/>
            <a:ext cx="5030332" cy="1175388"/>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rPr lang="en-US" altLang="zh-CN" dirty="0"/>
              <a:t>Baseline</a:t>
            </a:r>
            <a:r>
              <a:rPr dirty="0"/>
              <a:t>：400M </a:t>
            </a:r>
            <a:r>
              <a:rPr dirty="0" err="1"/>
              <a:t>的模型超过</a:t>
            </a:r>
            <a:r>
              <a:rPr dirty="0"/>
              <a:t> 5B 的 EVA-CLIP</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13</a:t>
            </a:r>
          </a:p>
        </p:txBody>
      </p:sp>
      <p:graphicFrame>
        <p:nvGraphicFramePr>
          <p:cNvPr id="12" name="表格 11"/>
          <p:cNvGraphicFramePr/>
          <p:nvPr/>
        </p:nvGraphicFramePr>
        <p:xfrm>
          <a:off x="609600" y="1257300"/>
          <a:ext cx="6286500" cy="3600450"/>
        </p:xfrm>
        <a:graphic>
          <a:graphicData uri="http://schemas.openxmlformats.org/drawingml/2006/table">
            <a:tbl>
              <a:tblPr/>
              <a:tblGrid>
                <a:gridCol w="1611923">
                  <a:extLst>
                    <a:ext uri="{9D8B030D-6E8A-4147-A177-3AD203B41FA5}">
                      <a16:colId xmlns:a16="http://schemas.microsoft.com/office/drawing/2014/main" val="20000"/>
                    </a:ext>
                  </a:extLst>
                </a:gridCol>
                <a:gridCol w="1611923">
                  <a:extLst>
                    <a:ext uri="{9D8B030D-6E8A-4147-A177-3AD203B41FA5}">
                      <a16:colId xmlns:a16="http://schemas.microsoft.com/office/drawing/2014/main" val="20001"/>
                    </a:ext>
                  </a:extLst>
                </a:gridCol>
                <a:gridCol w="1208942">
                  <a:extLst>
                    <a:ext uri="{9D8B030D-6E8A-4147-A177-3AD203B41FA5}">
                      <a16:colId xmlns:a16="http://schemas.microsoft.com/office/drawing/2014/main" val="20002"/>
                    </a:ext>
                  </a:extLst>
                </a:gridCol>
                <a:gridCol w="1853712">
                  <a:extLst>
                    <a:ext uri="{9D8B030D-6E8A-4147-A177-3AD203B41FA5}">
                      <a16:colId xmlns:a16="http://schemas.microsoft.com/office/drawing/2014/main" val="20003"/>
                    </a:ext>
                  </a:extLst>
                </a:gridCol>
              </a:tblGrid>
              <a:tr h="400050">
                <a:tc>
                  <a:txBody>
                    <a:bodyPr/>
                    <a:lstStyle/>
                    <a:p>
                      <a:pPr algn="ctr"/>
                      <a:r>
                        <a:rPr sz="1400" b="1">
                          <a:solidFill>
                            <a:srgbClr val="12161C"/>
                          </a:solidFill>
                          <a:latin typeface="微软雅黑"/>
                          <a:ea typeface="微软雅黑"/>
                          <a:cs typeface="微软雅黑"/>
                        </a:rPr>
                        <a:t>方法</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图像塔</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patches</a:t>
                      </a:r>
                    </a:p>
                  </a:txBody>
                  <a:tcPr marL="76200" marR="76200" marT="28575" marB="28575" anchor="ctr">
                    <a:solidFill>
                      <a:srgbClr val="E9EEF4"/>
                    </a:solidFill>
                  </a:tcPr>
                </a:tc>
                <a:tc>
                  <a:txBody>
                    <a:bodyPr/>
                    <a:lstStyle/>
                    <a:p>
                      <a:pPr algn="ctr"/>
                      <a:r>
                        <a:rPr sz="1400" b="1">
                          <a:solidFill>
                            <a:srgbClr val="12161C"/>
                          </a:solidFill>
                          <a:latin typeface="微软雅黑"/>
                          <a:ea typeface="微软雅黑"/>
                          <a:cs typeface="微软雅黑"/>
                        </a:rPr>
                        <a:t>ImageNet 零样本</a:t>
                      </a:r>
                    </a:p>
                  </a:txBody>
                  <a:tcPr marL="76200" marR="76200" marT="28575" marB="28575" anchor="ctr">
                    <a:solidFill>
                      <a:srgbClr val="E9EEF4"/>
                    </a:solidFill>
                  </a:tcPr>
                </a:tc>
                <a:extLst>
                  <a:ext uri="{0D108BD9-81ED-4DB2-BD59-A6C34878D82A}">
                    <a16:rowId xmlns:a16="http://schemas.microsoft.com/office/drawing/2014/main" val="10000"/>
                  </a:ext>
                </a:extLst>
              </a:tr>
              <a:tr h="400050">
                <a:tc>
                  <a:txBody>
                    <a:bodyPr/>
                    <a:lstStyle/>
                    <a:p>
                      <a:pPr algn="ctr"/>
                      <a:r>
                        <a:rPr sz="1400" b="0">
                          <a:solidFill>
                            <a:srgbClr val="39424F"/>
                          </a:solidFill>
                          <a:latin typeface="微软雅黑"/>
                          <a:ea typeface="微软雅黑"/>
                          <a:cs typeface="微软雅黑"/>
                        </a:rPr>
                        <a:t>CLIP</a:t>
                      </a:r>
                    </a:p>
                  </a:txBody>
                  <a:tcPr marL="76200" marR="76200" marT="28575" marB="28575" anchor="ctr">
                    <a:solidFill>
                      <a:srgbClr val="FFFFFF"/>
                    </a:solidFill>
                  </a:tcPr>
                </a:tc>
                <a:tc>
                  <a:txBody>
                    <a:bodyPr/>
                    <a:lstStyle/>
                    <a:p>
                      <a:pPr algn="ctr"/>
                      <a:r>
                        <a:rPr sz="1400" b="0" dirty="0">
                          <a:solidFill>
                            <a:srgbClr val="39424F"/>
                          </a:solidFill>
                          <a:latin typeface="微软雅黑"/>
                          <a:ea typeface="微软雅黑"/>
                          <a:cs typeface="微软雅黑"/>
                        </a:rPr>
                        <a:t>B</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196</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68.3</a:t>
                      </a:r>
                    </a:p>
                  </a:txBody>
                  <a:tcPr marL="76200" marR="76200" marT="28575" marB="28575" anchor="ctr">
                    <a:solidFill>
                      <a:srgbClr val="FFFFFF"/>
                    </a:solidFill>
                  </a:tcPr>
                </a:tc>
                <a:extLst>
                  <a:ext uri="{0D108BD9-81ED-4DB2-BD59-A6C34878D82A}">
                    <a16:rowId xmlns:a16="http://schemas.microsoft.com/office/drawing/2014/main" val="10001"/>
                  </a:ext>
                </a:extLst>
              </a:tr>
              <a:tr h="400050">
                <a:tc>
                  <a:txBody>
                    <a:bodyPr/>
                    <a:lstStyle/>
                    <a:p>
                      <a:pPr algn="ctr"/>
                      <a:r>
                        <a:rPr sz="1400" b="0" dirty="0" err="1">
                          <a:solidFill>
                            <a:srgbClr val="39424F"/>
                          </a:solidFill>
                          <a:latin typeface="微软雅黑"/>
                          <a:ea typeface="微软雅黑"/>
                          <a:cs typeface="微软雅黑"/>
                        </a:rPr>
                        <a:t>OpenCLIP</a:t>
                      </a:r>
                      <a:endParaRPr sz="1400" b="0" dirty="0">
                        <a:solidFill>
                          <a:srgbClr val="39424F"/>
                        </a:solidFill>
                        <a:latin typeface="微软雅黑"/>
                        <a:ea typeface="微软雅黑"/>
                        <a:cs typeface="微软雅黑"/>
                      </a:endParaRPr>
                    </a:p>
                  </a:txBody>
                  <a:tcPr marL="76200" marR="76200" marT="28575" marB="28575" anchor="ctr">
                    <a:solidFill>
                      <a:srgbClr val="FFFFFF"/>
                    </a:solidFill>
                  </a:tcPr>
                </a:tc>
                <a:tc>
                  <a:txBody>
                    <a:bodyPr/>
                    <a:lstStyle/>
                    <a:p>
                      <a:pPr algn="ctr"/>
                      <a:r>
                        <a:rPr sz="1400" b="0" dirty="0">
                          <a:solidFill>
                            <a:srgbClr val="39424F"/>
                          </a:solidFill>
                          <a:latin typeface="微软雅黑"/>
                          <a:ea typeface="微软雅黑"/>
                          <a:cs typeface="微软雅黑"/>
                        </a:rPr>
                        <a:t>B</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196</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70.2</a:t>
                      </a:r>
                    </a:p>
                  </a:txBody>
                  <a:tcPr marL="76200" marR="76200" marT="28575" marB="28575" anchor="ctr">
                    <a:solidFill>
                      <a:srgbClr val="FFFFFF"/>
                    </a:solidFill>
                  </a:tcPr>
                </a:tc>
                <a:extLst>
                  <a:ext uri="{0D108BD9-81ED-4DB2-BD59-A6C34878D82A}">
                    <a16:rowId xmlns:a16="http://schemas.microsoft.com/office/drawing/2014/main" val="10002"/>
                  </a:ext>
                </a:extLst>
              </a:tr>
              <a:tr h="400050">
                <a:tc>
                  <a:txBody>
                    <a:bodyPr/>
                    <a:lstStyle/>
                    <a:p>
                      <a:pPr algn="ctr"/>
                      <a:r>
                        <a:rPr sz="1400" b="0">
                          <a:solidFill>
                            <a:srgbClr val="39424F"/>
                          </a:solidFill>
                          <a:latin typeface="微软雅黑"/>
                          <a:ea typeface="微软雅黑"/>
                          <a:cs typeface="微软雅黑"/>
                        </a:rPr>
                        <a:t>EVA-CLIP</a:t>
                      </a:r>
                    </a:p>
                  </a:txBody>
                  <a:tcPr marL="76200" marR="76200" marT="28575" marB="28575" anchor="ctr">
                    <a:solidFill>
                      <a:srgbClr val="FFFFFF"/>
                    </a:solidFill>
                  </a:tcPr>
                </a:tc>
                <a:tc>
                  <a:txBody>
                    <a:bodyPr/>
                    <a:lstStyle/>
                    <a:p>
                      <a:pPr algn="ctr"/>
                      <a:r>
                        <a:rPr sz="1400" b="0" dirty="0">
                          <a:solidFill>
                            <a:srgbClr val="39424F"/>
                          </a:solidFill>
                          <a:latin typeface="微软雅黑"/>
                          <a:ea typeface="微软雅黑"/>
                          <a:cs typeface="微软雅黑"/>
                        </a:rPr>
                        <a:t>B</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196</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74.7</a:t>
                      </a:r>
                    </a:p>
                  </a:txBody>
                  <a:tcPr marL="76200" marR="76200" marT="28575" marB="28575" anchor="ctr">
                    <a:solidFill>
                      <a:srgbClr val="FFFFFF"/>
                    </a:solidFill>
                  </a:tcPr>
                </a:tc>
                <a:extLst>
                  <a:ext uri="{0D108BD9-81ED-4DB2-BD59-A6C34878D82A}">
                    <a16:rowId xmlns:a16="http://schemas.microsoft.com/office/drawing/2014/main" val="10003"/>
                  </a:ext>
                </a:extLst>
              </a:tr>
              <a:tr h="400050">
                <a:tc>
                  <a:txBody>
                    <a:bodyPr/>
                    <a:lstStyle/>
                    <a:p>
                      <a:pPr algn="ctr"/>
                      <a:r>
                        <a:rPr sz="1400" b="0">
                          <a:solidFill>
                            <a:srgbClr val="39424F"/>
                          </a:solidFill>
                          <a:latin typeface="微软雅黑"/>
                          <a:ea typeface="微软雅黑"/>
                          <a:cs typeface="微软雅黑"/>
                        </a:rPr>
                        <a:t>SigLIP</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B</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1024</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79.2</a:t>
                      </a:r>
                    </a:p>
                  </a:txBody>
                  <a:tcPr marL="76200" marR="76200" marT="28575" marB="28575" anchor="ctr">
                    <a:solidFill>
                      <a:srgbClr val="FFFFFF"/>
                    </a:solidFill>
                  </a:tcPr>
                </a:tc>
                <a:extLst>
                  <a:ext uri="{0D108BD9-81ED-4DB2-BD59-A6C34878D82A}">
                    <a16:rowId xmlns:a16="http://schemas.microsoft.com/office/drawing/2014/main" val="10004"/>
                  </a:ext>
                </a:extLst>
              </a:tr>
              <a:tr h="400050">
                <a:tc>
                  <a:txBody>
                    <a:bodyPr/>
                    <a:lstStyle/>
                    <a:p>
                      <a:pPr algn="ctr"/>
                      <a:r>
                        <a:rPr sz="1400" b="0">
                          <a:solidFill>
                            <a:srgbClr val="39424F"/>
                          </a:solidFill>
                          <a:latin typeface="微软雅黑"/>
                          <a:ea typeface="微软雅黑"/>
                          <a:cs typeface="微软雅黑"/>
                        </a:rPr>
                        <a:t>CLIP</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L</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576</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76.6</a:t>
                      </a:r>
                    </a:p>
                  </a:txBody>
                  <a:tcPr marL="76200" marR="76200" marT="28575" marB="28575" anchor="ctr">
                    <a:solidFill>
                      <a:srgbClr val="FFFFFF"/>
                    </a:solidFill>
                  </a:tcPr>
                </a:tc>
                <a:extLst>
                  <a:ext uri="{0D108BD9-81ED-4DB2-BD59-A6C34878D82A}">
                    <a16:rowId xmlns:a16="http://schemas.microsoft.com/office/drawing/2014/main" val="10005"/>
                  </a:ext>
                </a:extLst>
              </a:tr>
              <a:tr h="400050">
                <a:tc>
                  <a:txBody>
                    <a:bodyPr/>
                    <a:lstStyle/>
                    <a:p>
                      <a:pPr algn="ctr"/>
                      <a:r>
                        <a:rPr sz="1400" b="0">
                          <a:solidFill>
                            <a:srgbClr val="39424F"/>
                          </a:solidFill>
                          <a:latin typeface="微软雅黑"/>
                          <a:ea typeface="微软雅黑"/>
                          <a:cs typeface="微软雅黑"/>
                        </a:rPr>
                        <a:t>SigLIP</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L</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576</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82.1</a:t>
                      </a:r>
                    </a:p>
                  </a:txBody>
                  <a:tcPr marL="76200" marR="76200" marT="28575" marB="28575" anchor="ctr">
                    <a:solidFill>
                      <a:srgbClr val="FFFFFF"/>
                    </a:solidFill>
                  </a:tcPr>
                </a:tc>
                <a:extLst>
                  <a:ext uri="{0D108BD9-81ED-4DB2-BD59-A6C34878D82A}">
                    <a16:rowId xmlns:a16="http://schemas.microsoft.com/office/drawing/2014/main" val="10006"/>
                  </a:ext>
                </a:extLst>
              </a:tr>
              <a:tr h="400050">
                <a:tc>
                  <a:txBody>
                    <a:bodyPr/>
                    <a:lstStyle/>
                    <a:p>
                      <a:pPr algn="ctr"/>
                      <a:r>
                        <a:rPr sz="1400" b="0">
                          <a:solidFill>
                            <a:srgbClr val="39424F"/>
                          </a:solidFill>
                          <a:latin typeface="微软雅黑"/>
                          <a:ea typeface="微软雅黑"/>
                          <a:cs typeface="微软雅黑"/>
                        </a:rPr>
                        <a:t>EVA-CLIP</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E (5B)</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256</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82.0</a:t>
                      </a:r>
                    </a:p>
                  </a:txBody>
                  <a:tcPr marL="76200" marR="76200" marT="28575" marB="28575" anchor="ctr">
                    <a:solidFill>
                      <a:srgbClr val="FFFFFF"/>
                    </a:solidFill>
                  </a:tcPr>
                </a:tc>
                <a:extLst>
                  <a:ext uri="{0D108BD9-81ED-4DB2-BD59-A6C34878D82A}">
                    <a16:rowId xmlns:a16="http://schemas.microsoft.com/office/drawing/2014/main" val="10007"/>
                  </a:ext>
                </a:extLst>
              </a:tr>
              <a:tr h="400050">
                <a:tc>
                  <a:txBody>
                    <a:bodyPr/>
                    <a:lstStyle/>
                    <a:p>
                      <a:pPr algn="ctr"/>
                      <a:r>
                        <a:rPr sz="1400" b="0">
                          <a:solidFill>
                            <a:srgbClr val="39424F"/>
                          </a:solidFill>
                          <a:latin typeface="微软雅黑"/>
                          <a:ea typeface="微软雅黑"/>
                          <a:cs typeface="微软雅黑"/>
                        </a:rPr>
                        <a:t>SigLIP</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SoViT (400M)</a:t>
                      </a:r>
                    </a:p>
                  </a:txBody>
                  <a:tcPr marL="76200" marR="76200" marT="28575" marB="28575" anchor="ctr">
                    <a:solidFill>
                      <a:srgbClr val="FFFFFF"/>
                    </a:solidFill>
                  </a:tcPr>
                </a:tc>
                <a:tc>
                  <a:txBody>
                    <a:bodyPr/>
                    <a:lstStyle/>
                    <a:p>
                      <a:pPr algn="ctr"/>
                      <a:r>
                        <a:rPr sz="1400" b="0">
                          <a:solidFill>
                            <a:srgbClr val="39424F"/>
                          </a:solidFill>
                          <a:latin typeface="微软雅黑"/>
                          <a:ea typeface="微软雅黑"/>
                          <a:cs typeface="微软雅黑"/>
                        </a:rPr>
                        <a:t>729</a:t>
                      </a:r>
                    </a:p>
                  </a:txBody>
                  <a:tcPr marL="76200" marR="76200" marT="28575" marB="28575" anchor="ctr">
                    <a:solidFill>
                      <a:srgbClr val="FFFFFF"/>
                    </a:solidFill>
                  </a:tcPr>
                </a:tc>
                <a:tc>
                  <a:txBody>
                    <a:bodyPr/>
                    <a:lstStyle/>
                    <a:p>
                      <a:pPr algn="ctr"/>
                      <a:r>
                        <a:rPr sz="1400" b="1" dirty="0">
                          <a:solidFill>
                            <a:srgbClr val="C2410C"/>
                          </a:solidFill>
                          <a:latin typeface="微软雅黑"/>
                          <a:ea typeface="微软雅黑"/>
                          <a:cs typeface="微软雅黑"/>
                        </a:rPr>
                        <a:t>83.2</a:t>
                      </a:r>
                    </a:p>
                  </a:txBody>
                  <a:tcPr marL="76200" marR="76200" marT="28575" marB="28575" anchor="ctr">
                    <a:solidFill>
                      <a:srgbClr val="FDEDE4"/>
                    </a:solidFill>
                  </a:tcPr>
                </a:tc>
                <a:extLst>
                  <a:ext uri="{0D108BD9-81ED-4DB2-BD59-A6C34878D82A}">
                    <a16:rowId xmlns:a16="http://schemas.microsoft.com/office/drawing/2014/main" val="10008"/>
                  </a:ext>
                </a:extLst>
              </a:tr>
            </a:tbl>
          </a:graphicData>
        </a:graphic>
      </p:graphicFrame>
      <p:sp>
        <p:nvSpPr>
          <p:cNvPr id="5" name="矩形 4"/>
          <p:cNvSpPr>
            <a:spLocks noGrp="1"/>
          </p:cNvSpPr>
          <p:nvPr/>
        </p:nvSpPr>
        <p:spPr>
          <a:xfrm>
            <a:off x="7239000" y="1257300"/>
            <a:ext cx="4343400" cy="1905000"/>
          </a:xfrm>
          <a:prstGeom prst="rect">
            <a:avLst/>
          </a:prstGeom>
          <a:noFill/>
          <a:ln w="0">
            <a:noFill/>
          </a:ln>
        </p:spPr>
        <p:txBody>
          <a:bodyPr lIns="0" tIns="0" rIns="0" bIns="0" anchor="t">
            <a:noAutofit/>
          </a:bodyPr>
          <a:lstStyle/>
          <a:p>
            <a:pPr marL="219075" indent="-219075" algn="l">
              <a:spcAft>
                <a:spcPts val="1200"/>
              </a:spcAft>
              <a:buChar char="•"/>
              <a:defRPr sz="1125" b="0">
                <a:solidFill>
                  <a:srgbClr val="39424F"/>
                </a:solidFill>
                <a:latin typeface="微软雅黑"/>
                <a:ea typeface="微软雅黑"/>
                <a:cs typeface="微软雅黑"/>
              </a:defRPr>
            </a:pPr>
            <a:r>
              <a:rPr sz="1600" dirty="0" err="1"/>
              <a:t>同样是</a:t>
            </a:r>
            <a:r>
              <a:rPr sz="1600" dirty="0"/>
              <a:t> B </a:t>
            </a:r>
            <a:r>
              <a:rPr sz="1600" dirty="0" err="1"/>
              <a:t>档、同样</a:t>
            </a:r>
            <a:r>
              <a:rPr sz="1600" dirty="0"/>
              <a:t> 196 </a:t>
            </a:r>
            <a:r>
              <a:rPr sz="1600" dirty="0" err="1"/>
              <a:t>patches：SigLIP</a:t>
            </a:r>
            <a:r>
              <a:rPr sz="1600" dirty="0"/>
              <a:t> 76.2，CLIP 68.3，OpenCLIP 70.2，EVA-CLIP 74.7。</a:t>
            </a:r>
          </a:p>
          <a:p>
            <a:pPr marL="219075" indent="-219075" algn="l">
              <a:spcAft>
                <a:spcPts val="1200"/>
              </a:spcAft>
              <a:buChar char="•"/>
              <a:defRPr sz="1125" b="0">
                <a:solidFill>
                  <a:srgbClr val="39424F"/>
                </a:solidFill>
                <a:latin typeface="微软雅黑"/>
                <a:ea typeface="微软雅黑"/>
                <a:cs typeface="微软雅黑"/>
              </a:defRPr>
            </a:pPr>
            <a:r>
              <a:rPr sz="1600" dirty="0"/>
              <a:t>L 档、576 patches：82.1，比 CLIP-L 的 76.6 高 5.5 分。</a:t>
            </a:r>
          </a:p>
          <a:p>
            <a:pPr marL="219075" indent="-219075" algn="l">
              <a:spcAft>
                <a:spcPts val="1200"/>
              </a:spcAft>
              <a:buChar char="•"/>
              <a:defRPr sz="1125" b="0">
                <a:solidFill>
                  <a:srgbClr val="39424F"/>
                </a:solidFill>
                <a:latin typeface="微软雅黑"/>
                <a:ea typeface="微软雅黑"/>
                <a:cs typeface="微软雅黑"/>
              </a:defRPr>
            </a:pPr>
            <a:r>
              <a:rPr sz="1600" dirty="0"/>
              <a:t>400M </a:t>
            </a:r>
            <a:r>
              <a:rPr sz="1600" dirty="0" err="1"/>
              <a:t>参数的</a:t>
            </a:r>
            <a:r>
              <a:rPr sz="1600" dirty="0"/>
              <a:t> </a:t>
            </a:r>
            <a:r>
              <a:rPr sz="1600" dirty="0" err="1"/>
              <a:t>SoViT</a:t>
            </a:r>
            <a:r>
              <a:rPr sz="1600" dirty="0"/>
              <a:t> </a:t>
            </a:r>
            <a:r>
              <a:rPr sz="1600" dirty="0" err="1"/>
              <a:t>版做到</a:t>
            </a:r>
            <a:r>
              <a:rPr sz="1600" dirty="0"/>
              <a:t> 83.2%，</a:t>
            </a:r>
            <a:r>
              <a:rPr sz="1600" dirty="0" err="1"/>
              <a:t>超过</a:t>
            </a:r>
            <a:r>
              <a:rPr sz="1600" dirty="0"/>
              <a:t> 5B </a:t>
            </a:r>
            <a:r>
              <a:rPr sz="1600" dirty="0" err="1"/>
              <a:t>参数的</a:t>
            </a:r>
            <a:r>
              <a:rPr sz="1600" dirty="0"/>
              <a:t> EVA-CLIP（82.0%）。</a:t>
            </a:r>
          </a:p>
        </p:txBody>
      </p:sp>
      <p:sp>
        <p:nvSpPr>
          <p:cNvPr id="6" name="矩形: 圆角 5"/>
          <p:cNvSpPr>
            <a:spLocks noGrp="1"/>
          </p:cNvSpPr>
          <p:nvPr/>
        </p:nvSpPr>
        <p:spPr>
          <a:xfrm>
            <a:off x="7239000" y="3543300"/>
            <a:ext cx="4343400" cy="1333500"/>
          </a:xfrm>
          <a:prstGeom prst="roundRect">
            <a:avLst>
              <a:gd name="adj" fmla="val 7143"/>
            </a:avLst>
          </a:prstGeom>
          <a:solidFill>
            <a:srgbClr val="FDF4EF"/>
          </a:solidFill>
          <a:ln w="0">
            <a:noFill/>
          </a:ln>
        </p:spPr>
      </p:sp>
      <p:sp>
        <p:nvSpPr>
          <p:cNvPr id="7" name="矩形 6"/>
          <p:cNvSpPr>
            <a:spLocks noGrp="1"/>
          </p:cNvSpPr>
          <p:nvPr/>
        </p:nvSpPr>
        <p:spPr>
          <a:xfrm>
            <a:off x="7448550" y="3695700"/>
            <a:ext cx="3924300" cy="1047750"/>
          </a:xfrm>
          <a:prstGeom prst="rect">
            <a:avLst/>
          </a:prstGeom>
          <a:noFill/>
          <a:ln w="0">
            <a:noFill/>
          </a:ln>
        </p:spPr>
        <p:txBody>
          <a:bodyPr lIns="0" tIns="0" rIns="0" bIns="0" anchor="t">
            <a:noAutofit/>
          </a:bodyPr>
          <a:lstStyle/>
          <a:p>
            <a:pPr algn="l">
              <a:defRPr sz="1090" b="0">
                <a:solidFill>
                  <a:srgbClr val="39424F"/>
                </a:solidFill>
                <a:latin typeface="微软雅黑"/>
                <a:ea typeface="微软雅黑"/>
                <a:cs typeface="微软雅黑"/>
              </a:defRPr>
            </a:pPr>
            <a:r>
              <a:rPr sz="1600" b="1" dirty="0" err="1">
                <a:solidFill>
                  <a:srgbClr val="C2410C"/>
                </a:solidFill>
              </a:rPr>
              <a:t>这是跨论文比较：</a:t>
            </a:r>
            <a:r>
              <a:rPr sz="1600" dirty="0" err="1">
                <a:solidFill>
                  <a:srgbClr val="39424F"/>
                </a:solidFill>
              </a:rPr>
              <a:t>训练数据、分辨率、算力预算都不对齐，只能当量级参照，不是受控实验。Table</a:t>
            </a:r>
            <a:r>
              <a:rPr sz="1600" dirty="0">
                <a:solidFill>
                  <a:srgbClr val="39424F"/>
                </a:solidFill>
              </a:rPr>
              <a:t> 3 </a:t>
            </a:r>
            <a:r>
              <a:rPr sz="1600" dirty="0" err="1">
                <a:solidFill>
                  <a:srgbClr val="39424F"/>
                </a:solidFill>
              </a:rPr>
              <a:t>的完整表更长，需要细节可以问</a:t>
            </a:r>
            <a:r>
              <a:rPr sz="1600" dirty="0">
                <a:solidFill>
                  <a:srgbClr val="39424F"/>
                </a:solidFill>
              </a:rPr>
              <a:t>。</a:t>
            </a:r>
          </a:p>
        </p:txBody>
      </p:sp>
      <p:sp>
        <p:nvSpPr>
          <p:cNvPr id="8" name="矩形 7"/>
          <p:cNvSpPr>
            <a:spLocks noGrp="1"/>
          </p:cNvSpPr>
          <p:nvPr/>
        </p:nvSpPr>
        <p:spPr>
          <a:xfrm>
            <a:off x="609600" y="5029200"/>
            <a:ext cx="6286500" cy="438150"/>
          </a:xfrm>
          <a:prstGeom prst="rect">
            <a:avLst/>
          </a:prstGeom>
          <a:noFill/>
          <a:ln w="0">
            <a:noFill/>
          </a:ln>
        </p:spPr>
        <p:txBody>
          <a:bodyPr lIns="0" tIns="0" rIns="0" bIns="0" anchor="t">
            <a:noAutofit/>
          </a:bodyPr>
          <a:lstStyle/>
          <a:p>
            <a:pPr algn="l">
              <a:defRPr sz="975" b="0">
                <a:solidFill>
                  <a:srgbClr val="69747F"/>
                </a:solidFill>
                <a:latin typeface="微软雅黑"/>
                <a:ea typeface="微软雅黑"/>
                <a:cs typeface="微软雅黑"/>
              </a:defRPr>
            </a:pPr>
            <a:r>
              <a:rPr dirty="0" err="1"/>
              <a:t>数据：论文</a:t>
            </a:r>
            <a:r>
              <a:rPr dirty="0"/>
              <a:t> Table 3（精选 8 行）</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t>总结与评价</a:t>
            </a:r>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14</a:t>
            </a:r>
          </a:p>
        </p:txBody>
      </p:sp>
      <p:sp>
        <p:nvSpPr>
          <p:cNvPr id="4" name="矩形 3"/>
          <p:cNvSpPr>
            <a:spLocks noGrp="1"/>
          </p:cNvSpPr>
          <p:nvPr/>
        </p:nvSpPr>
        <p:spPr>
          <a:xfrm>
            <a:off x="609600" y="1095375"/>
            <a:ext cx="5715000" cy="447675"/>
          </a:xfrm>
          <a:prstGeom prst="rect">
            <a:avLst/>
          </a:prstGeom>
          <a:noFill/>
          <a:ln w="0">
            <a:noFill/>
          </a:ln>
        </p:spPr>
        <p:txBody>
          <a:bodyPr lIns="0" tIns="0" rIns="0" bIns="0" anchor="t">
            <a:noAutofit/>
          </a:bodyPr>
          <a:lstStyle/>
          <a:p>
            <a:pPr algn="l">
              <a:defRPr sz="1425" b="1">
                <a:solidFill>
                  <a:srgbClr val="12161C"/>
                </a:solidFill>
                <a:latin typeface="微软雅黑"/>
                <a:ea typeface="微软雅黑"/>
                <a:cs typeface="微软雅黑"/>
              </a:defRPr>
            </a:pPr>
            <a:r>
              <a:rPr sz="2400" dirty="0" err="1"/>
              <a:t>总结</a:t>
            </a:r>
            <a:endParaRPr sz="2400" dirty="0"/>
          </a:p>
        </p:txBody>
      </p:sp>
      <p:sp>
        <p:nvSpPr>
          <p:cNvPr id="5" name="矩形 4"/>
          <p:cNvSpPr>
            <a:spLocks noGrp="1"/>
          </p:cNvSpPr>
          <p:nvPr/>
        </p:nvSpPr>
        <p:spPr>
          <a:xfrm>
            <a:off x="609600" y="1676400"/>
            <a:ext cx="5715000" cy="2600325"/>
          </a:xfrm>
          <a:prstGeom prst="rect">
            <a:avLst/>
          </a:prstGeom>
          <a:noFill/>
          <a:ln w="0">
            <a:noFill/>
          </a:ln>
        </p:spPr>
        <p:txBody>
          <a:bodyPr lIns="0" tIns="0" rIns="0" bIns="0" anchor="t">
            <a:noAutofit/>
          </a:bodyPr>
          <a:lstStyle/>
          <a:p>
            <a:pPr marL="240665" indent="-240665" algn="l">
              <a:spcAft>
                <a:spcPts val="1600"/>
              </a:spcAft>
              <a:buChar char="•"/>
              <a:defRPr sz="1240" b="0">
                <a:solidFill>
                  <a:srgbClr val="39424F"/>
                </a:solidFill>
                <a:latin typeface="微软雅黑"/>
                <a:ea typeface="微软雅黑"/>
                <a:cs typeface="微软雅黑"/>
              </a:defRPr>
            </a:pPr>
            <a:r>
              <a:rPr sz="2000" b="1" dirty="0" err="1">
                <a:solidFill>
                  <a:srgbClr val="C2410C"/>
                </a:solidFill>
              </a:rPr>
              <a:t>换损失：</a:t>
            </a:r>
            <a:r>
              <a:rPr sz="2000" dirty="0" err="1"/>
              <a:t>sigmoid</a:t>
            </a:r>
            <a:r>
              <a:rPr sz="2000" dirty="0"/>
              <a:t> </a:t>
            </a:r>
            <a:r>
              <a:rPr sz="2000" dirty="0" err="1"/>
              <a:t>让图文预训练不再需要跨</a:t>
            </a:r>
            <a:r>
              <a:rPr sz="2000" dirty="0"/>
              <a:t> batch </a:t>
            </a:r>
            <a:r>
              <a:rPr sz="2000" dirty="0" err="1"/>
              <a:t>归一化</a:t>
            </a:r>
            <a:r>
              <a:rPr sz="2000" dirty="0"/>
              <a:t> —— </a:t>
            </a:r>
            <a:r>
              <a:rPr sz="2000" dirty="0" err="1"/>
              <a:t>对称、单遍、省内存</a:t>
            </a:r>
            <a:r>
              <a:rPr sz="2000" dirty="0"/>
              <a:t>。</a:t>
            </a:r>
          </a:p>
          <a:p>
            <a:pPr marL="240665" indent="-240665" algn="l">
              <a:spcAft>
                <a:spcPts val="1600"/>
              </a:spcAft>
              <a:buChar char="•"/>
              <a:defRPr sz="1240" b="0">
                <a:solidFill>
                  <a:srgbClr val="39424F"/>
                </a:solidFill>
                <a:latin typeface="微软雅黑"/>
                <a:ea typeface="微软雅黑"/>
                <a:cs typeface="微软雅黑"/>
              </a:defRPr>
            </a:pPr>
            <a:r>
              <a:rPr sz="2000" b="1" dirty="0" err="1">
                <a:solidFill>
                  <a:srgbClr val="C2410C"/>
                </a:solidFill>
              </a:rPr>
              <a:t>改工程：</a:t>
            </a:r>
            <a:r>
              <a:rPr sz="2000" dirty="0" err="1"/>
              <a:t>损失因此可以分块算，显存</a:t>
            </a:r>
            <a:r>
              <a:rPr sz="2000" dirty="0"/>
              <a:t> |B|² → b²、无 </a:t>
            </a:r>
            <a:r>
              <a:rPr sz="2000" dirty="0" err="1"/>
              <a:t>all-gather，支撑百万级</a:t>
            </a:r>
            <a:r>
              <a:rPr sz="2000" dirty="0"/>
              <a:t> batch。</a:t>
            </a:r>
          </a:p>
          <a:p>
            <a:pPr marL="240665" indent="-240665" algn="l">
              <a:spcAft>
                <a:spcPts val="1600"/>
              </a:spcAft>
              <a:buChar char="•"/>
              <a:defRPr sz="1240" b="0">
                <a:solidFill>
                  <a:srgbClr val="39424F"/>
                </a:solidFill>
                <a:latin typeface="微软雅黑"/>
                <a:ea typeface="微软雅黑"/>
                <a:cs typeface="微软雅黑"/>
              </a:defRPr>
            </a:pPr>
            <a:r>
              <a:rPr sz="2000" b="1" dirty="0" err="1">
                <a:solidFill>
                  <a:srgbClr val="C2410C"/>
                </a:solidFill>
              </a:rPr>
              <a:t>改认知：</a:t>
            </a:r>
            <a:r>
              <a:rPr sz="2000" dirty="0" err="1"/>
              <a:t>性能在</a:t>
            </a:r>
            <a:r>
              <a:rPr sz="2000" dirty="0"/>
              <a:t> 32k </a:t>
            </a:r>
            <a:r>
              <a:rPr sz="2000" dirty="0" err="1"/>
              <a:t>就饱和，大</a:t>
            </a:r>
            <a:r>
              <a:rPr sz="2000" dirty="0"/>
              <a:t> batch </a:t>
            </a:r>
            <a:r>
              <a:rPr sz="2000" dirty="0" err="1"/>
              <a:t>不再是必需品，预算有限的团队也能做</a:t>
            </a:r>
            <a:r>
              <a:rPr sz="2000" dirty="0"/>
              <a:t>。</a:t>
            </a:r>
          </a:p>
        </p:txBody>
      </p:sp>
      <p:sp>
        <p:nvSpPr>
          <p:cNvPr id="6" name="矩形 5"/>
          <p:cNvSpPr>
            <a:spLocks noGrp="1"/>
          </p:cNvSpPr>
          <p:nvPr/>
        </p:nvSpPr>
        <p:spPr>
          <a:xfrm>
            <a:off x="6705600" y="1095375"/>
            <a:ext cx="4876800" cy="447675"/>
          </a:xfrm>
          <a:prstGeom prst="rect">
            <a:avLst/>
          </a:prstGeom>
          <a:noFill/>
          <a:ln w="0">
            <a:noFill/>
          </a:ln>
        </p:spPr>
        <p:txBody>
          <a:bodyPr lIns="0" tIns="0" rIns="0" bIns="0" anchor="t">
            <a:noAutofit/>
          </a:bodyPr>
          <a:lstStyle/>
          <a:p>
            <a:pPr algn="l">
              <a:defRPr sz="1425" b="1">
                <a:solidFill>
                  <a:srgbClr val="12161C"/>
                </a:solidFill>
                <a:latin typeface="微软雅黑"/>
                <a:ea typeface="微软雅黑"/>
                <a:cs typeface="微软雅黑"/>
              </a:defRPr>
            </a:pPr>
            <a:r>
              <a:rPr sz="2400" dirty="0" err="1"/>
              <a:t>局限</a:t>
            </a:r>
            <a:endParaRPr sz="2400" dirty="0"/>
          </a:p>
        </p:txBody>
      </p:sp>
      <p:sp>
        <p:nvSpPr>
          <p:cNvPr id="7" name="矩形 6"/>
          <p:cNvSpPr>
            <a:spLocks noGrp="1"/>
          </p:cNvSpPr>
          <p:nvPr/>
        </p:nvSpPr>
        <p:spPr>
          <a:xfrm>
            <a:off x="6705600" y="1676400"/>
            <a:ext cx="4876800" cy="2600325"/>
          </a:xfrm>
          <a:prstGeom prst="rect">
            <a:avLst/>
          </a:prstGeom>
          <a:noFill/>
          <a:ln w="0">
            <a:noFill/>
          </a:ln>
        </p:spPr>
        <p:txBody>
          <a:bodyPr lIns="0" tIns="0" rIns="0" bIns="0" anchor="t">
            <a:noAutofit/>
          </a:bodyPr>
          <a:lstStyle/>
          <a:p>
            <a:pPr marL="219075" indent="-219075" algn="l">
              <a:spcAft>
                <a:spcPts val="1200"/>
              </a:spcAft>
              <a:buChar char="•"/>
              <a:defRPr sz="1125" b="0">
                <a:solidFill>
                  <a:srgbClr val="39424F"/>
                </a:solidFill>
                <a:latin typeface="微软雅黑"/>
                <a:ea typeface="微软雅黑"/>
                <a:cs typeface="微软雅黑"/>
              </a:defRPr>
            </a:pPr>
            <a:r>
              <a:rPr sz="1600" dirty="0" err="1"/>
              <a:t>主要数据</a:t>
            </a:r>
            <a:r>
              <a:rPr sz="1600" dirty="0"/>
              <a:t> </a:t>
            </a:r>
            <a:r>
              <a:rPr sz="1600" dirty="0" err="1"/>
              <a:t>WebLI</a:t>
            </a:r>
            <a:r>
              <a:rPr sz="1600" dirty="0"/>
              <a:t> </a:t>
            </a:r>
            <a:r>
              <a:rPr sz="1600" dirty="0" err="1"/>
              <a:t>是私有的；SigLiT</a:t>
            </a:r>
            <a:r>
              <a:rPr sz="1600" dirty="0"/>
              <a:t> </a:t>
            </a:r>
            <a:r>
              <a:rPr sz="1600" dirty="0" err="1"/>
              <a:t>还依赖预计算好的冻结嵌入，外部完全复现门槛高</a:t>
            </a:r>
            <a:r>
              <a:rPr sz="1600" dirty="0"/>
              <a:t>。</a:t>
            </a:r>
          </a:p>
          <a:p>
            <a:pPr marL="219075" indent="-219075" algn="l">
              <a:spcAft>
                <a:spcPts val="1200"/>
              </a:spcAft>
              <a:buChar char="•"/>
              <a:defRPr sz="1125" b="0">
                <a:solidFill>
                  <a:srgbClr val="39424F"/>
                </a:solidFill>
                <a:latin typeface="微软雅黑"/>
                <a:ea typeface="微软雅黑"/>
                <a:cs typeface="微软雅黑"/>
              </a:defRPr>
            </a:pPr>
            <a:r>
              <a:rPr sz="1600" dirty="0"/>
              <a:t>32k </a:t>
            </a:r>
            <a:r>
              <a:rPr sz="1600" dirty="0" err="1"/>
              <a:t>是在</a:t>
            </a:r>
            <a:r>
              <a:rPr sz="1600" dirty="0"/>
              <a:t> </a:t>
            </a:r>
            <a:r>
              <a:rPr sz="1600" dirty="0" err="1"/>
              <a:t>WebLI</a:t>
            </a:r>
            <a:r>
              <a:rPr sz="1600" dirty="0"/>
              <a:t> </a:t>
            </a:r>
            <a:r>
              <a:rPr sz="1600" dirty="0" err="1"/>
              <a:t>系数据、特定模型规模和</a:t>
            </a:r>
            <a:r>
              <a:rPr sz="1600" dirty="0"/>
              <a:t> schedule </a:t>
            </a:r>
            <a:r>
              <a:rPr sz="1600" dirty="0" err="1"/>
              <a:t>下得到的经验值，换</a:t>
            </a:r>
            <a:r>
              <a:rPr lang="en-US" altLang="zh-CN" sz="1600" dirty="0" err="1"/>
              <a:t>setup</a:t>
            </a:r>
            <a:r>
              <a:rPr sz="1600" dirty="0" err="1"/>
              <a:t>未必成立</a:t>
            </a:r>
            <a:r>
              <a:rPr sz="1600" dirty="0"/>
              <a:t>。</a:t>
            </a:r>
          </a:p>
          <a:p>
            <a:pPr marL="219075" indent="-219075" algn="l">
              <a:spcAft>
                <a:spcPts val="1200"/>
              </a:spcAft>
              <a:buChar char="•"/>
              <a:defRPr sz="1125" b="0">
                <a:solidFill>
                  <a:srgbClr val="39424F"/>
                </a:solidFill>
                <a:latin typeface="微软雅黑"/>
                <a:ea typeface="微软雅黑"/>
                <a:cs typeface="微软雅黑"/>
              </a:defRPr>
            </a:pPr>
            <a:r>
              <a:rPr sz="1600" dirty="0"/>
              <a:t>「</a:t>
            </a:r>
            <a:r>
              <a:rPr sz="1600" dirty="0" err="1"/>
              <a:t>非同图文本视为负例」这个假设本身有噪声，论文没有真正解决</a:t>
            </a:r>
            <a:r>
              <a:rPr sz="1600" dirty="0"/>
              <a:t>。</a:t>
            </a:r>
          </a:p>
          <a:p>
            <a:pPr marL="219075" indent="-219075" algn="l">
              <a:spcAft>
                <a:spcPts val="1200"/>
              </a:spcAft>
              <a:buChar char="•"/>
              <a:defRPr sz="1125" b="0">
                <a:solidFill>
                  <a:srgbClr val="39424F"/>
                </a:solidFill>
                <a:latin typeface="微软雅黑"/>
                <a:ea typeface="微软雅黑"/>
                <a:cs typeface="微软雅黑"/>
              </a:defRPr>
            </a:pPr>
            <a:r>
              <a:rPr sz="1600" dirty="0" err="1"/>
              <a:t>论文没有独立的</a:t>
            </a:r>
            <a:r>
              <a:rPr sz="1600" dirty="0"/>
              <a:t> Limitations </a:t>
            </a:r>
            <a:r>
              <a:rPr sz="1600" dirty="0" err="1"/>
              <a:t>章节，算力开销也只给了一个单点对比</a:t>
            </a:r>
            <a:r>
              <a:rPr sz="1600" dirty="0"/>
              <a:t>。</a:t>
            </a:r>
          </a:p>
        </p:txBody>
      </p:sp>
      <p:sp>
        <p:nvSpPr>
          <p:cNvPr id="8" name="矩形: 圆角 7"/>
          <p:cNvSpPr>
            <a:spLocks noGrp="1"/>
          </p:cNvSpPr>
          <p:nvPr/>
        </p:nvSpPr>
        <p:spPr>
          <a:xfrm>
            <a:off x="609600" y="4733925"/>
            <a:ext cx="5381625" cy="1533525"/>
          </a:xfrm>
          <a:prstGeom prst="roundRect">
            <a:avLst>
              <a:gd name="adj" fmla="val 8197"/>
            </a:avLst>
          </a:prstGeom>
          <a:solidFill>
            <a:srgbClr val="F4F6F9"/>
          </a:solidFill>
          <a:ln w="0">
            <a:noFill/>
          </a:ln>
        </p:spPr>
      </p:sp>
      <p:sp>
        <p:nvSpPr>
          <p:cNvPr id="9" name="矩形 8"/>
          <p:cNvSpPr>
            <a:spLocks noGrp="1"/>
          </p:cNvSpPr>
          <p:nvPr/>
        </p:nvSpPr>
        <p:spPr>
          <a:xfrm>
            <a:off x="847725" y="4914900"/>
            <a:ext cx="4810125" cy="1409700"/>
          </a:xfrm>
          <a:prstGeom prst="rect">
            <a:avLst/>
          </a:prstGeom>
          <a:noFill/>
          <a:ln w="0">
            <a:noFill/>
          </a:ln>
        </p:spPr>
        <p:txBody>
          <a:bodyPr lIns="0" tIns="0" rIns="0" bIns="0" anchor="t">
            <a:noAutofit/>
          </a:bodyPr>
          <a:lstStyle/>
          <a:p>
            <a:pPr algn="l">
              <a:defRPr sz="1275" b="0">
                <a:solidFill>
                  <a:srgbClr val="39424F"/>
                </a:solidFill>
                <a:latin typeface="微软雅黑"/>
                <a:ea typeface="微软雅黑"/>
                <a:cs typeface="微软雅黑"/>
              </a:defRPr>
            </a:pPr>
            <a:r>
              <a:rPr sz="1600" b="1" dirty="0">
                <a:solidFill>
                  <a:srgbClr val="12161C"/>
                </a:solidFill>
              </a:rPr>
              <a:t>可</a:t>
            </a:r>
            <a:r>
              <a:rPr lang="zh-CN" altLang="en-US" sz="1600" b="1" dirty="0">
                <a:solidFill>
                  <a:srgbClr val="12161C"/>
                </a:solidFill>
              </a:rPr>
              <a:t>学习的点</a:t>
            </a:r>
            <a:r>
              <a:rPr sz="1600" b="1" dirty="0">
                <a:solidFill>
                  <a:srgbClr val="12161C"/>
                </a:solidFill>
              </a:rPr>
              <a:t>：</a:t>
            </a:r>
            <a:endParaRPr lang="en-US" sz="1600" b="1" dirty="0">
              <a:solidFill>
                <a:srgbClr val="12161C"/>
              </a:solidFill>
            </a:endParaRPr>
          </a:p>
          <a:p>
            <a:pPr marL="285750" indent="-285750" algn="l">
              <a:buFont typeface="Wingdings" panose="05000000000000000000" pitchFamily="2" charset="2"/>
              <a:buChar char="l"/>
              <a:defRPr sz="1275" b="0">
                <a:solidFill>
                  <a:srgbClr val="39424F"/>
                </a:solidFill>
                <a:latin typeface="微软雅黑"/>
                <a:ea typeface="微软雅黑"/>
                <a:cs typeface="微软雅黑"/>
              </a:defRPr>
            </a:pPr>
            <a:r>
              <a:rPr sz="1600" dirty="0" err="1">
                <a:solidFill>
                  <a:srgbClr val="39424F"/>
                </a:solidFill>
              </a:rPr>
              <a:t>做对比学习先试</a:t>
            </a:r>
            <a:r>
              <a:rPr sz="1600" dirty="0">
                <a:solidFill>
                  <a:srgbClr val="39424F"/>
                </a:solidFill>
              </a:rPr>
              <a:t> sigmoid </a:t>
            </a:r>
            <a:r>
              <a:rPr sz="1600" dirty="0" err="1">
                <a:solidFill>
                  <a:srgbClr val="39424F"/>
                </a:solidFill>
              </a:rPr>
              <a:t>损失</a:t>
            </a:r>
            <a:r>
              <a:rPr sz="1600" dirty="0">
                <a:solidFill>
                  <a:srgbClr val="39424F"/>
                </a:solidFill>
              </a:rPr>
              <a:t>；</a:t>
            </a:r>
            <a:endParaRPr lang="en-US" sz="1600" dirty="0">
              <a:solidFill>
                <a:srgbClr val="39424F"/>
              </a:solidFill>
            </a:endParaRPr>
          </a:p>
          <a:p>
            <a:pPr marL="285750" indent="-285750" algn="l">
              <a:buFont typeface="Wingdings" panose="05000000000000000000" pitchFamily="2" charset="2"/>
              <a:buChar char="l"/>
              <a:defRPr sz="1275" b="0">
                <a:solidFill>
                  <a:srgbClr val="39424F"/>
                </a:solidFill>
                <a:latin typeface="微软雅黑"/>
                <a:ea typeface="微软雅黑"/>
                <a:cs typeface="微软雅黑"/>
              </a:defRPr>
            </a:pPr>
            <a:r>
              <a:rPr sz="1600" dirty="0">
                <a:solidFill>
                  <a:srgbClr val="39424F"/>
                </a:solidFill>
              </a:rPr>
              <a:t>batch </a:t>
            </a:r>
            <a:r>
              <a:rPr sz="1600" dirty="0" err="1">
                <a:solidFill>
                  <a:srgbClr val="39424F"/>
                </a:solidFill>
              </a:rPr>
              <a:t>先开</a:t>
            </a:r>
            <a:r>
              <a:rPr sz="1600" dirty="0">
                <a:solidFill>
                  <a:srgbClr val="39424F"/>
                </a:solidFill>
              </a:rPr>
              <a:t> 32k；</a:t>
            </a:r>
            <a:endParaRPr lang="en-US" sz="1600" dirty="0">
              <a:solidFill>
                <a:srgbClr val="39424F"/>
              </a:solidFill>
            </a:endParaRPr>
          </a:p>
          <a:p>
            <a:pPr marL="285750" indent="-285750" algn="l">
              <a:buFont typeface="Wingdings" panose="05000000000000000000" pitchFamily="2" charset="2"/>
              <a:buChar char="l"/>
              <a:defRPr sz="1275" b="0">
                <a:solidFill>
                  <a:srgbClr val="39424F"/>
                </a:solidFill>
                <a:latin typeface="微软雅黑"/>
                <a:ea typeface="微软雅黑"/>
                <a:cs typeface="微软雅黑"/>
              </a:defRPr>
            </a:pPr>
            <a:r>
              <a:rPr sz="1600" dirty="0">
                <a:solidFill>
                  <a:srgbClr val="39424F"/>
                </a:solidFill>
              </a:rPr>
              <a:t>β₂ </a:t>
            </a:r>
            <a:r>
              <a:rPr sz="1600" dirty="0" err="1">
                <a:solidFill>
                  <a:srgbClr val="39424F"/>
                </a:solidFill>
              </a:rPr>
              <a:t>调成</a:t>
            </a:r>
            <a:r>
              <a:rPr sz="1600" dirty="0">
                <a:solidFill>
                  <a:srgbClr val="39424F"/>
                </a:solidFill>
              </a:rPr>
              <a:t> 0.95；</a:t>
            </a:r>
            <a:endParaRPr lang="en-US" sz="1600" dirty="0">
              <a:solidFill>
                <a:srgbClr val="39424F"/>
              </a:solidFill>
            </a:endParaRPr>
          </a:p>
          <a:p>
            <a:pPr marL="285750" indent="-285750" algn="l">
              <a:buFont typeface="Wingdings" panose="05000000000000000000" pitchFamily="2" charset="2"/>
              <a:buChar char="l"/>
              <a:defRPr sz="1275" b="0">
                <a:solidFill>
                  <a:srgbClr val="39424F"/>
                </a:solidFill>
                <a:latin typeface="微软雅黑"/>
                <a:ea typeface="微软雅黑"/>
                <a:cs typeface="微软雅黑"/>
              </a:defRPr>
            </a:pPr>
            <a:r>
              <a:rPr sz="1600" dirty="0" err="1">
                <a:solidFill>
                  <a:srgbClr val="39424F"/>
                </a:solidFill>
              </a:rPr>
              <a:t>微调预训练图像塔时关掉</a:t>
            </a:r>
            <a:r>
              <a:rPr sz="1600" dirty="0">
                <a:solidFill>
                  <a:srgbClr val="39424F"/>
                </a:solidFill>
              </a:rPr>
              <a:t> weight decay。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a:spLocks noGrp="1"/>
          </p:cNvSpPr>
          <p:nvPr/>
        </p:nvSpPr>
        <p:spPr>
          <a:xfrm>
            <a:off x="609600" y="381000"/>
            <a:ext cx="10972800" cy="438150"/>
          </a:xfrm>
          <a:prstGeom prst="rect">
            <a:avLst/>
          </a:prstGeom>
          <a:noFill/>
          <a:ln w="0">
            <a:noFill/>
          </a:ln>
        </p:spPr>
        <p:txBody>
          <a:bodyPr lIns="0" tIns="0" rIns="0" bIns="0" anchor="ctr">
            <a:noAutofit/>
          </a:bodyPr>
          <a:lstStyle/>
          <a:p>
            <a:pPr algn="l">
              <a:defRPr sz="2475" b="1">
                <a:solidFill>
                  <a:srgbClr val="12161C"/>
                </a:solidFill>
                <a:latin typeface="微软雅黑"/>
                <a:ea typeface="微软雅黑"/>
                <a:cs typeface="微软雅黑"/>
              </a:defRPr>
            </a:pPr>
            <a:r>
              <a:rPr dirty="0" err="1"/>
              <a:t>延伸</a:t>
            </a:r>
            <a:endParaRPr dirty="0"/>
          </a:p>
        </p:txBody>
      </p:sp>
      <p:sp>
        <p:nvSpPr>
          <p:cNvPr id="2" name="矩形 1"/>
          <p:cNvSpPr>
            <a:spLocks noGrp="1"/>
          </p:cNvSpPr>
          <p:nvPr/>
        </p:nvSpPr>
        <p:spPr>
          <a:xfrm>
            <a:off x="609600" y="895350"/>
            <a:ext cx="10972800" cy="19050"/>
          </a:xfrm>
          <a:prstGeom prst="rect">
            <a:avLst/>
          </a:prstGeom>
          <a:solidFill>
            <a:srgbClr val="DCE2E9"/>
          </a:solidFill>
          <a:ln w="0">
            <a:noFill/>
          </a:ln>
        </p:spPr>
      </p:sp>
      <p:sp>
        <p:nvSpPr>
          <p:cNvPr id="3" name="矩形 2"/>
          <p:cNvSpPr>
            <a:spLocks noGrp="1"/>
          </p:cNvSpPr>
          <p:nvPr/>
        </p:nvSpPr>
        <p:spPr>
          <a:xfrm>
            <a:off x="11144250" y="6324600"/>
            <a:ext cx="438150" cy="228600"/>
          </a:xfrm>
          <a:prstGeom prst="rect">
            <a:avLst/>
          </a:prstGeom>
          <a:noFill/>
          <a:ln w="0">
            <a:noFill/>
          </a:ln>
        </p:spPr>
        <p:txBody>
          <a:bodyPr lIns="0" tIns="0" rIns="0" bIns="0" anchor="t">
            <a:noAutofit/>
          </a:bodyPr>
          <a:lstStyle/>
          <a:p>
            <a:pPr algn="r">
              <a:defRPr sz="975" b="0">
                <a:solidFill>
                  <a:srgbClr val="69747F"/>
                </a:solidFill>
                <a:latin typeface="微软雅黑"/>
                <a:ea typeface="微软雅黑"/>
                <a:cs typeface="微软雅黑"/>
              </a:defRPr>
            </a:pPr>
            <a:r>
              <a:t>15</a:t>
            </a:r>
          </a:p>
        </p:txBody>
      </p:sp>
      <p:sp>
        <p:nvSpPr>
          <p:cNvPr id="5" name="矩形: 圆角 4"/>
          <p:cNvSpPr>
            <a:spLocks noGrp="1"/>
          </p:cNvSpPr>
          <p:nvPr/>
        </p:nvSpPr>
        <p:spPr>
          <a:xfrm>
            <a:off x="609600" y="1295400"/>
            <a:ext cx="5257800" cy="4038600"/>
          </a:xfrm>
          <a:prstGeom prst="roundRect">
            <a:avLst>
              <a:gd name="adj" fmla="val 2358"/>
            </a:avLst>
          </a:prstGeom>
          <a:solidFill>
            <a:srgbClr val="F4F6F9"/>
          </a:solidFill>
          <a:ln w="0">
            <a:noFill/>
          </a:ln>
        </p:spPr>
      </p:sp>
      <p:sp>
        <p:nvSpPr>
          <p:cNvPr id="6" name="矩形 5"/>
          <p:cNvSpPr>
            <a:spLocks noGrp="1"/>
          </p:cNvSpPr>
          <p:nvPr/>
        </p:nvSpPr>
        <p:spPr>
          <a:xfrm>
            <a:off x="838200" y="1485900"/>
            <a:ext cx="4800600" cy="285750"/>
          </a:xfrm>
          <a:prstGeom prst="rect">
            <a:avLst/>
          </a:prstGeom>
          <a:noFill/>
          <a:ln w="0">
            <a:noFill/>
          </a:ln>
        </p:spPr>
        <p:txBody>
          <a:bodyPr lIns="0" tIns="0" rIns="0" bIns="0" anchor="t">
            <a:noAutofit/>
          </a:bodyPr>
          <a:lstStyle/>
          <a:p>
            <a:pPr algn="l">
              <a:defRPr sz="1425" b="1">
                <a:solidFill>
                  <a:srgbClr val="12161C"/>
                </a:solidFill>
                <a:latin typeface="微软雅黑"/>
                <a:ea typeface="微软雅黑"/>
                <a:cs typeface="微软雅黑"/>
              </a:defRPr>
            </a:pPr>
            <a:r>
              <a:rPr dirty="0" err="1"/>
              <a:t>SigLIP</a:t>
            </a:r>
            <a:r>
              <a:rPr dirty="0"/>
              <a:t> 2（2025，Google）</a:t>
            </a:r>
          </a:p>
        </p:txBody>
      </p:sp>
      <p:sp>
        <p:nvSpPr>
          <p:cNvPr id="7" name="矩形 6"/>
          <p:cNvSpPr>
            <a:spLocks noGrp="1"/>
          </p:cNvSpPr>
          <p:nvPr/>
        </p:nvSpPr>
        <p:spPr>
          <a:xfrm>
            <a:off x="838200" y="1924050"/>
            <a:ext cx="4800600" cy="3143250"/>
          </a:xfrm>
          <a:prstGeom prst="rect">
            <a:avLst/>
          </a:prstGeom>
          <a:noFill/>
          <a:ln w="0">
            <a:noFill/>
          </a:ln>
        </p:spPr>
        <p:txBody>
          <a:bodyPr lIns="0" tIns="0" rIns="0" bIns="0" anchor="t">
            <a:noAutofit/>
          </a:bodyPr>
          <a:lstStyle/>
          <a:p>
            <a:pPr marL="219075" indent="-219075" algn="l">
              <a:spcAft>
                <a:spcPts val="1200"/>
              </a:spcAft>
              <a:buChar char="•"/>
              <a:defRPr sz="1125" b="0">
                <a:solidFill>
                  <a:srgbClr val="39424F"/>
                </a:solidFill>
                <a:latin typeface="微软雅黑"/>
                <a:ea typeface="微软雅黑"/>
                <a:cs typeface="微软雅黑"/>
              </a:defRPr>
            </a:pPr>
            <a:r>
              <a:rPr sz="1600" b="1" dirty="0" err="1">
                <a:solidFill>
                  <a:srgbClr val="12161C"/>
                </a:solidFill>
              </a:rPr>
              <a:t>动机：</a:t>
            </a:r>
            <a:r>
              <a:rPr sz="1600" dirty="0" err="1"/>
              <a:t>补原版两个短板</a:t>
            </a:r>
            <a:r>
              <a:rPr sz="1600" dirty="0"/>
              <a:t> —— </a:t>
            </a:r>
            <a:r>
              <a:rPr sz="1600" dirty="0" err="1"/>
              <a:t>多语言强但英文变弱；只做全局图文匹配，密集特征与定位能力弱</a:t>
            </a:r>
            <a:r>
              <a:rPr sz="1600" dirty="0"/>
              <a:t>。</a:t>
            </a:r>
          </a:p>
          <a:p>
            <a:pPr marL="219075" indent="-219075" algn="l">
              <a:spcAft>
                <a:spcPts val="1200"/>
              </a:spcAft>
              <a:buChar char="•"/>
              <a:defRPr sz="1125" b="0">
                <a:solidFill>
                  <a:srgbClr val="39424F"/>
                </a:solidFill>
                <a:latin typeface="微软雅黑"/>
                <a:ea typeface="微软雅黑"/>
                <a:cs typeface="微软雅黑"/>
              </a:defRPr>
            </a:pPr>
            <a:r>
              <a:rPr sz="1600" b="1" dirty="0" err="1">
                <a:solidFill>
                  <a:srgbClr val="12161C"/>
                </a:solidFill>
              </a:rPr>
              <a:t>手段：</a:t>
            </a:r>
            <a:r>
              <a:rPr sz="1600" dirty="0" err="1"/>
              <a:t>加入</a:t>
            </a:r>
            <a:r>
              <a:rPr sz="1600" dirty="0"/>
              <a:t> captioning </a:t>
            </a:r>
            <a:r>
              <a:rPr sz="1600" dirty="0" err="1"/>
              <a:t>生成式目标、用冻结教师做自蒸馏、掩码预测类目标（TIPS</a:t>
            </a:r>
            <a:r>
              <a:rPr sz="1600" dirty="0"/>
              <a:t>）、</a:t>
            </a:r>
            <a:r>
              <a:rPr sz="1600" dirty="0" err="1"/>
              <a:t>多语言数据扩充与去偏</a:t>
            </a:r>
            <a:r>
              <a:rPr sz="1600" dirty="0"/>
              <a:t>。</a:t>
            </a:r>
          </a:p>
          <a:p>
            <a:pPr marL="219075" indent="-219075" algn="l">
              <a:spcAft>
                <a:spcPts val="1200"/>
              </a:spcAft>
              <a:buChar char="•"/>
              <a:defRPr sz="1125" b="0">
                <a:solidFill>
                  <a:srgbClr val="39424F"/>
                </a:solidFill>
                <a:latin typeface="微软雅黑"/>
                <a:ea typeface="微软雅黑"/>
                <a:cs typeface="微软雅黑"/>
              </a:defRPr>
            </a:pPr>
            <a:r>
              <a:rPr sz="1600" b="1" dirty="0" err="1">
                <a:solidFill>
                  <a:srgbClr val="12161C"/>
                </a:solidFill>
              </a:rPr>
              <a:t>结果：</a:t>
            </a:r>
            <a:r>
              <a:rPr sz="1600" dirty="0" err="1"/>
              <a:t>多语言与英文同时提升，密集特征和定位任务明显改善，同等性能下训练更省</a:t>
            </a:r>
            <a:r>
              <a:rPr sz="1600" dirty="0"/>
              <a:t>。</a:t>
            </a:r>
          </a:p>
          <a:p>
            <a:pPr marL="219075" indent="-219075" algn="l">
              <a:spcAft>
                <a:spcPts val="1200"/>
              </a:spcAft>
              <a:buChar char="•"/>
              <a:defRPr sz="1125" b="0">
                <a:solidFill>
                  <a:srgbClr val="39424F"/>
                </a:solidFill>
                <a:latin typeface="微软雅黑"/>
                <a:ea typeface="微软雅黑"/>
                <a:cs typeface="微软雅黑"/>
              </a:defRPr>
            </a:pPr>
            <a:r>
              <a:rPr sz="1600" b="1" dirty="0" err="1">
                <a:solidFill>
                  <a:srgbClr val="12161C"/>
                </a:solidFill>
              </a:rPr>
              <a:t>档位：</a:t>
            </a:r>
            <a:r>
              <a:rPr sz="1600" dirty="0" err="1"/>
              <a:t>B</a:t>
            </a:r>
            <a:r>
              <a:rPr sz="1600" dirty="0"/>
              <a:t> / L / So400m / </a:t>
            </a:r>
            <a:r>
              <a:rPr sz="1600" dirty="0" err="1"/>
              <a:t>g，并新增可变分辨率的</a:t>
            </a:r>
            <a:r>
              <a:rPr sz="1600" dirty="0"/>
              <a:t> </a:t>
            </a:r>
            <a:r>
              <a:rPr sz="1600" dirty="0" err="1"/>
              <a:t>NaFlex</a:t>
            </a:r>
            <a:r>
              <a:rPr sz="1600" dirty="0"/>
              <a:t> </a:t>
            </a:r>
            <a:r>
              <a:rPr sz="1600" dirty="0" err="1"/>
              <a:t>版本</a:t>
            </a:r>
            <a:r>
              <a:rPr sz="1600" dirty="0"/>
              <a:t>。</a:t>
            </a:r>
          </a:p>
        </p:txBody>
      </p:sp>
      <p:sp>
        <p:nvSpPr>
          <p:cNvPr id="8" name="矩形 7"/>
          <p:cNvSpPr>
            <a:spLocks noGrp="1"/>
          </p:cNvSpPr>
          <p:nvPr/>
        </p:nvSpPr>
        <p:spPr>
          <a:xfrm>
            <a:off x="6324600" y="1295400"/>
            <a:ext cx="5257800" cy="285750"/>
          </a:xfrm>
          <a:prstGeom prst="rect">
            <a:avLst/>
          </a:prstGeom>
          <a:noFill/>
          <a:ln w="0">
            <a:noFill/>
          </a:ln>
        </p:spPr>
        <p:txBody>
          <a:bodyPr lIns="0" tIns="0" rIns="0" bIns="0" anchor="t">
            <a:noAutofit/>
          </a:bodyPr>
          <a:lstStyle/>
          <a:p>
            <a:pPr algn="l">
              <a:defRPr sz="1425" b="1">
                <a:solidFill>
                  <a:srgbClr val="12161C"/>
                </a:solidFill>
                <a:latin typeface="微软雅黑"/>
                <a:ea typeface="微软雅黑"/>
                <a:cs typeface="微软雅黑"/>
              </a:defRPr>
            </a:pPr>
            <a:r>
              <a:rPr dirty="0" err="1"/>
              <a:t>被大量多模态模型当作视觉塔</a:t>
            </a:r>
            <a:endParaRPr dirty="0"/>
          </a:p>
        </p:txBody>
      </p:sp>
      <p:graphicFrame>
        <p:nvGraphicFramePr>
          <p:cNvPr id="21" name="表格 20"/>
          <p:cNvGraphicFramePr/>
          <p:nvPr/>
        </p:nvGraphicFramePr>
        <p:xfrm>
          <a:off x="6324600" y="1733550"/>
          <a:ext cx="5257800" cy="2400300"/>
        </p:xfrm>
        <a:graphic>
          <a:graphicData uri="http://schemas.openxmlformats.org/drawingml/2006/table">
            <a:tbl>
              <a:tblPr/>
              <a:tblGrid>
                <a:gridCol w="2981325">
                  <a:extLst>
                    <a:ext uri="{9D8B030D-6E8A-4147-A177-3AD203B41FA5}">
                      <a16:colId xmlns:a16="http://schemas.microsoft.com/office/drawing/2014/main" val="20000"/>
                    </a:ext>
                  </a:extLst>
                </a:gridCol>
                <a:gridCol w="2276475">
                  <a:extLst>
                    <a:ext uri="{9D8B030D-6E8A-4147-A177-3AD203B41FA5}">
                      <a16:colId xmlns:a16="http://schemas.microsoft.com/office/drawing/2014/main" val="20001"/>
                    </a:ext>
                  </a:extLst>
                </a:gridCol>
              </a:tblGrid>
              <a:tr h="400050">
                <a:tc>
                  <a:txBody>
                    <a:bodyPr/>
                    <a:lstStyle/>
                    <a:p>
                      <a:pPr algn="l"/>
                      <a:r>
                        <a:rPr sz="1200" b="1" dirty="0" err="1">
                          <a:solidFill>
                            <a:srgbClr val="12161C"/>
                          </a:solidFill>
                          <a:latin typeface="微软雅黑"/>
                          <a:ea typeface="微软雅黑"/>
                          <a:cs typeface="微软雅黑"/>
                        </a:rPr>
                        <a:t>后续工作</a:t>
                      </a:r>
                      <a:endParaRPr sz="1200" b="1" dirty="0">
                        <a:solidFill>
                          <a:srgbClr val="12161C"/>
                        </a:solidFill>
                        <a:latin typeface="微软雅黑"/>
                        <a:ea typeface="微软雅黑"/>
                        <a:cs typeface="微软雅黑"/>
                      </a:endParaRPr>
                    </a:p>
                  </a:txBody>
                  <a:tcPr marL="76200" marR="76200" marT="28575" marB="28575" anchor="ctr">
                    <a:solidFill>
                      <a:srgbClr val="E9EEF4"/>
                    </a:solidFill>
                  </a:tcPr>
                </a:tc>
                <a:tc>
                  <a:txBody>
                    <a:bodyPr/>
                    <a:lstStyle/>
                    <a:p>
                      <a:pPr algn="l"/>
                      <a:r>
                        <a:rPr lang="zh-CN" altLang="en-US" sz="1200" b="1" dirty="0">
                          <a:solidFill>
                            <a:srgbClr val="12161C"/>
                          </a:solidFill>
                          <a:latin typeface="微软雅黑"/>
                          <a:ea typeface="微软雅黑"/>
                          <a:cs typeface="微软雅黑"/>
                        </a:rPr>
                        <a:t>使用</a:t>
                      </a:r>
                      <a:endParaRPr sz="1200" b="1" dirty="0">
                        <a:solidFill>
                          <a:srgbClr val="12161C"/>
                        </a:solidFill>
                        <a:latin typeface="微软雅黑"/>
                        <a:ea typeface="微软雅黑"/>
                        <a:cs typeface="微软雅黑"/>
                      </a:endParaRPr>
                    </a:p>
                  </a:txBody>
                  <a:tcPr marL="76200" marR="76200" marT="28575" marB="28575" anchor="ctr">
                    <a:solidFill>
                      <a:srgbClr val="E9EEF4"/>
                    </a:solidFill>
                  </a:tcPr>
                </a:tc>
                <a:extLst>
                  <a:ext uri="{0D108BD9-81ED-4DB2-BD59-A6C34878D82A}">
                    <a16:rowId xmlns:a16="http://schemas.microsoft.com/office/drawing/2014/main" val="10000"/>
                  </a:ext>
                </a:extLst>
              </a:tr>
              <a:tr h="400050">
                <a:tc>
                  <a:txBody>
                    <a:bodyPr/>
                    <a:lstStyle/>
                    <a:p>
                      <a:pPr algn="l"/>
                      <a:r>
                        <a:rPr sz="1200" b="0" dirty="0">
                          <a:solidFill>
                            <a:srgbClr val="39424F"/>
                          </a:solidFill>
                          <a:latin typeface="微软雅黑"/>
                          <a:ea typeface="微软雅黑"/>
                          <a:cs typeface="微软雅黑"/>
                        </a:rPr>
                        <a:t>PaLI-3（同组，2023）</a:t>
                      </a:r>
                    </a:p>
                  </a:txBody>
                  <a:tcPr marL="76200" marR="76200" marT="28575" marB="28575" anchor="ctr">
                    <a:solidFill>
                      <a:srgbClr val="FFFFFF"/>
                    </a:solidFill>
                  </a:tcPr>
                </a:tc>
                <a:tc>
                  <a:txBody>
                    <a:bodyPr/>
                    <a:lstStyle/>
                    <a:p>
                      <a:pPr algn="l"/>
                      <a:r>
                        <a:rPr sz="1200" b="0">
                          <a:solidFill>
                            <a:srgbClr val="39424F"/>
                          </a:solidFill>
                          <a:latin typeface="微软雅黑"/>
                          <a:ea typeface="微软雅黑"/>
                          <a:cs typeface="微软雅黑"/>
                        </a:rPr>
                        <a:t>直接以 SigLIP 作视觉塔</a:t>
                      </a:r>
                    </a:p>
                  </a:txBody>
                  <a:tcPr marL="76200" marR="76200" marT="28575" marB="28575" anchor="ctr">
                    <a:solidFill>
                      <a:srgbClr val="FFFFFF"/>
                    </a:solidFill>
                  </a:tcPr>
                </a:tc>
                <a:extLst>
                  <a:ext uri="{0D108BD9-81ED-4DB2-BD59-A6C34878D82A}">
                    <a16:rowId xmlns:a16="http://schemas.microsoft.com/office/drawing/2014/main" val="10001"/>
                  </a:ext>
                </a:extLst>
              </a:tr>
              <a:tr h="400050">
                <a:tc>
                  <a:txBody>
                    <a:bodyPr/>
                    <a:lstStyle/>
                    <a:p>
                      <a:pPr algn="l"/>
                      <a:r>
                        <a:rPr sz="1200" b="0" dirty="0" err="1">
                          <a:solidFill>
                            <a:srgbClr val="39424F"/>
                          </a:solidFill>
                          <a:latin typeface="微软雅黑"/>
                          <a:ea typeface="微软雅黑"/>
                          <a:cs typeface="微软雅黑"/>
                        </a:rPr>
                        <a:t>PaliGemma</a:t>
                      </a:r>
                      <a:r>
                        <a:rPr sz="1200" b="0" dirty="0">
                          <a:solidFill>
                            <a:srgbClr val="39424F"/>
                          </a:solidFill>
                          <a:latin typeface="微软雅黑"/>
                          <a:ea typeface="微软雅黑"/>
                          <a:cs typeface="微软雅黑"/>
                        </a:rPr>
                        <a:t> / </a:t>
                      </a:r>
                      <a:r>
                        <a:rPr sz="1200" b="0" dirty="0" err="1">
                          <a:solidFill>
                            <a:srgbClr val="39424F"/>
                          </a:solidFill>
                          <a:latin typeface="微软雅黑"/>
                          <a:ea typeface="微软雅黑"/>
                          <a:cs typeface="微软雅黑"/>
                        </a:rPr>
                        <a:t>PaliGemma</a:t>
                      </a:r>
                      <a:r>
                        <a:rPr sz="1200" b="0" dirty="0">
                          <a:solidFill>
                            <a:srgbClr val="39424F"/>
                          </a:solidFill>
                          <a:latin typeface="微软雅黑"/>
                          <a:ea typeface="微软雅黑"/>
                          <a:cs typeface="微软雅黑"/>
                        </a:rPr>
                        <a:t> 2（2024）</a:t>
                      </a:r>
                    </a:p>
                  </a:txBody>
                  <a:tcPr marL="76200" marR="76200" marT="28575" marB="28575" anchor="ctr">
                    <a:solidFill>
                      <a:srgbClr val="FFFFFF"/>
                    </a:solidFill>
                  </a:tcPr>
                </a:tc>
                <a:tc>
                  <a:txBody>
                    <a:bodyPr/>
                    <a:lstStyle/>
                    <a:p>
                      <a:pPr algn="l"/>
                      <a:r>
                        <a:rPr sz="1200" b="0">
                          <a:solidFill>
                            <a:srgbClr val="39424F"/>
                          </a:solidFill>
                          <a:latin typeface="微软雅黑"/>
                          <a:ea typeface="微软雅黑"/>
                          <a:cs typeface="微软雅黑"/>
                        </a:rPr>
                        <a:t>视觉塔为 SigLIP-So400m</a:t>
                      </a:r>
                    </a:p>
                  </a:txBody>
                  <a:tcPr marL="76200" marR="76200" marT="28575" marB="28575" anchor="ctr">
                    <a:solidFill>
                      <a:srgbClr val="FFFFFF"/>
                    </a:solidFill>
                  </a:tcPr>
                </a:tc>
                <a:extLst>
                  <a:ext uri="{0D108BD9-81ED-4DB2-BD59-A6C34878D82A}">
                    <a16:rowId xmlns:a16="http://schemas.microsoft.com/office/drawing/2014/main" val="10002"/>
                  </a:ext>
                </a:extLst>
              </a:tr>
              <a:tr h="400050">
                <a:tc>
                  <a:txBody>
                    <a:bodyPr/>
                    <a:lstStyle/>
                    <a:p>
                      <a:pPr algn="l"/>
                      <a:r>
                        <a:rPr sz="1200" b="0" dirty="0">
                          <a:solidFill>
                            <a:srgbClr val="39424F"/>
                          </a:solidFill>
                          <a:latin typeface="微软雅黑"/>
                          <a:ea typeface="微软雅黑"/>
                          <a:cs typeface="微软雅黑"/>
                        </a:rPr>
                        <a:t>Idefics2（HuggingFace, 2024）</a:t>
                      </a:r>
                    </a:p>
                  </a:txBody>
                  <a:tcPr marL="76200" marR="76200" marT="28575" marB="28575" anchor="ctr">
                    <a:solidFill>
                      <a:srgbClr val="FFFFFF"/>
                    </a:solidFill>
                  </a:tcPr>
                </a:tc>
                <a:tc>
                  <a:txBody>
                    <a:bodyPr/>
                    <a:lstStyle/>
                    <a:p>
                      <a:pPr algn="l"/>
                      <a:r>
                        <a:rPr sz="1200" b="0" dirty="0" err="1">
                          <a:solidFill>
                            <a:srgbClr val="39424F"/>
                          </a:solidFill>
                          <a:latin typeface="微软雅黑"/>
                          <a:ea typeface="微软雅黑"/>
                          <a:cs typeface="微软雅黑"/>
                        </a:rPr>
                        <a:t>使用</a:t>
                      </a:r>
                      <a:r>
                        <a:rPr sz="1200" b="0" dirty="0">
                          <a:solidFill>
                            <a:srgbClr val="39424F"/>
                          </a:solidFill>
                          <a:latin typeface="微软雅黑"/>
                          <a:ea typeface="微软雅黑"/>
                          <a:cs typeface="微软雅黑"/>
                        </a:rPr>
                        <a:t> SigLIP-SO400M</a:t>
                      </a:r>
                    </a:p>
                  </a:txBody>
                  <a:tcPr marL="76200" marR="76200" marT="28575" marB="28575" anchor="ctr">
                    <a:solidFill>
                      <a:srgbClr val="FFFFFF"/>
                    </a:solidFill>
                  </a:tcPr>
                </a:tc>
                <a:extLst>
                  <a:ext uri="{0D108BD9-81ED-4DB2-BD59-A6C34878D82A}">
                    <a16:rowId xmlns:a16="http://schemas.microsoft.com/office/drawing/2014/main" val="10003"/>
                  </a:ext>
                </a:extLst>
              </a:tr>
              <a:tr h="400050">
                <a:tc>
                  <a:txBody>
                    <a:bodyPr/>
                    <a:lstStyle/>
                    <a:p>
                      <a:pPr algn="l"/>
                      <a:r>
                        <a:rPr sz="1200" b="0">
                          <a:solidFill>
                            <a:srgbClr val="39424F"/>
                          </a:solidFill>
                          <a:latin typeface="微软雅黑"/>
                          <a:ea typeface="微软雅黑"/>
                          <a:cs typeface="微软雅黑"/>
                        </a:rPr>
                        <a:t>Gemma 3（2025）</a:t>
                      </a:r>
                    </a:p>
                  </a:txBody>
                  <a:tcPr marL="76200" marR="76200" marT="28575" marB="28575" anchor="ctr">
                    <a:solidFill>
                      <a:srgbClr val="FFFFFF"/>
                    </a:solidFill>
                  </a:tcPr>
                </a:tc>
                <a:tc>
                  <a:txBody>
                    <a:bodyPr/>
                    <a:lstStyle/>
                    <a:p>
                      <a:pPr algn="l"/>
                      <a:r>
                        <a:rPr sz="1200" b="0" dirty="0" err="1">
                          <a:solidFill>
                            <a:srgbClr val="39424F"/>
                          </a:solidFill>
                          <a:latin typeface="微软雅黑"/>
                          <a:ea typeface="微软雅黑"/>
                          <a:cs typeface="微软雅黑"/>
                        </a:rPr>
                        <a:t>SigLIP</a:t>
                      </a:r>
                      <a:r>
                        <a:rPr sz="1200" b="0" dirty="0">
                          <a:solidFill>
                            <a:srgbClr val="39424F"/>
                          </a:solidFill>
                          <a:latin typeface="微软雅黑"/>
                          <a:ea typeface="微软雅黑"/>
                          <a:cs typeface="微软雅黑"/>
                        </a:rPr>
                        <a:t> </a:t>
                      </a:r>
                      <a:r>
                        <a:rPr sz="1200" b="0" dirty="0" err="1">
                          <a:solidFill>
                            <a:srgbClr val="39424F"/>
                          </a:solidFill>
                          <a:latin typeface="微软雅黑"/>
                          <a:ea typeface="微软雅黑"/>
                          <a:cs typeface="微软雅黑"/>
                        </a:rPr>
                        <a:t>系视觉编码器</a:t>
                      </a:r>
                      <a:endParaRPr sz="1200" b="0" dirty="0">
                        <a:solidFill>
                          <a:srgbClr val="39424F"/>
                        </a:solidFill>
                        <a:latin typeface="微软雅黑"/>
                        <a:ea typeface="微软雅黑"/>
                        <a:cs typeface="微软雅黑"/>
                      </a:endParaRPr>
                    </a:p>
                  </a:txBody>
                  <a:tcPr marL="76200" marR="76200" marT="28575" marB="28575" anchor="ctr">
                    <a:solidFill>
                      <a:srgbClr val="FFFFFF"/>
                    </a:solidFill>
                  </a:tcPr>
                </a:tc>
                <a:extLst>
                  <a:ext uri="{0D108BD9-81ED-4DB2-BD59-A6C34878D82A}">
                    <a16:rowId xmlns:a16="http://schemas.microsoft.com/office/drawing/2014/main" val="10004"/>
                  </a:ext>
                </a:extLst>
              </a:tr>
              <a:tr h="400050">
                <a:tc>
                  <a:txBody>
                    <a:bodyPr/>
                    <a:lstStyle/>
                    <a:p>
                      <a:pPr algn="l"/>
                      <a:r>
                        <a:rPr sz="1200" b="0">
                          <a:solidFill>
                            <a:srgbClr val="39424F"/>
                          </a:solidFill>
                          <a:latin typeface="微软雅黑"/>
                          <a:ea typeface="微软雅黑"/>
                          <a:cs typeface="微软雅黑"/>
                        </a:rPr>
                        <a:t>Prismatic VLMs / OpenVLA（2024）</a:t>
                      </a:r>
                    </a:p>
                  </a:txBody>
                  <a:tcPr marL="76200" marR="76200" marT="28575" marB="28575" anchor="ctr">
                    <a:solidFill>
                      <a:srgbClr val="FFFFFF"/>
                    </a:solidFill>
                  </a:tcPr>
                </a:tc>
                <a:tc>
                  <a:txBody>
                    <a:bodyPr/>
                    <a:lstStyle/>
                    <a:p>
                      <a:pPr algn="l"/>
                      <a:r>
                        <a:rPr sz="1200" b="0" dirty="0">
                          <a:solidFill>
                            <a:srgbClr val="39424F"/>
                          </a:solidFill>
                          <a:latin typeface="微软雅黑"/>
                          <a:ea typeface="微软雅黑"/>
                          <a:cs typeface="微软雅黑"/>
                        </a:rPr>
                        <a:t>DINOv2 + </a:t>
                      </a:r>
                      <a:r>
                        <a:rPr sz="1200" b="0" dirty="0" err="1">
                          <a:solidFill>
                            <a:srgbClr val="39424F"/>
                          </a:solidFill>
                          <a:latin typeface="微软雅黑"/>
                          <a:ea typeface="微软雅黑"/>
                          <a:cs typeface="微软雅黑"/>
                        </a:rPr>
                        <a:t>SigLIP</a:t>
                      </a:r>
                      <a:r>
                        <a:rPr sz="1200" b="0" dirty="0">
                          <a:solidFill>
                            <a:srgbClr val="39424F"/>
                          </a:solidFill>
                          <a:latin typeface="微软雅黑"/>
                          <a:ea typeface="微软雅黑"/>
                          <a:cs typeface="微软雅黑"/>
                        </a:rPr>
                        <a:t> </a:t>
                      </a:r>
                      <a:r>
                        <a:rPr sz="1200" b="0" dirty="0" err="1">
                          <a:solidFill>
                            <a:srgbClr val="39424F"/>
                          </a:solidFill>
                          <a:latin typeface="微软雅黑"/>
                          <a:ea typeface="微软雅黑"/>
                          <a:cs typeface="微软雅黑"/>
                        </a:rPr>
                        <a:t>特征融合</a:t>
                      </a:r>
                      <a:endParaRPr sz="1200" b="0" dirty="0">
                        <a:solidFill>
                          <a:srgbClr val="39424F"/>
                        </a:solidFill>
                        <a:latin typeface="微软雅黑"/>
                        <a:ea typeface="微软雅黑"/>
                        <a:cs typeface="微软雅黑"/>
                      </a:endParaRPr>
                    </a:p>
                  </a:txBody>
                  <a:tcPr marL="76200" marR="76200" marT="28575" marB="28575" anchor="ctr">
                    <a:solidFill>
                      <a:srgbClr val="FFFFFF"/>
                    </a:solidFill>
                  </a:tcPr>
                </a:tc>
                <a:extLst>
                  <a:ext uri="{0D108BD9-81ED-4DB2-BD59-A6C34878D82A}">
                    <a16:rowId xmlns:a16="http://schemas.microsoft.com/office/drawing/2014/main" val="10005"/>
                  </a:ext>
                </a:extLst>
              </a:tr>
            </a:tbl>
          </a:graphicData>
        </a:graphic>
      </p:graphicFrame>
      <p:sp>
        <p:nvSpPr>
          <p:cNvPr id="10" name="矩形 9"/>
          <p:cNvSpPr>
            <a:spLocks noGrp="1"/>
          </p:cNvSpPr>
          <p:nvPr/>
        </p:nvSpPr>
        <p:spPr>
          <a:xfrm>
            <a:off x="6324600" y="4286250"/>
            <a:ext cx="5257800" cy="1047750"/>
          </a:xfrm>
          <a:prstGeom prst="rect">
            <a:avLst/>
          </a:prstGeom>
          <a:noFill/>
          <a:ln w="0">
            <a:noFill/>
          </a:ln>
        </p:spPr>
        <p:txBody>
          <a:bodyPr lIns="0" tIns="0" rIns="0" bIns="0" anchor="t">
            <a:noAutofit/>
          </a:bodyPr>
          <a:lstStyle/>
          <a:p>
            <a:pPr algn="l">
              <a:defRPr sz="1090" b="0">
                <a:solidFill>
                  <a:srgbClr val="69747F"/>
                </a:solidFill>
                <a:latin typeface="微软雅黑"/>
                <a:ea typeface="微软雅黑"/>
                <a:cs typeface="微软雅黑"/>
              </a:defRPr>
            </a:pPr>
            <a:r>
              <a:rPr sz="1600" dirty="0" err="1"/>
              <a:t>值得注意的分工：SigLIP</a:t>
            </a:r>
            <a:r>
              <a:rPr sz="1600" dirty="0"/>
              <a:t> 管语义对齐，DINOv2 </a:t>
            </a:r>
            <a:r>
              <a:rPr sz="1600" dirty="0" err="1"/>
              <a:t>管空间细节</a:t>
            </a:r>
            <a:r>
              <a:rPr sz="1600" dirty="0"/>
              <a:t> —— </a:t>
            </a:r>
            <a:r>
              <a:rPr sz="1600" dirty="0" err="1"/>
              <a:t>恰好补上原版密集特征的短板</a:t>
            </a:r>
            <a:r>
              <a:rPr sz="1600" dirty="0"/>
              <a:t>。</a:t>
            </a:r>
          </a:p>
        </p:txBody>
      </p:sp>
      <p:sp>
        <p:nvSpPr>
          <p:cNvPr id="11" name="矩形: 圆角 10"/>
          <p:cNvSpPr>
            <a:spLocks noGrp="1"/>
          </p:cNvSpPr>
          <p:nvPr/>
        </p:nvSpPr>
        <p:spPr>
          <a:xfrm>
            <a:off x="609600" y="5505450"/>
            <a:ext cx="10972800" cy="628650"/>
          </a:xfrm>
          <a:prstGeom prst="roundRect">
            <a:avLst>
              <a:gd name="adj" fmla="val 15152"/>
            </a:avLst>
          </a:prstGeom>
          <a:solidFill>
            <a:srgbClr val="FDF4EF"/>
          </a:solidFill>
          <a:ln w="0">
            <a:noFill/>
          </a:ln>
        </p:spPr>
      </p:sp>
      <p:sp>
        <p:nvSpPr>
          <p:cNvPr id="12" name="矩形 11"/>
          <p:cNvSpPr>
            <a:spLocks noGrp="1"/>
          </p:cNvSpPr>
          <p:nvPr/>
        </p:nvSpPr>
        <p:spPr>
          <a:xfrm>
            <a:off x="838200" y="5505450"/>
            <a:ext cx="10515600" cy="628650"/>
          </a:xfrm>
          <a:prstGeom prst="rect">
            <a:avLst/>
          </a:prstGeom>
          <a:noFill/>
          <a:ln w="0">
            <a:noFill/>
          </a:ln>
        </p:spPr>
        <p:txBody>
          <a:bodyPr lIns="0" tIns="0" rIns="0" bIns="0" anchor="ctr">
            <a:noAutofit/>
          </a:bodyPr>
          <a:lstStyle/>
          <a:p>
            <a:pPr algn="l">
              <a:defRPr sz="1275" b="1">
                <a:solidFill>
                  <a:srgbClr val="C2410C"/>
                </a:solidFill>
                <a:latin typeface="微软雅黑"/>
                <a:ea typeface="微软雅黑"/>
                <a:cs typeface="微软雅黑"/>
              </a:defRPr>
            </a:pPr>
            <a:r>
              <a:t>一篇只改损失函数的论文，最后成了多模态模型视觉编码器的常见默认选项之一。</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1366520"/>
            <a:ext cx="12192000" cy="29267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spcBef>
                <a:spcPts val="0"/>
              </a:spcBef>
              <a:spcAft>
                <a:spcPts val="0"/>
              </a:spcAft>
            </a:pPr>
            <a:endParaRPr lang="zh-CN" altLang="zh-CN" sz="4000" dirty="0">
              <a:solidFill>
                <a:schemeClr val="bg2"/>
              </a:solidFill>
              <a:effectLst/>
              <a:latin typeface="微软雅黑" panose="020B0503020204020204" pitchFamily="34" charset="-122"/>
              <a:ea typeface="微软雅黑" panose="020B0503020204020204" pitchFamily="34" charset="-122"/>
            </a:endParaRPr>
          </a:p>
        </p:txBody>
      </p:sp>
      <p:sp>
        <p:nvSpPr>
          <p:cNvPr id="9" name="文本框 8"/>
          <p:cNvSpPr txBox="1"/>
          <p:nvPr/>
        </p:nvSpPr>
        <p:spPr>
          <a:xfrm>
            <a:off x="532245" y="1617650"/>
            <a:ext cx="11127634" cy="1531620"/>
          </a:xfrm>
          <a:prstGeom prst="rect">
            <a:avLst/>
          </a:prstGeom>
          <a:noFill/>
        </p:spPr>
        <p:txBody>
          <a:bodyPr wrap="square" rtlCol="0">
            <a:spAutoFit/>
          </a:bodyPr>
          <a:lstStyle/>
          <a:p>
            <a:pPr algn="ctr">
              <a:lnSpc>
                <a:spcPct val="130000"/>
              </a:lnSpc>
            </a:pPr>
            <a:r>
              <a:rPr lang="en-US" altLang="zh-CN" sz="3600" b="1" dirty="0">
                <a:solidFill>
                  <a:schemeClr val="bg1"/>
                </a:solidFill>
                <a:latin typeface="微软雅黑" panose="020B0503020204020204" pitchFamily="34" charset="-122"/>
                <a:ea typeface="微软雅黑" panose="020B0503020204020204" pitchFamily="34" charset="-122"/>
              </a:rPr>
              <a:t>AGFT：</a:t>
            </a:r>
            <a:r>
              <a:rPr lang="zh-CN" altLang="en-US" sz="3600" b="1" dirty="0">
                <a:solidFill>
                  <a:schemeClr val="bg1"/>
                </a:solidFill>
                <a:latin typeface="微软雅黑" panose="020B0503020204020204" pitchFamily="34" charset="-122"/>
                <a:ea typeface="微软雅黑" panose="020B0503020204020204" pitchFamily="34" charset="-122"/>
              </a:rPr>
              <a:t>用于视觉语言模型零样本对抗鲁棒性的</a:t>
            </a:r>
          </a:p>
          <a:p>
            <a:pPr algn="ctr">
              <a:lnSpc>
                <a:spcPct val="130000"/>
              </a:lnSpc>
            </a:pPr>
            <a:r>
              <a:rPr lang="zh-CN" altLang="en-US" sz="3600" b="1" dirty="0">
                <a:solidFill>
                  <a:schemeClr val="bg1"/>
                </a:solidFill>
                <a:latin typeface="微软雅黑" panose="020B0503020204020204" pitchFamily="34" charset="-122"/>
                <a:ea typeface="微软雅黑" panose="020B0503020204020204" pitchFamily="34" charset="-122"/>
              </a:rPr>
              <a:t>对齐引导微调</a:t>
            </a:r>
          </a:p>
        </p:txBody>
      </p:sp>
      <p:graphicFrame>
        <p:nvGraphicFramePr>
          <p:cNvPr id="10" name="表格 2"/>
          <p:cNvGraphicFramePr>
            <a:graphicFrameLocks noGrp="1"/>
          </p:cNvGraphicFramePr>
          <p:nvPr/>
        </p:nvGraphicFramePr>
        <p:xfrm>
          <a:off x="3221990" y="4561840"/>
          <a:ext cx="5892165" cy="1889760"/>
        </p:xfrm>
        <a:graphic>
          <a:graphicData uri="http://schemas.openxmlformats.org/drawingml/2006/table">
            <a:tbl>
              <a:tblPr firstRow="1" bandRow="1">
                <a:tableStyleId>{2D5ABB26-0587-4C30-8999-92F81FD0307C}</a:tableStyleId>
              </a:tblPr>
              <a:tblGrid>
                <a:gridCol w="716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4967605">
                  <a:extLst>
                    <a:ext uri="{9D8B030D-6E8A-4147-A177-3AD203B41FA5}">
                      <a16:colId xmlns:a16="http://schemas.microsoft.com/office/drawing/2014/main" val="20002"/>
                    </a:ext>
                  </a:extLst>
                </a:gridCol>
              </a:tblGrid>
              <a:tr h="1889760">
                <a:tc>
                  <a:txBody>
                    <a:bodyPr/>
                    <a:lstStyle/>
                    <a:p>
                      <a:pPr marL="0" algn="dist" defTabSz="457200" rtl="0" eaLnBrk="1" latinLnBrk="0" hangingPunct="1">
                        <a:lnSpc>
                          <a:spcPct val="140000"/>
                        </a:lnSpc>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会议</a:t>
                      </a:r>
                    </a:p>
                    <a:p>
                      <a:pPr marL="0" algn="dist" defTabSz="457200" rtl="0" eaLnBrk="1" latinLnBrk="0" hangingPunct="1">
                        <a:lnSpc>
                          <a:spcPct val="140000"/>
                        </a:lnSpc>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作者</a:t>
                      </a:r>
                    </a:p>
                    <a:p>
                      <a:pPr marL="0" algn="dist" defTabSz="457200" rtl="0" eaLnBrk="1" latinLnBrk="0" hangingPunct="1">
                        <a:lnSpc>
                          <a:spcPct val="140000"/>
                        </a:lnSpc>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机构</a:t>
                      </a:r>
                    </a:p>
                    <a:p>
                      <a:pPr marL="0" algn="dist" defTabSz="457200" rtl="0" eaLnBrk="1" latinLnBrk="0" hangingPunct="1">
                        <a:lnSpc>
                          <a:spcPct val="140000"/>
                        </a:lnSpc>
                      </a:pPr>
                      <a:endParaRPr lang="zh-CN" altLang="en-US" sz="1400" b="1" kern="1200" dirty="0">
                        <a:solidFill>
                          <a:schemeClr val="tx1"/>
                        </a:solidFill>
                        <a:latin typeface="微软雅黑" panose="020B0503020204020204" pitchFamily="34" charset="-122"/>
                        <a:ea typeface="微软雅黑" panose="020B0503020204020204" pitchFamily="34" charset="-122"/>
                        <a:cs typeface="+mn-cs"/>
                      </a:endParaRPr>
                    </a:p>
                    <a:p>
                      <a:pPr marL="0" algn="dist" defTabSz="457200" rtl="0" eaLnBrk="1" latinLnBrk="0" hangingPunct="1">
                        <a:lnSpc>
                          <a:spcPct val="140000"/>
                        </a:lnSpc>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汇报人</a:t>
                      </a:r>
                    </a:p>
                    <a:p>
                      <a:pPr marL="0" algn="dist" defTabSz="457200" rtl="0" eaLnBrk="1" latinLnBrk="0" hangingPunct="1">
                        <a:lnSpc>
                          <a:spcPct val="140000"/>
                        </a:lnSpc>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日期</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40000"/>
                        </a:lnSpc>
                      </a:pPr>
                      <a:endParaRPr lang="zh-CN" altLang="en-US" sz="1400" b="1"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40000"/>
                        </a:lnSpc>
                      </a:pPr>
                      <a:r>
                        <a:rPr lang="en-US" altLang="zh-CN" sz="1400" kern="1200" dirty="0">
                          <a:solidFill>
                            <a:schemeClr val="tx1"/>
                          </a:solidFill>
                          <a:latin typeface="微软雅黑" panose="020B0503020204020204" pitchFamily="34" charset="-122"/>
                          <a:ea typeface="微软雅黑" panose="020B0503020204020204" pitchFamily="34" charset="-122"/>
                          <a:cs typeface="+mn-cs"/>
                        </a:rPr>
                        <a:t>CVPR 2026</a:t>
                      </a:r>
                    </a:p>
                    <a:p>
                      <a:pPr marL="0" algn="l" defTabSz="457200" rtl="0" eaLnBrk="1" latinLnBrk="0" hangingPunct="1">
                        <a:lnSpc>
                          <a:spcPct val="140000"/>
                        </a:lnSpc>
                      </a:pPr>
                      <a:r>
                        <a:rPr lang="en-US" altLang="zh-CN" sz="1400" kern="1200" dirty="0">
                          <a:solidFill>
                            <a:schemeClr val="tx1"/>
                          </a:solidFill>
                          <a:latin typeface="微软雅黑" panose="020B0503020204020204" pitchFamily="34" charset="-122"/>
                          <a:ea typeface="微软雅黑" panose="020B0503020204020204" pitchFamily="34" charset="-122"/>
                          <a:cs typeface="+mn-cs"/>
                        </a:rPr>
                        <a:t>Yubo Cui, Xianchao Guan, Zihao Wang, Zheng Zhang</a:t>
                      </a:r>
                    </a:p>
                    <a:p>
                      <a:pPr marL="0" algn="l" defTabSz="457200" rtl="0" eaLnBrk="1" latinLnBrk="0" hangingPunct="1">
                        <a:lnSpc>
                          <a:spcPct val="140000"/>
                        </a:lnSpc>
                      </a:pPr>
                      <a:r>
                        <a:rPr lang="en-US" altLang="zh-CN" sz="1400" kern="1200" dirty="0">
                          <a:solidFill>
                            <a:schemeClr val="tx1"/>
                          </a:solidFill>
                          <a:latin typeface="微软雅黑" panose="020B0503020204020204" pitchFamily="34" charset="-122"/>
                          <a:ea typeface="微软雅黑" panose="020B0503020204020204" pitchFamily="34" charset="-122"/>
                          <a:cs typeface="+mn-cs"/>
                        </a:rPr>
                        <a:t>Harbin Institute of Technology, Shenzhen; </a:t>
                      </a:r>
                    </a:p>
                    <a:p>
                      <a:pPr marL="0" algn="l" defTabSz="457200" rtl="0" eaLnBrk="1" latinLnBrk="0" hangingPunct="1">
                        <a:lnSpc>
                          <a:spcPct val="140000"/>
                        </a:lnSpc>
                      </a:pPr>
                      <a:r>
                        <a:rPr lang="en-US" altLang="zh-CN" sz="1400" kern="1200" dirty="0">
                          <a:solidFill>
                            <a:schemeClr val="tx1"/>
                          </a:solidFill>
                          <a:latin typeface="微软雅黑" panose="020B0503020204020204" pitchFamily="34" charset="-122"/>
                          <a:ea typeface="微软雅黑" panose="020B0503020204020204" pitchFamily="34" charset="-122"/>
                          <a:cs typeface="+mn-cs"/>
                        </a:rPr>
                        <a:t>Shenzhen Loop Area Institute</a:t>
                      </a:r>
                    </a:p>
                    <a:p>
                      <a:pPr marL="0" algn="l" defTabSz="457200" rtl="0" eaLnBrk="1" latinLnBrk="0" hangingPunct="1">
                        <a:lnSpc>
                          <a:spcPct val="140000"/>
                        </a:lnSpc>
                      </a:pPr>
                      <a:r>
                        <a:rPr lang="en-US" altLang="zh-CN" sz="1400" kern="1200" dirty="0">
                          <a:solidFill>
                            <a:schemeClr val="tx1"/>
                          </a:solidFill>
                          <a:latin typeface="微软雅黑" panose="020B0503020204020204" pitchFamily="34" charset="-122"/>
                          <a:ea typeface="微软雅黑" panose="020B0503020204020204" pitchFamily="34" charset="-122"/>
                          <a:cs typeface="+mn-cs"/>
                        </a:rPr>
                        <a:t>2612190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王滢</a:t>
                      </a:r>
                    </a:p>
                    <a:p>
                      <a:pPr marL="0" algn="l" defTabSz="457200" rtl="0" eaLnBrk="1" latinLnBrk="0" hangingPunct="1">
                        <a:lnSpc>
                          <a:spcPct val="140000"/>
                        </a:lnSpc>
                      </a:pPr>
                      <a:r>
                        <a:rPr lang="en-US" altLang="zh-CN" sz="1400" kern="1200" dirty="0">
                          <a:solidFill>
                            <a:schemeClr val="tx1"/>
                          </a:solidFill>
                          <a:latin typeface="微软雅黑" panose="020B0503020204020204" pitchFamily="34" charset="-122"/>
                          <a:ea typeface="微软雅黑" panose="020B0503020204020204" pitchFamily="34" charset="-122"/>
                          <a:cs typeface="+mn-cs"/>
                        </a:rPr>
                        <a:t>2026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年</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9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月</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30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日</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2" name="文本框 1"/>
          <p:cNvSpPr txBox="1"/>
          <p:nvPr/>
        </p:nvSpPr>
        <p:spPr>
          <a:xfrm>
            <a:off x="1127760" y="3237865"/>
            <a:ext cx="9937115" cy="768350"/>
          </a:xfrm>
          <a:prstGeom prst="rect">
            <a:avLst/>
          </a:prstGeom>
          <a:noFill/>
        </p:spPr>
        <p:txBody>
          <a:bodyPr wrap="square" rtlCol="0">
            <a:spAutoFit/>
          </a:bodyPr>
          <a:lstStyle/>
          <a:p>
            <a:pPr algn="ctr"/>
            <a:r>
              <a:rPr lang="en-US" altLang="zh-CN" sz="2000">
                <a:solidFill>
                  <a:schemeClr val="bg1"/>
                </a:solidFill>
                <a:latin typeface="微软雅黑" panose="020B0503020204020204" pitchFamily="34" charset="-122"/>
                <a:ea typeface="微软雅黑" panose="020B0503020204020204" pitchFamily="34" charset="-122"/>
              </a:rPr>
              <a:t>AGFT: Alignment-Guided Fine-Tuning for Zero-Shot Adversarial Robustness of  </a:t>
            </a:r>
          </a:p>
          <a:p>
            <a:pPr algn="ctr">
              <a:lnSpc>
                <a:spcPct val="120000"/>
              </a:lnSpc>
            </a:pPr>
            <a:r>
              <a:rPr lang="en-US" altLang="zh-CN" sz="2000">
                <a:solidFill>
                  <a:schemeClr val="bg1"/>
                </a:solidFill>
                <a:latin typeface="微软雅黑" panose="020B0503020204020204" pitchFamily="34" charset="-122"/>
                <a:ea typeface="微软雅黑" panose="020B0503020204020204" pitchFamily="34" charset="-122"/>
              </a:rPr>
              <a:t>Vision-Language Models</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184785" y="1435735"/>
            <a:ext cx="5543550" cy="4413885"/>
          </a:xfrm>
          <a:prstGeom prst="roundRect">
            <a:avLst>
              <a:gd name="adj" fmla="val 5160"/>
            </a:avLst>
          </a:prstGeom>
          <a:solidFill>
            <a:schemeClr val="bg1">
              <a:alpha val="30196"/>
            </a:schemeClr>
          </a:solid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92" name="矩形: 圆角 291"/>
          <p:cNvSpPr/>
          <p:nvPr/>
        </p:nvSpPr>
        <p:spPr>
          <a:xfrm>
            <a:off x="5892800" y="1436370"/>
            <a:ext cx="6046470" cy="4437380"/>
          </a:xfrm>
          <a:prstGeom prst="roundRect">
            <a:avLst>
              <a:gd name="adj" fmla="val 5160"/>
            </a:avLst>
          </a:prstGeom>
          <a:no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96" name="文本框 295"/>
          <p:cNvSpPr txBox="1"/>
          <p:nvPr/>
        </p:nvSpPr>
        <p:spPr>
          <a:xfrm>
            <a:off x="1437640" y="1280160"/>
            <a:ext cx="2915285" cy="343535"/>
          </a:xfrm>
          <a:prstGeom prst="rect">
            <a:avLst/>
          </a:prstGeom>
          <a:solidFill>
            <a:schemeClr val="bg1"/>
          </a:solidFill>
        </p:spPr>
        <p:txBody>
          <a:bodyPr wrap="square" rtlCol="0">
            <a:noAutofit/>
          </a:bodyPr>
          <a:lstStyle/>
          <a:p>
            <a:pPr algn="ctr"/>
            <a:r>
              <a:rPr lang="zh-CN" altLang="en-US" b="1" dirty="0">
                <a:latin typeface="微软雅黑" panose="020B0503020204020204" pitchFamily="34" charset="-122"/>
                <a:ea typeface="微软雅黑" panose="020B0503020204020204" pitchFamily="34" charset="-122"/>
                <a:cs typeface="Calibri" panose="020F0502020204030204" pitchFamily="34" charset="0"/>
              </a:rPr>
              <a:t>强大的零样本泛化能力</a:t>
            </a:r>
          </a:p>
        </p:txBody>
      </p:sp>
      <p:sp>
        <p:nvSpPr>
          <p:cNvPr id="297" name="文本框 296"/>
          <p:cNvSpPr txBox="1"/>
          <p:nvPr/>
        </p:nvSpPr>
        <p:spPr>
          <a:xfrm>
            <a:off x="6828790" y="1247775"/>
            <a:ext cx="4272280" cy="283845"/>
          </a:xfrm>
          <a:prstGeom prst="rect">
            <a:avLst/>
          </a:prstGeom>
          <a:solidFill>
            <a:schemeClr val="bg1"/>
          </a:solidFill>
        </p:spPr>
        <p:txBody>
          <a:bodyPr wrap="square" rtlCol="0">
            <a:noAutofit/>
          </a:bodyPr>
          <a:lstStyle/>
          <a:p>
            <a:pPr algn="ct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零样本对抗鲁棒性（</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ZSAR）</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挑战</a:t>
            </a:r>
          </a:p>
        </p:txBody>
      </p:sp>
      <p:sp>
        <p:nvSpPr>
          <p:cNvPr id="298" name="文本框 297"/>
          <p:cNvSpPr txBox="1"/>
          <p:nvPr/>
        </p:nvSpPr>
        <p:spPr>
          <a:xfrm>
            <a:off x="308610" y="1667510"/>
            <a:ext cx="5173345" cy="1383665"/>
          </a:xfrm>
          <a:prstGeom prst="rect">
            <a:avLst/>
          </a:prstGeom>
          <a:solidFill>
            <a:schemeClr val="bg1"/>
          </a:solidFill>
        </p:spPr>
        <p:txBody>
          <a:bodyPr wrap="square" rtlCol="0">
            <a:spAutoFit/>
          </a:bodyPr>
          <a:lstStyle/>
          <a:p>
            <a:pPr marL="171450" indent="-171450" algn="l">
              <a:lnSpc>
                <a:spcPct val="150000"/>
              </a:lnSpc>
              <a:buFont typeface="Wingdings" panose="05000000000000000000" charset="0"/>
              <a:buChar char="Ø"/>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以</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CLIP</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为代表的</a:t>
            </a:r>
            <a:r>
              <a:rPr lang="zh-CN" altLang="en-US"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预训练视觉语言模型（</a:t>
            </a:r>
            <a:r>
              <a:rPr lang="en-US" altLang="zh-CN" sz="1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VLMs）</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通过大规模的</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ea"/>
              </a:rPr>
              <a:t>图文对学习</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，构建了共享嵌入空间，从而实现视觉特征与文本语义的对齐，在多种下游任务中表现出强大的</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零样本泛化能力，</a:t>
            </a:r>
            <a:r>
              <a:rPr lang="zh-CN" altLang="en-US" sz="1400" dirty="0">
                <a:latin typeface="微软雅黑" panose="020B0503020204020204" pitchFamily="34" charset="-122"/>
                <a:ea typeface="微软雅黑" panose="020B0503020204020204" pitchFamily="34" charset="-122"/>
                <a:sym typeface="+mn-ea"/>
              </a:rPr>
              <a:t>已成为多模态理解的基础模型。</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矩形 3"/>
          <p:cNvSpPr/>
          <p:nvPr/>
        </p:nvSpPr>
        <p:spPr>
          <a:xfrm>
            <a:off x="0" y="0"/>
            <a:ext cx="2495550" cy="664210"/>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研究背景及问题</a:t>
            </a:r>
          </a:p>
        </p:txBody>
      </p:sp>
      <p:sp>
        <p:nvSpPr>
          <p:cNvPr id="2" name="文本框 1"/>
          <p:cNvSpPr txBox="1"/>
          <p:nvPr/>
        </p:nvSpPr>
        <p:spPr>
          <a:xfrm>
            <a:off x="184785" y="788035"/>
            <a:ext cx="10687050" cy="398780"/>
          </a:xfrm>
          <a:prstGeom prst="rect">
            <a:avLst/>
          </a:prstGeom>
          <a:noFill/>
        </p:spPr>
        <p:txBody>
          <a:bodyPr wrap="square" rtlCol="0" anchor="t">
            <a:spAutoFit/>
          </a:bodyPr>
          <a:lstStyle/>
          <a:p>
            <a:pPr marL="342900" indent="-342900">
              <a:buClr>
                <a:schemeClr val="accent1"/>
              </a:buClr>
              <a:buFont typeface="Wingdings" panose="05000000000000000000" pitchFamily="2" charset="2"/>
              <a:buChar char="Ø"/>
            </a:pPr>
            <a:r>
              <a:rPr lang="zh-CN" altLang="en-US" sz="2000" b="1" kern="100" dirty="0">
                <a:solidFill>
                  <a:schemeClr val="accent1"/>
                </a:solidFill>
                <a:latin typeface="微软雅黑" panose="020B0503020204020204" pitchFamily="34" charset="-122"/>
                <a:ea typeface="微软雅黑" panose="020B0503020204020204" pitchFamily="34" charset="-122"/>
                <a:sym typeface="+mn-ea"/>
              </a:rPr>
              <a:t>视觉语言模型的零样本对抗鲁棒性（</a:t>
            </a:r>
            <a:r>
              <a:rPr lang="en-US" altLang="zh-CN" sz="2000" b="1" kern="100" dirty="0">
                <a:solidFill>
                  <a:schemeClr val="accent1"/>
                </a:solidFill>
                <a:latin typeface="微软雅黑" panose="020B0503020204020204" pitchFamily="34" charset="-122"/>
                <a:ea typeface="微软雅黑" panose="020B0503020204020204" pitchFamily="34" charset="-122"/>
                <a:sym typeface="+mn-ea"/>
              </a:rPr>
              <a:t>ZSAR</a:t>
            </a:r>
            <a:r>
              <a:rPr lang="zh-CN" altLang="en-US" sz="2000" b="1" kern="100" dirty="0">
                <a:solidFill>
                  <a:schemeClr val="accent1"/>
                </a:solidFill>
                <a:latin typeface="微软雅黑" panose="020B0503020204020204" pitchFamily="34" charset="-122"/>
                <a:ea typeface="微软雅黑" panose="020B0503020204020204" pitchFamily="34" charset="-122"/>
                <a:sym typeface="+mn-ea"/>
              </a:rPr>
              <a:t>）</a:t>
            </a:r>
          </a:p>
        </p:txBody>
      </p:sp>
      <p:pic>
        <p:nvPicPr>
          <p:cNvPr id="7" name="图片 6"/>
          <p:cNvPicPr>
            <a:picLocks noChangeAspect="1"/>
          </p:cNvPicPr>
          <p:nvPr/>
        </p:nvPicPr>
        <p:blipFill>
          <a:blip r:embed="rId4"/>
          <a:srcRect b="19303"/>
          <a:stretch>
            <a:fillRect/>
          </a:stretch>
        </p:blipFill>
        <p:spPr>
          <a:xfrm>
            <a:off x="387985" y="2966720"/>
            <a:ext cx="5252720" cy="1985645"/>
          </a:xfrm>
          <a:prstGeom prst="rect">
            <a:avLst/>
          </a:prstGeom>
        </p:spPr>
      </p:pic>
      <p:sp>
        <p:nvSpPr>
          <p:cNvPr id="8" name="文本框 7"/>
          <p:cNvSpPr txBox="1"/>
          <p:nvPr/>
        </p:nvSpPr>
        <p:spPr>
          <a:xfrm>
            <a:off x="6096000" y="1623695"/>
            <a:ext cx="5738495" cy="1060450"/>
          </a:xfrm>
          <a:prstGeom prst="rect">
            <a:avLst/>
          </a:prstGeom>
          <a:solidFill>
            <a:schemeClr val="bg1"/>
          </a:solidFill>
        </p:spPr>
        <p:txBody>
          <a:bodyPr wrap="square" rtlCol="0">
            <a:spAutoFit/>
          </a:bodyPr>
          <a:lstStyle/>
          <a:p>
            <a:pPr marL="171450" indent="-171450" algn="l">
              <a:lnSpc>
                <a:spcPct val="150000"/>
              </a:lnSpc>
              <a:buFont typeface="Wingdings" panose="05000000000000000000" charset="0"/>
              <a:buChar char="Ø"/>
            </a:pP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提升</a:t>
            </a:r>
            <a:r>
              <a:rPr lang="en-US" altLang="zh-CN"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VLM</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对抗鲁棒性的必要性：</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与传统深度神经网络类似，</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VLM</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易受</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ea"/>
              </a:rPr>
              <a:t>对抗样本攻击</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。微小且不易察觉的扰动即可导致模型预测完全错误，在实际应用中引发严重的可靠性危机。</a:t>
            </a:r>
          </a:p>
        </p:txBody>
      </p:sp>
      <p:grpSp>
        <p:nvGrpSpPr>
          <p:cNvPr id="13" name="组合 12"/>
          <p:cNvGrpSpPr/>
          <p:nvPr/>
        </p:nvGrpSpPr>
        <p:grpSpPr>
          <a:xfrm>
            <a:off x="387985" y="6028055"/>
            <a:ext cx="11282045" cy="610870"/>
            <a:chOff x="-392153" y="5560070"/>
            <a:chExt cx="10993560" cy="610779"/>
          </a:xfrm>
        </p:grpSpPr>
        <p:sp>
          <p:nvSpPr>
            <p:cNvPr id="14" name="矩形 13"/>
            <p:cNvSpPr/>
            <p:nvPr/>
          </p:nvSpPr>
          <p:spPr>
            <a:xfrm>
              <a:off x="-392153" y="5584833"/>
              <a:ext cx="10993560" cy="5657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384271" y="5560070"/>
              <a:ext cx="10765200" cy="610779"/>
            </a:xfrm>
            <a:prstGeom prst="rect">
              <a:avLst/>
            </a:prstGeom>
            <a:noFill/>
            <a:ln>
              <a:noFill/>
            </a:ln>
          </p:spPr>
          <p:txBody>
            <a:bodyPr wrap="square" rtlCol="0" anchor="ctr" anchorCtr="0">
              <a:noAutofit/>
            </a:bodyPr>
            <a:lstStyle/>
            <a:p>
              <a:pPr algn="ctr">
                <a:lnSpc>
                  <a:spcPts val="2460"/>
                </a:lnSpc>
              </a:pPr>
              <a:r>
                <a:rPr lang="en-US" altLang="zh-CN" sz="2000" b="1" kern="100" dirty="0">
                  <a:solidFill>
                    <a:schemeClr val="bg1"/>
                  </a:solidFill>
                  <a:effectLst/>
                  <a:latin typeface="微软雅黑" panose="020B0503020204020204" pitchFamily="34" charset="-122"/>
                  <a:ea typeface="微软雅黑" panose="020B0503020204020204" pitchFamily="34" charset="-122"/>
                  <a:cs typeface="Calibri" panose="020F0502020204030204" pitchFamily="34" charset="0"/>
                </a:rPr>
                <a:t>VLM</a:t>
              </a:r>
              <a:r>
                <a:rPr lang="zh-CN" altLang="en-US" sz="2000" b="1" kern="100" dirty="0">
                  <a:solidFill>
                    <a:schemeClr val="bg1"/>
                  </a:solidFill>
                  <a:effectLst/>
                  <a:latin typeface="微软雅黑" panose="020B0503020204020204" pitchFamily="34" charset="-122"/>
                  <a:ea typeface="微软雅黑" panose="020B0503020204020204" pitchFamily="34" charset="-122"/>
                  <a:cs typeface="Calibri" panose="020F0502020204030204" pitchFamily="34" charset="0"/>
                </a:rPr>
                <a:t>具备强大的零样本泛化能力但易受对抗样本攻击，</a:t>
              </a:r>
              <a:r>
                <a:rPr lang="en-US" altLang="zh-CN" sz="2000" b="1" kern="100" dirty="0">
                  <a:solidFill>
                    <a:schemeClr val="bg1"/>
                  </a:solidFill>
                  <a:effectLst/>
                  <a:latin typeface="微软雅黑" panose="020B0503020204020204" pitchFamily="34" charset="-122"/>
                  <a:ea typeface="微软雅黑" panose="020B0503020204020204" pitchFamily="34" charset="-122"/>
                  <a:cs typeface="Calibri" panose="020F0502020204030204" pitchFamily="34" charset="0"/>
                </a:rPr>
                <a:t>ZSAR</a:t>
              </a:r>
              <a:r>
                <a:rPr lang="zh-CN" altLang="en-US" sz="2000" b="1" kern="100" dirty="0">
                  <a:solidFill>
                    <a:schemeClr val="bg1"/>
                  </a:solidFill>
                  <a:effectLst/>
                  <a:latin typeface="微软雅黑" panose="020B0503020204020204" pitchFamily="34" charset="-122"/>
                  <a:ea typeface="微软雅黑" panose="020B0503020204020204" pitchFamily="34" charset="-122"/>
                  <a:cs typeface="Calibri" panose="020F0502020204030204" pitchFamily="34" charset="0"/>
                </a:rPr>
                <a:t>成为可信多模态系统的关键挑战</a:t>
              </a:r>
            </a:p>
          </p:txBody>
        </p:sp>
      </p:grpSp>
      <p:sp>
        <p:nvSpPr>
          <p:cNvPr id="20" name="文本框 19"/>
          <p:cNvSpPr txBox="1"/>
          <p:nvPr/>
        </p:nvSpPr>
        <p:spPr>
          <a:xfrm>
            <a:off x="6096000" y="4694555"/>
            <a:ext cx="5738495" cy="1146175"/>
          </a:xfrm>
          <a:prstGeom prst="rect">
            <a:avLst/>
          </a:prstGeom>
          <a:solidFill>
            <a:schemeClr val="bg1"/>
          </a:solidFill>
        </p:spPr>
        <p:txBody>
          <a:bodyPr wrap="square" rtlCol="0">
            <a:noAutofit/>
          </a:bodyPr>
          <a:lstStyle/>
          <a:p>
            <a:pPr marL="171450" indent="-171450" algn="l">
              <a:lnSpc>
                <a:spcPct val="150000"/>
              </a:lnSpc>
              <a:buFont typeface="Wingdings" panose="05000000000000000000" charset="0"/>
              <a:buChar char="Ø"/>
            </a:pP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更具挑战性的零样本对抗鲁棒性（</a:t>
            </a:r>
            <a:r>
              <a:rPr lang="en-US" altLang="zh-CN"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ZSAR</a:t>
            </a: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零样本场景下的对抗鲁棒性要求模型不仅要</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ea"/>
              </a:rPr>
              <a:t>抵抗对抗扰动</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，还要保留预训练阶段学到的</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sym typeface="+mn-ea"/>
              </a:rPr>
              <a:t>跨模态对齐能力</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从而支撑超越监督类别的泛化。</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1" name="文本框 20"/>
          <p:cNvSpPr txBox="1"/>
          <p:nvPr/>
        </p:nvSpPr>
        <p:spPr>
          <a:xfrm>
            <a:off x="387985" y="5480685"/>
            <a:ext cx="5341620" cy="219710"/>
          </a:xfrm>
          <a:prstGeom prst="rect">
            <a:avLst/>
          </a:prstGeom>
          <a:noFill/>
        </p:spPr>
        <p:txBody>
          <a:bodyPr wrap="square" rtlCol="0">
            <a:spAutoFit/>
          </a:bodyPr>
          <a:lstStyle/>
          <a:p>
            <a:pPr>
              <a:lnSpc>
                <a:spcPct val="70000"/>
              </a:lnSpc>
            </a:pPr>
            <a:r>
              <a:rPr lang="en-US" altLang="zh-CN" sz="1200">
                <a:hlinkClick r:id="rId5" action="ppaction://hlinkfile"/>
              </a:rPr>
              <a:t>Learning Transferable Visual Models From Natural Language Supervision</a:t>
            </a:r>
            <a:endParaRPr lang="en-US" altLang="zh-CN" sz="1200"/>
          </a:p>
        </p:txBody>
      </p:sp>
      <p:sp>
        <p:nvSpPr>
          <p:cNvPr id="25" name="矩形: 圆角 359"/>
          <p:cNvSpPr/>
          <p:nvPr/>
        </p:nvSpPr>
        <p:spPr>
          <a:xfrm>
            <a:off x="455295" y="4994275"/>
            <a:ext cx="4933950" cy="440055"/>
          </a:xfrm>
          <a:prstGeom prst="roundRect">
            <a:avLst>
              <a:gd name="adj" fmla="val 1988"/>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nSpc>
                <a:spcPct val="115000"/>
              </a:lnSpc>
              <a:buClr>
                <a:srgbClr val="9B0000"/>
              </a:buClr>
              <a:buFont typeface="Arial" panose="020B0604020202090204" pitchFamily="34" charset="0"/>
              <a:buNone/>
            </a:pPr>
            <a:r>
              <a:rPr lang="en-US" altLang="zh-CN" sz="1000" dirty="0">
                <a:solidFill>
                  <a:schemeClr val="tx1"/>
                </a:solidFill>
                <a:latin typeface="微软雅黑" panose="020B0503020204020204" pitchFamily="34" charset="-122"/>
                <a:ea typeface="微软雅黑" panose="020B0503020204020204" pitchFamily="34" charset="-122"/>
              </a:rPr>
              <a:t>CLIP</a:t>
            </a:r>
            <a:r>
              <a:rPr lang="zh-CN" altLang="en-US" sz="1000" dirty="0">
                <a:solidFill>
                  <a:schemeClr val="tx1"/>
                </a:solidFill>
                <a:latin typeface="微软雅黑" panose="020B0503020204020204" pitchFamily="34" charset="-122"/>
                <a:ea typeface="微软雅黑" panose="020B0503020204020204" pitchFamily="34" charset="-122"/>
              </a:rPr>
              <a:t>的对比预训练与零样本预测流程。通过图文对比学习对齐视觉与文本嵌入，无需下游标注即可实现零样本分类</a:t>
            </a:r>
          </a:p>
        </p:txBody>
      </p:sp>
      <p:sp>
        <p:nvSpPr>
          <p:cNvPr id="26" name="矩形: 圆角 359"/>
          <p:cNvSpPr/>
          <p:nvPr/>
        </p:nvSpPr>
        <p:spPr>
          <a:xfrm>
            <a:off x="10014585" y="3316605"/>
            <a:ext cx="1655445" cy="835660"/>
          </a:xfrm>
          <a:prstGeom prst="roundRect">
            <a:avLst>
              <a:gd name="adj" fmla="val 1988"/>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nSpc>
                <a:spcPct val="115000"/>
              </a:lnSpc>
              <a:buClr>
                <a:srgbClr val="9B0000"/>
              </a:buClr>
              <a:buFont typeface="Arial" panose="020B0604020202090204" pitchFamily="34" charset="0"/>
              <a:buNone/>
            </a:pPr>
            <a:r>
              <a:rPr lang="zh-CN" altLang="en-US" sz="1000" dirty="0">
                <a:solidFill>
                  <a:schemeClr val="tx1"/>
                </a:solidFill>
                <a:latin typeface="微软雅黑" panose="020B0503020204020204" pitchFamily="34" charset="-122"/>
                <a:ea typeface="微软雅黑" panose="020B0503020204020204" pitchFamily="34" charset="-122"/>
              </a:rPr>
              <a:t>尽管</a:t>
            </a:r>
            <a:r>
              <a:rPr lang="en-US" altLang="zh-CN" sz="1000" dirty="0">
                <a:solidFill>
                  <a:schemeClr val="tx1"/>
                </a:solidFill>
                <a:latin typeface="微软雅黑" panose="020B0503020204020204" pitchFamily="34" charset="-122"/>
                <a:ea typeface="微软雅黑" panose="020B0503020204020204" pitchFamily="34" charset="-122"/>
              </a:rPr>
              <a:t>CLIP</a:t>
            </a:r>
            <a:r>
              <a:rPr lang="zh-CN" altLang="en-US" sz="1000" dirty="0">
                <a:solidFill>
                  <a:schemeClr val="tx1"/>
                </a:solidFill>
                <a:latin typeface="微软雅黑" panose="020B0503020204020204" pitchFamily="34" charset="-122"/>
                <a:ea typeface="微软雅黑" panose="020B0503020204020204" pitchFamily="34" charset="-122"/>
              </a:rPr>
              <a:t>在零样本图像识别任务中表现优异，但当输入对抗性的图像时，其性能仍存在脆弱性。</a:t>
            </a:r>
          </a:p>
        </p:txBody>
      </p:sp>
      <p:pic>
        <p:nvPicPr>
          <p:cNvPr id="27" name="图片 26"/>
          <p:cNvPicPr>
            <a:picLocks noChangeAspect="1"/>
          </p:cNvPicPr>
          <p:nvPr/>
        </p:nvPicPr>
        <p:blipFill>
          <a:blip r:embed="rId6"/>
          <a:srcRect t="9052" r="50175" b="12461"/>
          <a:stretch>
            <a:fillRect/>
          </a:stretch>
        </p:blipFill>
        <p:spPr>
          <a:xfrm>
            <a:off x="6242685" y="2684145"/>
            <a:ext cx="3822065" cy="1797685"/>
          </a:xfrm>
          <a:prstGeom prst="rect">
            <a:avLst/>
          </a:prstGeom>
        </p:spPr>
      </p:pic>
      <p:sp>
        <p:nvSpPr>
          <p:cNvPr id="28" name="文本框 27"/>
          <p:cNvSpPr txBox="1"/>
          <p:nvPr/>
        </p:nvSpPr>
        <p:spPr>
          <a:xfrm>
            <a:off x="6426200" y="4474845"/>
            <a:ext cx="5005705" cy="219710"/>
          </a:xfrm>
          <a:prstGeom prst="rect">
            <a:avLst/>
          </a:prstGeom>
          <a:noFill/>
        </p:spPr>
        <p:txBody>
          <a:bodyPr wrap="square" rtlCol="0" anchor="t">
            <a:spAutoFit/>
          </a:bodyPr>
          <a:lstStyle/>
          <a:p>
            <a:pPr>
              <a:lnSpc>
                <a:spcPct val="70000"/>
              </a:lnSpc>
            </a:pPr>
            <a:r>
              <a:rPr lang="en-US" altLang="zh-CN" sz="1200">
                <a:hlinkClick r:id="rId7" action="ppaction://hlinkfile"/>
              </a:rPr>
              <a:t>Understanding zero-shot adversarial robust-ness for large-scale models.</a:t>
            </a:r>
            <a:endParaRPr lang="en-US" altLang="zh-CN" sz="1200"/>
          </a:p>
        </p:txBody>
      </p:sp>
      <p:sp>
        <p:nvSpPr>
          <p:cNvPr id="24"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55</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custDataLst>
              <p:tags r:id="rId2"/>
            </p:custDataLst>
          </p:nvPr>
        </p:nvSpPr>
        <p:spPr>
          <a:xfrm>
            <a:off x="322580" y="3502660"/>
            <a:ext cx="8398510" cy="313118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0" name="矩形: 圆角 359"/>
          <p:cNvSpPr/>
          <p:nvPr/>
        </p:nvSpPr>
        <p:spPr>
          <a:xfrm>
            <a:off x="323850" y="1438910"/>
            <a:ext cx="8397240" cy="1447165"/>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4" name="矩形 3"/>
          <p:cNvSpPr/>
          <p:nvPr/>
        </p:nvSpPr>
        <p:spPr>
          <a:xfrm>
            <a:off x="0" y="0"/>
            <a:ext cx="2495550" cy="664210"/>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研究背景及问题</a:t>
            </a:r>
          </a:p>
        </p:txBody>
      </p:sp>
      <p:sp>
        <p:nvSpPr>
          <p:cNvPr id="15" name="矩形: 圆角 359"/>
          <p:cNvSpPr/>
          <p:nvPr/>
        </p:nvSpPr>
        <p:spPr>
          <a:xfrm>
            <a:off x="581660" y="4264660"/>
            <a:ext cx="3226435" cy="2187575"/>
          </a:xfrm>
          <a:prstGeom prst="roundRect">
            <a:avLst>
              <a:gd name="adj" fmla="val 1988"/>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45000"/>
              </a:lnSpc>
              <a:buClr>
                <a:srgbClr val="9B0000"/>
              </a:buClr>
              <a:buFont typeface="Arial" panose="020B060402020209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硬标签监督</a:t>
            </a:r>
            <a:r>
              <a:rPr lang="zh-CN" altLang="en-US" sz="1400" b="1" dirty="0">
                <a:solidFill>
                  <a:srgbClr val="0070C0"/>
                </a:solidFill>
                <a:latin typeface="微软雅黑" panose="020B0503020204020204" pitchFamily="34" charset="-122"/>
                <a:ea typeface="微软雅黑" panose="020B0503020204020204" pitchFamily="34" charset="-122"/>
              </a:rPr>
              <a:t>只关注单目标类匹配，</a:t>
            </a:r>
            <a:r>
              <a:rPr lang="zh-CN" altLang="en-US" sz="1400" b="1" dirty="0">
                <a:solidFill>
                  <a:schemeClr val="tx1"/>
                </a:solidFill>
                <a:latin typeface="微软雅黑" panose="020B0503020204020204" pitchFamily="34" charset="-122"/>
                <a:ea typeface="微软雅黑" panose="020B0503020204020204" pitchFamily="34" charset="-122"/>
              </a:rPr>
              <a:t>忽略了图像与所有文本概念的相似性关系</a:t>
            </a:r>
          </a:p>
          <a:p>
            <a:pPr marL="285750" indent="-285750">
              <a:lnSpc>
                <a:spcPct val="145000"/>
              </a:lnSpc>
              <a:buClr>
                <a:srgbClr val="9B0000"/>
              </a:buClr>
              <a:buFont typeface="Arial" panose="020B060402020209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改变了预训练学到的跨模态相似性对应关系，</a:t>
            </a:r>
            <a:r>
              <a:rPr lang="zh-CN" altLang="en-US" sz="1400" b="1" dirty="0">
                <a:solidFill>
                  <a:srgbClr val="0070C0"/>
                </a:solidFill>
                <a:latin typeface="微软雅黑" panose="020B0503020204020204" pitchFamily="34" charset="-122"/>
                <a:ea typeface="微软雅黑" panose="020B0503020204020204" pitchFamily="34" charset="-122"/>
              </a:rPr>
              <a:t>直接导致零样本泛化性能下降</a:t>
            </a:r>
          </a:p>
        </p:txBody>
      </p:sp>
      <p:sp>
        <p:nvSpPr>
          <p:cNvPr id="18" name="文本框 17"/>
          <p:cNvSpPr txBox="1"/>
          <p:nvPr/>
        </p:nvSpPr>
        <p:spPr>
          <a:xfrm>
            <a:off x="3432175" y="3275965"/>
            <a:ext cx="2353310" cy="422910"/>
          </a:xfrm>
          <a:prstGeom prst="rect">
            <a:avLst/>
          </a:prstGeom>
          <a:solidFill>
            <a:schemeClr val="bg1"/>
          </a:solidFill>
          <a:ln>
            <a:solidFill>
              <a:schemeClr val="accent1"/>
            </a:solidFill>
          </a:ln>
        </p:spPr>
        <p:txBody>
          <a:bodyPr wrap="square" rtlCol="0">
            <a:noAutofit/>
          </a:bodyPr>
          <a:lstStyle/>
          <a:p>
            <a:pPr algn="ctr"/>
            <a:r>
              <a:rPr lang="zh-CN" altLang="en-US" sz="2000" b="1" dirty="0">
                <a:latin typeface="微软雅黑" panose="020B0503020204020204" pitchFamily="34" charset="-122"/>
                <a:ea typeface="微软雅黑" panose="020B0503020204020204" pitchFamily="34" charset="-122"/>
                <a:cs typeface="Calibri" panose="020F0502020204030204" pitchFamily="34" charset="0"/>
              </a:rPr>
              <a:t>两大</a:t>
            </a:r>
            <a:r>
              <a:rPr lang="zh-CN" altLang="en-US" sz="2000" b="1" dirty="0">
                <a:solidFill>
                  <a:srgbClr val="0070C0"/>
                </a:solidFill>
                <a:latin typeface="微软雅黑" panose="020B0503020204020204" pitchFamily="34" charset="-122"/>
                <a:ea typeface="微软雅黑" panose="020B0503020204020204" pitchFamily="34" charset="-122"/>
                <a:cs typeface="Calibri" panose="020F0502020204030204" pitchFamily="34" charset="0"/>
              </a:rPr>
              <a:t>核心痛点</a:t>
            </a:r>
          </a:p>
        </p:txBody>
      </p:sp>
      <p:sp>
        <p:nvSpPr>
          <p:cNvPr id="2" name="文本框 1"/>
          <p:cNvSpPr txBox="1"/>
          <p:nvPr/>
        </p:nvSpPr>
        <p:spPr>
          <a:xfrm>
            <a:off x="184785" y="788035"/>
            <a:ext cx="7062470" cy="398780"/>
          </a:xfrm>
          <a:prstGeom prst="rect">
            <a:avLst/>
          </a:prstGeom>
          <a:noFill/>
        </p:spPr>
        <p:txBody>
          <a:bodyPr wrap="square" rtlCol="0" anchor="t">
            <a:spAutoFit/>
          </a:bodyPr>
          <a:lstStyle/>
          <a:p>
            <a:pPr marL="342900" indent="-342900">
              <a:buClr>
                <a:schemeClr val="accent1"/>
              </a:buClr>
              <a:buFont typeface="Wingdings" panose="05000000000000000000" pitchFamily="2" charset="2"/>
              <a:buChar char="Ø"/>
            </a:pPr>
            <a:r>
              <a:rPr lang="en-US" altLang="zh-CN" sz="2000" b="1" kern="100" dirty="0">
                <a:solidFill>
                  <a:schemeClr val="accent1"/>
                </a:solidFill>
                <a:latin typeface="微软雅黑" panose="020B0503020204020204" pitchFamily="34" charset="-122"/>
                <a:ea typeface="微软雅黑" panose="020B0503020204020204" pitchFamily="34" charset="-122"/>
                <a:sym typeface="+mn-ea"/>
              </a:rPr>
              <a:t>ZSAR</a:t>
            </a:r>
            <a:r>
              <a:rPr lang="zh-CN" altLang="en-US" sz="2000" b="1" kern="100" dirty="0">
                <a:solidFill>
                  <a:schemeClr val="accent1"/>
                </a:solidFill>
                <a:latin typeface="微软雅黑" panose="020B0503020204020204" pitchFamily="34" charset="-122"/>
                <a:ea typeface="微软雅黑" panose="020B0503020204020204" pitchFamily="34" charset="-122"/>
                <a:sym typeface="+mn-ea"/>
              </a:rPr>
              <a:t>的核心挑战：鲁棒性与跨模态对齐的冲突</a:t>
            </a:r>
          </a:p>
        </p:txBody>
      </p:sp>
      <p:sp>
        <p:nvSpPr>
          <p:cNvPr id="13" name="文本框 12"/>
          <p:cNvSpPr txBox="1"/>
          <p:nvPr/>
        </p:nvSpPr>
        <p:spPr>
          <a:xfrm>
            <a:off x="581660" y="3846195"/>
            <a:ext cx="3450590" cy="335915"/>
          </a:xfrm>
          <a:prstGeom prst="rect">
            <a:avLst/>
          </a:prstGeom>
          <a:noFill/>
        </p:spPr>
        <p:txBody>
          <a:bodyPr wrap="square" rtlCol="0">
            <a:noAutofit/>
          </a:bodyPr>
          <a:lstStyle/>
          <a:p>
            <a:r>
              <a:rPr lang="zh-CN" altLang="en-US" b="1">
                <a:solidFill>
                  <a:srgbClr val="FF0000"/>
                </a:solidFill>
                <a:latin typeface="微软雅黑" panose="020B0503020204020204" pitchFamily="34" charset="-122"/>
                <a:ea typeface="微软雅黑" panose="020B0503020204020204" pitchFamily="34" charset="-122"/>
              </a:rPr>
              <a:t>痛点一：破坏预训练跨模态对齐</a:t>
            </a:r>
          </a:p>
        </p:txBody>
      </p:sp>
      <p:sp>
        <p:nvSpPr>
          <p:cNvPr id="14" name="文本框 13"/>
          <p:cNvSpPr txBox="1"/>
          <p:nvPr/>
        </p:nvSpPr>
        <p:spPr>
          <a:xfrm>
            <a:off x="4106545" y="3856355"/>
            <a:ext cx="3226435" cy="337185"/>
          </a:xfrm>
          <a:prstGeom prst="rect">
            <a:avLst/>
          </a:prstGeom>
          <a:noFill/>
        </p:spPr>
        <p:txBody>
          <a:bodyPr wrap="square" rtlCol="0">
            <a:noAutofit/>
          </a:bodyPr>
          <a:lstStyle/>
          <a:p>
            <a:r>
              <a:rPr lang="zh-CN" altLang="en-US" b="1">
                <a:solidFill>
                  <a:srgbClr val="FF0000"/>
                </a:solidFill>
                <a:latin typeface="微软雅黑" panose="020B0503020204020204" pitchFamily="34" charset="-122"/>
                <a:ea typeface="微软雅黑" panose="020B0503020204020204" pitchFamily="34" charset="-122"/>
              </a:rPr>
              <a:t>痛点二：预测分布不匹配</a:t>
            </a:r>
          </a:p>
        </p:txBody>
      </p:sp>
      <p:sp>
        <p:nvSpPr>
          <p:cNvPr id="20" name="矩形: 圆角 359"/>
          <p:cNvSpPr/>
          <p:nvPr/>
        </p:nvSpPr>
        <p:spPr>
          <a:xfrm>
            <a:off x="6360160" y="4264025"/>
            <a:ext cx="2207895" cy="2187575"/>
          </a:xfrm>
          <a:prstGeom prst="roundRect">
            <a:avLst>
              <a:gd name="adj" fmla="val 1988"/>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对抗微调导致鲁棒模型的预测分布与原始预训练分布</a:t>
            </a:r>
            <a:r>
              <a:rPr lang="zh-CN" altLang="en-US" sz="1400" b="1" dirty="0">
                <a:solidFill>
                  <a:srgbClr val="0070C0"/>
                </a:solidFill>
                <a:latin typeface="微软雅黑" panose="020B0503020204020204" pitchFamily="34" charset="-122"/>
                <a:ea typeface="微软雅黑" panose="020B0503020204020204" pitchFamily="34" charset="-122"/>
              </a:rPr>
              <a:t>不一致</a:t>
            </a:r>
          </a:p>
          <a:p>
            <a:pPr marL="285750" indent="-285750">
              <a:lnSpc>
                <a:spcPct val="155000"/>
              </a:lnSpc>
              <a:buClr>
                <a:srgbClr val="9B0000"/>
              </a:buClr>
              <a:buFont typeface="Arial" panose="020B0604020202090204" pitchFamily="34" charset="0"/>
              <a:buChar char="•"/>
            </a:pPr>
            <a:r>
              <a:rPr lang="zh-CN" altLang="en-US" sz="1400" b="1" dirty="0">
                <a:solidFill>
                  <a:schemeClr val="tx1"/>
                </a:solidFill>
                <a:latin typeface="微软雅黑" panose="020B0503020204020204" pitchFamily="34" charset="-122"/>
                <a:ea typeface="微软雅黑" panose="020B0503020204020204" pitchFamily="34" charset="-122"/>
              </a:rPr>
              <a:t>扰乱固有的跨模态语义关系，</a:t>
            </a:r>
            <a:r>
              <a:rPr lang="zh-CN" altLang="en-US" sz="1400" b="1" dirty="0">
                <a:solidFill>
                  <a:srgbClr val="0070C0"/>
                </a:solidFill>
                <a:latin typeface="微软雅黑" panose="020B0503020204020204" pitchFamily="34" charset="-122"/>
                <a:ea typeface="微软雅黑" panose="020B0503020204020204" pitchFamily="34" charset="-122"/>
              </a:rPr>
              <a:t>加剧零样本泛化能力退化</a:t>
            </a:r>
          </a:p>
        </p:txBody>
      </p:sp>
      <p:sp>
        <p:nvSpPr>
          <p:cNvPr id="26" name="矩形 25"/>
          <p:cNvSpPr/>
          <p:nvPr>
            <p:custDataLst>
              <p:tags r:id="rId3"/>
            </p:custDataLst>
          </p:nvPr>
        </p:nvSpPr>
        <p:spPr>
          <a:xfrm>
            <a:off x="3432175" y="1192530"/>
            <a:ext cx="2352675" cy="422275"/>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5000"/>
              </a:lnSpc>
            </a:pPr>
            <a:r>
              <a:rPr lang="zh-CN" altLang="en-US" b="1" dirty="0">
                <a:solidFill>
                  <a:schemeClr val="bg1"/>
                </a:solidFill>
                <a:latin typeface="微软雅黑" panose="020B0503020204020204" pitchFamily="34" charset="-122"/>
                <a:ea typeface="微软雅黑" panose="020B0503020204020204" pitchFamily="34" charset="-122"/>
              </a:rPr>
              <a:t>研究主流方案</a:t>
            </a:r>
          </a:p>
        </p:txBody>
      </p:sp>
      <p:sp>
        <p:nvSpPr>
          <p:cNvPr id="40" name="矩形: 圆角 17"/>
          <p:cNvSpPr/>
          <p:nvPr>
            <p:custDataLst>
              <p:tags r:id="rId4"/>
            </p:custDataLst>
          </p:nvPr>
        </p:nvSpPr>
        <p:spPr>
          <a:xfrm>
            <a:off x="8863330" y="1320800"/>
            <a:ext cx="2832100" cy="531304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p:cNvPicPr>
            <a:picLocks noChangeAspect="1"/>
          </p:cNvPicPr>
          <p:nvPr/>
        </p:nvPicPr>
        <p:blipFill>
          <a:blip r:embed="rId7"/>
          <a:srcRect b="50671"/>
          <a:stretch>
            <a:fillRect/>
          </a:stretch>
        </p:blipFill>
        <p:spPr>
          <a:xfrm>
            <a:off x="9157335" y="1602105"/>
            <a:ext cx="2185670" cy="1447800"/>
          </a:xfrm>
          <a:prstGeom prst="rect">
            <a:avLst/>
          </a:prstGeom>
        </p:spPr>
      </p:pic>
      <p:sp>
        <p:nvSpPr>
          <p:cNvPr id="42" name="矩形: 圆角 359"/>
          <p:cNvSpPr/>
          <p:nvPr/>
        </p:nvSpPr>
        <p:spPr>
          <a:xfrm>
            <a:off x="8953500" y="3049905"/>
            <a:ext cx="2645410" cy="965835"/>
          </a:xfrm>
          <a:prstGeom prst="roundRect">
            <a:avLst>
              <a:gd name="adj" fmla="val 1988"/>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nSpc>
                <a:spcPct val="135000"/>
              </a:lnSpc>
              <a:buClr>
                <a:srgbClr val="9B0000"/>
              </a:buClr>
              <a:buNone/>
            </a:pPr>
            <a:r>
              <a:rPr lang="zh-CN" altLang="en-US" sz="1400" b="1" dirty="0">
                <a:solidFill>
                  <a:schemeClr val="tx1"/>
                </a:solidFill>
                <a:latin typeface="微软雅黑" panose="020B0503020204020204" pitchFamily="34" charset="-122"/>
                <a:ea typeface="微软雅黑" panose="020B0503020204020204" pitchFamily="34" charset="-122"/>
              </a:rPr>
              <a:t>现有主流的分类引导方法：</a:t>
            </a:r>
            <a:r>
              <a:rPr lang="zh-CN" altLang="en-US" sz="1400" dirty="0">
                <a:solidFill>
                  <a:schemeClr val="tx1"/>
                </a:solidFill>
                <a:latin typeface="微软雅黑" panose="020B0503020204020204" pitchFamily="34" charset="-122"/>
                <a:ea typeface="微软雅黑" panose="020B0503020204020204" pitchFamily="34" charset="-122"/>
              </a:rPr>
              <a:t>用硬标签监督，只关注目标类，</a:t>
            </a:r>
            <a:r>
              <a:rPr lang="zh-CN" altLang="en-US" sz="1400" dirty="0">
                <a:solidFill>
                  <a:schemeClr val="tx1"/>
                </a:solidFill>
                <a:latin typeface="微软雅黑" panose="020B0503020204020204" pitchFamily="34" charset="-122"/>
                <a:ea typeface="微软雅黑" panose="020B0503020204020204" pitchFamily="34" charset="-122"/>
                <a:sym typeface="+mn-ea"/>
              </a:rPr>
              <a:t>易破坏预训练的跨模态对齐结构</a:t>
            </a:r>
          </a:p>
        </p:txBody>
      </p:sp>
      <p:pic>
        <p:nvPicPr>
          <p:cNvPr id="45" name="图片 44"/>
          <p:cNvPicPr>
            <a:picLocks noChangeAspect="1"/>
          </p:cNvPicPr>
          <p:nvPr/>
        </p:nvPicPr>
        <p:blipFill>
          <a:blip r:embed="rId7"/>
          <a:srcRect t="50671"/>
          <a:stretch>
            <a:fillRect/>
          </a:stretch>
        </p:blipFill>
        <p:spPr>
          <a:xfrm>
            <a:off x="9157970" y="4102735"/>
            <a:ext cx="2185670" cy="1447800"/>
          </a:xfrm>
          <a:prstGeom prst="rect">
            <a:avLst/>
          </a:prstGeom>
        </p:spPr>
      </p:pic>
      <p:sp>
        <p:nvSpPr>
          <p:cNvPr id="46" name="矩形: 圆角 359"/>
          <p:cNvSpPr/>
          <p:nvPr/>
        </p:nvSpPr>
        <p:spPr>
          <a:xfrm>
            <a:off x="8953500" y="5550535"/>
            <a:ext cx="2645410" cy="965200"/>
          </a:xfrm>
          <a:prstGeom prst="roundRect">
            <a:avLst>
              <a:gd name="adj" fmla="val 1988"/>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nSpc>
                <a:spcPct val="135000"/>
              </a:lnSpc>
              <a:buClr>
                <a:srgbClr val="9B0000"/>
              </a:buClr>
              <a:buNone/>
            </a:pPr>
            <a:r>
              <a:rPr lang="zh-CN" altLang="en-US" sz="1400" b="1" dirty="0">
                <a:solidFill>
                  <a:schemeClr val="tx1"/>
                </a:solidFill>
                <a:latin typeface="微软雅黑" panose="020B0503020204020204" pitchFamily="34" charset="-122"/>
                <a:ea typeface="微软雅黑" panose="020B0503020204020204" pitchFamily="34" charset="-122"/>
              </a:rPr>
              <a:t>理想的对齐引导方法：</a:t>
            </a:r>
            <a:r>
              <a:rPr lang="zh-CN" altLang="en-US" sz="1400" dirty="0">
                <a:solidFill>
                  <a:schemeClr val="tx1"/>
                </a:solidFill>
                <a:latin typeface="微软雅黑" panose="020B0503020204020204" pitchFamily="34" charset="-122"/>
                <a:ea typeface="微软雅黑" panose="020B0503020204020204" pitchFamily="34" charset="-122"/>
                <a:sym typeface="+mn-ea"/>
              </a:rPr>
              <a:t>利用原始模型的概率预测作为软监督，保留跨模态语义结构，提升</a:t>
            </a:r>
            <a:r>
              <a:rPr lang="en-US" altLang="zh-CN" sz="1400" dirty="0">
                <a:solidFill>
                  <a:schemeClr val="tx1"/>
                </a:solidFill>
                <a:latin typeface="微软雅黑" panose="020B0503020204020204" pitchFamily="34" charset="-122"/>
                <a:ea typeface="微软雅黑" panose="020B0503020204020204" pitchFamily="34" charset="-122"/>
                <a:sym typeface="+mn-ea"/>
              </a:rPr>
              <a:t>ZSAR</a:t>
            </a:r>
            <a:endParaRPr lang="zh-CN" altLang="en-US" sz="1400" dirty="0">
              <a:solidFill>
                <a:schemeClr val="tx1"/>
              </a:solidFill>
              <a:latin typeface="微软雅黑" panose="020B0503020204020204" pitchFamily="34" charset="-122"/>
              <a:ea typeface="微软雅黑" panose="020B0503020204020204" pitchFamily="34" charset="-122"/>
              <a:sym typeface="+mn-ea"/>
            </a:endParaRPr>
          </a:p>
        </p:txBody>
      </p:sp>
      <p:sp>
        <p:nvSpPr>
          <p:cNvPr id="47" name="文本框 46"/>
          <p:cNvSpPr txBox="1"/>
          <p:nvPr/>
        </p:nvSpPr>
        <p:spPr>
          <a:xfrm>
            <a:off x="9157335" y="1166495"/>
            <a:ext cx="2186305" cy="435610"/>
          </a:xfrm>
          <a:prstGeom prst="rect">
            <a:avLst/>
          </a:prstGeom>
          <a:solidFill>
            <a:schemeClr val="bg1"/>
          </a:solidFill>
        </p:spPr>
        <p:txBody>
          <a:bodyPr wrap="square" rtlCol="0">
            <a:noAutofit/>
          </a:bodyPr>
          <a:lstStyle/>
          <a:p>
            <a:pPr algn="ct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对抗微调方法对比</a:t>
            </a:r>
          </a:p>
        </p:txBody>
      </p:sp>
      <p:pic>
        <p:nvPicPr>
          <p:cNvPr id="50" name="图片 49" descr="ChatGPT Image 2026年9月28日 16_40_52"/>
          <p:cNvPicPr>
            <a:picLocks noChangeAspect="1"/>
          </p:cNvPicPr>
          <p:nvPr/>
        </p:nvPicPr>
        <p:blipFill>
          <a:blip r:embed="rId8"/>
          <a:stretch>
            <a:fillRect/>
          </a:stretch>
        </p:blipFill>
        <p:spPr>
          <a:xfrm>
            <a:off x="4106545" y="4263390"/>
            <a:ext cx="2252980" cy="1413510"/>
          </a:xfrm>
          <a:prstGeom prst="rect">
            <a:avLst/>
          </a:prstGeom>
        </p:spPr>
      </p:pic>
      <p:sp>
        <p:nvSpPr>
          <p:cNvPr id="51" name="文本框 50"/>
          <p:cNvSpPr txBox="1"/>
          <p:nvPr/>
        </p:nvSpPr>
        <p:spPr>
          <a:xfrm>
            <a:off x="387985" y="1669415"/>
            <a:ext cx="8418195" cy="1183005"/>
          </a:xfrm>
          <a:prstGeom prst="rect">
            <a:avLst/>
          </a:prstGeom>
          <a:noFill/>
        </p:spPr>
        <p:txBody>
          <a:bodyPr wrap="square" rtlCol="0">
            <a:noAutofit/>
          </a:bodyPr>
          <a:lstStyle/>
          <a:p>
            <a:pPr marL="285750" indent="-285750">
              <a:lnSpc>
                <a:spcPct val="140000"/>
              </a:lnSpc>
              <a:buClr>
                <a:srgbClr val="9B0000"/>
              </a:buClr>
              <a:buFont typeface="Arial" panose="020B0604020202090204" pitchFamily="34" charset="0"/>
              <a:buChar char="•"/>
            </a:pPr>
            <a:r>
              <a:rPr lang="zh-CN" altLang="en-US" sz="1600" b="1" dirty="0">
                <a:latin typeface="微软雅黑" panose="020B0503020204020204" pitchFamily="34" charset="-122"/>
                <a:ea typeface="微软雅黑" panose="020B0503020204020204" pitchFamily="34" charset="-122"/>
                <a:sym typeface="+mn-ea"/>
              </a:rPr>
              <a:t>当前提升</a:t>
            </a:r>
            <a:r>
              <a:rPr lang="en-US" altLang="zh-CN" sz="1600" b="1" dirty="0">
                <a:latin typeface="微软雅黑" panose="020B0503020204020204" pitchFamily="34" charset="-122"/>
                <a:ea typeface="微软雅黑" panose="020B0503020204020204" pitchFamily="34" charset="-122"/>
                <a:sym typeface="+mn-ea"/>
              </a:rPr>
              <a:t>ZSAR</a:t>
            </a:r>
            <a:r>
              <a:rPr lang="zh-CN" altLang="en-US" sz="1600" b="1" dirty="0">
                <a:latin typeface="微软雅黑" panose="020B0503020204020204" pitchFamily="34" charset="-122"/>
                <a:ea typeface="微软雅黑" panose="020B0503020204020204" pitchFamily="34" charset="-122"/>
                <a:sym typeface="+mn-ea"/>
              </a:rPr>
              <a:t>方法大多采用</a:t>
            </a:r>
            <a:r>
              <a:rPr lang="zh-CN" altLang="en-US" sz="1600" b="1" dirty="0">
                <a:solidFill>
                  <a:srgbClr val="0070C0"/>
                </a:solidFill>
                <a:latin typeface="微软雅黑" panose="020B0503020204020204" pitchFamily="34" charset="-122"/>
                <a:ea typeface="微软雅黑" panose="020B0503020204020204" pitchFamily="34" charset="-122"/>
                <a:sym typeface="+mn-ea"/>
              </a:rPr>
              <a:t>标签监督的对抗微调范式</a:t>
            </a:r>
            <a:r>
              <a:rPr lang="zh-CN" altLang="en-US" sz="1600" b="1" dirty="0">
                <a:latin typeface="微软雅黑" panose="020B0503020204020204" pitchFamily="34" charset="-122"/>
                <a:ea typeface="微软雅黑" panose="020B0503020204020204" pitchFamily="34" charset="-122"/>
                <a:sym typeface="+mn-ea"/>
              </a:rPr>
              <a:t>（如</a:t>
            </a:r>
            <a:r>
              <a:rPr lang="en-US" altLang="zh-CN" sz="1600" b="1" dirty="0">
                <a:latin typeface="微软雅黑" panose="020B0503020204020204" pitchFamily="34" charset="-122"/>
                <a:ea typeface="微软雅黑" panose="020B0503020204020204" pitchFamily="34" charset="-122"/>
                <a:sym typeface="+mn-ea"/>
              </a:rPr>
              <a:t>TeCoA、PMG-AFT</a:t>
            </a:r>
            <a:r>
              <a:rPr lang="zh-CN" altLang="en-US" sz="1600" b="1" dirty="0">
                <a:latin typeface="微软雅黑" panose="020B0503020204020204" pitchFamily="34" charset="-122"/>
                <a:ea typeface="微软雅黑" panose="020B0503020204020204" pitchFamily="34" charset="-122"/>
                <a:sym typeface="+mn-ea"/>
              </a:rPr>
              <a:t>等）</a:t>
            </a:r>
            <a:endParaRPr lang="en-US" altLang="zh-CN" sz="1600" b="1" dirty="0">
              <a:solidFill>
                <a:srgbClr val="FF0000"/>
              </a:solidFill>
              <a:latin typeface="微软雅黑" panose="020B0503020204020204" pitchFamily="34" charset="-122"/>
              <a:ea typeface="微软雅黑" panose="020B0503020204020204" pitchFamily="34" charset="-122"/>
            </a:endParaRPr>
          </a:p>
          <a:p>
            <a:pPr marL="285750" indent="-285750">
              <a:lnSpc>
                <a:spcPct val="140000"/>
              </a:lnSpc>
              <a:buClr>
                <a:srgbClr val="9B0000"/>
              </a:buClr>
              <a:buFont typeface="Arial" panose="020B0604020202090204" pitchFamily="34" charset="0"/>
              <a:buChar char="•"/>
            </a:pPr>
            <a:r>
              <a:rPr lang="zh-CN" altLang="en-US" sz="1600" b="1" dirty="0">
                <a:latin typeface="微软雅黑" panose="020B0503020204020204" pitchFamily="34" charset="-122"/>
                <a:ea typeface="微软雅黑" panose="020B0503020204020204" pitchFamily="34" charset="-122"/>
                <a:sym typeface="+mn-ea"/>
              </a:rPr>
              <a:t>将预训练</a:t>
            </a:r>
            <a:r>
              <a:rPr lang="en-US" altLang="zh-CN" sz="1600" b="1" dirty="0">
                <a:latin typeface="微软雅黑" panose="020B0503020204020204" pitchFamily="34" charset="-122"/>
                <a:ea typeface="微软雅黑" panose="020B0503020204020204" pitchFamily="34" charset="-122"/>
                <a:sym typeface="+mn-ea"/>
              </a:rPr>
              <a:t>VLM</a:t>
            </a:r>
            <a:r>
              <a:rPr lang="zh-CN" altLang="en-US" sz="1600" b="1" dirty="0">
                <a:latin typeface="微软雅黑" panose="020B0503020204020204" pitchFamily="34" charset="-122"/>
                <a:ea typeface="微软雅黑" panose="020B0503020204020204" pitchFamily="34" charset="-122"/>
                <a:sym typeface="+mn-ea"/>
              </a:rPr>
              <a:t>视为</a:t>
            </a:r>
            <a:r>
              <a:rPr lang="zh-CN" altLang="en-US" sz="1600" b="1" dirty="0">
                <a:solidFill>
                  <a:schemeClr val="tx1"/>
                </a:solidFill>
                <a:latin typeface="微软雅黑" panose="020B0503020204020204" pitchFamily="34" charset="-122"/>
                <a:ea typeface="微软雅黑" panose="020B0503020204020204" pitchFamily="34" charset="-122"/>
                <a:sym typeface="+mn-ea"/>
              </a:rPr>
              <a:t>传统</a:t>
            </a:r>
            <a:r>
              <a:rPr lang="zh-CN" altLang="en-US" sz="1600" b="1" dirty="0">
                <a:solidFill>
                  <a:srgbClr val="0070C0"/>
                </a:solidFill>
                <a:latin typeface="微软雅黑" panose="020B0503020204020204" pitchFamily="34" charset="-122"/>
                <a:ea typeface="微软雅黑" panose="020B0503020204020204" pitchFamily="34" charset="-122"/>
                <a:sym typeface="+mn-ea"/>
              </a:rPr>
              <a:t>分类器</a:t>
            </a:r>
            <a:r>
              <a:rPr lang="zh-CN" altLang="en-US" sz="1600" b="1" dirty="0">
                <a:latin typeface="微软雅黑" panose="020B0503020204020204" pitchFamily="34" charset="-122"/>
                <a:ea typeface="微软雅黑" panose="020B0503020204020204" pitchFamily="34" charset="-122"/>
                <a:sym typeface="+mn-ea"/>
              </a:rPr>
              <a:t>，使用</a:t>
            </a:r>
            <a:r>
              <a:rPr lang="zh-CN" altLang="en-US" sz="1600" b="1" dirty="0">
                <a:solidFill>
                  <a:srgbClr val="FF0000"/>
                </a:solidFill>
                <a:latin typeface="微软雅黑" panose="020B0503020204020204" pitchFamily="34" charset="-122"/>
                <a:ea typeface="微软雅黑" panose="020B0503020204020204" pitchFamily="34" charset="-122"/>
                <a:sym typeface="+mn-ea"/>
              </a:rPr>
              <a:t>硬标签</a:t>
            </a:r>
            <a:r>
              <a:rPr lang="zh-CN" altLang="en-US" sz="1600" b="1" dirty="0">
                <a:latin typeface="微软雅黑" panose="020B0503020204020204" pitchFamily="34" charset="-122"/>
                <a:ea typeface="微软雅黑" panose="020B0503020204020204" pitchFamily="34" charset="-122"/>
                <a:sym typeface="+mn-ea"/>
              </a:rPr>
              <a:t>监督微调</a:t>
            </a:r>
            <a:r>
              <a:rPr lang="en-US" altLang="zh-CN" sz="1600" b="1" dirty="0">
                <a:latin typeface="微软雅黑" panose="020B0503020204020204" pitchFamily="34" charset="-122"/>
                <a:ea typeface="微软雅黑" panose="020B0503020204020204" pitchFamily="34" charset="-122"/>
                <a:sym typeface="+mn-ea"/>
              </a:rPr>
              <a:t>CLIP</a:t>
            </a:r>
            <a:r>
              <a:rPr lang="zh-CN" altLang="en-US" sz="1600" b="1" dirty="0">
                <a:latin typeface="微软雅黑" panose="020B0503020204020204" pitchFamily="34" charset="-122"/>
                <a:ea typeface="微软雅黑" panose="020B0503020204020204" pitchFamily="34" charset="-122"/>
                <a:sym typeface="+mn-ea"/>
              </a:rPr>
              <a:t>图像编码器</a:t>
            </a:r>
            <a:endParaRPr lang="en-US" altLang="zh-CN" sz="1600" b="1" dirty="0">
              <a:solidFill>
                <a:schemeClr val="tx1"/>
              </a:solidFill>
              <a:latin typeface="微软雅黑" panose="020B0503020204020204" pitchFamily="34" charset="-122"/>
              <a:ea typeface="微软雅黑" panose="020B0503020204020204" pitchFamily="34" charset="-122"/>
            </a:endParaRPr>
          </a:p>
          <a:p>
            <a:pPr marL="285750" indent="-285750">
              <a:lnSpc>
                <a:spcPct val="140000"/>
              </a:lnSpc>
              <a:buClr>
                <a:srgbClr val="9B0000"/>
              </a:buClr>
              <a:buFont typeface="Arial" panose="020B0604020202090204" pitchFamily="34" charset="0"/>
              <a:buChar char="•"/>
            </a:pPr>
            <a:r>
              <a:rPr lang="zh-CN" altLang="en-US" sz="1600" b="1" dirty="0">
                <a:latin typeface="微软雅黑" panose="020B0503020204020204" pitchFamily="34" charset="-122"/>
                <a:ea typeface="微软雅黑" panose="020B0503020204020204" pitchFamily="34" charset="-122"/>
                <a:sym typeface="+mn-ea"/>
              </a:rPr>
              <a:t>让对抗视觉特征</a:t>
            </a:r>
            <a:r>
              <a:rPr lang="zh-CN" altLang="en-US" sz="1600" b="1" dirty="0">
                <a:solidFill>
                  <a:srgbClr val="FF0000"/>
                </a:solidFill>
                <a:latin typeface="微软雅黑" panose="020B0503020204020204" pitchFamily="34" charset="-122"/>
                <a:ea typeface="微软雅黑" panose="020B0503020204020204" pitchFamily="34" charset="-122"/>
                <a:sym typeface="+mn-ea"/>
              </a:rPr>
              <a:t>向目标类别靠拢、抑制其他类别</a:t>
            </a:r>
            <a:endParaRPr lang="zh-CN" altLang="en-US" sz="1600" b="1" dirty="0">
              <a:solidFill>
                <a:srgbClr val="0070C0"/>
              </a:solidFill>
              <a:latin typeface="微软雅黑" panose="020B0503020204020204" pitchFamily="34" charset="-122"/>
              <a:ea typeface="微软雅黑" panose="020B0503020204020204" pitchFamily="34" charset="-122"/>
            </a:endParaRPr>
          </a:p>
          <a:p>
            <a:pPr>
              <a:lnSpc>
                <a:spcPct val="140000"/>
              </a:lnSpc>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4008120" y="5676900"/>
            <a:ext cx="2352675" cy="774700"/>
          </a:xfrm>
          <a:prstGeom prst="rect">
            <a:avLst/>
          </a:prstGeom>
          <a:noFill/>
        </p:spPr>
        <p:txBody>
          <a:bodyPr wrap="square" rtlCol="0">
            <a:noAutofit/>
          </a:bodyPr>
          <a:lstStyle/>
          <a:p>
            <a:pPr>
              <a:lnSpc>
                <a:spcPct val="120000"/>
              </a:lnSpc>
            </a:pP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对抗微调前后</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CLIP</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模型对不同候选文本的预测结果，微调后目标类别</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panda</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的得分由0.60提升至0.98，其余类别得分均显著下降。</a:t>
            </a:r>
          </a:p>
        </p:txBody>
      </p:sp>
      <p:sp>
        <p:nvSpPr>
          <p:cNvPr id="37" name="箭头: 右 55"/>
          <p:cNvSpPr/>
          <p:nvPr/>
        </p:nvSpPr>
        <p:spPr>
          <a:xfrm rot="5400000">
            <a:off x="4455160" y="2896235"/>
            <a:ext cx="292100" cy="36957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4"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56</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57</a:t>
            </a:fld>
            <a:endParaRPr lang="zh-CN" altLang="en-US" dirty="0"/>
          </a:p>
        </p:txBody>
      </p:sp>
      <p:sp>
        <p:nvSpPr>
          <p:cNvPr id="25" name="矩形 24"/>
          <p:cNvSpPr/>
          <p:nvPr>
            <p:custDataLst>
              <p:tags r:id="rId2"/>
            </p:custDataLst>
          </p:nvPr>
        </p:nvSpPr>
        <p:spPr>
          <a:xfrm>
            <a:off x="2453640" y="0"/>
            <a:ext cx="2466340" cy="664210"/>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解决方案</a:t>
            </a:r>
          </a:p>
        </p:txBody>
      </p:sp>
      <p:sp>
        <p:nvSpPr>
          <p:cNvPr id="7" name="文本框 6"/>
          <p:cNvSpPr txBox="1"/>
          <p:nvPr/>
        </p:nvSpPr>
        <p:spPr>
          <a:xfrm>
            <a:off x="329565" y="880110"/>
            <a:ext cx="4163060" cy="398780"/>
          </a:xfrm>
          <a:prstGeom prst="rect">
            <a:avLst/>
          </a:prstGeom>
          <a:noFill/>
        </p:spPr>
        <p:txBody>
          <a:bodyPr wrap="square" rtlCol="0" anchor="t">
            <a:spAutoFit/>
          </a:bodyPr>
          <a:lstStyle/>
          <a:p>
            <a:pPr marL="342900" indent="-342900">
              <a:buClr>
                <a:schemeClr val="accent1"/>
              </a:buClr>
              <a:buFont typeface="Wingdings" panose="05000000000000000000" pitchFamily="2" charset="2"/>
              <a:buChar char="Ø"/>
            </a:pPr>
            <a:r>
              <a:rPr lang="zh-CN" altLang="en-US"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rPr>
              <a:t>预备知识：</a:t>
            </a:r>
            <a:r>
              <a:rPr lang="en-US" altLang="zh-CN"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rPr>
              <a:t>CLIP</a:t>
            </a:r>
            <a:r>
              <a:rPr lang="zh-CN" altLang="en-US"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rPr>
              <a:t>与对抗攻击</a:t>
            </a:r>
          </a:p>
        </p:txBody>
      </p:sp>
      <p:grpSp>
        <p:nvGrpSpPr>
          <p:cNvPr id="33" name="组合 32"/>
          <p:cNvGrpSpPr/>
          <p:nvPr/>
        </p:nvGrpSpPr>
        <p:grpSpPr>
          <a:xfrm>
            <a:off x="586105" y="1348740"/>
            <a:ext cx="5236210" cy="5210810"/>
            <a:chOff x="3124" y="2557"/>
            <a:chExt cx="5526" cy="3371"/>
          </a:xfrm>
        </p:grpSpPr>
        <p:sp>
          <p:nvSpPr>
            <p:cNvPr id="130" name="圆角矩形 11"/>
            <p:cNvSpPr/>
            <p:nvPr/>
          </p:nvSpPr>
          <p:spPr>
            <a:xfrm>
              <a:off x="3124" y="2668"/>
              <a:ext cx="5526" cy="3260"/>
            </a:xfrm>
            <a:prstGeom prst="roundRect">
              <a:avLst>
                <a:gd name="adj" fmla="val 3704"/>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marL="285750" indent="-285750">
                <a:lnSpc>
                  <a:spcPts val="2400"/>
                </a:lnSpc>
                <a:buFont typeface="Arial" panose="020B0604020202090204" pitchFamily="34" charset="0"/>
                <a:buChar char="•"/>
              </a:pPr>
              <a:endParaRPr lang="en-US" altLang="zh-CN" sz="1600" b="1" dirty="0">
                <a:solidFill>
                  <a:schemeClr val="tx1"/>
                </a:solidFill>
                <a:effectLst/>
                <a:latin typeface="Times New Roman" panose="02020503050405090304" charset="0"/>
                <a:ea typeface="宋体" pitchFamily="2" charset="-122"/>
                <a:cs typeface="Times New Roman" panose="02020503050405090304" charset="0"/>
              </a:endParaRPr>
            </a:p>
          </p:txBody>
        </p:sp>
        <p:sp>
          <p:nvSpPr>
            <p:cNvPr id="36" name="文本框 35"/>
            <p:cNvSpPr txBox="1"/>
            <p:nvPr/>
          </p:nvSpPr>
          <p:spPr>
            <a:xfrm>
              <a:off x="4742" y="2557"/>
              <a:ext cx="2196" cy="238"/>
            </a:xfrm>
            <a:prstGeom prst="rect">
              <a:avLst/>
            </a:prstGeom>
            <a:solidFill>
              <a:schemeClr val="bg1"/>
            </a:solidFill>
          </p:spPr>
          <p:txBody>
            <a:bodyPr wrap="square" lIns="0" tIns="0" rIns="0" bIns="0">
              <a:noAutofit/>
            </a:bodyPr>
            <a:lstStyle/>
            <a:p>
              <a:pPr algn="ctr"/>
              <a:r>
                <a:rPr lang="en-US" alt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CLIP </a:t>
              </a:r>
              <a:r>
                <a:rPr lang="zh-CN" altLang="en-US"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基本结构</a:t>
              </a:r>
            </a:p>
          </p:txBody>
        </p:sp>
      </p:grpSp>
      <p:graphicFrame>
        <p:nvGraphicFramePr>
          <p:cNvPr id="23" name="对象 22">
            <a:hlinkClick r:id="" action="ppaction://ole?verb=0"/>
          </p:cNvPr>
          <p:cNvGraphicFramePr>
            <a:graphicFrameLocks noChangeAspect="1"/>
          </p:cNvGraphicFramePr>
          <p:nvPr>
            <p:custDataLst>
              <p:tags r:id="rId3"/>
            </p:custDataLst>
          </p:nvPr>
        </p:nvGraphicFramePr>
        <p:xfrm>
          <a:off x="6041390" y="2972435"/>
          <a:ext cx="114300" cy="215900"/>
        </p:xfrm>
        <a:graphic>
          <a:graphicData uri="http://schemas.openxmlformats.org/presentationml/2006/ole">
            <mc:AlternateContent xmlns:mc="http://schemas.openxmlformats.org/markup-compatibility/2006">
              <mc:Choice xmlns:v="urn:schemas-microsoft-com:vml" Requires="v">
                <p:oleObj r:id="rId18" imgW="114300" imgH="215900" progId="Equation.KSEE3">
                  <p:embed/>
                </p:oleObj>
              </mc:Choice>
              <mc:Fallback>
                <p:oleObj r:id="rId18" imgW="114300" imgH="215900" progId="Equation.KSEE3">
                  <p:embed/>
                  <p:pic>
                    <p:nvPicPr>
                      <p:cNvPr id="23" name="对象 22">
                        <a:hlinkClick r:id="" action="ppaction://ole?verb=0"/>
                      </p:cNvPr>
                      <p:cNvPicPr/>
                      <p:nvPr/>
                    </p:nvPicPr>
                    <p:blipFill>
                      <a:blip r:embed="rId19"/>
                      <a:stretch>
                        <a:fillRect/>
                      </a:stretch>
                    </p:blipFill>
                    <p:spPr>
                      <a:xfrm>
                        <a:off x="6041390" y="2972435"/>
                        <a:ext cx="114300" cy="215900"/>
                      </a:xfrm>
                      <a:prstGeom prst="rect">
                        <a:avLst/>
                      </a:prstGeom>
                    </p:spPr>
                  </p:pic>
                </p:oleObj>
              </mc:Fallback>
            </mc:AlternateContent>
          </a:graphicData>
        </a:graphic>
      </p:graphicFrame>
      <p:pic>
        <p:nvPicPr>
          <p:cNvPr id="29" name="图片 28"/>
          <p:cNvPicPr>
            <a:picLocks noChangeAspect="1"/>
          </p:cNvPicPr>
          <p:nvPr/>
        </p:nvPicPr>
        <p:blipFill>
          <a:blip r:embed="rId20"/>
          <a:srcRect b="19303"/>
          <a:stretch>
            <a:fillRect/>
          </a:stretch>
        </p:blipFill>
        <p:spPr>
          <a:xfrm>
            <a:off x="697865" y="1744345"/>
            <a:ext cx="4837430" cy="1829435"/>
          </a:xfrm>
          <a:prstGeom prst="rect">
            <a:avLst/>
          </a:prstGeom>
        </p:spPr>
      </p:pic>
      <p:sp>
        <p:nvSpPr>
          <p:cNvPr id="32" name="文本框 31"/>
          <p:cNvSpPr txBox="1"/>
          <p:nvPr/>
        </p:nvSpPr>
        <p:spPr>
          <a:xfrm>
            <a:off x="742950" y="3674745"/>
            <a:ext cx="4737100" cy="215265"/>
          </a:xfrm>
          <a:prstGeom prst="rect">
            <a:avLst/>
          </a:prstGeom>
          <a:noFill/>
        </p:spPr>
        <p:txBody>
          <a:bodyPr wrap="square" rtlCol="0">
            <a:noAutofit/>
          </a:bodyPr>
          <a:lstStyle/>
          <a:p>
            <a:pPr>
              <a:lnSpc>
                <a:spcPct val="70000"/>
              </a:lnSpc>
            </a:pPr>
            <a:r>
              <a:rPr lang="en-US" altLang="zh-CN" sz="1200">
                <a:hlinkClick r:id="rId21" action="ppaction://hlinkfile"/>
              </a:rPr>
              <a:t>Learning Transferable Visual Models From Natural Language Supervision</a:t>
            </a:r>
            <a:endParaRPr lang="en-US" altLang="zh-CN" sz="1200"/>
          </a:p>
        </p:txBody>
      </p:sp>
      <mc:AlternateContent xmlns:mc="http://schemas.openxmlformats.org/markup-compatibility/2006" xmlns:a14="http://schemas.microsoft.com/office/drawing/2010/main">
        <mc:Choice Requires="a14">
          <p:sp>
            <p:nvSpPr>
              <p:cNvPr id="34" name="文本框 33"/>
              <p:cNvSpPr txBox="1"/>
              <p:nvPr/>
            </p:nvSpPr>
            <p:spPr>
              <a:xfrm>
                <a:off x="742315" y="3940810"/>
                <a:ext cx="4899660" cy="1447165"/>
              </a:xfrm>
              <a:prstGeom prst="rect">
                <a:avLst/>
              </a:prstGeom>
              <a:noFill/>
            </p:spPr>
            <p:txBody>
              <a:bodyPr wrap="square" rtlCol="0">
                <a:noAutofit/>
              </a:bodyPr>
              <a:lstStyle/>
              <a:p>
                <a:pPr>
                  <a:lnSpc>
                    <a:spcPct val="130000"/>
                  </a:lnSpc>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CLIP</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是一种基础的视觉语言编码器，由两个编码器组成</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30000"/>
                  </a:lnSpc>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图像编码器</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文本编码器</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给定图像</a:t>
                </a:r>
                <a14:m>
                  <m:oMath xmlns:m="http://schemas.openxmlformats.org/officeDocument/2006/math">
                    <m:r>
                      <a:rPr lang="en-US" altLang="zh-CN" sz="1600" i="1">
                        <a:latin typeface="Cambria Math" panose="02040503050406030204" charset="0"/>
                        <a:ea typeface="微软雅黑" panose="020B0503020204020204" pitchFamily="34" charset="-122"/>
                        <a:cs typeface="Cambria Math" panose="02040503050406030204" charset="0"/>
                      </a:rPr>
                      <m:t>𝑥</m:t>
                    </m:r>
                  </m:oMath>
                </a14:m>
                <a:r>
                  <a:rPr lang="zh-CN" altLang="en-US" sz="1600">
                    <a:latin typeface="微软雅黑" panose="020B0503020204020204" pitchFamily="34" charset="-122"/>
                    <a:ea typeface="微软雅黑" panose="020B0503020204020204" pitchFamily="34" charset="-122"/>
                    <a:cs typeface="微软雅黑" panose="020B0503020204020204" pitchFamily="34" charset="-122"/>
                  </a:rPr>
                  <a:t>和文本</a:t>
                </a:r>
                <a14:m>
                  <m:oMath xmlns:m="http://schemas.openxmlformats.org/officeDocument/2006/math">
                    <m:r>
                      <a:rPr lang="en-US" altLang="zh-CN" sz="1600" i="1">
                        <a:latin typeface="Cambria Math" panose="02040503050406030204" charset="0"/>
                        <a:ea typeface="微软雅黑" panose="020B0503020204020204" pitchFamily="34" charset="-122"/>
                        <a:cs typeface="Cambria Math" panose="02040503050406030204" charset="0"/>
                      </a:rPr>
                      <m:t>𝑡</m:t>
                    </m:r>
                    <m:r>
                      <a:rPr lang="en-US" altLang="zh-CN" sz="1600" i="1">
                        <a:latin typeface="Cambria Math" panose="02040503050406030204" charset="0"/>
                        <a:ea typeface="微软雅黑" panose="020B0503020204020204" pitchFamily="34" charset="-122"/>
                        <a:cs typeface="Cambria Math" panose="02040503050406030204" charset="0"/>
                      </a:rPr>
                      <m:t>，</m:t>
                    </m:r>
                  </m:oMath>
                </a14:m>
                <a:r>
                  <a:rPr lang="en-US" altLang="zh-CN" sz="1600">
                    <a:latin typeface="微软雅黑" panose="020B0503020204020204" pitchFamily="34" charset="-122"/>
                    <a:ea typeface="微软雅黑" panose="020B0503020204020204" pitchFamily="34" charset="-122"/>
                    <a:cs typeface="微软雅黑" panose="020B0503020204020204" pitchFamily="34" charset="-122"/>
                  </a:rPr>
                  <a:t>CLIP</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通过计算</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余弦相似度</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完成零样本分类。其核心思想是：</a:t>
                </a:r>
              </a:p>
              <a:p>
                <a:pPr>
                  <a:lnSpc>
                    <a:spcPct val="130000"/>
                  </a:lnSpc>
                </a:pP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语义相关的图文在共享嵌入空间中彼此靠近。</a:t>
                </a:r>
              </a:p>
              <a:p>
                <a:pPr>
                  <a:lnSpc>
                    <a:spcPct val="13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 </a:t>
                </a:r>
              </a:p>
            </p:txBody>
          </p:sp>
        </mc:Choice>
        <mc:Fallback xmlns="">
          <p:sp>
            <p:nvSpPr>
              <p:cNvPr id="34" name="文本框 33"/>
              <p:cNvSpPr txBox="1">
                <a:spLocks noRot="1" noChangeAspect="1" noMove="1" noResize="1" noEditPoints="1" noAdjustHandles="1" noChangeArrowheads="1" noChangeShapeType="1" noTextEdit="1"/>
              </p:cNvSpPr>
              <p:nvPr/>
            </p:nvSpPr>
            <p:spPr>
              <a:xfrm>
                <a:off x="742315" y="3940810"/>
                <a:ext cx="4899660" cy="1447165"/>
              </a:xfrm>
              <a:prstGeom prst="rect">
                <a:avLst/>
              </a:prstGeom>
              <a:blipFill rotWithShape="1">
                <a:blip r:embed="rId22"/>
                <a:stretch>
                  <a:fillRect b="-84818"/>
                </a:stretch>
              </a:blipFill>
            </p:spPr>
            <p:txBody>
              <a:bodyPr/>
              <a:lstStyle/>
              <a:p>
                <a:r>
                  <a:rPr lang="zh-CN" altLang="en-US">
                    <a:noFill/>
                  </a:rPr>
                  <a:t> </a:t>
                </a:r>
              </a:p>
            </p:txBody>
          </p:sp>
        </mc:Fallback>
      </mc:AlternateContent>
      <p:pic>
        <p:nvPicPr>
          <p:cNvPr id="42" name="图片 41"/>
          <p:cNvPicPr/>
          <p:nvPr/>
        </p:nvPicPr>
        <p:blipFill>
          <a:blip r:embed="rId23"/>
          <a:srcRect t="45263"/>
          <a:stretch>
            <a:fillRect/>
          </a:stretch>
        </p:blipFill>
        <p:spPr>
          <a:xfrm>
            <a:off x="1974850" y="4678680"/>
            <a:ext cx="795655" cy="215900"/>
          </a:xfrm>
          <a:prstGeom prst="rect">
            <a:avLst/>
          </a:prstGeom>
        </p:spPr>
      </p:pic>
      <p:pic>
        <p:nvPicPr>
          <p:cNvPr id="44" name="图片 43"/>
          <p:cNvPicPr/>
          <p:nvPr/>
        </p:nvPicPr>
        <p:blipFill>
          <a:blip r:embed="rId24"/>
          <a:srcRect t="46061"/>
          <a:stretch>
            <a:fillRect/>
          </a:stretch>
        </p:blipFill>
        <p:spPr>
          <a:xfrm>
            <a:off x="1974850" y="5030470"/>
            <a:ext cx="795655" cy="216535"/>
          </a:xfrm>
          <a:prstGeom prst="rect">
            <a:avLst/>
          </a:prstGeom>
        </p:spPr>
      </p:pic>
      <p:pic>
        <p:nvPicPr>
          <p:cNvPr id="46" name="图片 45"/>
          <p:cNvPicPr/>
          <p:nvPr/>
        </p:nvPicPr>
        <p:blipFill>
          <a:blip r:embed="rId25"/>
          <a:srcRect t="35429"/>
          <a:stretch>
            <a:fillRect/>
          </a:stretch>
        </p:blipFill>
        <p:spPr>
          <a:xfrm>
            <a:off x="853440" y="5640070"/>
            <a:ext cx="1121410" cy="235585"/>
          </a:xfrm>
          <a:prstGeom prst="rect">
            <a:avLst/>
          </a:prstGeom>
        </p:spPr>
      </p:pic>
      <p:grpSp>
        <p:nvGrpSpPr>
          <p:cNvPr id="72" name="组合 71"/>
          <p:cNvGrpSpPr/>
          <p:nvPr>
            <p:custDataLst>
              <p:tags r:id="rId4"/>
            </p:custDataLst>
          </p:nvPr>
        </p:nvGrpSpPr>
        <p:grpSpPr>
          <a:xfrm>
            <a:off x="6206490" y="1334770"/>
            <a:ext cx="5540375" cy="2157730"/>
            <a:chOff x="3124" y="2451"/>
            <a:chExt cx="5526" cy="3477"/>
          </a:xfrm>
        </p:grpSpPr>
        <p:sp>
          <p:nvSpPr>
            <p:cNvPr id="73" name="圆角矩形 11"/>
            <p:cNvSpPr/>
            <p:nvPr>
              <p:custDataLst>
                <p:tags r:id="rId14"/>
              </p:custDataLst>
            </p:nvPr>
          </p:nvSpPr>
          <p:spPr>
            <a:xfrm>
              <a:off x="3124" y="2668"/>
              <a:ext cx="5526" cy="3260"/>
            </a:xfrm>
            <a:prstGeom prst="roundRect">
              <a:avLst>
                <a:gd name="adj" fmla="val 3704"/>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marL="285750" indent="-285750">
                <a:lnSpc>
                  <a:spcPts val="2400"/>
                </a:lnSpc>
                <a:buFont typeface="Arial" panose="020B0604020202090204" pitchFamily="34" charset="0"/>
                <a:buChar char="•"/>
              </a:pPr>
              <a:endParaRPr lang="en-US" altLang="zh-CN" sz="1600" b="1" dirty="0">
                <a:solidFill>
                  <a:schemeClr val="tx1"/>
                </a:solidFill>
                <a:effectLst/>
                <a:latin typeface="Times New Roman" panose="02020503050405090304" charset="0"/>
                <a:ea typeface="宋体" pitchFamily="2" charset="-122"/>
                <a:cs typeface="Times New Roman" panose="02020503050405090304" charset="0"/>
              </a:endParaRPr>
            </a:p>
          </p:txBody>
        </p:sp>
        <p:sp>
          <p:nvSpPr>
            <p:cNvPr id="74" name="文本框 73"/>
            <p:cNvSpPr txBox="1"/>
            <p:nvPr>
              <p:custDataLst>
                <p:tags r:id="rId15"/>
              </p:custDataLst>
            </p:nvPr>
          </p:nvSpPr>
          <p:spPr>
            <a:xfrm>
              <a:off x="3784" y="2451"/>
              <a:ext cx="4285" cy="484"/>
            </a:xfrm>
            <a:prstGeom prst="rect">
              <a:avLst/>
            </a:prstGeom>
            <a:solidFill>
              <a:schemeClr val="bg1"/>
            </a:solidFill>
          </p:spPr>
          <p:txBody>
            <a:bodyPr wrap="square" lIns="0" tIns="0" rIns="0" bIns="0">
              <a:noAutofit/>
            </a:bodyPr>
            <a:lstStyle/>
            <a:p>
              <a:pPr algn="ctr"/>
              <a:r>
                <a:rPr lang="en-US" alt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CLIP</a:t>
              </a:r>
              <a:r>
                <a:rPr lang="zh-CN" altLang="en-US"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预训练损失</a:t>
              </a:r>
              <a:r>
                <a:rPr lang="en-US" alt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（InfoNCE）</a:t>
              </a:r>
            </a:p>
          </p:txBody>
        </p:sp>
      </p:grpSp>
      <p:pic>
        <p:nvPicPr>
          <p:cNvPr id="76" name="图片 75"/>
          <p:cNvPicPr/>
          <p:nvPr>
            <p:custDataLst>
              <p:tags r:id="rId5"/>
            </p:custDataLst>
          </p:nvPr>
        </p:nvPicPr>
        <p:blipFill>
          <a:blip r:embed="rId26"/>
          <a:srcRect t="10242"/>
          <a:stretch>
            <a:fillRect/>
          </a:stretch>
        </p:blipFill>
        <p:spPr>
          <a:xfrm>
            <a:off x="7065645" y="1628140"/>
            <a:ext cx="3681095" cy="801370"/>
          </a:xfrm>
          <a:prstGeom prst="rect">
            <a:avLst/>
          </a:prstGeom>
        </p:spPr>
      </p:pic>
      <p:pic>
        <p:nvPicPr>
          <p:cNvPr id="77" name="图片 76"/>
          <p:cNvPicPr/>
          <p:nvPr>
            <p:custDataLst>
              <p:tags r:id="rId6"/>
            </p:custDataLst>
          </p:nvPr>
        </p:nvPicPr>
        <p:blipFill>
          <a:blip r:embed="rId27"/>
          <a:stretch>
            <a:fillRect/>
          </a:stretch>
        </p:blipFill>
        <p:spPr>
          <a:xfrm>
            <a:off x="6772275" y="2456815"/>
            <a:ext cx="76200" cy="309880"/>
          </a:xfrm>
          <a:prstGeom prst="rect">
            <a:avLst/>
          </a:prstGeom>
        </p:spPr>
      </p:pic>
      <p:sp>
        <p:nvSpPr>
          <p:cNvPr id="78" name="文本框 77"/>
          <p:cNvSpPr txBox="1"/>
          <p:nvPr>
            <p:custDataLst>
              <p:tags r:id="rId7"/>
            </p:custDataLst>
          </p:nvPr>
        </p:nvSpPr>
        <p:spPr>
          <a:xfrm>
            <a:off x="6729095" y="2456815"/>
            <a:ext cx="2466975" cy="276860"/>
          </a:xfrm>
          <a:prstGeom prst="rect">
            <a:avLst/>
          </a:prstGeom>
        </p:spPr>
        <p:txBody>
          <a:bodyPr>
            <a:noAutofit/>
          </a:bodyPr>
          <a:lstStyle/>
          <a:p>
            <a:pPr marL="0" indent="0" algn="just" defTabSz="266700">
              <a:spcBef>
                <a:spcPct val="0"/>
              </a:spcBef>
              <a:spcAft>
                <a:spcPct val="0"/>
              </a:spcAft>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为温度参数，总损失为</a:t>
            </a:r>
          </a:p>
        </p:txBody>
      </p:sp>
      <p:pic>
        <p:nvPicPr>
          <p:cNvPr id="79" name="图片 78"/>
          <p:cNvPicPr/>
          <p:nvPr>
            <p:custDataLst>
              <p:tags r:id="rId8"/>
            </p:custDataLst>
          </p:nvPr>
        </p:nvPicPr>
        <p:blipFill>
          <a:blip r:embed="rId28"/>
          <a:stretch>
            <a:fillRect/>
          </a:stretch>
        </p:blipFill>
        <p:spPr>
          <a:xfrm>
            <a:off x="8994775" y="2421255"/>
            <a:ext cx="1168400" cy="309880"/>
          </a:xfrm>
          <a:prstGeom prst="rect">
            <a:avLst/>
          </a:prstGeom>
        </p:spPr>
      </p:pic>
      <p:sp>
        <p:nvSpPr>
          <p:cNvPr id="80" name="文本框 79"/>
          <p:cNvSpPr txBox="1"/>
          <p:nvPr>
            <p:custDataLst>
              <p:tags r:id="rId9"/>
            </p:custDataLst>
          </p:nvPr>
        </p:nvSpPr>
        <p:spPr>
          <a:xfrm>
            <a:off x="6640195" y="2421255"/>
            <a:ext cx="4737100" cy="975995"/>
          </a:xfrm>
          <a:prstGeom prst="rect">
            <a:avLst/>
          </a:prstGeom>
        </p:spPr>
        <p:txBody>
          <a:bodyPr wrap="square">
            <a:spAutoFit/>
          </a:bodyPr>
          <a:lstStyle/>
          <a:p>
            <a:pPr marL="0" indent="0" algn="just" defTabSz="266700">
              <a:lnSpc>
                <a:spcPct val="120000"/>
              </a:lnSpc>
              <a:spcBef>
                <a:spcPct val="0"/>
              </a:spcBef>
              <a:spcAft>
                <a:spcPct val="0"/>
              </a:spcAft>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，该损失</a:t>
            </a: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拉近匹配图文、推远不匹配图文，</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CLIP</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零样本泛化能力的来源。</a:t>
            </a:r>
          </a:p>
        </p:txBody>
      </p:sp>
      <p:graphicFrame>
        <p:nvGraphicFramePr>
          <p:cNvPr id="81" name="对象 80">
            <a:hlinkClick r:id="" action="ppaction://ole?verb=0"/>
          </p:cNvPr>
          <p:cNvGraphicFramePr>
            <a:graphicFrameLocks noChangeAspect="1"/>
          </p:cNvGraphicFramePr>
          <p:nvPr>
            <p:custDataLst>
              <p:tags r:id="rId10"/>
            </p:custDataLst>
          </p:nvPr>
        </p:nvGraphicFramePr>
        <p:xfrm>
          <a:off x="6245225" y="5640070"/>
          <a:ext cx="114300" cy="215900"/>
        </p:xfrm>
        <a:graphic>
          <a:graphicData uri="http://schemas.openxmlformats.org/presentationml/2006/ole">
            <mc:AlternateContent xmlns:mc="http://schemas.openxmlformats.org/markup-compatibility/2006">
              <mc:Choice xmlns:v="urn:schemas-microsoft-com:vml" Requires="v">
                <p:oleObj r:id="rId18" imgW="114300" imgH="215900" progId="Equation.KSEE3">
                  <p:embed/>
                </p:oleObj>
              </mc:Choice>
              <mc:Fallback>
                <p:oleObj r:id="rId18" imgW="114300" imgH="215900" progId="Equation.KSEE3">
                  <p:embed/>
                  <p:pic>
                    <p:nvPicPr>
                      <p:cNvPr id="81" name="对象 80">
                        <a:hlinkClick r:id="" action="ppaction://ole?verb=0"/>
                      </p:cNvPr>
                      <p:cNvPicPr/>
                      <p:nvPr/>
                    </p:nvPicPr>
                    <p:blipFill>
                      <a:blip r:embed="rId19"/>
                      <a:stretch>
                        <a:fillRect/>
                      </a:stretch>
                    </p:blipFill>
                    <p:spPr>
                      <a:xfrm>
                        <a:off x="6245225" y="5640070"/>
                        <a:ext cx="114300" cy="215900"/>
                      </a:xfrm>
                      <a:prstGeom prst="rect">
                        <a:avLst/>
                      </a:prstGeom>
                    </p:spPr>
                  </p:pic>
                </p:oleObj>
              </mc:Fallback>
            </mc:AlternateContent>
          </a:graphicData>
        </a:graphic>
      </p:graphicFrame>
      <p:grpSp>
        <p:nvGrpSpPr>
          <p:cNvPr id="83" name="组合 82"/>
          <p:cNvGrpSpPr/>
          <p:nvPr>
            <p:custDataLst>
              <p:tags r:id="rId11"/>
            </p:custDataLst>
          </p:nvPr>
        </p:nvGrpSpPr>
        <p:grpSpPr>
          <a:xfrm>
            <a:off x="6245225" y="3669399"/>
            <a:ext cx="5501640" cy="2879437"/>
            <a:chOff x="3124" y="1905"/>
            <a:chExt cx="6600" cy="4025"/>
          </a:xfrm>
        </p:grpSpPr>
        <p:sp>
          <p:nvSpPr>
            <p:cNvPr id="84" name="圆角矩形 11"/>
            <p:cNvSpPr/>
            <p:nvPr>
              <p:custDataLst>
                <p:tags r:id="rId12"/>
              </p:custDataLst>
            </p:nvPr>
          </p:nvSpPr>
          <p:spPr>
            <a:xfrm>
              <a:off x="3124" y="2046"/>
              <a:ext cx="6600" cy="3884"/>
            </a:xfrm>
            <a:prstGeom prst="roundRect">
              <a:avLst>
                <a:gd name="adj" fmla="val 3704"/>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marL="285750" indent="-285750">
                <a:lnSpc>
                  <a:spcPts val="2400"/>
                </a:lnSpc>
                <a:buFont typeface="Arial" panose="020B0604020202090204" pitchFamily="34" charset="0"/>
                <a:buChar char="•"/>
              </a:pPr>
              <a:endParaRPr lang="en-US" altLang="zh-CN" sz="1600" b="1" dirty="0">
                <a:solidFill>
                  <a:schemeClr val="tx1"/>
                </a:solidFill>
                <a:effectLst/>
                <a:latin typeface="Times New Roman" panose="02020503050405090304" charset="0"/>
                <a:ea typeface="宋体" pitchFamily="2" charset="-122"/>
                <a:cs typeface="Times New Roman" panose="02020503050405090304" charset="0"/>
              </a:endParaRPr>
            </a:p>
          </p:txBody>
        </p:sp>
        <p:sp>
          <p:nvSpPr>
            <p:cNvPr id="85" name="文本框 84"/>
            <p:cNvSpPr txBox="1"/>
            <p:nvPr>
              <p:custDataLst>
                <p:tags r:id="rId13"/>
              </p:custDataLst>
            </p:nvPr>
          </p:nvSpPr>
          <p:spPr>
            <a:xfrm>
              <a:off x="5171" y="1905"/>
              <a:ext cx="2555" cy="433"/>
            </a:xfrm>
            <a:prstGeom prst="rect">
              <a:avLst/>
            </a:prstGeom>
            <a:solidFill>
              <a:schemeClr val="bg1"/>
            </a:solidFill>
          </p:spPr>
          <p:txBody>
            <a:bodyPr wrap="square" lIns="0" tIns="0" rIns="0" bIns="0">
              <a:noAutofit/>
            </a:bodyPr>
            <a:lstStyle/>
            <a:p>
              <a:pPr algn="ctr"/>
              <a:r>
                <a:rPr lang="zh-CN" altLang="en-US"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对抗攻击</a:t>
              </a:r>
              <a:endParaRPr 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endParaRPr>
            </a:p>
          </p:txBody>
        </p:sp>
      </p:grpSp>
      <p:sp>
        <p:nvSpPr>
          <p:cNvPr id="102" name="矩形: 圆角 359"/>
          <p:cNvSpPr/>
          <p:nvPr/>
        </p:nvSpPr>
        <p:spPr>
          <a:xfrm>
            <a:off x="6729095" y="1716405"/>
            <a:ext cx="4557395" cy="772795"/>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103" name="文本框 102"/>
          <p:cNvSpPr txBox="1"/>
          <p:nvPr/>
        </p:nvSpPr>
        <p:spPr>
          <a:xfrm>
            <a:off x="6359525" y="4004945"/>
            <a:ext cx="5080635" cy="725170"/>
          </a:xfrm>
          <a:prstGeom prst="rect">
            <a:avLst/>
          </a:prstGeom>
          <a:noFill/>
        </p:spPr>
        <p:txBody>
          <a:bodyPr wrap="square" rtlCol="0">
            <a:noAutofit/>
          </a:bodyPr>
          <a:lstStyle/>
          <a:p>
            <a:pPr marL="285750" indent="-285750">
              <a:lnSpc>
                <a:spcPct val="130000"/>
              </a:lnSpc>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对抗攻击通过向输入图像添加难以察觉的微小扰动误导模型。</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扰动通常约束在 </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范数球内。</a:t>
            </a:r>
          </a:p>
        </p:txBody>
      </p:sp>
      <p:pic>
        <p:nvPicPr>
          <p:cNvPr id="104" name="图片 103"/>
          <p:cNvPicPr>
            <a:picLocks noChangeAspect="1"/>
          </p:cNvPicPr>
          <p:nvPr/>
        </p:nvPicPr>
        <p:blipFill>
          <a:blip r:embed="rId29"/>
          <a:stretch>
            <a:fillRect/>
          </a:stretch>
        </p:blipFill>
        <p:spPr>
          <a:xfrm>
            <a:off x="9218295" y="4406900"/>
            <a:ext cx="201295" cy="273050"/>
          </a:xfrm>
          <a:prstGeom prst="rect">
            <a:avLst/>
          </a:prstGeom>
        </p:spPr>
      </p:pic>
      <p:pic>
        <p:nvPicPr>
          <p:cNvPr id="108" name="图片 107"/>
          <p:cNvPicPr>
            <a:picLocks noChangeAspect="1"/>
          </p:cNvPicPr>
          <p:nvPr/>
        </p:nvPicPr>
        <p:blipFill>
          <a:blip r:embed="rId30"/>
          <a:srcRect t="6819" b="29786"/>
          <a:stretch>
            <a:fillRect/>
          </a:stretch>
        </p:blipFill>
        <p:spPr>
          <a:xfrm>
            <a:off x="6359525" y="4739005"/>
            <a:ext cx="4019550" cy="1372235"/>
          </a:xfrm>
          <a:prstGeom prst="rect">
            <a:avLst/>
          </a:prstGeom>
        </p:spPr>
      </p:pic>
      <p:sp>
        <p:nvSpPr>
          <p:cNvPr id="109" name="文本框 108"/>
          <p:cNvSpPr txBox="1"/>
          <p:nvPr/>
        </p:nvSpPr>
        <p:spPr>
          <a:xfrm>
            <a:off x="6398895" y="6111240"/>
            <a:ext cx="5213985" cy="245110"/>
          </a:xfrm>
          <a:prstGeom prst="rect">
            <a:avLst/>
          </a:prstGeom>
          <a:noFill/>
        </p:spPr>
        <p:txBody>
          <a:bodyPr wrap="square" rtlCol="0">
            <a:spAutoFit/>
          </a:bodyPr>
          <a:lstStyle/>
          <a:p>
            <a:r>
              <a:rPr lang="en-US" altLang="zh-CN" sz="1000">
                <a:hlinkClick r:id="rId31" action="ppaction://hlinkfile"/>
              </a:rPr>
              <a:t>Mitigation of Adversarial Examples in RF Deep Classifiers Utilizing AutoEncoder Pre-training</a:t>
            </a:r>
          </a:p>
        </p:txBody>
      </p:sp>
      <p:sp>
        <p:nvSpPr>
          <p:cNvPr id="110" name="矩形: 圆角 359"/>
          <p:cNvSpPr/>
          <p:nvPr/>
        </p:nvSpPr>
        <p:spPr>
          <a:xfrm>
            <a:off x="10340340" y="4739005"/>
            <a:ext cx="1272540" cy="1312545"/>
          </a:xfrm>
          <a:prstGeom prst="roundRect">
            <a:avLst>
              <a:gd name="adj" fmla="val 1988"/>
            </a:avLst>
          </a:prstGeom>
          <a:solidFill>
            <a:schemeClr val="bg2">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nSpc>
                <a:spcPct val="115000"/>
              </a:lnSpc>
              <a:buClr>
                <a:srgbClr val="9B0000"/>
              </a:buClr>
              <a:buFont typeface="Arial" panose="020B0604020202090204" pitchFamily="34" charset="0"/>
              <a:buNone/>
            </a:pPr>
            <a:r>
              <a:rPr lang="zh-CN" altLang="en-US" sz="1000" dirty="0">
                <a:solidFill>
                  <a:schemeClr val="tx1"/>
                </a:solidFill>
                <a:latin typeface="微软雅黑" panose="020B0503020204020204" pitchFamily="34" charset="-122"/>
                <a:ea typeface="微软雅黑" panose="020B0503020204020204" pitchFamily="34" charset="-122"/>
              </a:rPr>
              <a:t>对抗攻击示例。对“熊猫”图像施加微小扰动（</a:t>
            </a:r>
            <a:r>
              <a:rPr lang="en-US" altLang="zh-CN" sz="1000" dirty="0">
                <a:solidFill>
                  <a:schemeClr val="tx1"/>
                </a:solidFill>
                <a:latin typeface="微软雅黑" panose="020B0503020204020204" pitchFamily="34" charset="-122"/>
                <a:ea typeface="微软雅黑" panose="020B0503020204020204" pitchFamily="34" charset="-122"/>
              </a:rPr>
              <a:t>ε=0.007），</a:t>
            </a:r>
            <a:r>
              <a:rPr lang="zh-CN" altLang="en-US" sz="1000" dirty="0">
                <a:solidFill>
                  <a:schemeClr val="tx1"/>
                </a:solidFill>
                <a:latin typeface="微软雅黑" panose="020B0503020204020204" pitchFamily="34" charset="-122"/>
                <a:ea typeface="微软雅黑" panose="020B0503020204020204" pitchFamily="34" charset="-122"/>
              </a:rPr>
              <a:t>模型即以99.3%置信度误判为“长臂猿”，而扰动本身人眼几乎不可察觉。</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nvSpPr>
        <p:spPr>
          <a:xfrm>
            <a:off x="6616065" y="3999865"/>
            <a:ext cx="3495675" cy="275590"/>
          </a:xfrm>
          <a:prstGeom prst="rect">
            <a:avLst/>
          </a:prstGeom>
        </p:spPr>
        <p:txBody>
          <a:bodyPr wrap="square">
            <a:spAutoFit/>
          </a:bodyPr>
          <a:lstStyle/>
          <a:p>
            <a:pPr defTabSz="266700">
              <a:spcBef>
                <a:spcPts val="900"/>
              </a:spcBef>
              <a:spcAft>
                <a:spcPts val="900"/>
              </a:spcAft>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表示正样本对，否则为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0</a:t>
            </a:r>
          </a:p>
        </p:txBody>
      </p:sp>
      <p:sp>
        <p:nvSpPr>
          <p:cNvPr id="24"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58</a:t>
            </a:fld>
            <a:endParaRPr lang="zh-CN" altLang="en-US" dirty="0"/>
          </a:p>
        </p:txBody>
      </p:sp>
      <p:sp>
        <p:nvSpPr>
          <p:cNvPr id="25" name="矩形 24"/>
          <p:cNvSpPr/>
          <p:nvPr>
            <p:custDataLst>
              <p:tags r:id="rId2"/>
            </p:custDataLst>
          </p:nvPr>
        </p:nvSpPr>
        <p:spPr>
          <a:xfrm>
            <a:off x="2453640" y="0"/>
            <a:ext cx="2466340" cy="664210"/>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解决方案</a:t>
            </a:r>
          </a:p>
        </p:txBody>
      </p:sp>
      <p:sp>
        <p:nvSpPr>
          <p:cNvPr id="7" name="文本框 6"/>
          <p:cNvSpPr txBox="1"/>
          <p:nvPr/>
        </p:nvSpPr>
        <p:spPr>
          <a:xfrm>
            <a:off x="329565" y="880110"/>
            <a:ext cx="4590415" cy="398780"/>
          </a:xfrm>
          <a:prstGeom prst="rect">
            <a:avLst/>
          </a:prstGeom>
          <a:noFill/>
        </p:spPr>
        <p:txBody>
          <a:bodyPr wrap="square" rtlCol="0" anchor="t">
            <a:spAutoFit/>
          </a:bodyPr>
          <a:lstStyle/>
          <a:p>
            <a:pPr marL="342900" indent="-342900">
              <a:buClr>
                <a:schemeClr val="accent1"/>
              </a:buClr>
              <a:buFont typeface="Wingdings" panose="05000000000000000000" pitchFamily="2" charset="2"/>
              <a:buChar char="Ø"/>
            </a:pPr>
            <a:r>
              <a:rPr lang="zh-CN" altLang="en-US"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rPr>
              <a:t>预备知识：</a:t>
            </a:r>
            <a:r>
              <a:rPr lang="en-US" altLang="zh-CN"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rPr>
              <a:t>ZSAR</a:t>
            </a:r>
            <a:r>
              <a:rPr lang="zh-CN" altLang="en-US"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rPr>
              <a:t>与传统对抗微调</a:t>
            </a:r>
          </a:p>
        </p:txBody>
      </p:sp>
      <p:grpSp>
        <p:nvGrpSpPr>
          <p:cNvPr id="33" name="组合 32"/>
          <p:cNvGrpSpPr/>
          <p:nvPr/>
        </p:nvGrpSpPr>
        <p:grpSpPr>
          <a:xfrm>
            <a:off x="586105" y="1404388"/>
            <a:ext cx="5236210" cy="5155162"/>
            <a:chOff x="3124" y="2593"/>
            <a:chExt cx="5526" cy="3335"/>
          </a:xfrm>
        </p:grpSpPr>
        <p:sp>
          <p:nvSpPr>
            <p:cNvPr id="130" name="圆角矩形 11"/>
            <p:cNvSpPr/>
            <p:nvPr/>
          </p:nvSpPr>
          <p:spPr>
            <a:xfrm>
              <a:off x="3124" y="2668"/>
              <a:ext cx="5526" cy="3260"/>
            </a:xfrm>
            <a:prstGeom prst="roundRect">
              <a:avLst>
                <a:gd name="adj" fmla="val 3704"/>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marL="285750" indent="-285750">
                <a:lnSpc>
                  <a:spcPts val="2400"/>
                </a:lnSpc>
                <a:buFont typeface="Arial" panose="020B0604020202090204" pitchFamily="34" charset="0"/>
                <a:buChar char="•"/>
              </a:pPr>
              <a:endParaRPr lang="en-US" altLang="zh-CN" sz="1600" b="1" dirty="0">
                <a:solidFill>
                  <a:schemeClr val="tx1"/>
                </a:solidFill>
                <a:effectLst/>
                <a:latin typeface="Times New Roman" panose="02020503050405090304" charset="0"/>
                <a:ea typeface="宋体" pitchFamily="2" charset="-122"/>
                <a:cs typeface="Times New Roman" panose="02020503050405090304" charset="0"/>
              </a:endParaRPr>
            </a:p>
          </p:txBody>
        </p:sp>
        <p:sp>
          <p:nvSpPr>
            <p:cNvPr id="36" name="文本框 35"/>
            <p:cNvSpPr txBox="1"/>
            <p:nvPr/>
          </p:nvSpPr>
          <p:spPr>
            <a:xfrm>
              <a:off x="4203" y="2593"/>
              <a:ext cx="3402" cy="202"/>
            </a:xfrm>
            <a:prstGeom prst="rect">
              <a:avLst/>
            </a:prstGeom>
            <a:solidFill>
              <a:schemeClr val="bg1"/>
            </a:solidFill>
          </p:spPr>
          <p:txBody>
            <a:bodyPr wrap="square" lIns="0" tIns="0" rIns="0" bIns="0">
              <a:noAutofit/>
            </a:bodyPr>
            <a:lstStyle/>
            <a:p>
              <a:pPr algn="ctr"/>
              <a:r>
                <a:rPr lang="zh-CN" altLang="en-US"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零样本对抗鲁棒性（</a:t>
              </a:r>
              <a:r>
                <a:rPr lang="en-US" alt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ZSAR）</a:t>
              </a:r>
            </a:p>
          </p:txBody>
        </p:sp>
      </p:grpSp>
      <p:graphicFrame>
        <p:nvGraphicFramePr>
          <p:cNvPr id="23" name="对象 22">
            <a:hlinkClick r:id="" action="ppaction://ole?verb=0"/>
          </p:cNvPr>
          <p:cNvGraphicFramePr>
            <a:graphicFrameLocks noChangeAspect="1"/>
          </p:cNvGraphicFramePr>
          <p:nvPr>
            <p:custDataLst>
              <p:tags r:id="rId3"/>
            </p:custDataLst>
          </p:nvPr>
        </p:nvGraphicFramePr>
        <p:xfrm>
          <a:off x="6041390" y="2972435"/>
          <a:ext cx="114300" cy="215900"/>
        </p:xfrm>
        <a:graphic>
          <a:graphicData uri="http://schemas.openxmlformats.org/presentationml/2006/ole">
            <mc:AlternateContent xmlns:mc="http://schemas.openxmlformats.org/markup-compatibility/2006">
              <mc:Choice xmlns:v="urn:schemas-microsoft-com:vml" Requires="v">
                <p:oleObj r:id="rId12" imgW="114300" imgH="215900" progId="Equation.KSEE3">
                  <p:embed/>
                </p:oleObj>
              </mc:Choice>
              <mc:Fallback>
                <p:oleObj r:id="rId12" imgW="114300" imgH="215900" progId="Equation.KSEE3">
                  <p:embed/>
                  <p:pic>
                    <p:nvPicPr>
                      <p:cNvPr id="23" name="对象 22">
                        <a:hlinkClick r:id="" action="ppaction://ole?verb=0"/>
                      </p:cNvPr>
                      <p:cNvPicPr/>
                      <p:nvPr/>
                    </p:nvPicPr>
                    <p:blipFill>
                      <a:blip r:embed="rId13"/>
                      <a:stretch>
                        <a:fillRect/>
                      </a:stretch>
                    </p:blipFill>
                    <p:spPr>
                      <a:xfrm>
                        <a:off x="6041390" y="2972435"/>
                        <a:ext cx="114300" cy="215900"/>
                      </a:xfrm>
                      <a:prstGeom prst="rect">
                        <a:avLst/>
                      </a:prstGeom>
                    </p:spPr>
                  </p:pic>
                </p:oleObj>
              </mc:Fallback>
            </mc:AlternateContent>
          </a:graphicData>
        </a:graphic>
      </p:graphicFrame>
      <p:grpSp>
        <p:nvGrpSpPr>
          <p:cNvPr id="72" name="组合 71"/>
          <p:cNvGrpSpPr/>
          <p:nvPr>
            <p:custDataLst>
              <p:tags r:id="rId4"/>
            </p:custDataLst>
          </p:nvPr>
        </p:nvGrpSpPr>
        <p:grpSpPr>
          <a:xfrm>
            <a:off x="6206490" y="1402399"/>
            <a:ext cx="5540375" cy="5157786"/>
            <a:chOff x="3124" y="2496"/>
            <a:chExt cx="5526" cy="3432"/>
          </a:xfrm>
        </p:grpSpPr>
        <p:sp>
          <p:nvSpPr>
            <p:cNvPr id="73" name="圆角矩形 11"/>
            <p:cNvSpPr/>
            <p:nvPr>
              <p:custDataLst>
                <p:tags r:id="rId8"/>
              </p:custDataLst>
            </p:nvPr>
          </p:nvSpPr>
          <p:spPr>
            <a:xfrm>
              <a:off x="3124" y="2575"/>
              <a:ext cx="5526" cy="3353"/>
            </a:xfrm>
            <a:prstGeom prst="roundRect">
              <a:avLst>
                <a:gd name="adj" fmla="val 3704"/>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marL="285750" indent="-285750">
                <a:lnSpc>
                  <a:spcPts val="2400"/>
                </a:lnSpc>
                <a:buFont typeface="Arial" panose="020B0604020202090204" pitchFamily="34" charset="0"/>
                <a:buChar char="•"/>
              </a:pPr>
              <a:endParaRPr lang="en-US" altLang="zh-CN" sz="1600" b="1" dirty="0">
                <a:solidFill>
                  <a:schemeClr val="tx1"/>
                </a:solidFill>
                <a:effectLst/>
                <a:latin typeface="Times New Roman" panose="02020503050405090304" charset="0"/>
                <a:ea typeface="宋体" pitchFamily="2" charset="-122"/>
                <a:cs typeface="Times New Roman" panose="02020503050405090304" charset="0"/>
              </a:endParaRPr>
            </a:p>
          </p:txBody>
        </p:sp>
        <p:sp>
          <p:nvSpPr>
            <p:cNvPr id="74" name="文本框 73"/>
            <p:cNvSpPr txBox="1"/>
            <p:nvPr>
              <p:custDataLst>
                <p:tags r:id="rId9"/>
              </p:custDataLst>
            </p:nvPr>
          </p:nvSpPr>
          <p:spPr>
            <a:xfrm>
              <a:off x="3997" y="2496"/>
              <a:ext cx="3779" cy="243"/>
            </a:xfrm>
            <a:prstGeom prst="rect">
              <a:avLst/>
            </a:prstGeom>
            <a:solidFill>
              <a:schemeClr val="bg1"/>
            </a:solidFill>
          </p:spPr>
          <p:txBody>
            <a:bodyPr wrap="square" lIns="0" tIns="0" rIns="0" bIns="0">
              <a:noAutofit/>
            </a:bodyPr>
            <a:lstStyle/>
            <a:p>
              <a:pPr algn="ctr"/>
              <a:r>
                <a:rPr lang="zh-CN" altLang="en-US"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传统对抗微调（</a:t>
              </a:r>
              <a:r>
                <a:rPr lang="en-US" alt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TeCoA）</a:t>
              </a:r>
            </a:p>
          </p:txBody>
        </p:sp>
      </p:grpSp>
      <p:graphicFrame>
        <p:nvGraphicFramePr>
          <p:cNvPr id="81" name="对象 80">
            <a:hlinkClick r:id="" action="ppaction://ole?verb=0"/>
          </p:cNvPr>
          <p:cNvGraphicFramePr>
            <a:graphicFrameLocks noChangeAspect="1"/>
          </p:cNvGraphicFramePr>
          <p:nvPr>
            <p:custDataLst>
              <p:tags r:id="rId5"/>
            </p:custDataLst>
          </p:nvPr>
        </p:nvGraphicFramePr>
        <p:xfrm>
          <a:off x="6245225" y="5640070"/>
          <a:ext cx="114300" cy="215900"/>
        </p:xfrm>
        <a:graphic>
          <a:graphicData uri="http://schemas.openxmlformats.org/presentationml/2006/ole">
            <mc:AlternateContent xmlns:mc="http://schemas.openxmlformats.org/markup-compatibility/2006">
              <mc:Choice xmlns:v="urn:schemas-microsoft-com:vml" Requires="v">
                <p:oleObj r:id="rId12" imgW="114300" imgH="215900" progId="Equation.KSEE3">
                  <p:embed/>
                </p:oleObj>
              </mc:Choice>
              <mc:Fallback>
                <p:oleObj r:id="rId12" imgW="114300" imgH="215900" progId="Equation.KSEE3">
                  <p:embed/>
                  <p:pic>
                    <p:nvPicPr>
                      <p:cNvPr id="81" name="对象 80">
                        <a:hlinkClick r:id="" action="ppaction://ole?verb=0"/>
                      </p:cNvPr>
                      <p:cNvPicPr/>
                      <p:nvPr/>
                    </p:nvPicPr>
                    <p:blipFill>
                      <a:blip r:embed="rId13"/>
                      <a:stretch>
                        <a:fillRect/>
                      </a:stretch>
                    </p:blipFill>
                    <p:spPr>
                      <a:xfrm>
                        <a:off x="6245225" y="5640070"/>
                        <a:ext cx="114300" cy="215900"/>
                      </a:xfrm>
                      <a:prstGeom prst="rect">
                        <a:avLst/>
                      </a:prstGeom>
                    </p:spPr>
                  </p:pic>
                </p:oleObj>
              </mc:Fallback>
            </mc:AlternateContent>
          </a:graphicData>
        </a:graphic>
      </p:graphicFrame>
      <p:sp>
        <p:nvSpPr>
          <p:cNvPr id="3" name="文本框 2"/>
          <p:cNvSpPr txBox="1"/>
          <p:nvPr/>
        </p:nvSpPr>
        <p:spPr>
          <a:xfrm>
            <a:off x="586105" y="1781810"/>
            <a:ext cx="5081905" cy="644525"/>
          </a:xfrm>
          <a:prstGeom prst="rect">
            <a:avLst/>
          </a:prstGeom>
        </p:spPr>
        <p:txBody>
          <a:bodyPr wrap="square">
            <a:spAutoFit/>
          </a:bodyPr>
          <a:lstStyle/>
          <a:p>
            <a:pPr marL="285750" indent="-285750" defTabSz="266700">
              <a:lnSpc>
                <a:spcPct val="120000"/>
              </a:lnSpc>
              <a:spcBef>
                <a:spcPts val="900"/>
              </a:spcBef>
              <a:spcAft>
                <a:spcPts val="900"/>
              </a:spcAft>
              <a:buFont typeface="Wingdings" panose="05000000000000000000" charset="0"/>
              <a:buChar char="Ø"/>
            </a:pP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零样本对抗鲁棒性（</a:t>
            </a:r>
            <a:r>
              <a:rPr lang="en-US" alt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ZSAR</a:t>
            </a: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）对抗训练</a:t>
            </a:r>
            <a:r>
              <a:rPr lang="en-US" altLang="zh-CN"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是提升模型鲁棒性最有效的方法，通常被建模为</a:t>
            </a: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min-max</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优化问题</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p:nvPr/>
        </p:nvPicPr>
        <p:blipFill>
          <a:blip r:embed="rId14"/>
          <a:srcRect l="-28" t="27322" r="28"/>
          <a:stretch>
            <a:fillRect/>
          </a:stretch>
        </p:blipFill>
        <p:spPr>
          <a:xfrm>
            <a:off x="1906270" y="2456815"/>
            <a:ext cx="2595245" cy="411480"/>
          </a:xfrm>
          <a:prstGeom prst="rect">
            <a:avLst/>
          </a:prstGeom>
        </p:spPr>
      </p:pic>
      <p:sp>
        <p:nvSpPr>
          <p:cNvPr id="5" name="文本框 4"/>
          <p:cNvSpPr txBox="1"/>
          <p:nvPr/>
        </p:nvSpPr>
        <p:spPr>
          <a:xfrm>
            <a:off x="859155" y="2967355"/>
            <a:ext cx="4590415" cy="1310005"/>
          </a:xfrm>
          <a:prstGeom prst="rect">
            <a:avLst/>
          </a:prstGeom>
        </p:spPr>
        <p:txBody>
          <a:bodyPr>
            <a:noAutofit/>
          </a:bodyPr>
          <a:lstStyle/>
          <a:p>
            <a:pPr>
              <a:lnSpc>
                <a:spcPct val="140000"/>
              </a:lnSpc>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即生成对抗样本以最大化训练损失，同时优化模型参数以提升鲁棒性。</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与传统对抗鲁棒性不同，</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ZSAR</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要求模型的鲁棒性迁移到训练分布之外的未见目标任务，而无需访问目标数据。</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论文主要考虑白盒威胁模型，例如</a:t>
            </a:r>
            <a:r>
              <a:rPr lang="en-US" altLang="zh-CN" sz="1400" b="1">
                <a:latin typeface="微软雅黑" panose="020B0503020204020204" pitchFamily="34" charset="-122"/>
                <a:ea typeface="微软雅黑" panose="020B0503020204020204" pitchFamily="34" charset="-122"/>
                <a:cs typeface="微软雅黑" panose="020B0503020204020204" pitchFamily="34" charset="-122"/>
              </a:rPr>
              <a:t>PGD</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对象 5">
            <a:hlinkClick r:id="" action="ppaction://ole?verb=0"/>
          </p:cNvPr>
          <p:cNvGraphicFramePr>
            <a:graphicFrameLocks noChangeAspect="1"/>
          </p:cNvGraphicFramePr>
          <p:nvPr>
            <p:custDataLst>
              <p:tags r:id="rId6"/>
            </p:custDataLst>
          </p:nvPr>
        </p:nvGraphicFramePr>
        <p:xfrm>
          <a:off x="657225" y="5685155"/>
          <a:ext cx="114300" cy="215900"/>
        </p:xfrm>
        <a:graphic>
          <a:graphicData uri="http://schemas.openxmlformats.org/presentationml/2006/ole">
            <mc:AlternateContent xmlns:mc="http://schemas.openxmlformats.org/markup-compatibility/2006">
              <mc:Choice xmlns:v="urn:schemas-microsoft-com:vml" Requires="v">
                <p:oleObj r:id="rId12" imgW="114300" imgH="215900" progId="Equation.KSEE3">
                  <p:embed/>
                </p:oleObj>
              </mc:Choice>
              <mc:Fallback>
                <p:oleObj r:id="rId12" imgW="114300" imgH="215900" progId="Equation.KSEE3">
                  <p:embed/>
                  <p:pic>
                    <p:nvPicPr>
                      <p:cNvPr id="6" name="对象 5">
                        <a:hlinkClick r:id="" action="ppaction://ole?verb=0"/>
                      </p:cNvPr>
                      <p:cNvPicPr/>
                      <p:nvPr/>
                    </p:nvPicPr>
                    <p:blipFill>
                      <a:blip r:embed="rId13"/>
                      <a:stretch>
                        <a:fillRect/>
                      </a:stretch>
                    </p:blipFill>
                    <p:spPr>
                      <a:xfrm>
                        <a:off x="657225" y="5685155"/>
                        <a:ext cx="114300" cy="215900"/>
                      </a:xfrm>
                      <a:prstGeom prst="rect">
                        <a:avLst/>
                      </a:prstGeom>
                    </p:spPr>
                  </p:pic>
                </p:oleObj>
              </mc:Fallback>
            </mc:AlternateContent>
          </a:graphicData>
        </a:graphic>
      </p:graphicFrame>
      <p:pic>
        <p:nvPicPr>
          <p:cNvPr id="9" name="图片 8"/>
          <p:cNvPicPr/>
          <p:nvPr/>
        </p:nvPicPr>
        <p:blipFill>
          <a:blip r:embed="rId15"/>
          <a:stretch>
            <a:fillRect/>
          </a:stretch>
        </p:blipFill>
        <p:spPr>
          <a:xfrm>
            <a:off x="1085215" y="5254625"/>
            <a:ext cx="2303145" cy="512445"/>
          </a:xfrm>
          <a:prstGeom prst="rect">
            <a:avLst/>
          </a:prstGeom>
        </p:spPr>
      </p:pic>
      <p:pic>
        <p:nvPicPr>
          <p:cNvPr id="10" name="图片 9"/>
          <p:cNvPicPr/>
          <p:nvPr/>
        </p:nvPicPr>
        <p:blipFill>
          <a:blip r:embed="rId16"/>
          <a:stretch>
            <a:fillRect/>
          </a:stretch>
        </p:blipFill>
        <p:spPr>
          <a:xfrm>
            <a:off x="1297940" y="5822315"/>
            <a:ext cx="1410335" cy="337185"/>
          </a:xfrm>
          <a:prstGeom prst="rect">
            <a:avLst/>
          </a:prstGeom>
        </p:spPr>
      </p:pic>
      <p:pic>
        <p:nvPicPr>
          <p:cNvPr id="11" name="图片 10"/>
          <p:cNvPicPr/>
          <p:nvPr/>
        </p:nvPicPr>
        <p:blipFill>
          <a:blip r:embed="rId17"/>
          <a:stretch>
            <a:fillRect/>
          </a:stretch>
        </p:blipFill>
        <p:spPr>
          <a:xfrm>
            <a:off x="4044315" y="5389880"/>
            <a:ext cx="95250" cy="378460"/>
          </a:xfrm>
          <a:prstGeom prst="rect">
            <a:avLst/>
          </a:prstGeom>
        </p:spPr>
      </p:pic>
      <p:sp>
        <p:nvSpPr>
          <p:cNvPr id="12" name="文本框 11"/>
          <p:cNvSpPr txBox="1"/>
          <p:nvPr/>
        </p:nvSpPr>
        <p:spPr>
          <a:xfrm>
            <a:off x="4147185" y="5467985"/>
            <a:ext cx="1285875" cy="242570"/>
          </a:xfrm>
          <a:prstGeom prst="rect">
            <a:avLst/>
          </a:prstGeom>
        </p:spPr>
        <p:txBody>
          <a:bodyPr>
            <a:noAutofit/>
          </a:bodyPr>
          <a:lstStyle/>
          <a:p>
            <a:r>
              <a:rPr lang="zh-CN" altLang="en-US" sz="1200">
                <a:latin typeface="微软雅黑" panose="020B0503020204020204" pitchFamily="34" charset="-122"/>
                <a:ea typeface="微软雅黑" panose="020B0503020204020204" pitchFamily="34" charset="-122"/>
              </a:rPr>
              <a:t>：扰动预算</a:t>
            </a:r>
          </a:p>
        </p:txBody>
      </p:sp>
      <p:pic>
        <p:nvPicPr>
          <p:cNvPr id="13" name="图片 12"/>
          <p:cNvPicPr/>
          <p:nvPr/>
        </p:nvPicPr>
        <p:blipFill>
          <a:blip r:embed="rId18"/>
          <a:stretch>
            <a:fillRect/>
          </a:stretch>
        </p:blipFill>
        <p:spPr>
          <a:xfrm>
            <a:off x="4044315" y="5693410"/>
            <a:ext cx="102870" cy="307340"/>
          </a:xfrm>
          <a:prstGeom prst="rect">
            <a:avLst/>
          </a:prstGeom>
        </p:spPr>
      </p:pic>
      <p:sp>
        <p:nvSpPr>
          <p:cNvPr id="14" name="文本框 13"/>
          <p:cNvSpPr txBox="1"/>
          <p:nvPr/>
        </p:nvSpPr>
        <p:spPr>
          <a:xfrm>
            <a:off x="4147185" y="5727065"/>
            <a:ext cx="1213485" cy="273685"/>
          </a:xfrm>
          <a:prstGeom prst="rect">
            <a:avLst/>
          </a:prstGeom>
        </p:spPr>
        <p:txBody>
          <a:bodyPr>
            <a:noAutofit/>
          </a:bodyPr>
          <a:lstStyle/>
          <a:p>
            <a:pPr defTabSz="266700">
              <a:spcBef>
                <a:spcPts val="900"/>
              </a:spcBef>
              <a:spcAft>
                <a:spcPts val="900"/>
              </a:spcAft>
            </a:pPr>
            <a:r>
              <a:rPr lang="zh-CN" altLang="en-US" sz="1200">
                <a:latin typeface="微软雅黑" panose="020B0503020204020204" pitchFamily="34" charset="-122"/>
                <a:ea typeface="微软雅黑" panose="020B0503020204020204" pitchFamily="34" charset="-122"/>
              </a:rPr>
              <a:t>：步长</a:t>
            </a:r>
          </a:p>
        </p:txBody>
      </p:sp>
      <p:pic>
        <p:nvPicPr>
          <p:cNvPr id="15" name="图片 14"/>
          <p:cNvPicPr/>
          <p:nvPr/>
        </p:nvPicPr>
        <p:blipFill>
          <a:blip r:embed="rId19"/>
          <a:stretch>
            <a:fillRect/>
          </a:stretch>
        </p:blipFill>
        <p:spPr>
          <a:xfrm>
            <a:off x="4001770" y="5935980"/>
            <a:ext cx="361950" cy="263525"/>
          </a:xfrm>
          <a:prstGeom prst="rect">
            <a:avLst/>
          </a:prstGeom>
        </p:spPr>
      </p:pic>
      <p:sp>
        <p:nvSpPr>
          <p:cNvPr id="16" name="文本框 15"/>
          <p:cNvSpPr txBox="1"/>
          <p:nvPr/>
        </p:nvSpPr>
        <p:spPr>
          <a:xfrm>
            <a:off x="4280535" y="5997575"/>
            <a:ext cx="1169035" cy="276860"/>
          </a:xfrm>
          <a:prstGeom prst="rect">
            <a:avLst/>
          </a:prstGeom>
        </p:spPr>
        <p:txBody>
          <a:bodyPr>
            <a:noAutofit/>
          </a:bodyPr>
          <a:lstStyle/>
          <a:p>
            <a:pPr defTabSz="266700">
              <a:spcBef>
                <a:spcPts val="900"/>
              </a:spcBef>
              <a:spcAft>
                <a:spcPts val="900"/>
              </a:spcAft>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：扰动球</a:t>
            </a:r>
          </a:p>
        </p:txBody>
      </p:sp>
      <p:sp>
        <p:nvSpPr>
          <p:cNvPr id="17" name="文本框 16"/>
          <p:cNvSpPr txBox="1"/>
          <p:nvPr/>
        </p:nvSpPr>
        <p:spPr>
          <a:xfrm>
            <a:off x="3789045" y="5177790"/>
            <a:ext cx="970280" cy="275590"/>
          </a:xfrm>
          <a:prstGeom prst="rect">
            <a:avLst/>
          </a:prstGeom>
          <a:noFill/>
        </p:spPr>
        <p:txBody>
          <a:bodyPr wrap="square" rtlCol="0">
            <a:spAutoFit/>
          </a:bodyPr>
          <a:lstStyle/>
          <a:p>
            <a:r>
              <a:rPr lang="zh-CN" altLang="en-US" sz="1200">
                <a:solidFill>
                  <a:srgbClr val="0070C0"/>
                </a:solidFill>
                <a:latin typeface="微软雅黑" panose="020B0503020204020204" pitchFamily="34" charset="-122"/>
                <a:ea typeface="微软雅黑" panose="020B0503020204020204" pitchFamily="34" charset="-122"/>
              </a:rPr>
              <a:t>符号说明</a:t>
            </a:r>
          </a:p>
        </p:txBody>
      </p:sp>
      <p:sp>
        <p:nvSpPr>
          <p:cNvPr id="18" name="矩形: 圆角 359"/>
          <p:cNvSpPr/>
          <p:nvPr/>
        </p:nvSpPr>
        <p:spPr>
          <a:xfrm>
            <a:off x="934720" y="5410200"/>
            <a:ext cx="2743835" cy="813435"/>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586105" y="4232910"/>
            <a:ext cx="5080635" cy="1397635"/>
          </a:xfrm>
          <a:prstGeom prst="rect">
            <a:avLst/>
          </a:prstGeom>
          <a:noFill/>
        </p:spPr>
        <p:txBody>
          <a:bodyPr wrap="square" rtlCol="0">
            <a:noAutofit/>
          </a:bodyPr>
          <a:lstStyle/>
          <a:p>
            <a:pPr marL="285750" indent="-285750">
              <a:lnSpc>
                <a:spcPct val="140000"/>
              </a:lnSpc>
              <a:buFont typeface="Wingdings" panose="05000000000000000000" charset="0"/>
              <a:buChar char="Ø"/>
            </a:pP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投影梯度下降（</a:t>
            </a:r>
            <a:r>
              <a:rPr lang="en-US" altLang="zh-CN"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PGD）</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是</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白盒设定下最强大的攻击模型之一</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，它沿梯度方向迭代更新输入以最大化损失，再将扰动样本投影回可行扰动集：</a:t>
            </a:r>
          </a:p>
        </p:txBody>
      </p:sp>
      <p:sp>
        <p:nvSpPr>
          <p:cNvPr id="20" name="矩形: 圆角 359"/>
          <p:cNvSpPr/>
          <p:nvPr/>
        </p:nvSpPr>
        <p:spPr>
          <a:xfrm>
            <a:off x="934720" y="2426335"/>
            <a:ext cx="4547870" cy="589280"/>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6489700" y="1725297"/>
            <a:ext cx="5080000" cy="1038225"/>
          </a:xfrm>
          <a:prstGeom prst="rect">
            <a:avLst/>
          </a:prstGeom>
        </p:spPr>
        <p:txBody>
          <a:bodyPr>
            <a:spAutoFit/>
          </a:bodyPr>
          <a:lstStyle/>
          <a:p>
            <a:pPr marL="285750" indent="-285750" defTabSz="266700">
              <a:lnSpc>
                <a:spcPct val="140000"/>
              </a:lnSpc>
              <a:spcBef>
                <a:spcPts val="900"/>
              </a:spcBef>
              <a:spcAft>
                <a:spcPts val="900"/>
              </a:spcAft>
              <a:buFont typeface="Wingdings" panose="05000000000000000000" charset="0"/>
              <a:buChar char="Ø"/>
            </a:pPr>
            <a:r>
              <a:rPr lang="zh-CN" altLang="en-US" sz="1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对抗微调</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已被用于提升</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VLM</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ZSAR</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TeCoA</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ImageNet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上使用</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类别标签</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构造文本提示，微调</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CLIP</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图像编码器，训练目标基于交叉熵优化：</a:t>
            </a:r>
          </a:p>
        </p:txBody>
      </p:sp>
      <p:pic>
        <p:nvPicPr>
          <p:cNvPr id="22" name="图片 21"/>
          <p:cNvPicPr/>
          <p:nvPr/>
        </p:nvPicPr>
        <p:blipFill>
          <a:blip r:embed="rId20"/>
          <a:srcRect t="15786"/>
          <a:stretch>
            <a:fillRect/>
          </a:stretch>
        </p:blipFill>
        <p:spPr>
          <a:xfrm>
            <a:off x="7009765" y="2954655"/>
            <a:ext cx="3672840" cy="562610"/>
          </a:xfrm>
          <a:prstGeom prst="rect">
            <a:avLst/>
          </a:prstGeom>
        </p:spPr>
      </p:pic>
      <p:pic>
        <p:nvPicPr>
          <p:cNvPr id="26" name="图片 25"/>
          <p:cNvPicPr/>
          <p:nvPr/>
        </p:nvPicPr>
        <p:blipFill>
          <a:blip r:embed="rId21"/>
          <a:stretch>
            <a:fillRect/>
          </a:stretch>
        </p:blipFill>
        <p:spPr>
          <a:xfrm>
            <a:off x="6764655" y="3649980"/>
            <a:ext cx="245110" cy="276860"/>
          </a:xfrm>
          <a:prstGeom prst="rect">
            <a:avLst/>
          </a:prstGeom>
        </p:spPr>
      </p:pic>
      <p:sp>
        <p:nvSpPr>
          <p:cNvPr id="27" name="文本框 26"/>
          <p:cNvSpPr txBox="1"/>
          <p:nvPr/>
        </p:nvSpPr>
        <p:spPr>
          <a:xfrm>
            <a:off x="6935470" y="3717290"/>
            <a:ext cx="1507490" cy="303530"/>
          </a:xfrm>
          <a:prstGeom prst="rect">
            <a:avLst/>
          </a:prstGeom>
        </p:spPr>
        <p:txBody>
          <a:bodyPr>
            <a:noAutofit/>
          </a:bodyPr>
          <a:lstStyle/>
          <a:p>
            <a:pPr defTabSz="266700">
              <a:spcBef>
                <a:spcPts val="900"/>
              </a:spcBef>
              <a:spcAft>
                <a:spcPts val="900"/>
              </a:spcAft>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为对抗样本，</a:t>
            </a:r>
          </a:p>
        </p:txBody>
      </p:sp>
      <mc:AlternateContent xmlns:mc="http://schemas.openxmlformats.org/markup-compatibility/2006" xmlns:a14="http://schemas.microsoft.com/office/drawing/2010/main">
        <mc:Choice Requires="a14">
          <p:sp>
            <p:nvSpPr>
              <p:cNvPr id="30" name="文本框 29"/>
              <p:cNvSpPr txBox="1"/>
              <p:nvPr/>
            </p:nvSpPr>
            <p:spPr>
              <a:xfrm>
                <a:off x="7853680" y="3708400"/>
                <a:ext cx="1410970" cy="312420"/>
              </a:xfrm>
              <a:prstGeom prst="rect">
                <a:avLst/>
              </a:prstGeom>
            </p:spPr>
            <p:txBody>
              <a:bodyPr>
                <a:noAutofit/>
              </a:bodyPr>
              <a:lstStyle/>
              <a:p>
                <a:pPr defTabSz="266700">
                  <a:spcBef>
                    <a:spcPts val="900"/>
                  </a:spcBef>
                  <a:spcAft>
                    <a:spcPts val="900"/>
                  </a:spcAft>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lang="en-US" altLang="zh-CN" sz="1200" i="1">
                        <a:latin typeface="Cambria Math" panose="02040503050406030204" charset="0"/>
                        <a:ea typeface="微软雅黑" panose="020B0503020204020204" pitchFamily="34" charset="-122"/>
                        <a:cs typeface="Cambria Math" panose="02040503050406030204" charset="0"/>
                      </a:rPr>
                      <m:t>𝑡</m:t>
                    </m:r>
                  </m:oMath>
                </a14:m>
                <a:r>
                  <a:rPr lang="en-US" altLang="zh-CN" sz="12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为文本输入，</a:t>
                </a:r>
              </a:p>
            </p:txBody>
          </p:sp>
        </mc:Choice>
        <mc:Fallback xmlns="">
          <p:sp>
            <p:nvSpPr>
              <p:cNvPr id="30" name="文本框 29"/>
              <p:cNvSpPr txBox="1">
                <a:spLocks noRot="1" noChangeAspect="1" noMove="1" noResize="1" noEditPoints="1" noAdjustHandles="1" noChangeArrowheads="1" noChangeShapeType="1" noTextEdit="1"/>
              </p:cNvSpPr>
              <p:nvPr/>
            </p:nvSpPr>
            <p:spPr>
              <a:xfrm>
                <a:off x="7853680" y="3708400"/>
                <a:ext cx="1410970" cy="312420"/>
              </a:xfrm>
              <a:prstGeom prst="rect">
                <a:avLst/>
              </a:prstGeom>
              <a:blipFill rotWithShape="1">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a:off x="8950960" y="3712845"/>
                <a:ext cx="2134870" cy="327660"/>
              </a:xfrm>
              <a:prstGeom prst="rect">
                <a:avLst/>
              </a:prstGeom>
            </p:spPr>
            <p:txBody>
              <a:bodyPr wrap="square">
                <a:noAutofit/>
              </a:bodyPr>
              <a:lstStyle/>
              <a:p>
                <a:pPr defTabSz="266700">
                  <a:spcBef>
                    <a:spcPts val="900"/>
                  </a:spcBef>
                  <a:spcAft>
                    <a:spcPts val="900"/>
                  </a:spcAft>
                </a:pPr>
                <a14:m>
                  <m:oMath xmlns:m="http://schemas.openxmlformats.org/officeDocument/2006/math">
                    <m:r>
                      <a:rPr lang="en-US" altLang="zh-CN" sz="1200" i="1">
                        <a:latin typeface="Cambria Math" panose="02040503050406030204" charset="0"/>
                        <a:ea typeface="微软雅黑" panose="020B0503020204020204" pitchFamily="34" charset="-122"/>
                        <a:cs typeface="Cambria Math" panose="02040503050406030204" charset="0"/>
                      </a:rPr>
                      <m:t>𝑦</m:t>
                    </m:r>
                    <m:r>
                      <a:rPr lang="en-US" altLang="zh-CN" sz="1200" i="1">
                        <a:latin typeface="Cambria Math" panose="02040503050406030204" charset="0"/>
                        <a:ea typeface="微软雅黑" panose="020B0503020204020204" pitchFamily="34" charset="-122"/>
                        <a:cs typeface="Cambria Math" panose="02040503050406030204" charset="0"/>
                      </a:rPr>
                      <m:t> </m:t>
                    </m:r>
                  </m:oMath>
                </a14:m>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为真实图文对应关系 </a:t>
                </a:r>
              </a:p>
            </p:txBody>
          </p:sp>
        </mc:Choice>
        <mc:Fallback xmlns="">
          <p:sp>
            <p:nvSpPr>
              <p:cNvPr id="35" name="文本框 34"/>
              <p:cNvSpPr txBox="1">
                <a:spLocks noRot="1" noChangeAspect="1" noMove="1" noResize="1" noEditPoints="1" noAdjustHandles="1" noChangeArrowheads="1" noChangeShapeType="1" noTextEdit="1"/>
              </p:cNvSpPr>
              <p:nvPr/>
            </p:nvSpPr>
            <p:spPr>
              <a:xfrm>
                <a:off x="8950960" y="3712845"/>
                <a:ext cx="2134870" cy="327660"/>
              </a:xfrm>
              <a:prstGeom prst="rect">
                <a:avLst/>
              </a:prstGeom>
              <a:blipFill rotWithShape="1">
                <a:blip r:embed="rId23"/>
                <a:stretch>
                  <a:fillRect/>
                </a:stretch>
              </a:blipFill>
            </p:spPr>
            <p:txBody>
              <a:bodyPr/>
              <a:lstStyle/>
              <a:p>
                <a:r>
                  <a:rPr lang="zh-CN" altLang="en-US">
                    <a:noFill/>
                  </a:rPr>
                  <a:t> </a:t>
                </a:r>
              </a:p>
            </p:txBody>
          </p:sp>
        </mc:Fallback>
      </mc:AlternateContent>
      <p:pic>
        <p:nvPicPr>
          <p:cNvPr id="37" name="图片 36"/>
          <p:cNvPicPr/>
          <p:nvPr/>
        </p:nvPicPr>
        <p:blipFill>
          <a:blip r:embed="rId24"/>
          <a:stretch>
            <a:fillRect/>
          </a:stretch>
        </p:blipFill>
        <p:spPr>
          <a:xfrm>
            <a:off x="6784340" y="3956050"/>
            <a:ext cx="463550" cy="281305"/>
          </a:xfrm>
          <a:prstGeom prst="rect">
            <a:avLst/>
          </a:prstGeom>
        </p:spPr>
      </p:pic>
      <p:pic>
        <p:nvPicPr>
          <p:cNvPr id="39" name="图片 38"/>
          <p:cNvPicPr/>
          <p:nvPr/>
        </p:nvPicPr>
        <p:blipFill>
          <a:blip r:embed="rId25"/>
          <a:stretch>
            <a:fillRect/>
          </a:stretch>
        </p:blipFill>
        <p:spPr>
          <a:xfrm>
            <a:off x="6784340" y="4277360"/>
            <a:ext cx="78740" cy="354330"/>
          </a:xfrm>
          <a:prstGeom prst="rect">
            <a:avLst/>
          </a:prstGeom>
        </p:spPr>
      </p:pic>
      <p:sp>
        <p:nvSpPr>
          <p:cNvPr id="45" name="文本框 44"/>
          <p:cNvSpPr txBox="1"/>
          <p:nvPr/>
        </p:nvSpPr>
        <p:spPr>
          <a:xfrm>
            <a:off x="6837680" y="4296410"/>
            <a:ext cx="5080000" cy="275590"/>
          </a:xfrm>
          <a:prstGeom prst="rect">
            <a:avLst/>
          </a:prstGeom>
          <a:noFill/>
        </p:spPr>
        <p:txBody>
          <a:bodyPr wrap="square" rtlCol="0">
            <a:spAutoFit/>
          </a:bodyPr>
          <a:lstStyle/>
          <a:p>
            <a:r>
              <a:rPr lang="zh-CN" altLang="en-US" sz="1200">
                <a:latin typeface="微软雅黑" panose="020B0503020204020204" pitchFamily="34" charset="-122"/>
                <a:ea typeface="微软雅黑" panose="020B0503020204020204" pitchFamily="34" charset="-122"/>
                <a:sym typeface="+mn-ea"/>
              </a:rPr>
              <a:t>为继承自预训练的固定超参数</a:t>
            </a:r>
          </a:p>
        </p:txBody>
      </p:sp>
      <p:grpSp>
        <p:nvGrpSpPr>
          <p:cNvPr id="47" name="组合 46"/>
          <p:cNvGrpSpPr/>
          <p:nvPr/>
        </p:nvGrpSpPr>
        <p:grpSpPr>
          <a:xfrm>
            <a:off x="6552565" y="4605655"/>
            <a:ext cx="4942840" cy="1692275"/>
            <a:chOff x="40225" y="5569447"/>
            <a:chExt cx="10561182" cy="581087"/>
          </a:xfrm>
        </p:grpSpPr>
        <p:sp>
          <p:nvSpPr>
            <p:cNvPr id="48" name="矩形 47"/>
            <p:cNvSpPr/>
            <p:nvPr/>
          </p:nvSpPr>
          <p:spPr>
            <a:xfrm>
              <a:off x="40225" y="5584928"/>
              <a:ext cx="10561182" cy="5656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9" name="文本框 48"/>
            <p:cNvSpPr txBox="1"/>
            <p:nvPr/>
          </p:nvSpPr>
          <p:spPr>
            <a:xfrm>
              <a:off x="175900" y="5569447"/>
              <a:ext cx="10367309" cy="573019"/>
            </a:xfrm>
            <a:prstGeom prst="rect">
              <a:avLst/>
            </a:prstGeom>
            <a:noFill/>
            <a:ln>
              <a:noFill/>
            </a:ln>
          </p:spPr>
          <p:txBody>
            <a:bodyPr wrap="square" rtlCol="0" anchor="ctr" anchorCtr="0">
              <a:noAutofit/>
            </a:bodyPr>
            <a:lstStyle/>
            <a:p>
              <a:pPr defTabSz="266700">
                <a:lnSpc>
                  <a:spcPct val="140000"/>
                </a:lnSpc>
                <a:spcBef>
                  <a:spcPts val="900"/>
                </a:spcBef>
                <a:spcAft>
                  <a:spcPts val="900"/>
                </a:spcAft>
              </a:pPr>
              <a:r>
                <a:rPr lang="zh-CN" altLang="en-US" sz="16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sym typeface="+mn-ea"/>
                </a:rPr>
                <a:t>传统对抗微调中使用的</a:t>
              </a:r>
              <a:r>
                <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硬标签监督只关注目标类，将对抗视觉特征推向单一目标文本，却忽视了图像与其他文本概念之间的相对相似性关系，导致跨模态对齐被破坏。这正是</a:t>
              </a:r>
              <a:r>
                <a:rPr lang="en-US" altLang="zh-CN"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AGFT</a:t>
              </a:r>
              <a:r>
                <a:rPr lang="zh-CN" altLang="en-US" sz="16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要解决的核心问题。</a:t>
              </a:r>
              <a:endParaRPr lang="zh-CN" altLang="en-US" sz="1600" b="1" kern="100" dirty="0">
                <a:solidFill>
                  <a:schemeClr val="bg1"/>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50" name="矩形: 圆角 359"/>
          <p:cNvSpPr/>
          <p:nvPr/>
        </p:nvSpPr>
        <p:spPr>
          <a:xfrm>
            <a:off x="6837680" y="2846070"/>
            <a:ext cx="4076065" cy="789305"/>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cxnSp>
        <p:nvCxnSpPr>
          <p:cNvPr id="28" name="直接箭头连接符 27"/>
          <p:cNvCxnSpPr>
            <a:stCxn id="19" idx="3"/>
            <a:endCxn id="50" idx="1"/>
          </p:cNvCxnSpPr>
          <p:nvPr>
            <p:custDataLst>
              <p:tags r:id="rId7"/>
            </p:custDataLst>
          </p:nvPr>
        </p:nvCxnSpPr>
        <p:spPr>
          <a:xfrm>
            <a:off x="5482573" y="2720943"/>
            <a:ext cx="1355090" cy="520065"/>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4"/>
          <p:cNvSpPr/>
          <p:nvPr/>
        </p:nvSpPr>
        <p:spPr>
          <a:xfrm>
            <a:off x="6814820" y="2546985"/>
            <a:ext cx="4695190" cy="3010535"/>
          </a:xfrm>
          <a:prstGeom prst="roundRect">
            <a:avLst>
              <a:gd name="adj" fmla="val 5160"/>
            </a:avLst>
          </a:prstGeom>
          <a:solidFill>
            <a:schemeClr val="bg1">
              <a:alpha val="30196"/>
            </a:schemeClr>
          </a:solid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矩形: 圆角 17"/>
          <p:cNvSpPr/>
          <p:nvPr>
            <p:custDataLst>
              <p:tags r:id="rId2"/>
            </p:custDataLst>
          </p:nvPr>
        </p:nvSpPr>
        <p:spPr>
          <a:xfrm>
            <a:off x="609600" y="2546985"/>
            <a:ext cx="5939790" cy="301053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59</a:t>
            </a:fld>
            <a:endParaRPr lang="zh-CN" altLang="en-US" dirty="0"/>
          </a:p>
        </p:txBody>
      </p:sp>
      <p:sp>
        <p:nvSpPr>
          <p:cNvPr id="25" name="矩形 24"/>
          <p:cNvSpPr/>
          <p:nvPr>
            <p:custDataLst>
              <p:tags r:id="rId3"/>
            </p:custDataLst>
          </p:nvPr>
        </p:nvSpPr>
        <p:spPr>
          <a:xfrm>
            <a:off x="2453640" y="0"/>
            <a:ext cx="2466340" cy="664210"/>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解决方案</a:t>
            </a:r>
          </a:p>
        </p:txBody>
      </p:sp>
      <p:sp>
        <p:nvSpPr>
          <p:cNvPr id="7" name="文本框 6"/>
          <p:cNvSpPr txBox="1"/>
          <p:nvPr/>
        </p:nvSpPr>
        <p:spPr>
          <a:xfrm>
            <a:off x="329565" y="880110"/>
            <a:ext cx="4971415" cy="398780"/>
          </a:xfrm>
          <a:prstGeom prst="rect">
            <a:avLst/>
          </a:prstGeom>
          <a:noFill/>
        </p:spPr>
        <p:txBody>
          <a:bodyPr wrap="square" rtlCol="0" anchor="t">
            <a:spAutoFit/>
          </a:bodyPr>
          <a:lstStyle/>
          <a:p>
            <a:pPr marL="342900" indent="-342900">
              <a:buClr>
                <a:schemeClr val="accent1"/>
              </a:buClr>
              <a:buFont typeface="Wingdings" panose="05000000000000000000" pitchFamily="2" charset="2"/>
              <a:buChar char="Ø"/>
            </a:pPr>
            <a:r>
              <a:rPr lang="en-US" altLang="zh-CN"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rPr>
              <a:t>AGFT：</a:t>
            </a:r>
            <a:r>
              <a:rPr lang="zh-CN" altLang="en-US"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rPr>
              <a:t>对齐引导的微调框架</a:t>
            </a:r>
          </a:p>
        </p:txBody>
      </p:sp>
      <p:pic>
        <p:nvPicPr>
          <p:cNvPr id="2" name="图片 1"/>
          <p:cNvPicPr>
            <a:picLocks noChangeAspect="1"/>
          </p:cNvPicPr>
          <p:nvPr/>
        </p:nvPicPr>
        <p:blipFill>
          <a:blip r:embed="rId15"/>
          <a:srcRect b="17690"/>
          <a:stretch>
            <a:fillRect/>
          </a:stretch>
        </p:blipFill>
        <p:spPr>
          <a:xfrm>
            <a:off x="786130" y="2747010"/>
            <a:ext cx="5643880" cy="2611120"/>
          </a:xfrm>
          <a:prstGeom prst="rect">
            <a:avLst/>
          </a:prstGeom>
        </p:spPr>
      </p:pic>
      <p:sp>
        <p:nvSpPr>
          <p:cNvPr id="47" name="文本框 46"/>
          <p:cNvSpPr txBox="1"/>
          <p:nvPr/>
        </p:nvSpPr>
        <p:spPr>
          <a:xfrm>
            <a:off x="2211705" y="2365375"/>
            <a:ext cx="2679700" cy="435610"/>
          </a:xfrm>
          <a:prstGeom prst="rect">
            <a:avLst/>
          </a:prstGeom>
          <a:solidFill>
            <a:schemeClr val="bg1"/>
          </a:solidFill>
        </p:spPr>
        <p:txBody>
          <a:bodyPr wrap="square" rtlCol="0">
            <a:noAutofit/>
          </a:bodyPr>
          <a:lstStyle/>
          <a:p>
            <a:pPr algn="ct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AGFT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整体流程图</a:t>
            </a:r>
          </a:p>
        </p:txBody>
      </p:sp>
      <p:sp>
        <p:nvSpPr>
          <p:cNvPr id="11" name="矩形: 圆角 359"/>
          <p:cNvSpPr/>
          <p:nvPr/>
        </p:nvSpPr>
        <p:spPr>
          <a:xfrm>
            <a:off x="610235" y="1316990"/>
            <a:ext cx="10899775" cy="979805"/>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核心目标是在</a:t>
            </a:r>
            <a:r>
              <a:rPr lang="zh-CN" altLang="en-US" sz="2400" b="1" dirty="0">
                <a:gradFill>
                  <a:gsLst>
                    <a:gs pos="51300">
                      <a:srgbClr val="FE5F4A"/>
                    </a:gs>
                    <a:gs pos="0">
                      <a:srgbClr val="DF0303"/>
                    </a:gs>
                    <a:gs pos="100000">
                      <a:srgbClr val="FEA06E"/>
                    </a:gs>
                  </a:gsLst>
                  <a:lin ang="5400000" scaled="1"/>
                </a:gradFill>
                <a:latin typeface="微软雅黑" panose="020B0503020204020204" pitchFamily="34" charset="-122"/>
                <a:ea typeface="微软雅黑" panose="020B0503020204020204" pitchFamily="34" charset="-122"/>
                <a:sym typeface="+mn-ea"/>
              </a:rPr>
              <a:t>提升对抗鲁棒性</a:t>
            </a:r>
            <a:r>
              <a:rPr lang="zh-CN" altLang="en-US" sz="2000" b="1" dirty="0">
                <a:solidFill>
                  <a:srgbClr val="0070C0"/>
                </a:solidFill>
                <a:latin typeface="微软雅黑" panose="020B0503020204020204" pitchFamily="34" charset="-122"/>
                <a:ea typeface="微软雅黑" panose="020B0503020204020204" pitchFamily="34" charset="-122"/>
              </a:rPr>
              <a:t>的同时，保留预训练模型的</a:t>
            </a:r>
            <a:r>
              <a:rPr lang="zh-CN" altLang="en-US" sz="2400" b="1" dirty="0">
                <a:gradFill>
                  <a:gsLst>
                    <a:gs pos="51300">
                      <a:srgbClr val="FE5F4A"/>
                    </a:gs>
                    <a:gs pos="0">
                      <a:srgbClr val="DF0303"/>
                    </a:gs>
                    <a:gs pos="100000">
                      <a:srgbClr val="FEA06E"/>
                    </a:gs>
                  </a:gsLst>
                  <a:lin ang="5400000" scaled="1"/>
                </a:gradFill>
                <a:latin typeface="微软雅黑" panose="020B0503020204020204" pitchFamily="34" charset="-122"/>
                <a:ea typeface="微软雅黑" panose="020B0503020204020204" pitchFamily="34" charset="-122"/>
                <a:sym typeface="+mn-ea"/>
              </a:rPr>
              <a:t>跨模态语义对齐</a:t>
            </a:r>
            <a:r>
              <a:rPr lang="zh-CN" altLang="en-US" sz="2000" b="1" dirty="0">
                <a:solidFill>
                  <a:srgbClr val="0070C0"/>
                </a:solidFill>
                <a:latin typeface="微软雅黑" panose="020B0503020204020204" pitchFamily="34" charset="-122"/>
                <a:ea typeface="微软雅黑" panose="020B0503020204020204" pitchFamily="34" charset="-122"/>
              </a:rPr>
              <a:t>结构</a:t>
            </a:r>
          </a:p>
          <a:p>
            <a:pPr indent="0" algn="ctr">
              <a:lnSpc>
                <a:spcPct val="135000"/>
              </a:lnSpc>
              <a:buClr>
                <a:srgbClr val="9B0000"/>
              </a:buClr>
              <a:buFont typeface="Arial" panose="020B060402020209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避免传统分类引导方法对零样本泛化能力的破坏</a:t>
            </a:r>
          </a:p>
        </p:txBody>
      </p:sp>
      <p:sp>
        <p:nvSpPr>
          <p:cNvPr id="17" name="矩形 16"/>
          <p:cNvSpPr/>
          <p:nvPr>
            <p:custDataLst>
              <p:tags r:id="rId4"/>
            </p:custDataLst>
          </p:nvPr>
        </p:nvSpPr>
        <p:spPr>
          <a:xfrm>
            <a:off x="7165340" y="3348990"/>
            <a:ext cx="1569085" cy="50165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预训练模型</a:t>
            </a:r>
          </a:p>
        </p:txBody>
      </p:sp>
      <p:cxnSp>
        <p:nvCxnSpPr>
          <p:cNvPr id="559" name="直接箭头连接符 558"/>
          <p:cNvCxnSpPr>
            <a:stCxn id="17" idx="3"/>
            <a:endCxn id="19" idx="1"/>
          </p:cNvCxnSpPr>
          <p:nvPr>
            <p:custDataLst>
              <p:tags r:id="rId5"/>
            </p:custDataLst>
          </p:nvPr>
        </p:nvCxnSpPr>
        <p:spPr>
          <a:xfrm>
            <a:off x="8734408" y="3599783"/>
            <a:ext cx="729615" cy="0"/>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2" name="文本框 31"/>
          <p:cNvSpPr txBox="1"/>
          <p:nvPr>
            <p:custDataLst>
              <p:tags r:id="rId6"/>
            </p:custDataLst>
          </p:nvPr>
        </p:nvSpPr>
        <p:spPr>
          <a:xfrm>
            <a:off x="8672729" y="4079072"/>
            <a:ext cx="1569200" cy="281940"/>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spAutoFit/>
          </a:bodyPr>
          <a:lstStyle/>
          <a:p>
            <a:pPr marL="0" indent="0" latinLnBrk="1">
              <a:lnSpc>
                <a:spcPts val="1100"/>
              </a:lnSpc>
              <a:spcBef>
                <a:spcPct val="0"/>
              </a:spcBef>
              <a:spcAft>
                <a:spcPct val="0"/>
              </a:spcAft>
            </a:pPr>
            <a:endParaRPr lang="en-US" altLang="zh-CN"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latinLnBrk="1">
              <a:lnSpc>
                <a:spcPts val="1100"/>
              </a:lnSpc>
              <a:spcBef>
                <a:spcPct val="0"/>
              </a:spcBef>
              <a:spcAft>
                <a:spcPct val="0"/>
              </a:spcAft>
            </a:pPr>
            <a:r>
              <a:rPr lang="en-US" altLang="zh-CN"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温度缩放（</a:t>
            </a:r>
            <a:r>
              <a:rPr lang="en-US" altLang="zh-CN"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γ</a:t>
            </a:r>
            <a:r>
              <a:rPr lang="zh-CN" alt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mc:AlternateContent xmlns:mc="http://schemas.openxmlformats.org/markup-compatibility/2006" xmlns:a14="http://schemas.microsoft.com/office/drawing/2010/main">
        <mc:Choice Requires="a14">
          <p:sp>
            <p:nvSpPr>
              <p:cNvPr id="19" name="矩形 18"/>
              <p:cNvSpPr/>
              <p:nvPr>
                <p:custDataLst>
                  <p:tags r:id="rId7"/>
                </p:custDataLst>
              </p:nvPr>
            </p:nvSpPr>
            <p:spPr>
              <a:xfrm>
                <a:off x="9464040" y="3348990"/>
                <a:ext cx="1860550" cy="50165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chemeClr val="tx1"/>
                    </a:solidFill>
                    <a:latin typeface="Cambria Math" panose="02040503050406030204" charset="0"/>
                    <a:ea typeface="微软雅黑" panose="020B0503020204020204" pitchFamily="34" charset="-122"/>
                    <a:cs typeface="Cambria Math" panose="02040503050406030204" charset="0"/>
                  </a:rPr>
                  <a:t>软预测分布</a:t>
                </a:r>
                <a14:m>
                  <m:oMath xmlns:m="http://schemas.openxmlformats.org/officeDocument/2006/math">
                    <m:sSub>
                      <m:sSubPr>
                        <m:ctrlPr>
                          <a:rPr lang="en-US" altLang="zh-CN" b="1" i="1" dirty="0">
                            <a:solidFill>
                              <a:schemeClr val="tx1"/>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b="1" i="1" dirty="0">
                            <a:solidFill>
                              <a:schemeClr val="tx1"/>
                            </a:solidFill>
                            <a:latin typeface="Cambria Math" panose="02040503050406030204" charset="0"/>
                            <a:ea typeface="微软雅黑" panose="020B0503020204020204" pitchFamily="34" charset="-122"/>
                            <a:cs typeface="Cambria Math" panose="02040503050406030204" charset="0"/>
                          </a:rPr>
                          <m:t>𝒑</m:t>
                        </m:r>
                      </m:e>
                      <m:sub>
                        <m:r>
                          <a:rPr lang="en-US" altLang="zh-CN" b="1" i="1" dirty="0">
                            <a:solidFill>
                              <a:schemeClr val="tx1"/>
                            </a:solidFill>
                            <a:latin typeface="Cambria Math" panose="02040503050406030204" charset="0"/>
                            <a:ea typeface="微软雅黑" panose="020B0503020204020204" pitchFamily="34" charset="-122"/>
                            <a:cs typeface="Cambria Math" panose="02040503050406030204" charset="0"/>
                          </a:rPr>
                          <m:t>𝒐𝒓𝒊𝒈</m:t>
                        </m:r>
                      </m:sub>
                    </m:sSub>
                  </m:oMath>
                </a14:m>
                <a:endParaRPr lang="en-US" altLang="zh-CN" b="1" i="1" dirty="0">
                  <a:solidFill>
                    <a:schemeClr val="tx1"/>
                  </a:solidFill>
                  <a:latin typeface="Cambria Math" panose="02040503050406030204" charset="0"/>
                  <a:ea typeface="微软雅黑" panose="020B0503020204020204" pitchFamily="34" charset="-122"/>
                  <a:cs typeface="Cambria Math" panose="02040503050406030204" charset="0"/>
                </a:endParaRPr>
              </a:p>
            </p:txBody>
          </p:sp>
        </mc:Choice>
        <mc:Fallback xmlns="">
          <p:sp>
            <p:nvSpPr>
              <p:cNvPr id="19" name="矩形 18"/>
              <p:cNvSpPr>
                <a:spLocks noRot="1" noChangeAspect="1" noMove="1" noResize="1" noEditPoints="1" noAdjustHandles="1" noChangeArrowheads="1" noChangeShapeType="1" noTextEdit="1"/>
              </p:cNvSpPr>
              <p:nvPr>
                <p:custDataLst>
                  <p:tags r:id="rId16"/>
                </p:custDataLst>
              </p:nvPr>
            </p:nvSpPr>
            <p:spPr>
              <a:xfrm>
                <a:off x="9464040" y="3348990"/>
                <a:ext cx="1860550" cy="501650"/>
              </a:xfrm>
              <a:prstGeom prst="rect">
                <a:avLst/>
              </a:prstGeom>
              <a:blipFill rotWithShape="1">
                <a:blip r:embed="rId17"/>
                <a:stretch>
                  <a:fillRect/>
                </a:stretch>
              </a:blip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custDataLst>
                  <p:tags r:id="rId8"/>
                </p:custDataLst>
              </p:nvPr>
            </p:nvSpPr>
            <p:spPr>
              <a:xfrm>
                <a:off x="9417685" y="4747260"/>
                <a:ext cx="1958340" cy="50165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cs typeface="Cambria Math" panose="02040503050406030204" charset="0"/>
                  </a:rPr>
                  <a:t>校准后分布</a:t>
                </a:r>
                <a14:m>
                  <m:oMath xmlns:m="http://schemas.openxmlformats.org/officeDocument/2006/math">
                    <m:sSub>
                      <m:sSubPr>
                        <m:ctrlPr>
                          <a:rPr lang="en-US" altLang="zh-CN" sz="2000" b="1" i="1" dirty="0">
                            <a:solidFill>
                              <a:schemeClr val="tx1"/>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000" b="1" i="1" dirty="0">
                            <a:solidFill>
                              <a:schemeClr val="tx1"/>
                            </a:solidFill>
                            <a:latin typeface="Cambria Math" panose="02040503050406030204" charset="0"/>
                            <a:ea typeface="微软雅黑" panose="020B0503020204020204" pitchFamily="34" charset="-122"/>
                            <a:cs typeface="Cambria Math" panose="02040503050406030204" charset="0"/>
                          </a:rPr>
                          <m:t>𝒑</m:t>
                        </m:r>
                      </m:e>
                      <m:sub>
                        <m:r>
                          <a:rPr lang="en-US" altLang="zh-CN" sz="2000" b="1" i="1" dirty="0">
                            <a:solidFill>
                              <a:schemeClr val="tx1"/>
                            </a:solidFill>
                            <a:latin typeface="Cambria Math" panose="02040503050406030204" charset="0"/>
                            <a:ea typeface="微软雅黑" panose="020B0503020204020204" pitchFamily="34" charset="-122"/>
                            <a:cs typeface="Cambria Math" panose="02040503050406030204" charset="0"/>
                          </a:rPr>
                          <m:t>𝒓𝒐𝒃</m:t>
                        </m:r>
                      </m:sub>
                    </m:sSub>
                  </m:oMath>
                </a14:m>
                <a:endParaRPr lang="en-US" altLang="zh-CN" sz="2000" b="1" i="1" dirty="0">
                  <a:solidFill>
                    <a:schemeClr val="tx1"/>
                  </a:solidFill>
                  <a:latin typeface="Cambria Math" panose="02040503050406030204" charset="0"/>
                  <a:ea typeface="微软雅黑" panose="020B0503020204020204" pitchFamily="34" charset="-122"/>
                  <a:cs typeface="Cambria Math" panose="02040503050406030204" charset="0"/>
                </a:endParaRPr>
              </a:p>
            </p:txBody>
          </p:sp>
        </mc:Choice>
        <mc:Fallback xmlns="">
          <p:sp>
            <p:nvSpPr>
              <p:cNvPr id="21" name="矩形 20"/>
              <p:cNvSpPr>
                <a:spLocks noRot="1" noChangeAspect="1" noMove="1" noResize="1" noEditPoints="1" noAdjustHandles="1" noChangeArrowheads="1" noChangeShapeType="1" noTextEdit="1"/>
              </p:cNvSpPr>
              <p:nvPr>
                <p:custDataLst>
                  <p:tags r:id="rId18"/>
                </p:custDataLst>
              </p:nvPr>
            </p:nvSpPr>
            <p:spPr>
              <a:xfrm>
                <a:off x="9417685" y="4747260"/>
                <a:ext cx="1958340" cy="501650"/>
              </a:xfrm>
              <a:prstGeom prst="rect">
                <a:avLst/>
              </a:prstGeom>
              <a:blipFill rotWithShape="1">
                <a:blip r:embed="rId19"/>
                <a:stretch>
                  <a:fillRect/>
                </a:stretch>
              </a:blip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23" name="矩形 22"/>
          <p:cNvSpPr/>
          <p:nvPr>
            <p:custDataLst>
              <p:tags r:id="rId9"/>
            </p:custDataLst>
          </p:nvPr>
        </p:nvSpPr>
        <p:spPr>
          <a:xfrm>
            <a:off x="7066915" y="4747260"/>
            <a:ext cx="1744345" cy="501650"/>
          </a:xfrm>
          <a:prstGeom prst="rect">
            <a:avLst/>
          </a:prstGeom>
          <a:solidFill>
            <a:schemeClr val="tx1">
              <a:lumMod val="65000"/>
              <a:lumOff val="35000"/>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indent="0" latinLnBrk="1">
              <a:lnSpc>
                <a:spcPts val="1100"/>
              </a:lnSpc>
              <a:spcBef>
                <a:spcPct val="0"/>
              </a:spcBef>
              <a:spcAft>
                <a:spcPct val="0"/>
              </a:spcAft>
            </a:pPr>
            <a:r>
              <a:rPr lang="en-US" altLang="zh-CN" sz="1600" b="1">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  </a:t>
            </a:r>
          </a:p>
          <a:p>
            <a:pPr marL="0" indent="0" latinLnBrk="1">
              <a:lnSpc>
                <a:spcPts val="1100"/>
              </a:lnSpc>
              <a:spcBef>
                <a:spcPct val="0"/>
              </a:spcBef>
              <a:spcAft>
                <a:spcPct val="0"/>
              </a:spcAft>
            </a:pPr>
            <a:r>
              <a:rPr lang="en-US" altLang="zh-CN" sz="1600" b="1">
                <a:solidFill>
                  <a:srgbClr val="0F1115"/>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b="1">
                <a:solidFill>
                  <a:srgbClr val="0F1115"/>
                </a:solidFill>
                <a:latin typeface="微软雅黑" panose="020B0503020204020204" pitchFamily="34" charset="-122"/>
                <a:ea typeface="微软雅黑" panose="020B0503020204020204" pitchFamily="34" charset="-122"/>
                <a:cs typeface="微软雅黑" panose="020B0503020204020204" pitchFamily="34" charset="-122"/>
                <a:sym typeface="+mn-ea"/>
              </a:rPr>
              <a:t>软监督对抗训练</a:t>
            </a:r>
            <a:endParaRPr lang="zh-CN" altLang="en-US"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27" name="直接箭头连接符 26"/>
          <p:cNvCxnSpPr>
            <a:stCxn id="19" idx="2"/>
            <a:endCxn id="21" idx="0"/>
          </p:cNvCxnSpPr>
          <p:nvPr>
            <p:custDataLst>
              <p:tags r:id="rId10"/>
            </p:custDataLst>
          </p:nvPr>
        </p:nvCxnSpPr>
        <p:spPr>
          <a:xfrm>
            <a:off x="10394298" y="3850608"/>
            <a:ext cx="2540" cy="896620"/>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1" idx="1"/>
            <a:endCxn id="23" idx="3"/>
          </p:cNvCxnSpPr>
          <p:nvPr>
            <p:custDataLst>
              <p:tags r:id="rId11"/>
            </p:custDataLst>
          </p:nvPr>
        </p:nvCxnSpPr>
        <p:spPr>
          <a:xfrm flipH="1">
            <a:off x="8811243" y="4998053"/>
            <a:ext cx="606425" cy="0"/>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7" name="文本框 296"/>
          <p:cNvSpPr txBox="1"/>
          <p:nvPr/>
        </p:nvSpPr>
        <p:spPr>
          <a:xfrm>
            <a:off x="8232775" y="2363470"/>
            <a:ext cx="1859915" cy="282575"/>
          </a:xfrm>
          <a:prstGeom prst="rect">
            <a:avLst/>
          </a:prstGeom>
          <a:solidFill>
            <a:schemeClr val="bg1"/>
          </a:solidFill>
        </p:spPr>
        <p:txBody>
          <a:bodyPr wrap="square" rtlCol="0">
            <a:noAutofit/>
          </a:bodyPr>
          <a:lstStyle/>
          <a:p>
            <a:pPr algn="ct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整体流程</a:t>
            </a:r>
          </a:p>
        </p:txBody>
      </p:sp>
      <p:cxnSp>
        <p:nvCxnSpPr>
          <p:cNvPr id="31" name="直接箭头连接符 30"/>
          <p:cNvCxnSpPr/>
          <p:nvPr>
            <p:custDataLst>
              <p:tags r:id="rId12"/>
            </p:custDataLst>
          </p:nvPr>
        </p:nvCxnSpPr>
        <p:spPr>
          <a:xfrm flipH="1">
            <a:off x="7952088" y="2807303"/>
            <a:ext cx="1905" cy="541655"/>
          </a:xfrm>
          <a:prstGeom prst="straightConnector1">
            <a:avLst/>
          </a:prstGeom>
          <a:ln w="76200">
            <a:solidFill>
              <a:schemeClr val="accent2"/>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本框 33"/>
              <p:cNvSpPr txBox="1"/>
              <p:nvPr/>
            </p:nvSpPr>
            <p:spPr>
              <a:xfrm>
                <a:off x="8098155" y="2752090"/>
                <a:ext cx="2543175" cy="337185"/>
              </a:xfrm>
              <a:prstGeom prst="rect">
                <a:avLst/>
              </a:prstGeom>
              <a:noFill/>
            </p:spPr>
            <p:txBody>
              <a:bodyPr wrap="square" rtlCol="0">
                <a:spAutoFit/>
              </a:bodyPr>
              <a:lstStyle/>
              <a:p>
                <a:r>
                  <a:rPr lang="zh-CN" altLang="en-US" sz="1600" b="1">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输入图像</a:t>
                </a:r>
                <a14:m>
                  <m:oMath xmlns:m="http://schemas.openxmlformats.org/officeDocument/2006/math">
                    <m:r>
                      <a:rPr lang="en-US" altLang="zh-CN" sz="1600" b="1" i="1">
                        <a:solidFill>
                          <a:schemeClr val="accent2"/>
                        </a:solidFill>
                        <a:latin typeface="Cambria Math" panose="02040503050406030204" charset="0"/>
                        <a:ea typeface="微软雅黑" panose="020B0503020204020204" pitchFamily="34" charset="-122"/>
                        <a:cs typeface="Cambria Math" panose="02040503050406030204" charset="0"/>
                      </a:rPr>
                      <m:t>𝒙</m:t>
                    </m:r>
                  </m:oMath>
                </a14:m>
                <a:r>
                  <a:rPr lang="zh-CN" altLang="en-US" sz="1600" b="1">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和文本</a:t>
                </a:r>
                <a14:m>
                  <m:oMath xmlns:m="http://schemas.openxmlformats.org/officeDocument/2006/math">
                    <m:r>
                      <a:rPr lang="en-US" altLang="zh-CN" sz="1600" b="1" i="1">
                        <a:solidFill>
                          <a:schemeClr val="accent2"/>
                        </a:solidFill>
                        <a:latin typeface="Cambria Math" panose="02040503050406030204" charset="0"/>
                        <a:ea typeface="微软雅黑" panose="020B0503020204020204" pitchFamily="34" charset="-122"/>
                        <a:cs typeface="Cambria Math" panose="02040503050406030204" charset="0"/>
                      </a:rPr>
                      <m:t>𝒕</m:t>
                    </m:r>
                  </m:oMath>
                </a14:m>
                <a:endParaRPr lang="en-US" altLang="zh-CN" sz="1600" b="1" i="1">
                  <a:solidFill>
                    <a:schemeClr val="accent2"/>
                  </a:solidFill>
                  <a:latin typeface="Cambria Math" panose="02040503050406030204" charset="0"/>
                  <a:ea typeface="微软雅黑" panose="020B0503020204020204" pitchFamily="34" charset="-122"/>
                  <a:cs typeface="Cambria Math" panose="02040503050406030204" charset="0"/>
                </a:endParaRPr>
              </a:p>
            </p:txBody>
          </p:sp>
        </mc:Choice>
        <mc:Fallback xmlns="">
          <p:sp>
            <p:nvSpPr>
              <p:cNvPr id="34" name="文本框 33"/>
              <p:cNvSpPr txBox="1">
                <a:spLocks noRot="1" noChangeAspect="1" noMove="1" noResize="1" noEditPoints="1" noAdjustHandles="1" noChangeArrowheads="1" noChangeShapeType="1" noTextEdit="1"/>
              </p:cNvSpPr>
              <p:nvPr/>
            </p:nvSpPr>
            <p:spPr>
              <a:xfrm>
                <a:off x="8098155" y="2752090"/>
                <a:ext cx="2543175" cy="337185"/>
              </a:xfrm>
              <a:prstGeom prst="rect">
                <a:avLst/>
              </a:prstGeom>
              <a:blipFill rotWithShape="1">
                <a:blip r:embed="rId20"/>
                <a:stretch>
                  <a:fillRect/>
                </a:stretch>
              </a:blipFill>
            </p:spPr>
            <p:txBody>
              <a:bodyPr/>
              <a:lstStyle/>
              <a:p>
                <a:r>
                  <a:rPr lang="zh-CN" altLang="en-US">
                    <a:noFill/>
                  </a:rPr>
                  <a:t> </a:t>
                </a:r>
              </a:p>
            </p:txBody>
          </p:sp>
        </mc:Fallback>
      </mc:AlternateContent>
      <p:sp>
        <p:nvSpPr>
          <p:cNvPr id="43" name="矩形: 圆角 359"/>
          <p:cNvSpPr/>
          <p:nvPr/>
        </p:nvSpPr>
        <p:spPr>
          <a:xfrm>
            <a:off x="7952105" y="5807710"/>
            <a:ext cx="3605530" cy="808355"/>
          </a:xfrm>
          <a:prstGeom prst="roundRect">
            <a:avLst>
              <a:gd name="adj" fmla="val 1988"/>
            </a:avLst>
          </a:prstGeom>
          <a:solidFill>
            <a:srgbClr val="F2F5F9"/>
          </a:solidFill>
        </p:spPr>
        <p:style>
          <a:lnRef idx="0">
            <a:srgbClr val="FFFFFF"/>
          </a:lnRef>
          <a:fillRef idx="1">
            <a:schemeClr val="accent1"/>
          </a:fillRef>
          <a:effectRef idx="0">
            <a:srgbClr val="FFFFFF"/>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min-max</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框架下</a:t>
            </a:r>
          </a:p>
          <a:p>
            <a:pPr indent="0" algn="ctr">
              <a:lnSpc>
                <a:spcPct val="135000"/>
              </a:lnSpc>
              <a:buClr>
                <a:srgbClr val="9B0000"/>
              </a:buClr>
              <a:buFont typeface="Arial" panose="020B0604020202090204" pitchFamily="34" charset="0"/>
              <a:buNone/>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进行对抗训练</a:t>
            </a:r>
            <a:endPar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4" name="矩形: 圆角 359"/>
          <p:cNvSpPr/>
          <p:nvPr/>
        </p:nvSpPr>
        <p:spPr>
          <a:xfrm>
            <a:off x="4625340" y="5808345"/>
            <a:ext cx="3839210" cy="791845"/>
          </a:xfrm>
          <a:prstGeom prst="homePlate">
            <a:avLst/>
          </a:prstGeom>
        </p:spPr>
        <p:style>
          <a:lnRef idx="0">
            <a:srgbClr val="FFFFFF"/>
          </a:lnRef>
          <a:fillRef idx="1">
            <a:schemeClr val="accent1"/>
          </a:fillRef>
          <a:effectRef idx="0">
            <a:srgbClr val="FFFFFF"/>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endPar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AlternateContent xmlns:mc="http://schemas.openxmlformats.org/markup-compatibility/2006" xmlns:a14="http://schemas.microsoft.com/office/drawing/2010/main">
        <mc:Choice Requires="a14">
          <p:sp>
            <p:nvSpPr>
              <p:cNvPr id="37" name="矩形: 圆角 359"/>
              <p:cNvSpPr/>
              <p:nvPr/>
            </p:nvSpPr>
            <p:spPr>
              <a:xfrm>
                <a:off x="4263390" y="5792470"/>
                <a:ext cx="3928745" cy="807720"/>
              </a:xfrm>
              <a:prstGeom prst="homePlate">
                <a:avLst/>
              </a:prstGeom>
              <a:solidFill>
                <a:srgbClr val="F2F5F9"/>
              </a:solidFill>
            </p:spPr>
            <p:style>
              <a:lnRef idx="0">
                <a:srgbClr val="FFFFFF"/>
              </a:lnRef>
              <a:fillRef idx="1">
                <a:schemeClr val="accent1"/>
              </a:fillRef>
              <a:effectRef idx="0">
                <a:srgbClr val="FFFFFF"/>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通过温度缩放</a:t>
                </a: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γ</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校准得到</a:t>
                </a:r>
              </a:p>
              <a:p>
                <a:pPr indent="0" algn="ctr">
                  <a:lnSpc>
                    <a:spcPct val="135000"/>
                  </a:lnSpc>
                  <a:buClr>
                    <a:srgbClr val="9B0000"/>
                  </a:buClr>
                  <a:buFont typeface="Arial" panose="020B0604020202090204" pitchFamily="34" charset="0"/>
                  <a:buNone/>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目标分布</a:t>
                </a:r>
                <a14:m>
                  <m:oMath xmlns:m="http://schemas.openxmlformats.org/officeDocument/2006/math">
                    <m:sSub>
                      <m:sSubPr>
                        <m:ctrlPr>
                          <a:rPr lang="en-US" altLang="zh-CN" b="1" i="1" dirty="0">
                            <a:solidFill>
                              <a:srgbClr val="0070C0"/>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b="1" i="1" dirty="0">
                            <a:solidFill>
                              <a:srgbClr val="0070C0"/>
                            </a:solidFill>
                            <a:latin typeface="Cambria Math" panose="02040503050406030204" charset="0"/>
                            <a:ea typeface="微软雅黑" panose="020B0503020204020204" pitchFamily="34" charset="-122"/>
                            <a:cs typeface="Cambria Math" panose="02040503050406030204" charset="0"/>
                          </a:rPr>
                          <m:t>𝒑</m:t>
                        </m:r>
                      </m:e>
                      <m:sub>
                        <m:r>
                          <a:rPr lang="en-US" altLang="zh-CN" b="1" i="1" dirty="0">
                            <a:solidFill>
                              <a:srgbClr val="0070C0"/>
                            </a:solidFill>
                            <a:latin typeface="Cambria Math" panose="02040503050406030204" charset="0"/>
                            <a:ea typeface="微软雅黑" panose="020B0503020204020204" pitchFamily="34" charset="-122"/>
                            <a:cs typeface="Cambria Math" panose="02040503050406030204" charset="0"/>
                          </a:rPr>
                          <m:t>𝒓𝒐𝒃</m:t>
                        </m:r>
                      </m:sub>
                    </m:sSub>
                  </m:oMath>
                </a14:m>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37" name="矩形: 圆角 359"/>
              <p:cNvSpPr>
                <a:spLocks noRot="1" noChangeAspect="1" noMove="1" noResize="1" noEditPoints="1" noAdjustHandles="1" noChangeArrowheads="1" noChangeShapeType="1" noTextEdit="1"/>
              </p:cNvSpPr>
              <p:nvPr/>
            </p:nvSpPr>
            <p:spPr>
              <a:xfrm>
                <a:off x="4263390" y="5792470"/>
                <a:ext cx="3928745" cy="807720"/>
              </a:xfrm>
              <a:prstGeom prst="homePlate">
                <a:avLst/>
              </a:prstGeom>
              <a:blipFill rotWithShape="1">
                <a:blip r:embed="rId21"/>
                <a:stretch>
                  <a:fillRect/>
                </a:stretch>
              </a:blipFill>
            </p:spPr>
            <p:style>
              <a:lnRef idx="0">
                <a:srgbClr val="FFFFFF"/>
              </a:lnRef>
              <a:fillRef idx="1">
                <a:schemeClr val="accent1"/>
              </a:fillRef>
              <a:effectRef idx="0">
                <a:srgbClr val="FFFFFF"/>
              </a:effectRef>
              <a:fontRef idx="minor">
                <a:schemeClr val="lt1"/>
              </a:fontRef>
            </p:style>
            <p:txBody>
              <a:bodyPr/>
              <a:lstStyle/>
              <a:p>
                <a:r>
                  <a:rPr lang="zh-CN" altLang="en-US">
                    <a:noFill/>
                  </a:rPr>
                  <a:t> </a:t>
                </a:r>
              </a:p>
            </p:txBody>
          </p:sp>
        </mc:Fallback>
      </mc:AlternateContent>
      <p:sp>
        <p:nvSpPr>
          <p:cNvPr id="36" name="矩形: 圆角 359"/>
          <p:cNvSpPr/>
          <p:nvPr/>
        </p:nvSpPr>
        <p:spPr>
          <a:xfrm>
            <a:off x="508635" y="5808345"/>
            <a:ext cx="4281170" cy="791210"/>
          </a:xfrm>
          <a:prstGeom prst="homePlate">
            <a:avLst/>
          </a:prstGeom>
        </p:spPr>
        <p:style>
          <a:lnRef idx="0">
            <a:srgbClr val="FFFFFF"/>
          </a:lnRef>
          <a:fillRef idx="1">
            <a:schemeClr val="accent1"/>
          </a:fillRef>
          <a:effectRef idx="0">
            <a:srgbClr val="FFFFFF"/>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endPar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AlternateContent xmlns:mc="http://schemas.openxmlformats.org/markup-compatibility/2006" xmlns:a14="http://schemas.microsoft.com/office/drawing/2010/main">
        <mc:Choice Requires="a14">
          <p:sp>
            <p:nvSpPr>
              <p:cNvPr id="42" name="矩形: 圆角 359"/>
              <p:cNvSpPr/>
              <p:nvPr/>
            </p:nvSpPr>
            <p:spPr>
              <a:xfrm>
                <a:off x="1146810" y="5808345"/>
                <a:ext cx="3383280" cy="791845"/>
              </a:xfrm>
              <a:prstGeom prst="homePlate">
                <a:avLst/>
              </a:prstGeom>
              <a:solidFill>
                <a:srgbClr val="F2F5F9"/>
              </a:solidFill>
            </p:spPr>
            <p:style>
              <a:lnRef idx="0">
                <a:srgbClr val="FFFFFF"/>
              </a:lnRef>
              <a:fillRef idx="1">
                <a:schemeClr val="accent1"/>
              </a:fillRef>
              <a:effectRef idx="0">
                <a:srgbClr val="FFFFFF"/>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用预训练模型的软概率</a:t>
                </a:r>
              </a:p>
              <a:p>
                <a:pPr indent="0" algn="ctr">
                  <a:lnSpc>
                    <a:spcPct val="135000"/>
                  </a:lnSpc>
                  <a:buClr>
                    <a:srgbClr val="9B0000"/>
                  </a:buClr>
                  <a:buFont typeface="Arial" panose="020B0604020202090204" pitchFamily="34" charset="0"/>
                  <a:buNone/>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分布</a:t>
                </a:r>
                <a14:m>
                  <m:oMath xmlns:m="http://schemas.openxmlformats.org/officeDocument/2006/math">
                    <m:sSub>
                      <m:sSubPr>
                        <m:ctrlPr>
                          <a:rPr lang="en-US" altLang="zh-CN" b="1" i="1" dirty="0">
                            <a:solidFill>
                              <a:srgbClr val="0070C0"/>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b="1" i="1" dirty="0">
                            <a:solidFill>
                              <a:srgbClr val="0070C0"/>
                            </a:solidFill>
                            <a:latin typeface="Cambria Math" panose="02040503050406030204" charset="0"/>
                            <a:ea typeface="微软雅黑" panose="020B0503020204020204" pitchFamily="34" charset="-122"/>
                            <a:cs typeface="Cambria Math" panose="02040503050406030204" charset="0"/>
                          </a:rPr>
                          <m:t>𝒑</m:t>
                        </m:r>
                      </m:e>
                      <m:sub>
                        <m:r>
                          <a:rPr lang="en-US" altLang="zh-CN" b="1" i="1" dirty="0">
                            <a:solidFill>
                              <a:srgbClr val="0070C0"/>
                            </a:solidFill>
                            <a:latin typeface="Cambria Math" panose="02040503050406030204" charset="0"/>
                            <a:ea typeface="微软雅黑" panose="020B0503020204020204" pitchFamily="34" charset="-122"/>
                            <a:cs typeface="Cambria Math" panose="02040503050406030204" charset="0"/>
                          </a:rPr>
                          <m:t>𝒐𝒓𝒊𝒈</m:t>
                        </m:r>
                      </m:sub>
                    </m:sSub>
                  </m:oMath>
                </a14:m>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替代硬标签</a:t>
                </a:r>
                <a:endPar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42" name="矩形: 圆角 359"/>
              <p:cNvSpPr>
                <a:spLocks noRot="1" noChangeAspect="1" noMove="1" noResize="1" noEditPoints="1" noAdjustHandles="1" noChangeArrowheads="1" noChangeShapeType="1" noTextEdit="1"/>
              </p:cNvSpPr>
              <p:nvPr/>
            </p:nvSpPr>
            <p:spPr>
              <a:xfrm>
                <a:off x="1146810" y="5808345"/>
                <a:ext cx="3383280" cy="791845"/>
              </a:xfrm>
              <a:prstGeom prst="homePlate">
                <a:avLst/>
              </a:prstGeom>
              <a:blipFill rotWithShape="1">
                <a:blip r:embed="rId22"/>
                <a:stretch>
                  <a:fillRect t="-1283" b="-1363"/>
                </a:stretch>
              </a:blipFill>
            </p:spPr>
            <p:style>
              <a:lnRef idx="0">
                <a:srgbClr val="FFFFFF"/>
              </a:lnRef>
              <a:fillRef idx="1">
                <a:schemeClr val="accent1"/>
              </a:fillRef>
              <a:effectRef idx="0">
                <a:srgbClr val="FFFFFF"/>
              </a:effectRef>
              <a:fontRef idx="minor">
                <a:schemeClr val="lt1"/>
              </a:fontRef>
            </p:style>
            <p:txBody>
              <a:bodyPr/>
              <a:lstStyle/>
              <a:p>
                <a:r>
                  <a:rPr lang="zh-CN" altLang="en-US">
                    <a:noFill/>
                  </a:rPr>
                  <a:t> </a:t>
                </a:r>
              </a:p>
            </p:txBody>
          </p:sp>
        </mc:Fallback>
      </mc:AlternateContent>
      <p:sp>
        <p:nvSpPr>
          <p:cNvPr id="45" name="文本框 44"/>
          <p:cNvSpPr txBox="1"/>
          <p:nvPr/>
        </p:nvSpPr>
        <p:spPr>
          <a:xfrm>
            <a:off x="508635" y="5873750"/>
            <a:ext cx="707390" cy="645160"/>
          </a:xfrm>
          <a:prstGeom prst="rect">
            <a:avLst/>
          </a:prstGeom>
          <a:noFill/>
        </p:spPr>
        <p:txBody>
          <a:bodyPr wrap="square" rtlCol="0">
            <a:spAutoFit/>
          </a:bodyPr>
          <a:lstStyle/>
          <a:p>
            <a:r>
              <a:rPr lang="zh-CN" altLang="en-US" b="1">
                <a:solidFill>
                  <a:schemeClr val="bg1"/>
                </a:solidFill>
                <a:latin typeface="微软雅黑" panose="020B0503020204020204" pitchFamily="34" charset="-122"/>
                <a:ea typeface="微软雅黑" panose="020B0503020204020204" pitchFamily="34" charset="-122"/>
              </a:rPr>
              <a:t>核心</a:t>
            </a:r>
          </a:p>
          <a:p>
            <a:r>
              <a:rPr lang="zh-CN" altLang="en-US" b="1">
                <a:solidFill>
                  <a:schemeClr val="bg1"/>
                </a:solidFill>
                <a:latin typeface="微软雅黑" panose="020B0503020204020204" pitchFamily="34" charset="-122"/>
                <a:ea typeface="微软雅黑" panose="020B0503020204020204" pitchFamily="34" charset="-122"/>
              </a:rPr>
              <a:t>思路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17"/>
          <p:cNvSpPr/>
          <p:nvPr>
            <p:custDataLst>
              <p:tags r:id="rId2"/>
            </p:custDataLst>
          </p:nvPr>
        </p:nvSpPr>
        <p:spPr>
          <a:xfrm>
            <a:off x="578485" y="1456055"/>
            <a:ext cx="5088255" cy="4893310"/>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ctr">
              <a:lnSpc>
                <a:spcPct val="140000"/>
              </a:lnSpc>
              <a:buFont typeface="Wingdings" panose="05000000000000000000" charset="0"/>
              <a:buNone/>
            </a:pPr>
            <a:endPar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60</a:t>
            </a:fld>
            <a:endParaRPr lang="zh-CN" altLang="en-US" dirty="0"/>
          </a:p>
        </p:txBody>
      </p:sp>
      <p:sp>
        <p:nvSpPr>
          <p:cNvPr id="25" name="矩形 24"/>
          <p:cNvSpPr/>
          <p:nvPr>
            <p:custDataLst>
              <p:tags r:id="rId3"/>
            </p:custDataLst>
          </p:nvPr>
        </p:nvSpPr>
        <p:spPr>
          <a:xfrm>
            <a:off x="2453640" y="0"/>
            <a:ext cx="2466340" cy="664210"/>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解决方案</a:t>
            </a:r>
          </a:p>
        </p:txBody>
      </p:sp>
      <p:sp>
        <p:nvSpPr>
          <p:cNvPr id="7" name="文本框 6"/>
          <p:cNvSpPr txBox="1"/>
          <p:nvPr/>
        </p:nvSpPr>
        <p:spPr>
          <a:xfrm>
            <a:off x="329565" y="880110"/>
            <a:ext cx="6635750" cy="398780"/>
          </a:xfrm>
          <a:prstGeom prst="rect">
            <a:avLst/>
          </a:prstGeom>
          <a:noFill/>
        </p:spPr>
        <p:txBody>
          <a:bodyPr wrap="square" rtlCol="0" anchor="t">
            <a:spAutoFit/>
          </a:bodyPr>
          <a:lstStyle/>
          <a:p>
            <a:pPr marL="342900" indent="-342900">
              <a:buClr>
                <a:schemeClr val="accent1"/>
              </a:buClr>
              <a:buFont typeface="Wingdings" panose="05000000000000000000" pitchFamily="2" charset="2"/>
              <a:buChar char="Ø"/>
            </a:pPr>
            <a:r>
              <a:rPr lang="zh-CN" altLang="en-US"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rPr>
              <a:t>两大核心组件：</a:t>
            </a:r>
            <a:r>
              <a:rPr lang="zh-CN" altLang="en-US" sz="2000" b="1" dirty="0">
                <a:solidFill>
                  <a:schemeClr val="accent1"/>
                </a:solidFill>
                <a:latin typeface="微软雅黑" panose="020B0503020204020204" pitchFamily="34" charset="-122"/>
                <a:ea typeface="微软雅黑" panose="020B0503020204020204" pitchFamily="34" charset="-122"/>
                <a:sym typeface="+mn-ea"/>
              </a:rPr>
              <a:t>文本引导的对抗训练和分布一致性校准</a:t>
            </a:r>
            <a:endParaRPr lang="zh-CN" altLang="en-US" sz="2000" b="1" kern="100" noProof="0" dirty="0">
              <a:ln>
                <a:noFill/>
              </a:ln>
              <a:solidFill>
                <a:schemeClr val="accent1"/>
              </a:solidFill>
              <a:effectLst/>
              <a:uLnTx/>
              <a:uFillTx/>
              <a:latin typeface="微软雅黑" panose="020B0503020204020204" pitchFamily="34" charset="-122"/>
              <a:ea typeface="微软雅黑" panose="020B0503020204020204" pitchFamily="34" charset="-122"/>
              <a:cs typeface="Times New Roman" panose="02020503050405090304" charset="0"/>
              <a:sym typeface="+mn-ea"/>
            </a:endParaRPr>
          </a:p>
        </p:txBody>
      </p:sp>
      <p:sp>
        <p:nvSpPr>
          <p:cNvPr id="12" name="矩形 11"/>
          <p:cNvSpPr/>
          <p:nvPr>
            <p:custDataLst>
              <p:tags r:id="rId4"/>
            </p:custDataLst>
          </p:nvPr>
        </p:nvSpPr>
        <p:spPr>
          <a:xfrm>
            <a:off x="1797685" y="1525270"/>
            <a:ext cx="2623185" cy="516255"/>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zh-CN" altLang="en-US" b="1" dirty="0">
                <a:ln w="12700">
                  <a:noFill/>
                </a:ln>
                <a:solidFill>
                  <a:schemeClr val="bg1">
                    <a:alpha val="100000"/>
                  </a:schemeClr>
                </a:solidFill>
                <a:latin typeface="微软雅黑" panose="020B0503020204020204" pitchFamily="34" charset="-122"/>
                <a:ea typeface="微软雅黑" panose="020B0503020204020204" pitchFamily="34" charset="-122"/>
                <a:cs typeface="Source Han Sans CN Bold" panose="020B0800000000000000" charset="-122"/>
                <a:sym typeface="+mn-ea"/>
              </a:rPr>
              <a:t>文本引导的对抗训练</a:t>
            </a:r>
          </a:p>
        </p:txBody>
      </p:sp>
      <p:pic>
        <p:nvPicPr>
          <p:cNvPr id="4" name="图片 3"/>
          <p:cNvPicPr>
            <a:picLocks noChangeAspect="1"/>
          </p:cNvPicPr>
          <p:nvPr/>
        </p:nvPicPr>
        <p:blipFill>
          <a:blip r:embed="rId10"/>
          <a:stretch>
            <a:fillRect/>
          </a:stretch>
        </p:blipFill>
        <p:spPr>
          <a:xfrm>
            <a:off x="1264920" y="2902585"/>
            <a:ext cx="3858895" cy="829310"/>
          </a:xfrm>
          <a:prstGeom prst="rect">
            <a:avLst/>
          </a:prstGeom>
        </p:spPr>
      </p:pic>
      <p:sp>
        <p:nvSpPr>
          <p:cNvPr id="9" name="矩形: 圆角 17"/>
          <p:cNvSpPr/>
          <p:nvPr>
            <p:custDataLst>
              <p:tags r:id="rId5"/>
            </p:custDataLst>
          </p:nvPr>
        </p:nvSpPr>
        <p:spPr>
          <a:xfrm>
            <a:off x="6772275" y="1463675"/>
            <a:ext cx="5118735" cy="489267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indent="0" algn="l">
              <a:lnSpc>
                <a:spcPct val="150000"/>
              </a:lnSpc>
              <a:buFont typeface="Wingdings" panose="05000000000000000000" charset="0"/>
              <a:buNone/>
            </a:pPr>
            <a:endPar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矩形 9"/>
          <p:cNvSpPr/>
          <p:nvPr>
            <p:custDataLst>
              <p:tags r:id="rId6"/>
            </p:custDataLst>
          </p:nvPr>
        </p:nvSpPr>
        <p:spPr>
          <a:xfrm>
            <a:off x="8108950" y="1525270"/>
            <a:ext cx="2623185" cy="518160"/>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zh-CN" altLang="en-US" b="1" dirty="0">
                <a:ln w="12700">
                  <a:noFill/>
                </a:ln>
                <a:solidFill>
                  <a:schemeClr val="bg1">
                    <a:alpha val="100000"/>
                  </a:schemeClr>
                </a:solidFill>
                <a:latin typeface="微软雅黑" panose="020B0503020204020204" pitchFamily="34" charset="-122"/>
                <a:ea typeface="微软雅黑" panose="020B0503020204020204" pitchFamily="34" charset="-122"/>
                <a:cs typeface="Source Han Sans CN Bold" panose="020B0800000000000000" charset="-122"/>
                <a:sym typeface="+mn-ea"/>
              </a:rPr>
              <a:t>分布一致性校准</a:t>
            </a:r>
          </a:p>
        </p:txBody>
      </p:sp>
      <p:sp>
        <p:nvSpPr>
          <p:cNvPr id="102" name="矩形: 圆角 359"/>
          <p:cNvSpPr/>
          <p:nvPr/>
        </p:nvSpPr>
        <p:spPr>
          <a:xfrm>
            <a:off x="880110" y="2904490"/>
            <a:ext cx="4458970" cy="749300"/>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cxnSp>
        <p:nvCxnSpPr>
          <p:cNvPr id="19" name="直接箭头连接符 18"/>
          <p:cNvCxnSpPr>
            <a:stCxn id="48" idx="3"/>
            <a:endCxn id="9" idx="1"/>
          </p:cNvCxnSpPr>
          <p:nvPr>
            <p:custDataLst>
              <p:tags r:id="rId7"/>
            </p:custDataLst>
          </p:nvPr>
        </p:nvCxnSpPr>
        <p:spPr>
          <a:xfrm flipV="1">
            <a:off x="5339063" y="3910298"/>
            <a:ext cx="1433195" cy="1206500"/>
          </a:xfrm>
          <a:prstGeom prst="straightConnector1">
            <a:avLst/>
          </a:prstGeom>
          <a:ln w="76200">
            <a:solidFill>
              <a:schemeClr val="accent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7038975" y="2041525"/>
            <a:ext cx="4799330" cy="730885"/>
          </a:xfrm>
          <a:prstGeom prst="rect">
            <a:avLst/>
          </a:prstGeom>
        </p:spPr>
        <p:txBody>
          <a:bodyPr wrap="square">
            <a:spAutoFit/>
          </a:bodyPr>
          <a:lstStyle/>
          <a:p>
            <a:pPr marL="0" indent="0">
              <a:lnSpc>
                <a:spcPct val="130000"/>
              </a:lnSpc>
            </a:pPr>
            <a:r>
              <a:rPr lang="zh-CN" altLang="en-US" sz="1600" b="1" i="0">
                <a:solidFill>
                  <a:srgbClr val="0F1115"/>
                </a:solidFill>
                <a:latin typeface="微软雅黑" panose="020B0503020204020204" pitchFamily="34" charset="-122"/>
                <a:ea typeface="微软雅黑" panose="020B0503020204020204" pitchFamily="34" charset="-122"/>
              </a:rPr>
              <a:t>校准的目标是保持图像与多个文本之间的</a:t>
            </a:r>
            <a:r>
              <a:rPr lang="zh-CN" altLang="en-US" sz="1600" b="1" i="0">
                <a:solidFill>
                  <a:srgbClr val="FF0000"/>
                </a:solidFill>
                <a:latin typeface="微软雅黑" panose="020B0503020204020204" pitchFamily="34" charset="-122"/>
                <a:ea typeface="微软雅黑" panose="020B0503020204020204" pitchFamily="34" charset="-122"/>
              </a:rPr>
              <a:t>相对语义关系一致</a:t>
            </a:r>
            <a:r>
              <a:rPr lang="zh-CN" altLang="en-US" sz="1600" b="1" i="0">
                <a:solidFill>
                  <a:srgbClr val="0F1115"/>
                </a:solidFill>
                <a:latin typeface="微软雅黑" panose="020B0503020204020204" pitchFamily="34" charset="-122"/>
                <a:ea typeface="微软雅黑" panose="020B0503020204020204" pitchFamily="34" charset="-122"/>
              </a:rPr>
              <a:t>，但允许</a:t>
            </a:r>
            <a:r>
              <a:rPr lang="zh-CN" altLang="en-US" sz="1600" b="1" i="0">
                <a:solidFill>
                  <a:srgbClr val="FF0000"/>
                </a:solidFill>
                <a:latin typeface="微软雅黑" panose="020B0503020204020204" pitchFamily="34" charset="-122"/>
                <a:ea typeface="微软雅黑" panose="020B0503020204020204" pitchFamily="34" charset="-122"/>
              </a:rPr>
              <a:t>置信度尺度灵活调整</a:t>
            </a:r>
          </a:p>
        </p:txBody>
      </p:sp>
      <p:pic>
        <p:nvPicPr>
          <p:cNvPr id="22" name="图片 21"/>
          <p:cNvPicPr>
            <a:picLocks noChangeAspect="1"/>
          </p:cNvPicPr>
          <p:nvPr/>
        </p:nvPicPr>
        <p:blipFill>
          <a:blip r:embed="rId11"/>
          <a:stretch>
            <a:fillRect/>
          </a:stretch>
        </p:blipFill>
        <p:spPr>
          <a:xfrm>
            <a:off x="7878445" y="2754630"/>
            <a:ext cx="3084195" cy="713740"/>
          </a:xfrm>
          <a:prstGeom prst="rect">
            <a:avLst/>
          </a:prstGeom>
        </p:spPr>
      </p:pic>
      <p:sp>
        <p:nvSpPr>
          <p:cNvPr id="23" name="矩形: 圆角 359"/>
          <p:cNvSpPr/>
          <p:nvPr/>
        </p:nvSpPr>
        <p:spPr>
          <a:xfrm>
            <a:off x="7200265" y="2754630"/>
            <a:ext cx="4330700" cy="721360"/>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7038975" y="3848100"/>
            <a:ext cx="4726305" cy="681355"/>
          </a:xfrm>
          <a:prstGeom prst="rect">
            <a:avLst/>
          </a:prstGeom>
        </p:spPr>
        <p:txBody>
          <a:bodyPr wrap="square">
            <a:spAutoFit/>
          </a:bodyPr>
          <a:lstStyle/>
          <a:p>
            <a:pPr marL="0" indent="0">
              <a:lnSpc>
                <a:spcPct val="120000"/>
              </a:lnSpc>
            </a:pPr>
            <a:r>
              <a:rPr lang="zh-CN" altLang="en-US" sz="1600" b="1" i="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温度缩放校准：</a:t>
            </a:r>
            <a:r>
              <a:rPr lang="zh-CN" altLang="en-US" sz="16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引入缩放温度</a:t>
            </a:r>
            <a:r>
              <a:rPr lang="en-US" altLang="zh-CN" sz="16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，降低过度自信的预测，使目标分布匹配鲁棒特征空间</a:t>
            </a:r>
          </a:p>
        </p:txBody>
      </p:sp>
      <p:pic>
        <p:nvPicPr>
          <p:cNvPr id="28" name="图片 27"/>
          <p:cNvPicPr>
            <a:picLocks noChangeAspect="1"/>
          </p:cNvPicPr>
          <p:nvPr/>
        </p:nvPicPr>
        <p:blipFill>
          <a:blip r:embed="rId12"/>
          <a:stretch>
            <a:fillRect/>
          </a:stretch>
        </p:blipFill>
        <p:spPr>
          <a:xfrm>
            <a:off x="7343775" y="4560570"/>
            <a:ext cx="4043680" cy="702945"/>
          </a:xfrm>
          <a:prstGeom prst="rect">
            <a:avLst/>
          </a:prstGeom>
        </p:spPr>
      </p:pic>
      <p:sp>
        <p:nvSpPr>
          <p:cNvPr id="29" name="文本框 28"/>
          <p:cNvSpPr txBox="1"/>
          <p:nvPr/>
        </p:nvSpPr>
        <p:spPr>
          <a:xfrm>
            <a:off x="774065" y="2068830"/>
            <a:ext cx="4670425" cy="1050925"/>
          </a:xfrm>
          <a:prstGeom prst="rect">
            <a:avLst/>
          </a:prstGeom>
          <a:noFill/>
        </p:spPr>
        <p:txBody>
          <a:bodyPr wrap="square" rtlCol="0">
            <a:spAutoFit/>
          </a:bodyPr>
          <a:lstStyle/>
          <a:p>
            <a:pPr indent="0" algn="ctr">
              <a:lnSpc>
                <a:spcPct val="130000"/>
              </a:lnSpc>
              <a:buFont typeface="Wingdings" panose="05000000000000000000" charset="0"/>
              <a:buNone/>
            </a:pP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用预训练 </a:t>
            </a:r>
            <a:r>
              <a:rPr lang="en-US" altLang="zh-CN"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CLIP </a:t>
            </a: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的概率预测作为软监督，</a:t>
            </a:r>
          </a:p>
          <a:p>
            <a:pPr indent="0" algn="ctr">
              <a:lnSpc>
                <a:spcPct val="130000"/>
              </a:lnSpc>
              <a:buFont typeface="Wingdings" panose="05000000000000000000" charset="0"/>
              <a:buNone/>
            </a:pPr>
            <a:r>
              <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替代硬标签，保留跨模态相似性</a:t>
            </a:r>
          </a:p>
          <a:p>
            <a:pPr>
              <a:lnSpc>
                <a:spcPct val="130000"/>
              </a:lnSpc>
            </a:pPr>
            <a:endParaRPr lang="zh-CN" altLang="en-US" sz="16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 name="矩形: 圆角 359"/>
          <p:cNvSpPr/>
          <p:nvPr/>
        </p:nvSpPr>
        <p:spPr>
          <a:xfrm>
            <a:off x="7215505" y="4543425"/>
            <a:ext cx="4330065" cy="744220"/>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7038975" y="5294630"/>
            <a:ext cx="1688465" cy="360045"/>
          </a:xfrm>
          <a:prstGeom prst="rect">
            <a:avLst/>
          </a:prstGeom>
          <a:noFill/>
        </p:spPr>
        <p:txBody>
          <a:bodyPr wrap="square" rtlCol="0">
            <a:noAutofit/>
          </a:bodyPr>
          <a:lstStyle/>
          <a:p>
            <a:r>
              <a:rPr lang="zh-CN" altLang="en-US" sz="1600" b="1">
                <a:latin typeface="微软雅黑" panose="020B0503020204020204" pitchFamily="34" charset="-122"/>
                <a:ea typeface="微软雅黑" panose="020B0503020204020204" pitchFamily="34" charset="-122"/>
              </a:rPr>
              <a:t>最终目标函数</a:t>
            </a:r>
          </a:p>
        </p:txBody>
      </p:sp>
      <p:pic>
        <p:nvPicPr>
          <p:cNvPr id="32" name="图片 31"/>
          <p:cNvPicPr>
            <a:picLocks noChangeAspect="1"/>
          </p:cNvPicPr>
          <p:nvPr/>
        </p:nvPicPr>
        <p:blipFill>
          <a:blip r:embed="rId13"/>
          <a:stretch>
            <a:fillRect/>
          </a:stretch>
        </p:blipFill>
        <p:spPr>
          <a:xfrm>
            <a:off x="7809230" y="5571490"/>
            <a:ext cx="3529330" cy="619760"/>
          </a:xfrm>
          <a:prstGeom prst="rect">
            <a:avLst/>
          </a:prstGeom>
        </p:spPr>
      </p:pic>
      <p:sp>
        <p:nvSpPr>
          <p:cNvPr id="33" name="矩形: 圆角 359"/>
          <p:cNvSpPr/>
          <p:nvPr/>
        </p:nvSpPr>
        <p:spPr>
          <a:xfrm>
            <a:off x="7215505" y="5602605"/>
            <a:ext cx="4329430" cy="588010"/>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55000"/>
              </a:lnSpc>
              <a:buClr>
                <a:srgbClr val="9B0000"/>
              </a:buClr>
              <a:buFont typeface="Arial" panose="020B0604020202090204" pitchFamily="34" charset="0"/>
              <a:buChar char="•"/>
            </a:pPr>
            <a:endParaRPr lang="zh-CN" altLang="en-US" sz="1600" b="1" dirty="0">
              <a:solidFill>
                <a:srgbClr val="0070C0"/>
              </a:solidFill>
              <a:latin typeface="微软雅黑" panose="020B0503020204020204" pitchFamily="34" charset="-122"/>
              <a:ea typeface="微软雅黑" panose="020B0503020204020204" pitchFamily="34" charset="-122"/>
            </a:endParaRPr>
          </a:p>
        </p:txBody>
      </p:sp>
      <p:pic>
        <p:nvPicPr>
          <p:cNvPr id="34" name="图片 33"/>
          <p:cNvPicPr>
            <a:picLocks noChangeAspect="1"/>
          </p:cNvPicPr>
          <p:nvPr/>
        </p:nvPicPr>
        <p:blipFill>
          <a:blip r:embed="rId14"/>
          <a:stretch>
            <a:fillRect/>
          </a:stretch>
        </p:blipFill>
        <p:spPr>
          <a:xfrm>
            <a:off x="9836150" y="3858260"/>
            <a:ext cx="446405" cy="320675"/>
          </a:xfrm>
          <a:prstGeom prst="rect">
            <a:avLst/>
          </a:prstGeom>
        </p:spPr>
      </p:pic>
      <mc:AlternateContent xmlns:mc="http://schemas.openxmlformats.org/markup-compatibility/2006" xmlns:a14="http://schemas.microsoft.com/office/drawing/2010/main">
        <mc:Choice Requires="a14">
          <p:sp>
            <p:nvSpPr>
              <p:cNvPr id="48" name="矩形 47"/>
              <p:cNvSpPr/>
              <p:nvPr/>
            </p:nvSpPr>
            <p:spPr>
              <a:xfrm>
                <a:off x="880110" y="4091940"/>
                <a:ext cx="4458970" cy="20497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zh-CN" altLang="en-US" sz="1400" b="1" dirty="0">
                    <a:latin typeface="微软雅黑" panose="020B0503020204020204" pitchFamily="34" charset="-122"/>
                    <a:ea typeface="微软雅黑" panose="020B0503020204020204" pitchFamily="34" charset="-122"/>
                  </a:rPr>
                  <a:t>虽然文本引导的对抗训练已优于硬标签监督，但</a:t>
                </a:r>
                <a:r>
                  <a:rPr lang="zh-CN" altLang="en-US" sz="1400" b="1" dirty="0">
                    <a:solidFill>
                      <a:schemeClr val="bg2"/>
                    </a:solidFill>
                    <a:latin typeface="微软雅黑" panose="020B0503020204020204" pitchFamily="34" charset="-122"/>
                    <a:ea typeface="微软雅黑" panose="020B0503020204020204" pitchFamily="34" charset="-122"/>
                  </a:rPr>
                  <a:t>直接匹配</a:t>
                </a:r>
                <a14:m>
                  <m:oMath xmlns:m="http://schemas.openxmlformats.org/officeDocument/2006/math">
                    <m:sSub>
                      <m:sSubPr>
                        <m:ctrlPr>
                          <a:rPr lang="en-US" altLang="zh-CN" sz="1400" b="1" i="1" dirty="0">
                            <a:solidFill>
                              <a:schemeClr val="bg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1400" b="1" i="1" dirty="0">
                            <a:solidFill>
                              <a:schemeClr val="bg2"/>
                            </a:solidFill>
                            <a:latin typeface="Cambria Math" panose="02040503050406030204" charset="0"/>
                            <a:ea typeface="微软雅黑" panose="020B0503020204020204" pitchFamily="34" charset="-122"/>
                            <a:cs typeface="Cambria Math" panose="02040503050406030204" charset="0"/>
                          </a:rPr>
                          <m:t>𝒑</m:t>
                        </m:r>
                      </m:e>
                      <m:sub>
                        <m:r>
                          <a:rPr lang="en-US" altLang="zh-CN" sz="1400" b="1" i="1" dirty="0">
                            <a:solidFill>
                              <a:schemeClr val="bg2"/>
                            </a:solidFill>
                            <a:latin typeface="Cambria Math" panose="02040503050406030204" charset="0"/>
                            <a:ea typeface="微软雅黑" panose="020B0503020204020204" pitchFamily="34" charset="-122"/>
                            <a:cs typeface="Cambria Math" panose="02040503050406030204" charset="0"/>
                          </a:rPr>
                          <m:t>𝒐𝒓𝒊𝒈</m:t>
                        </m:r>
                      </m:sub>
                    </m:sSub>
                  </m:oMath>
                </a14:m>
                <a:r>
                  <a:rPr lang="zh-CN" altLang="en-US" sz="1400" b="1" dirty="0">
                    <a:solidFill>
                      <a:schemeClr val="bg2"/>
                    </a:solidFill>
                    <a:latin typeface="微软雅黑" panose="020B0503020204020204" pitchFamily="34" charset="-122"/>
                    <a:ea typeface="微软雅黑" panose="020B0503020204020204" pitchFamily="34" charset="-122"/>
                  </a:rPr>
                  <a:t>仍非最优</a:t>
                </a:r>
                <a:r>
                  <a:rPr lang="zh-CN" altLang="en-US" sz="1400" b="1"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1400" b="1" i="1" dirty="0">
                            <a:solidFill>
                              <a:schemeClr val="bg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1400" b="1" i="1" dirty="0">
                            <a:solidFill>
                              <a:schemeClr val="bg2"/>
                            </a:solidFill>
                            <a:latin typeface="Cambria Math" panose="02040503050406030204" charset="0"/>
                            <a:ea typeface="微软雅黑" panose="020B0503020204020204" pitchFamily="34" charset="-122"/>
                            <a:cs typeface="Cambria Math" panose="02040503050406030204" charset="0"/>
                          </a:rPr>
                          <m:t>𝒑</m:t>
                        </m:r>
                      </m:e>
                      <m:sub>
                        <m:r>
                          <a:rPr lang="en-US" altLang="zh-CN" sz="1400" b="1" i="1" dirty="0">
                            <a:solidFill>
                              <a:schemeClr val="bg2"/>
                            </a:solidFill>
                            <a:latin typeface="Cambria Math" panose="02040503050406030204" charset="0"/>
                            <a:ea typeface="微软雅黑" panose="020B0503020204020204" pitchFamily="34" charset="-122"/>
                            <a:cs typeface="Cambria Math" panose="02040503050406030204" charset="0"/>
                          </a:rPr>
                          <m:t>𝒐𝒓𝒊𝒈</m:t>
                        </m:r>
                      </m:sub>
                    </m:sSub>
                  </m:oMath>
                </a14:m>
                <a:r>
                  <a:rPr lang="zh-CN" altLang="en-US" sz="1400" b="1" dirty="0">
                    <a:solidFill>
                      <a:schemeClr val="bg2"/>
                    </a:solidFill>
                    <a:latin typeface="微软雅黑" panose="020B0503020204020204" pitchFamily="34" charset="-122"/>
                    <a:ea typeface="微软雅黑" panose="020B0503020204020204" pitchFamily="34" charset="-122"/>
                  </a:rPr>
                  <a:t>同时包含相似性结构（各类别的排名和相对比例）和置信度尺度（绝对数值大小）两个因素</a:t>
                </a:r>
                <a:r>
                  <a:rPr lang="zh-CN" altLang="en-US" sz="1400" b="1" dirty="0">
                    <a:latin typeface="微软雅黑" panose="020B0503020204020204" pitchFamily="34" charset="-122"/>
                    <a:ea typeface="微软雅黑" panose="020B0503020204020204" pitchFamily="34" charset="-122"/>
                  </a:rPr>
                  <a:t>。前者期望被保留，后者却可能不适配鲁棒特征空间，强行匹配易导致过拟合，进而扭曲特征空间，反而干扰跨模态对齐的保留。</a:t>
                </a:r>
              </a:p>
            </p:txBody>
          </p:sp>
        </mc:Choice>
        <mc:Fallback xmlns="">
          <p:sp>
            <p:nvSpPr>
              <p:cNvPr id="48" name="矩形 47"/>
              <p:cNvSpPr>
                <a:spLocks noRot="1" noChangeAspect="1" noMove="1" noResize="1" noEditPoints="1" noAdjustHandles="1" noChangeArrowheads="1" noChangeShapeType="1" noTextEdit="1"/>
              </p:cNvSpPr>
              <p:nvPr/>
            </p:nvSpPr>
            <p:spPr>
              <a:xfrm>
                <a:off x="880110" y="4091940"/>
                <a:ext cx="4458970" cy="2049780"/>
              </a:xfrm>
              <a:prstGeom prst="rect">
                <a:avLst/>
              </a:prstGeom>
              <a:blipFill rotWithShape="1">
                <a:blip r:embed="rId1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5" name="文本框 4"/>
          <p:cNvSpPr txBox="1"/>
          <p:nvPr/>
        </p:nvSpPr>
        <p:spPr>
          <a:xfrm>
            <a:off x="880110" y="3669030"/>
            <a:ext cx="4512945" cy="368300"/>
          </a:xfrm>
          <a:prstGeom prst="rect">
            <a:avLst/>
          </a:prstGeom>
          <a:noFill/>
        </p:spPr>
        <p:txBody>
          <a:bodyPr wrap="square" rtlCol="0">
            <a:noAutofit/>
          </a:bodyPr>
          <a:lstStyle/>
          <a:p>
            <a:r>
              <a:rPr lang="en-US" altLang="zh-CN"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未经过对抗攻击的预训练模型对图文相似度的概率预测</a:t>
            </a:r>
          </a:p>
        </p:txBody>
      </p:sp>
      <p:sp>
        <p:nvSpPr>
          <p:cNvPr id="6" name="文本框 5"/>
          <p:cNvSpPr txBox="1"/>
          <p:nvPr/>
        </p:nvSpPr>
        <p:spPr>
          <a:xfrm>
            <a:off x="7200265" y="3432175"/>
            <a:ext cx="4064000" cy="460375"/>
          </a:xfrm>
          <a:prstGeom prst="rect">
            <a:avLst/>
          </a:prstGeom>
          <a:noFill/>
        </p:spPr>
        <p:txBody>
          <a:bodyPr wrap="square" rtlCol="0">
            <a:spAutoFit/>
          </a:bodyPr>
          <a:lstStyle/>
          <a:p>
            <a:r>
              <a:rPr lang="en-US" altLang="zh-CN" sz="1200">
                <a:solidFill>
                  <a:srgbClr val="0070C0"/>
                </a:solidFill>
              </a:rPr>
              <a:t>* </a:t>
            </a:r>
            <a:r>
              <a:rPr lang="zh-CN" altLang="en-US" sz="1200">
                <a:solidFill>
                  <a:srgbClr val="0070C0"/>
                </a:solidFill>
              </a:rPr>
              <a:t>鲁棒模型（</a:t>
            </a:r>
            <a:r>
              <a:rPr lang="en-US" altLang="zh-CN" sz="1200">
                <a:solidFill>
                  <a:srgbClr val="0070C0"/>
                </a:solidFill>
              </a:rPr>
              <a:t>rob</a:t>
            </a:r>
            <a:r>
              <a:rPr lang="zh-CN" altLang="en-US" sz="1200">
                <a:solidFill>
                  <a:srgbClr val="0070C0"/>
                </a:solidFill>
              </a:rPr>
              <a:t>）输出的相对语义关系（即各个类别的排名与相对比例）要与原始模型（</a:t>
            </a:r>
            <a:r>
              <a:rPr lang="en-US" altLang="zh-CN" sz="1200">
                <a:solidFill>
                  <a:srgbClr val="0070C0"/>
                </a:solidFill>
              </a:rPr>
              <a:t>orig</a:t>
            </a:r>
            <a:r>
              <a:rPr lang="zh-CN" altLang="en-US" sz="1200">
                <a:solidFill>
                  <a:srgbClr val="0070C0"/>
                </a:solidFill>
              </a:rPr>
              <a:t>）保持一致</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矩形: 圆角 359"/>
          <p:cNvSpPr/>
          <p:nvPr/>
        </p:nvSpPr>
        <p:spPr>
          <a:xfrm>
            <a:off x="259080" y="1064895"/>
            <a:ext cx="11677650" cy="782320"/>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nSpc>
                <a:spcPct val="125000"/>
              </a:lnSpc>
              <a:buClr>
                <a:srgbClr val="9B0000"/>
              </a:buClr>
              <a:buFont typeface="Arial" panose="020B0604020202090204" pitchFamily="34" charset="0"/>
              <a:buNone/>
            </a:pPr>
            <a:r>
              <a:rPr lang="zh-CN" altLang="en-US" sz="2000" b="1" dirty="0">
                <a:solidFill>
                  <a:schemeClr val="accent1"/>
                </a:solidFill>
                <a:latin typeface="微软雅黑" panose="020B0503020204020204" pitchFamily="34" charset="-122"/>
                <a:ea typeface="微软雅黑" panose="020B0503020204020204" pitchFamily="34" charset="-122"/>
              </a:rPr>
              <a:t>从</a:t>
            </a:r>
            <a:r>
              <a:rPr lang="zh-CN" altLang="en-US" sz="2400" b="1" dirty="0">
                <a:gradFill>
                  <a:gsLst>
                    <a:gs pos="51300">
                      <a:srgbClr val="FE5F4A"/>
                    </a:gs>
                    <a:gs pos="0">
                      <a:srgbClr val="DF0303"/>
                    </a:gs>
                    <a:gs pos="100000">
                      <a:srgbClr val="FEA06E"/>
                    </a:gs>
                  </a:gsLst>
                  <a:lin ang="5400000" scaled="1"/>
                </a:gradFill>
                <a:latin typeface="微软雅黑" panose="020B0503020204020204" pitchFamily="34" charset="-122"/>
                <a:ea typeface="微软雅黑" panose="020B0503020204020204" pitchFamily="34" charset="-122"/>
                <a:sym typeface="+mn-ea"/>
              </a:rPr>
              <a:t>对齐引导</a:t>
            </a:r>
            <a:r>
              <a:rPr lang="zh-CN" altLang="en-US" sz="2000" b="1" dirty="0">
                <a:solidFill>
                  <a:schemeClr val="accent1"/>
                </a:solidFill>
                <a:latin typeface="微软雅黑" panose="020B0503020204020204" pitchFamily="34" charset="-122"/>
                <a:ea typeface="微软雅黑" panose="020B0503020204020204" pitchFamily="34" charset="-122"/>
              </a:rPr>
              <a:t>而非</a:t>
            </a:r>
            <a:r>
              <a:rPr lang="zh-CN" altLang="en-US" sz="2000" b="1" dirty="0">
                <a:solidFill>
                  <a:srgbClr val="0070C0"/>
                </a:solidFill>
                <a:latin typeface="微软雅黑" panose="020B0503020204020204" pitchFamily="34" charset="-122"/>
                <a:ea typeface="微软雅黑" panose="020B0503020204020204" pitchFamily="34" charset="-122"/>
              </a:rPr>
              <a:t>分类引导</a:t>
            </a:r>
            <a:r>
              <a:rPr lang="zh-CN" altLang="en-US" sz="2000" b="1" dirty="0">
                <a:solidFill>
                  <a:schemeClr val="accent1"/>
                </a:solidFill>
                <a:latin typeface="微软雅黑" panose="020B0503020204020204" pitchFamily="34" charset="-122"/>
                <a:ea typeface="微软雅黑" panose="020B0503020204020204" pitchFamily="34" charset="-122"/>
              </a:rPr>
              <a:t>的视角重新审视</a:t>
            </a:r>
            <a:r>
              <a:rPr lang="en-US" altLang="zh-CN" sz="2000" b="1" dirty="0">
                <a:solidFill>
                  <a:schemeClr val="accent1"/>
                </a:solidFill>
                <a:latin typeface="微软雅黑" panose="020B0503020204020204" pitchFamily="34" charset="-122"/>
                <a:ea typeface="微软雅黑" panose="020B0503020204020204" pitchFamily="34" charset="-122"/>
              </a:rPr>
              <a:t>ZSAR</a:t>
            </a:r>
            <a:r>
              <a:rPr lang="zh-CN" altLang="en-US" sz="2000" b="1" dirty="0">
                <a:solidFill>
                  <a:schemeClr val="accent1"/>
                </a:solidFill>
                <a:latin typeface="微软雅黑" panose="020B0503020204020204" pitchFamily="34" charset="-122"/>
                <a:ea typeface="微软雅黑" panose="020B0503020204020204" pitchFamily="34" charset="-122"/>
              </a:rPr>
              <a:t>问题，指出</a:t>
            </a:r>
            <a:r>
              <a:rPr lang="zh-CN" altLang="en-US" sz="2400" b="1" dirty="0">
                <a:gradFill>
                  <a:gsLst>
                    <a:gs pos="51300">
                      <a:srgbClr val="FE5F4A"/>
                    </a:gs>
                    <a:gs pos="0">
                      <a:srgbClr val="DF0303"/>
                    </a:gs>
                    <a:gs pos="100000">
                      <a:srgbClr val="FEA06E"/>
                    </a:gs>
                  </a:gsLst>
                  <a:lin ang="5400000" scaled="1"/>
                </a:gradFill>
                <a:latin typeface="微软雅黑" panose="020B0503020204020204" pitchFamily="34" charset="-122"/>
                <a:ea typeface="微软雅黑" panose="020B0503020204020204" pitchFamily="34" charset="-122"/>
                <a:sym typeface="+mn-ea"/>
              </a:rPr>
              <a:t>跨模态对齐的保留</a:t>
            </a:r>
            <a:r>
              <a:rPr lang="zh-CN" altLang="en-US" sz="2000" b="1" dirty="0">
                <a:solidFill>
                  <a:schemeClr val="accent1"/>
                </a:solidFill>
                <a:latin typeface="微软雅黑" panose="020B0503020204020204" pitchFamily="34" charset="-122"/>
                <a:ea typeface="微软雅黑" panose="020B0503020204020204" pitchFamily="34" charset="-122"/>
              </a:rPr>
              <a:t>是零样本泛化的关键</a:t>
            </a:r>
          </a:p>
        </p:txBody>
      </p:sp>
      <p:sp>
        <p:nvSpPr>
          <p:cNvPr id="4" name="矩形 3"/>
          <p:cNvSpPr/>
          <p:nvPr/>
        </p:nvSpPr>
        <p:spPr>
          <a:xfrm>
            <a:off x="4883785" y="0"/>
            <a:ext cx="2372995" cy="664210"/>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核心创新点</a:t>
            </a:r>
          </a:p>
        </p:txBody>
      </p:sp>
      <p:sp>
        <p:nvSpPr>
          <p:cNvPr id="2" name="矩形: 圆角 17"/>
          <p:cNvSpPr/>
          <p:nvPr>
            <p:custDataLst>
              <p:tags r:id="rId2"/>
            </p:custDataLst>
          </p:nvPr>
        </p:nvSpPr>
        <p:spPr>
          <a:xfrm>
            <a:off x="325755" y="2055495"/>
            <a:ext cx="5104130" cy="448373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8" name="矩形 27"/>
              <p:cNvSpPr/>
              <p:nvPr>
                <p:custDataLst>
                  <p:tags r:id="rId3"/>
                </p:custDataLst>
              </p:nvPr>
            </p:nvSpPr>
            <p:spPr>
              <a:xfrm>
                <a:off x="518160" y="4111625"/>
                <a:ext cx="4692650" cy="2300605"/>
              </a:xfrm>
              <a:prstGeom prst="rect">
                <a:avLst/>
              </a:prstGeom>
              <a:solidFill>
                <a:schemeClr val="bg1">
                  <a:lumMod val="95000"/>
                  <a:alpha val="6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indent="0" algn="l">
                  <a:lnSpc>
                    <a:spcPct val="140000"/>
                  </a:lnSpc>
                  <a:buFont typeface="Wingdings" panose="05000000000000000000" charset="0"/>
                  <a:buNone/>
                </a:pPr>
                <a:r>
                  <a:rPr lang="zh-CN" altLang="en-US"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第一步：软分布替代硬标签</a:t>
                </a:r>
                <a:endParaRPr lang="en-US" altLang="zh-CN"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40000"/>
                  </a:lnSpc>
                  <a:buFont typeface="Wingdings" panose="05000000000000000000" charset="0"/>
                  <a:buNone/>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用预训练模型的概率预测</a:t>
                </a:r>
                <a14:m>
                  <m:oMath xmlns:m="http://schemas.openxmlformats.org/officeDocument/2006/math">
                    <m:sSub>
                      <m:sSubPr>
                        <m:ctrlPr>
                          <a:rPr lang="en-US" altLang="zh-CN" sz="1600" b="1" i="1" dirty="0">
                            <a:solidFill>
                              <a:schemeClr val="tx1"/>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1600" b="1" i="1" dirty="0">
                            <a:solidFill>
                              <a:schemeClr val="tx1"/>
                            </a:solidFill>
                            <a:latin typeface="Cambria Math" panose="02040503050406030204" charset="0"/>
                            <a:ea typeface="微软雅黑" panose="020B0503020204020204" pitchFamily="34" charset="-122"/>
                            <a:cs typeface="Cambria Math" panose="02040503050406030204" charset="0"/>
                          </a:rPr>
                          <m:t>𝒑</m:t>
                        </m:r>
                      </m:e>
                      <m:sub>
                        <m:r>
                          <a:rPr lang="en-US" altLang="zh-CN" sz="1600" b="1" i="1" dirty="0">
                            <a:solidFill>
                              <a:schemeClr val="tx1"/>
                            </a:solidFill>
                            <a:latin typeface="Cambria Math" panose="02040503050406030204" charset="0"/>
                            <a:ea typeface="微软雅黑" panose="020B0503020204020204" pitchFamily="34" charset="-122"/>
                            <a:cs typeface="Cambria Math" panose="02040503050406030204" charset="0"/>
                          </a:rPr>
                          <m:t>𝒐𝒓𝒊𝒈</m:t>
                        </m:r>
                      </m:sub>
                    </m:sSub>
                  </m:oMath>
                </a14:m>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作为监督信号，保留图像与所有文本概念的细粒度相似性关系</a:t>
                </a:r>
                <a:endPar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40000"/>
                  </a:lnSpc>
                  <a:buFont typeface="Wingdings" panose="05000000000000000000" charset="0"/>
                  <a:buNone/>
                </a:pPr>
                <a:r>
                  <a:rPr lang="zh-CN" altLang="en-US" sz="16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第二步：温度缩放校准</a:t>
                </a:r>
              </a:p>
              <a:p>
                <a:pPr indent="0" algn="l">
                  <a:lnSpc>
                    <a:spcPct val="140000"/>
                  </a:lnSpc>
                  <a:buFont typeface="Wingdings" panose="05000000000000000000" charset="0"/>
                  <a:buNone/>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引入温度缩放比例</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γ，</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得到</a:t>
                </a:r>
                <a14:m>
                  <m:oMath xmlns:m="http://schemas.openxmlformats.org/officeDocument/2006/math">
                    <m:sSub>
                      <m:sSubPr>
                        <m:ctrlPr>
                          <a:rPr lang="en-US" altLang="zh-CN" sz="1600" b="1" i="1" dirty="0">
                            <a:solidFill>
                              <a:schemeClr val="tx1"/>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1600" b="1" i="1" dirty="0">
                            <a:solidFill>
                              <a:schemeClr val="tx1"/>
                            </a:solidFill>
                            <a:latin typeface="Cambria Math" panose="02040503050406030204" charset="0"/>
                            <a:ea typeface="微软雅黑" panose="020B0503020204020204" pitchFamily="34" charset="-122"/>
                            <a:cs typeface="Cambria Math" panose="02040503050406030204" charset="0"/>
                          </a:rPr>
                          <m:t>𝒑</m:t>
                        </m:r>
                      </m:e>
                      <m:sub>
                        <m:r>
                          <a:rPr lang="en-US" altLang="zh-CN" sz="1600" b="1" i="1" dirty="0">
                            <a:solidFill>
                              <a:schemeClr val="tx1"/>
                            </a:solidFill>
                            <a:latin typeface="Cambria Math" panose="02040503050406030204" charset="0"/>
                            <a:ea typeface="微软雅黑" panose="020B0503020204020204" pitchFamily="34" charset="-122"/>
                            <a:cs typeface="Cambria Math" panose="02040503050406030204" charset="0"/>
                          </a:rPr>
                          <m:t>𝒓𝒐𝒃</m:t>
                        </m:r>
                      </m:sub>
                    </m:sSub>
                  </m:oMath>
                </a14:m>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，解耦“相似性结构”与“置信度尺度”，使目标分布匹配鲁棒特征空间。</a:t>
                </a:r>
              </a:p>
            </p:txBody>
          </p:sp>
        </mc:Choice>
        <mc:Fallback xmlns="">
          <p:sp>
            <p:nvSpPr>
              <p:cNvPr id="28" name="矩形 27"/>
              <p:cNvSpPr>
                <a:spLocks noRot="1" noChangeAspect="1" noMove="1" noResize="1" noEditPoints="1" noAdjustHandles="1" noChangeArrowheads="1" noChangeShapeType="1" noTextEdit="1"/>
              </p:cNvSpPr>
              <p:nvPr>
                <p:custDataLst>
                  <p:tags r:id="rId8"/>
                </p:custDataLst>
              </p:nvPr>
            </p:nvSpPr>
            <p:spPr>
              <a:xfrm>
                <a:off x="518160" y="4111625"/>
                <a:ext cx="4692650" cy="2300605"/>
              </a:xfrm>
              <a:prstGeom prst="rect">
                <a:avLst/>
              </a:prstGeom>
              <a:blipFill rotWithShape="1">
                <a:blip r:embed="rId9"/>
                <a:stretch>
                  <a:fillRect r="-3924"/>
                </a:stretch>
              </a:blipFill>
              <a:ln w="28575">
                <a:noFill/>
              </a:ln>
            </p:spPr>
            <p:style>
              <a:lnRef idx="2">
                <a:schemeClr val="accent1">
                  <a:shade val="15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2" name="矩形 11"/>
          <p:cNvSpPr/>
          <p:nvPr>
            <p:custDataLst>
              <p:tags r:id="rId4"/>
            </p:custDataLst>
          </p:nvPr>
        </p:nvSpPr>
        <p:spPr>
          <a:xfrm>
            <a:off x="1945005" y="2152015"/>
            <a:ext cx="1753235" cy="393700"/>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zh-CN" altLang="en-US" b="1" dirty="0">
                <a:ln w="12700">
                  <a:noFill/>
                </a:ln>
                <a:solidFill>
                  <a:schemeClr val="bg1">
                    <a:alpha val="100000"/>
                  </a:schemeClr>
                </a:solidFill>
                <a:latin typeface="微软雅黑" panose="020B0503020204020204" pitchFamily="34" charset="-122"/>
                <a:ea typeface="微软雅黑" panose="020B0503020204020204" pitchFamily="34" charset="-122"/>
                <a:cs typeface="Source Han Sans CN Bold" panose="020B0800000000000000" charset="-122"/>
                <a:sym typeface="+mn-ea"/>
              </a:rPr>
              <a:t>方法创新</a:t>
            </a:r>
          </a:p>
        </p:txBody>
      </p:sp>
      <mc:AlternateContent xmlns:mc="http://schemas.openxmlformats.org/markup-compatibility/2006" xmlns:a14="http://schemas.microsoft.com/office/drawing/2010/main">
        <mc:Choice Requires="a14">
          <p:sp>
            <p:nvSpPr>
              <p:cNvPr id="5" name="文本框 4"/>
              <p:cNvSpPr txBox="1"/>
              <p:nvPr/>
            </p:nvSpPr>
            <p:spPr>
              <a:xfrm>
                <a:off x="431800" y="2545715"/>
                <a:ext cx="4779010" cy="1494155"/>
              </a:xfrm>
              <a:prstGeom prst="rect">
                <a:avLst/>
              </a:prstGeom>
              <a:noFill/>
            </p:spPr>
            <p:txBody>
              <a:bodyPr wrap="square" rtlCol="0">
                <a:spAutoFit/>
              </a:bodyPr>
              <a:lstStyle/>
              <a:p>
                <a:pPr algn="ctr">
                  <a:lnSpc>
                    <a:spcPct val="120000"/>
                  </a:lnSpc>
                </a:pP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用校准后的软分布</a:t>
                </a:r>
                <a14:m>
                  <m:oMath xmlns:m="http://schemas.openxmlformats.org/officeDocument/2006/math">
                    <m:sSub>
                      <m:sSubPr>
                        <m:ctrlPr>
                          <a:rPr lang="en-US" altLang="zh-CN" b="1" i="1" dirty="0">
                            <a:solidFill>
                              <a:srgbClr val="FF0000"/>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b="1" i="1" dirty="0">
                            <a:solidFill>
                              <a:srgbClr val="FF0000"/>
                            </a:solidFill>
                            <a:latin typeface="Cambria Math" panose="02040503050406030204" charset="0"/>
                            <a:ea typeface="微软雅黑" panose="020B0503020204020204" pitchFamily="34" charset="-122"/>
                            <a:cs typeface="Cambria Math" panose="02040503050406030204" charset="0"/>
                          </a:rPr>
                          <m:t>𝒑</m:t>
                        </m:r>
                      </m:e>
                      <m:sub>
                        <m:r>
                          <a:rPr lang="en-US" altLang="zh-CN" b="1" i="1" dirty="0">
                            <a:solidFill>
                              <a:srgbClr val="FF0000"/>
                            </a:solidFill>
                            <a:latin typeface="Cambria Math" panose="02040503050406030204" charset="0"/>
                            <a:ea typeface="微软雅黑" panose="020B0503020204020204" pitchFamily="34" charset="-122"/>
                            <a:cs typeface="Cambria Math" panose="02040503050406030204" charset="0"/>
                          </a:rPr>
                          <m:t>𝒓𝒐𝒃</m:t>
                        </m:r>
                      </m:sub>
                    </m:sSub>
                  </m:oMath>
                </a14:m>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替代硬标签</a:t>
                </a:r>
              </a:p>
              <a:p>
                <a:pPr algn="ctr">
                  <a:lnSpc>
                    <a:spcPct val="120000"/>
                  </a:lnSpc>
                </a:pP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作为对抗微调的监督信号</a:t>
                </a:r>
              </a:p>
              <a:p>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硬标签</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校准后的软分布</a:t>
                </a:r>
              </a:p>
            </p:txBody>
          </p:sp>
        </mc:Choice>
        <mc:Fallback xmlns="">
          <p:sp>
            <p:nvSpPr>
              <p:cNvPr id="5" name="文本框 4"/>
              <p:cNvSpPr txBox="1">
                <a:spLocks noRot="1" noChangeAspect="1" noMove="1" noResize="1" noEditPoints="1" noAdjustHandles="1" noChangeArrowheads="1" noChangeShapeType="1" noTextEdit="1"/>
              </p:cNvSpPr>
              <p:nvPr/>
            </p:nvSpPr>
            <p:spPr>
              <a:xfrm>
                <a:off x="431800" y="2545715"/>
                <a:ext cx="4779010" cy="1494155"/>
              </a:xfrm>
              <a:prstGeom prst="rect">
                <a:avLst/>
              </a:prstGeom>
              <a:blipFill rotWithShape="1">
                <a:blip r:embed="rId10"/>
                <a:stretch>
                  <a:fillRect/>
                </a:stretch>
              </a:blipFill>
            </p:spPr>
            <p:txBody>
              <a:bodyPr/>
              <a:lstStyle/>
              <a:p>
                <a:r>
                  <a:rPr lang="zh-CN" altLang="en-US">
                    <a:noFill/>
                  </a:rPr>
                  <a:t> </a:t>
                </a:r>
              </a:p>
            </p:txBody>
          </p:sp>
        </mc:Fallback>
      </mc:AlternateContent>
      <p:pic>
        <p:nvPicPr>
          <p:cNvPr id="8" name="图片 7"/>
          <p:cNvPicPr>
            <a:picLocks noChangeAspect="1"/>
          </p:cNvPicPr>
          <p:nvPr/>
        </p:nvPicPr>
        <p:blipFill>
          <a:blip r:embed="rId11"/>
          <a:stretch>
            <a:fillRect/>
          </a:stretch>
        </p:blipFill>
        <p:spPr>
          <a:xfrm>
            <a:off x="1096645" y="3359785"/>
            <a:ext cx="1036320" cy="361315"/>
          </a:xfrm>
          <a:prstGeom prst="rect">
            <a:avLst/>
          </a:prstGeom>
        </p:spPr>
      </p:pic>
      <p:pic>
        <p:nvPicPr>
          <p:cNvPr id="10" name="图片 9"/>
          <p:cNvPicPr>
            <a:picLocks noChangeAspect="1"/>
          </p:cNvPicPr>
          <p:nvPr/>
        </p:nvPicPr>
        <p:blipFill>
          <a:blip r:embed="rId12"/>
          <a:stretch>
            <a:fillRect/>
          </a:stretch>
        </p:blipFill>
        <p:spPr>
          <a:xfrm>
            <a:off x="3146425" y="3359785"/>
            <a:ext cx="1198880" cy="339725"/>
          </a:xfrm>
          <a:prstGeom prst="rect">
            <a:avLst/>
          </a:prstGeom>
        </p:spPr>
      </p:pic>
      <p:sp>
        <p:nvSpPr>
          <p:cNvPr id="11" name="矩形: 圆角 4"/>
          <p:cNvSpPr/>
          <p:nvPr/>
        </p:nvSpPr>
        <p:spPr>
          <a:xfrm>
            <a:off x="5688965" y="2055495"/>
            <a:ext cx="6247765" cy="4483100"/>
          </a:xfrm>
          <a:prstGeom prst="roundRect">
            <a:avLst>
              <a:gd name="adj" fmla="val 5160"/>
            </a:avLst>
          </a:prstGeom>
          <a:solidFill>
            <a:schemeClr val="bg1">
              <a:alpha val="30196"/>
            </a:schemeClr>
          </a:solidFill>
          <a:ln w="19050">
            <a:solidFill>
              <a:schemeClr val="accent1">
                <a:alpha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97" name="文本框 296"/>
          <p:cNvSpPr txBox="1"/>
          <p:nvPr/>
        </p:nvSpPr>
        <p:spPr>
          <a:xfrm>
            <a:off x="7783830" y="1929130"/>
            <a:ext cx="2356485" cy="228600"/>
          </a:xfrm>
          <a:prstGeom prst="rect">
            <a:avLst/>
          </a:prstGeom>
          <a:solidFill>
            <a:schemeClr val="bg1"/>
          </a:solidFill>
        </p:spPr>
        <p:txBody>
          <a:bodyPr wrap="square" rtlCol="0">
            <a:noAutofit/>
          </a:bodyPr>
          <a:lstStyle/>
          <a:p>
            <a:pPr algn="ct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与现有方法的区别</a:t>
            </a:r>
          </a:p>
        </p:txBody>
      </p:sp>
      <p:graphicFrame>
        <p:nvGraphicFramePr>
          <p:cNvPr id="13" name="表格 12"/>
          <p:cNvGraphicFramePr/>
          <p:nvPr>
            <p:custDataLst>
              <p:tags r:id="rId5"/>
            </p:custDataLst>
          </p:nvPr>
        </p:nvGraphicFramePr>
        <p:xfrm>
          <a:off x="5822950" y="2368550"/>
          <a:ext cx="5873115" cy="2594610"/>
        </p:xfrm>
        <a:graphic>
          <a:graphicData uri="http://schemas.openxmlformats.org/drawingml/2006/table">
            <a:tbl>
              <a:tblPr firstRow="1" bandRow="1">
                <a:tableStyleId>{5C22544A-7EE6-4342-B048-85BDC9FD1C3A}</a:tableStyleId>
              </a:tblPr>
              <a:tblGrid>
                <a:gridCol w="1389380">
                  <a:extLst>
                    <a:ext uri="{9D8B030D-6E8A-4147-A177-3AD203B41FA5}">
                      <a16:colId xmlns:a16="http://schemas.microsoft.com/office/drawing/2014/main" val="20000"/>
                    </a:ext>
                  </a:extLst>
                </a:gridCol>
                <a:gridCol w="1771015">
                  <a:extLst>
                    <a:ext uri="{9D8B030D-6E8A-4147-A177-3AD203B41FA5}">
                      <a16:colId xmlns:a16="http://schemas.microsoft.com/office/drawing/2014/main" val="20001"/>
                    </a:ext>
                  </a:extLst>
                </a:gridCol>
                <a:gridCol w="1198245">
                  <a:extLst>
                    <a:ext uri="{9D8B030D-6E8A-4147-A177-3AD203B41FA5}">
                      <a16:colId xmlns:a16="http://schemas.microsoft.com/office/drawing/2014/main" val="20002"/>
                    </a:ext>
                  </a:extLst>
                </a:gridCol>
                <a:gridCol w="1514475">
                  <a:extLst>
                    <a:ext uri="{9D8B030D-6E8A-4147-A177-3AD203B41FA5}">
                      <a16:colId xmlns:a16="http://schemas.microsoft.com/office/drawing/2014/main" val="20003"/>
                    </a:ext>
                  </a:extLst>
                </a:gridCol>
              </a:tblGrid>
              <a:tr h="451485">
                <a:tc>
                  <a:txBody>
                    <a:bodyPr/>
                    <a:lstStyle/>
                    <a:p>
                      <a:pPr algn="ctr">
                        <a:lnSpc>
                          <a:spcPts val="1250"/>
                        </a:lnSpc>
                      </a:pPr>
                      <a:r>
                        <a:rPr lang="zh-CN" altLang="en-US" sz="1400" b="1" i="0">
                          <a:solidFill>
                            <a:schemeClr val="bg1"/>
                          </a:solidFill>
                          <a:latin typeface="微软雅黑" panose="020B0503020204020204" pitchFamily="34" charset="-122"/>
                          <a:ea typeface="微软雅黑" panose="020B0503020204020204" pitchFamily="34" charset="-122"/>
                        </a:rPr>
                        <a:t>方法</a:t>
                      </a:r>
                    </a:p>
                  </a:txBody>
                  <a:tcPr marL="0" marR="101917" marT="63817" marB="63817" anchor="ctr"/>
                </a:tc>
                <a:tc>
                  <a:txBody>
                    <a:bodyPr/>
                    <a:lstStyle/>
                    <a:p>
                      <a:pPr algn="ctr">
                        <a:lnSpc>
                          <a:spcPts val="1250"/>
                        </a:lnSpc>
                      </a:pPr>
                      <a:r>
                        <a:rPr lang="zh-CN" altLang="en-US" sz="1400" b="1" i="0">
                          <a:solidFill>
                            <a:schemeClr val="bg1"/>
                          </a:solidFill>
                          <a:latin typeface="微软雅黑" panose="020B0503020204020204" pitchFamily="34" charset="-122"/>
                          <a:ea typeface="微软雅黑" panose="020B0503020204020204" pitchFamily="34" charset="-122"/>
                        </a:rPr>
                        <a:t>监督信号</a:t>
                      </a:r>
                    </a:p>
                  </a:txBody>
                  <a:tcPr marL="101917" marR="101917" marT="63817" marB="63817" anchor="ctr"/>
                </a:tc>
                <a:tc>
                  <a:txBody>
                    <a:bodyPr/>
                    <a:lstStyle/>
                    <a:p>
                      <a:pPr algn="ctr">
                        <a:lnSpc>
                          <a:spcPts val="1250"/>
                        </a:lnSpc>
                      </a:pPr>
                      <a:r>
                        <a:rPr lang="zh-CN" altLang="en-US" sz="1400" b="1" i="0">
                          <a:solidFill>
                            <a:schemeClr val="bg1"/>
                          </a:solidFill>
                          <a:latin typeface="微软雅黑" panose="020B0503020204020204" pitchFamily="34" charset="-122"/>
                          <a:ea typeface="微软雅黑" panose="020B0503020204020204" pitchFamily="34" charset="-122"/>
                        </a:rPr>
                        <a:t>跨模态对齐</a:t>
                      </a:r>
                    </a:p>
                  </a:txBody>
                  <a:tcPr marL="101917" marR="101917" marT="63817" marB="63817" anchor="ctr"/>
                </a:tc>
                <a:tc>
                  <a:txBody>
                    <a:bodyPr/>
                    <a:lstStyle/>
                    <a:p>
                      <a:pPr algn="ctr">
                        <a:lnSpc>
                          <a:spcPts val="1250"/>
                        </a:lnSpc>
                      </a:pPr>
                      <a:r>
                        <a:rPr lang="zh-CN" altLang="en-US" sz="1400" b="1" i="0">
                          <a:solidFill>
                            <a:schemeClr val="bg1"/>
                          </a:solidFill>
                          <a:latin typeface="微软雅黑" panose="020B0503020204020204" pitchFamily="34" charset="-122"/>
                          <a:ea typeface="微软雅黑" panose="020B0503020204020204" pitchFamily="34" charset="-122"/>
                        </a:rPr>
                        <a:t>零样本泛化</a:t>
                      </a:r>
                    </a:p>
                  </a:txBody>
                  <a:tcPr marL="101917" marR="101917" marT="63817" marB="63817" anchor="ctr"/>
                </a:tc>
                <a:extLst>
                  <a:ext uri="{0D108BD9-81ED-4DB2-BD59-A6C34878D82A}">
                    <a16:rowId xmlns:a16="http://schemas.microsoft.com/office/drawing/2014/main" val="10000"/>
                  </a:ext>
                </a:extLst>
              </a:tr>
              <a:tr h="428625">
                <a:tc>
                  <a:txBody>
                    <a:bodyPr/>
                    <a:lstStyle/>
                    <a:p>
                      <a:pPr algn="ctr">
                        <a:lnSpc>
                          <a:spcPts val="1250"/>
                        </a:lnSpc>
                      </a:pPr>
                      <a:r>
                        <a:rPr lang="en-US" altLang="zh-CN" sz="1400" b="0" i="0">
                          <a:solidFill>
                            <a:srgbClr val="0F1115"/>
                          </a:solidFill>
                          <a:latin typeface="微软雅黑" panose="020B0503020204020204" pitchFamily="34" charset="-122"/>
                          <a:ea typeface="微软雅黑" panose="020B0503020204020204" pitchFamily="34" charset="-122"/>
                        </a:rPr>
                        <a:t>TeCoA</a:t>
                      </a:r>
                    </a:p>
                  </a:txBody>
                  <a:tcPr marL="0"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rPr>
                        <a:t>硬标签</a:t>
                      </a:r>
                    </a:p>
                  </a:txBody>
                  <a:tcPr marL="101917"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rPr>
                        <a:t>破坏</a:t>
                      </a:r>
                    </a:p>
                  </a:txBody>
                  <a:tcPr marL="101917"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rPr>
                        <a:t>下降</a:t>
                      </a:r>
                    </a:p>
                  </a:txBody>
                  <a:tcPr marL="101917" marR="0" marT="63817" marB="63817" anchor="ctr"/>
                </a:tc>
                <a:extLst>
                  <a:ext uri="{0D108BD9-81ED-4DB2-BD59-A6C34878D82A}">
                    <a16:rowId xmlns:a16="http://schemas.microsoft.com/office/drawing/2014/main" val="10001"/>
                  </a:ext>
                </a:extLst>
              </a:tr>
              <a:tr h="428625">
                <a:tc>
                  <a:txBody>
                    <a:bodyPr/>
                    <a:lstStyle/>
                    <a:p>
                      <a:pPr algn="ctr">
                        <a:lnSpc>
                          <a:spcPts val="1250"/>
                        </a:lnSpc>
                      </a:pPr>
                      <a:r>
                        <a:rPr lang="en-US" altLang="zh-CN" sz="1400" b="0" i="0">
                          <a:solidFill>
                            <a:srgbClr val="0F1115"/>
                          </a:solidFill>
                          <a:latin typeface="微软雅黑" panose="020B0503020204020204" pitchFamily="34" charset="-122"/>
                          <a:ea typeface="微软雅黑" panose="020B0503020204020204" pitchFamily="34" charset="-122"/>
                        </a:rPr>
                        <a:t>PMG-AFT</a:t>
                      </a:r>
                    </a:p>
                  </a:txBody>
                  <a:tcPr marL="0"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硬标签</a:t>
                      </a:r>
                      <a:r>
                        <a:rPr lang="en-US" altLang="zh-CN" sz="14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辅助分支</a:t>
                      </a:r>
                    </a:p>
                  </a:txBody>
                  <a:tcPr marL="101917"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rPr>
                        <a:t>破坏</a:t>
                      </a:r>
                    </a:p>
                  </a:txBody>
                  <a:tcPr marL="101917"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rPr>
                        <a:t>下降但缓解</a:t>
                      </a:r>
                    </a:p>
                  </a:txBody>
                  <a:tcPr marL="101917" marR="0" marT="63817" marB="63817" anchor="ctr"/>
                </a:tc>
                <a:extLst>
                  <a:ext uri="{0D108BD9-81ED-4DB2-BD59-A6C34878D82A}">
                    <a16:rowId xmlns:a16="http://schemas.microsoft.com/office/drawing/2014/main" val="10002"/>
                  </a:ext>
                </a:extLst>
              </a:tr>
              <a:tr h="428625">
                <a:tc>
                  <a:txBody>
                    <a:bodyPr/>
                    <a:lstStyle/>
                    <a:p>
                      <a:pPr algn="ctr">
                        <a:lnSpc>
                          <a:spcPts val="1250"/>
                        </a:lnSpc>
                      </a:pPr>
                      <a:r>
                        <a:rPr lang="en-US" altLang="zh-CN" sz="1400" b="0" i="0">
                          <a:solidFill>
                            <a:srgbClr val="0F1115"/>
                          </a:solidFill>
                          <a:latin typeface="微软雅黑" panose="020B0503020204020204" pitchFamily="34" charset="-122"/>
                          <a:ea typeface="微软雅黑" panose="020B0503020204020204" pitchFamily="34" charset="-122"/>
                        </a:rPr>
                        <a:t>TGA-ZSR</a:t>
                      </a:r>
                    </a:p>
                  </a:txBody>
                  <a:tcPr marL="0"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硬标签</a:t>
                      </a:r>
                      <a:r>
                        <a:rPr lang="en-US" altLang="zh-CN" sz="14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注意力约束</a:t>
                      </a:r>
                    </a:p>
                  </a:txBody>
                  <a:tcPr marL="101917"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rPr>
                        <a:t>破坏</a:t>
                      </a:r>
                    </a:p>
                  </a:txBody>
                  <a:tcPr marL="101917"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rPr>
                        <a:t>下降但缓解</a:t>
                      </a:r>
                    </a:p>
                  </a:txBody>
                  <a:tcPr marL="101917" marR="0" marT="63817" marB="63817" anchor="ctr"/>
                </a:tc>
                <a:extLst>
                  <a:ext uri="{0D108BD9-81ED-4DB2-BD59-A6C34878D82A}">
                    <a16:rowId xmlns:a16="http://schemas.microsoft.com/office/drawing/2014/main" val="10003"/>
                  </a:ext>
                </a:extLst>
              </a:tr>
              <a:tr h="428625">
                <a:tc>
                  <a:txBody>
                    <a:bodyPr/>
                    <a:lstStyle/>
                    <a:p>
                      <a:pPr algn="ctr">
                        <a:lnSpc>
                          <a:spcPts val="1250"/>
                        </a:lnSpc>
                      </a:pPr>
                      <a:r>
                        <a:rPr lang="en-US" altLang="zh-CN" sz="1400" b="0" i="0">
                          <a:solidFill>
                            <a:srgbClr val="0F1115"/>
                          </a:solidFill>
                          <a:latin typeface="微软雅黑" panose="020B0503020204020204" pitchFamily="34" charset="-122"/>
                          <a:ea typeface="微软雅黑" panose="020B0503020204020204" pitchFamily="34" charset="-122"/>
                        </a:rPr>
                        <a:t>GLADIATOR</a:t>
                      </a:r>
                    </a:p>
                  </a:txBody>
                  <a:tcPr marL="0"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硬标签</a:t>
                      </a:r>
                      <a:r>
                        <a:rPr lang="en-US" altLang="zh-CN" sz="14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特征调制</a:t>
                      </a:r>
                    </a:p>
                  </a:txBody>
                  <a:tcPr marL="101917"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rPr>
                        <a:t>破坏</a:t>
                      </a:r>
                    </a:p>
                  </a:txBody>
                  <a:tcPr marL="101917" marR="101917" marT="63817" marB="63817" anchor="ctr"/>
                </a:tc>
                <a:tc>
                  <a:txBody>
                    <a:bodyPr/>
                    <a:lstStyle/>
                    <a:p>
                      <a:pPr algn="ctr">
                        <a:lnSpc>
                          <a:spcPts val="1250"/>
                        </a:lnSpc>
                      </a:pPr>
                      <a:r>
                        <a:rPr lang="zh-CN" altLang="en-US" sz="1400" b="0" i="0">
                          <a:solidFill>
                            <a:srgbClr val="0F1115"/>
                          </a:solidFill>
                          <a:latin typeface="微软雅黑" panose="020B0503020204020204" pitchFamily="34" charset="-122"/>
                          <a:ea typeface="微软雅黑" panose="020B0503020204020204" pitchFamily="34" charset="-122"/>
                        </a:rPr>
                        <a:t>下降但缓解</a:t>
                      </a:r>
                    </a:p>
                  </a:txBody>
                  <a:tcPr marL="101917" marR="0" marT="63817" marB="63817" anchor="ctr"/>
                </a:tc>
                <a:extLst>
                  <a:ext uri="{0D108BD9-81ED-4DB2-BD59-A6C34878D82A}">
                    <a16:rowId xmlns:a16="http://schemas.microsoft.com/office/drawing/2014/main" val="10004"/>
                  </a:ext>
                </a:extLst>
              </a:tr>
              <a:tr h="428625">
                <a:tc>
                  <a:txBody>
                    <a:bodyPr/>
                    <a:lstStyle/>
                    <a:p>
                      <a:pPr algn="ctr">
                        <a:lnSpc>
                          <a:spcPts val="1250"/>
                        </a:lnSpc>
                      </a:pPr>
                      <a:r>
                        <a:rPr lang="en-US" altLang="zh-CN" sz="14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AGFT</a:t>
                      </a:r>
                      <a:r>
                        <a:rPr lang="zh-CN" altLang="en-US" sz="14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（本文）</a:t>
                      </a:r>
                    </a:p>
                  </a:txBody>
                  <a:tcPr marL="0" marR="101917" marT="63817" marB="63817" anchor="ctr"/>
                </a:tc>
                <a:tc>
                  <a:txBody>
                    <a:bodyPr/>
                    <a:lstStyle/>
                    <a:p>
                      <a:pPr marL="0" indent="0" algn="ctr" fontAlgn="b"/>
                      <a:r>
                        <a:rPr lang="zh-CN" altLang="en-US" sz="14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校准软分布 </a:t>
                      </a:r>
                      <a:r>
                        <a:rPr lang="en-US" altLang="zh-CN" sz="1600" b="1" i="1">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900" b="1" i="1">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rob</a:t>
                      </a:r>
                      <a:r>
                        <a:rPr lang="en-US" altLang="zh-CN" sz="3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a:t>
                      </a:r>
                    </a:p>
                  </a:txBody>
                  <a:tcPr marL="101917" marR="101917" marT="63817" marB="63817" anchor="ctr"/>
                </a:tc>
                <a:tc>
                  <a:txBody>
                    <a:bodyPr/>
                    <a:lstStyle/>
                    <a:p>
                      <a:pPr algn="ctr">
                        <a:lnSpc>
                          <a:spcPts val="1250"/>
                        </a:lnSpc>
                      </a:pPr>
                      <a:r>
                        <a:rPr lang="zh-CN" altLang="en-US" sz="1400" b="1" i="0">
                          <a:solidFill>
                            <a:srgbClr val="0F1115"/>
                          </a:solidFill>
                          <a:latin typeface="微软雅黑" panose="020B0503020204020204" pitchFamily="34" charset="-122"/>
                          <a:ea typeface="微软雅黑" panose="020B0503020204020204" pitchFamily="34" charset="-122"/>
                        </a:rPr>
                        <a:t>保留</a:t>
                      </a:r>
                    </a:p>
                  </a:txBody>
                  <a:tcPr marL="101917" marR="101917" marT="63817" marB="63817" anchor="ctr"/>
                </a:tc>
                <a:tc>
                  <a:txBody>
                    <a:bodyPr/>
                    <a:lstStyle/>
                    <a:p>
                      <a:pPr algn="ctr">
                        <a:lnSpc>
                          <a:spcPts val="1250"/>
                        </a:lnSpc>
                      </a:pPr>
                      <a:r>
                        <a:rPr lang="zh-CN" altLang="en-US" sz="1400" b="1" i="0">
                          <a:solidFill>
                            <a:srgbClr val="0F1115"/>
                          </a:solidFill>
                          <a:latin typeface="微软雅黑" panose="020B0503020204020204" pitchFamily="34" charset="-122"/>
                          <a:ea typeface="微软雅黑" panose="020B0503020204020204" pitchFamily="34" charset="-122"/>
                        </a:rPr>
                        <a:t>保持甚至提升</a:t>
                      </a:r>
                    </a:p>
                  </a:txBody>
                  <a:tcPr marL="101917" marR="0" marT="63817" marB="63817" anchor="ctr"/>
                </a:tc>
                <a:extLst>
                  <a:ext uri="{0D108BD9-81ED-4DB2-BD59-A6C34878D82A}">
                    <a16:rowId xmlns:a16="http://schemas.microsoft.com/office/drawing/2014/main" val="10005"/>
                  </a:ext>
                </a:extLst>
              </a:tr>
            </a:tbl>
          </a:graphicData>
        </a:graphic>
      </p:graphicFrame>
      <p:pic>
        <p:nvPicPr>
          <p:cNvPr id="41" name="图片 40"/>
          <p:cNvPicPr>
            <a:picLocks noChangeAspect="1"/>
          </p:cNvPicPr>
          <p:nvPr/>
        </p:nvPicPr>
        <p:blipFill>
          <a:blip r:embed="rId13"/>
          <a:srcRect b="50671"/>
          <a:stretch>
            <a:fillRect/>
          </a:stretch>
        </p:blipFill>
        <p:spPr>
          <a:xfrm>
            <a:off x="6313805" y="4964430"/>
            <a:ext cx="2185670" cy="1447800"/>
          </a:xfrm>
          <a:prstGeom prst="rect">
            <a:avLst/>
          </a:prstGeom>
        </p:spPr>
      </p:pic>
      <p:pic>
        <p:nvPicPr>
          <p:cNvPr id="45" name="图片 44"/>
          <p:cNvPicPr>
            <a:picLocks noChangeAspect="1"/>
          </p:cNvPicPr>
          <p:nvPr/>
        </p:nvPicPr>
        <p:blipFill>
          <a:blip r:embed="rId13"/>
          <a:srcRect t="50671"/>
          <a:stretch>
            <a:fillRect/>
          </a:stretch>
        </p:blipFill>
        <p:spPr>
          <a:xfrm>
            <a:off x="8921750" y="4963160"/>
            <a:ext cx="2185670" cy="1447800"/>
          </a:xfrm>
          <a:prstGeom prst="rect">
            <a:avLst/>
          </a:prstGeom>
        </p:spPr>
      </p:pic>
      <p:sp>
        <p:nvSpPr>
          <p:cNvPr id="17" name="矩形: 圆角 359"/>
          <p:cNvSpPr/>
          <p:nvPr/>
        </p:nvSpPr>
        <p:spPr>
          <a:xfrm>
            <a:off x="5822950" y="4963160"/>
            <a:ext cx="5873115" cy="1447165"/>
          </a:xfrm>
          <a:prstGeom prst="roundRect">
            <a:avLst>
              <a:gd name="adj" fmla="val 1988"/>
            </a:avLst>
          </a:prstGeom>
          <a:solidFill>
            <a:schemeClr val="accent5">
              <a:lumMod val="20000"/>
              <a:lumOff val="8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nSpc>
                <a:spcPct val="125000"/>
              </a:lnSpc>
              <a:buClr>
                <a:srgbClr val="9B0000"/>
              </a:buClr>
              <a:buFont typeface="Arial" panose="020B0604020202090204" pitchFamily="34" charset="0"/>
              <a:buNone/>
            </a:pP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4"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61</a:t>
            </a:fld>
            <a:endParaRPr lang="zh-CN" altLang="en-US" dirty="0"/>
          </a:p>
        </p:txBody>
      </p:sp>
      <p:sp>
        <p:nvSpPr>
          <p:cNvPr id="37" name="箭头: 右 55"/>
          <p:cNvSpPr/>
          <p:nvPr/>
        </p:nvSpPr>
        <p:spPr>
          <a:xfrm>
            <a:off x="2336800" y="3521075"/>
            <a:ext cx="424180" cy="369570"/>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7219315" y="0"/>
            <a:ext cx="2493645" cy="664210"/>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实验逻辑</a:t>
            </a:r>
          </a:p>
        </p:txBody>
      </p:sp>
      <p:sp>
        <p:nvSpPr>
          <p:cNvPr id="2" name="文本框 1"/>
          <p:cNvSpPr txBox="1"/>
          <p:nvPr/>
        </p:nvSpPr>
        <p:spPr>
          <a:xfrm>
            <a:off x="329565" y="880110"/>
            <a:ext cx="7992110" cy="706755"/>
          </a:xfrm>
          <a:prstGeom prst="rect">
            <a:avLst/>
          </a:prstGeom>
          <a:noFill/>
        </p:spPr>
        <p:txBody>
          <a:bodyPr wrap="square" rtlCol="0" anchor="t">
            <a:spAutoFit/>
          </a:bodyPr>
          <a:lstStyle/>
          <a:p>
            <a:pPr marL="342900" indent="-342900">
              <a:buClr>
                <a:schemeClr val="accent1"/>
              </a:buClr>
              <a:buFont typeface="Wingdings" panose="05000000000000000000" pitchFamily="2" charset="2"/>
              <a:buChar char="Ø"/>
            </a:pPr>
            <a:r>
              <a:rPr lang="zh-CN" altLang="en-US" sz="2000" b="1" kern="100" dirty="0">
                <a:solidFill>
                  <a:schemeClr val="accent1"/>
                </a:solidFill>
                <a:latin typeface="微软雅黑" panose="020B0503020204020204" pitchFamily="34" charset="-122"/>
                <a:ea typeface="微软雅黑" panose="020B0503020204020204" pitchFamily="34" charset="-122"/>
                <a:sym typeface="+mn-ea"/>
              </a:rPr>
              <a:t>实验论证：</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主实验</a:t>
            </a:r>
            <a:r>
              <a:rPr lang="en-US" altLang="zh-CN"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b="1">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强化实验</a:t>
            </a:r>
            <a:r>
              <a:rPr lang="en-US" altLang="zh-CN" sz="2000" b="1">
                <a:solidFill>
                  <a:schemeClr val="accent5">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b="1">
                <a:solidFill>
                  <a:schemeClr val="accent6"/>
                </a:solidFill>
                <a:latin typeface="微软雅黑" panose="020B0503020204020204" pitchFamily="34" charset="-122"/>
                <a:ea typeface="微软雅黑" panose="020B0503020204020204" pitchFamily="34" charset="-122"/>
                <a:cs typeface="微软雅黑" panose="020B0503020204020204" pitchFamily="34" charset="-122"/>
                <a:sym typeface="+mn-ea"/>
              </a:rPr>
              <a:t>机制验证</a:t>
            </a:r>
            <a:r>
              <a:rPr lang="en-US" altLang="zh-CN" sz="2000" b="1">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z="2000" b="1">
                <a:solidFill>
                  <a:schemeClr val="accent5"/>
                </a:solidFill>
                <a:latin typeface="微软雅黑" panose="020B0503020204020204" pitchFamily="34" charset="-122"/>
                <a:ea typeface="微软雅黑" panose="020B0503020204020204" pitchFamily="34" charset="-122"/>
                <a:cs typeface="微软雅黑" panose="020B0503020204020204" pitchFamily="34" charset="-122"/>
                <a:sym typeface="+mn-ea"/>
              </a:rPr>
              <a:t>效率验证</a:t>
            </a:r>
            <a:endParaRPr lang="zh-CN" altLang="en-US" sz="2000" b="1">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Clr>
                <a:schemeClr val="accent1"/>
              </a:buClr>
              <a:buFont typeface="Wingdings" panose="05000000000000000000" pitchFamily="2" charset="2"/>
              <a:buChar char="Ø"/>
            </a:pPr>
            <a:endParaRPr lang="zh-CN" altLang="en-US" sz="2000" b="1"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503050405090304" charset="0"/>
              <a:sym typeface="+mn-ea"/>
            </a:endParaRPr>
          </a:p>
        </p:txBody>
      </p:sp>
      <p:grpSp>
        <p:nvGrpSpPr>
          <p:cNvPr id="33" name="组合 32"/>
          <p:cNvGrpSpPr/>
          <p:nvPr/>
        </p:nvGrpSpPr>
        <p:grpSpPr>
          <a:xfrm>
            <a:off x="536575" y="4157345"/>
            <a:ext cx="5459730" cy="2389505"/>
            <a:chOff x="3124" y="2448"/>
            <a:chExt cx="5526" cy="3480"/>
          </a:xfrm>
        </p:grpSpPr>
        <p:sp>
          <p:nvSpPr>
            <p:cNvPr id="130" name="圆角矩形 11"/>
            <p:cNvSpPr/>
            <p:nvPr/>
          </p:nvSpPr>
          <p:spPr>
            <a:xfrm>
              <a:off x="3124" y="2668"/>
              <a:ext cx="5526" cy="3260"/>
            </a:xfrm>
            <a:prstGeom prst="roundRect">
              <a:avLst>
                <a:gd name="adj" fmla="val 3704"/>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marL="285750" indent="-285750">
                <a:lnSpc>
                  <a:spcPts val="2400"/>
                </a:lnSpc>
                <a:buFont typeface="Arial" panose="020B0604020202090204" pitchFamily="34" charset="0"/>
                <a:buChar char="•"/>
              </a:pPr>
              <a:endParaRPr lang="en-US" altLang="zh-CN" sz="1600" b="1" dirty="0">
                <a:solidFill>
                  <a:schemeClr val="tx1"/>
                </a:solidFill>
                <a:effectLst/>
                <a:latin typeface="Times New Roman" panose="02020503050405090304" charset="0"/>
                <a:ea typeface="宋体" pitchFamily="2" charset="-122"/>
                <a:cs typeface="Times New Roman" panose="02020503050405090304" charset="0"/>
              </a:endParaRPr>
            </a:p>
          </p:txBody>
        </p:sp>
        <p:sp>
          <p:nvSpPr>
            <p:cNvPr id="36" name="文本框 35"/>
            <p:cNvSpPr txBox="1"/>
            <p:nvPr/>
          </p:nvSpPr>
          <p:spPr>
            <a:xfrm>
              <a:off x="4485" y="2448"/>
              <a:ext cx="2693" cy="403"/>
            </a:xfrm>
            <a:prstGeom prst="rect">
              <a:avLst/>
            </a:prstGeom>
            <a:solidFill>
              <a:schemeClr val="bg1"/>
            </a:solidFill>
          </p:spPr>
          <p:txBody>
            <a:bodyPr wrap="square" lIns="0" tIns="0" rIns="0" bIns="0">
              <a:spAutoFit/>
            </a:bodyPr>
            <a:lstStyle/>
            <a:p>
              <a:pPr algn="ctr"/>
              <a:r>
                <a:rPr 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机制验证</a:t>
              </a:r>
            </a:p>
          </p:txBody>
        </p:sp>
      </p:grpSp>
      <p:sp>
        <p:nvSpPr>
          <p:cNvPr id="29" name="圆角矩形 11"/>
          <p:cNvSpPr/>
          <p:nvPr/>
        </p:nvSpPr>
        <p:spPr>
          <a:xfrm>
            <a:off x="6285230" y="1527175"/>
            <a:ext cx="5257800" cy="2432685"/>
          </a:xfrm>
          <a:prstGeom prst="roundRect">
            <a:avLst>
              <a:gd name="adj" fmla="val 3704"/>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marL="285750" indent="-285750">
              <a:lnSpc>
                <a:spcPts val="2400"/>
              </a:lnSpc>
              <a:buFont typeface="Arial" panose="020B0604020202090204" pitchFamily="34" charset="0"/>
              <a:buChar char="•"/>
            </a:pPr>
            <a:endPar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ts val="2400"/>
              </a:lnSpc>
              <a:buFont typeface="Arial" panose="020B0604020202090204" pitchFamily="34" charset="0"/>
              <a:buChar char="•"/>
            </a:pPr>
            <a:endPar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ts val="2400"/>
              </a:lnSpc>
              <a:buFont typeface="Arial" panose="020B0604020202090204" pitchFamily="34" charset="0"/>
              <a:buChar char="•"/>
            </a:pP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16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不同扰动预算、更强白盒攻击、多样未见攻击（15种攻击设置）、跨架构、</a:t>
            </a:r>
            <a:r>
              <a:rPr lang="en-US" altLang="zh-CN" sz="16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OOD</a:t>
            </a:r>
            <a:r>
              <a:rPr lang="zh-CN" altLang="en-US" sz="16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场景</a:t>
            </a: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下与</a:t>
            </a:r>
            <a:r>
              <a:rPr lang="zh-CN" altLang="en-US" sz="16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四个代表性基线方法</a:t>
            </a: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对比</a:t>
            </a:r>
            <a:r>
              <a:rPr lang="zh-CN" altLang="en-US" sz="16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干净准确率和鲁棒准确率。</a:t>
            </a:r>
            <a:endPar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ts val="2400"/>
              </a:lnSpc>
              <a:buFont typeface="Arial" panose="020B0604020202090204" pitchFamily="34" charset="0"/>
              <a:buChar char="•"/>
            </a:pP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结论是</a:t>
            </a:r>
            <a:r>
              <a:rPr lang="en-US" altLang="zh-CN"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AGFT </a:t>
            </a: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的鲁棒性泛化能力在多种条件下均成立。</a:t>
            </a:r>
            <a:endParaRPr lang="en-US" altLang="zh-CN"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p:cNvSpPr txBox="1"/>
          <p:nvPr/>
        </p:nvSpPr>
        <p:spPr>
          <a:xfrm>
            <a:off x="8114273" y="1368321"/>
            <a:ext cx="1710171" cy="276860"/>
          </a:xfrm>
          <a:prstGeom prst="rect">
            <a:avLst/>
          </a:prstGeom>
          <a:solidFill>
            <a:schemeClr val="bg1"/>
          </a:solidFill>
        </p:spPr>
        <p:txBody>
          <a:bodyPr wrap="square" lIns="0" tIns="0" rIns="0" bIns="0">
            <a:spAutoFit/>
          </a:bodyPr>
          <a:lstStyle/>
          <a:p>
            <a:pPr algn="ctr"/>
            <a:r>
              <a:rPr 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强化实验</a:t>
            </a:r>
          </a:p>
        </p:txBody>
      </p:sp>
      <p:sp>
        <p:nvSpPr>
          <p:cNvPr id="3"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62</a:t>
            </a:fld>
            <a:endParaRPr lang="zh-CN" altLang="en-US" dirty="0"/>
          </a:p>
        </p:txBody>
      </p:sp>
      <p:sp>
        <p:nvSpPr>
          <p:cNvPr id="5" name="文本框 4"/>
          <p:cNvSpPr txBox="1"/>
          <p:nvPr/>
        </p:nvSpPr>
        <p:spPr>
          <a:xfrm>
            <a:off x="609600" y="2263775"/>
            <a:ext cx="5184775" cy="1691005"/>
          </a:xfrm>
          <a:prstGeom prst="rect">
            <a:avLst/>
          </a:prstGeom>
        </p:spPr>
        <p:txBody>
          <a:bodyPr wrap="square">
            <a:spAutoFit/>
          </a:bodyPr>
          <a:lstStyle/>
          <a:p>
            <a:pPr marL="285750" indent="-285750" algn="l" fontAlgn="auto">
              <a:lnSpc>
                <a:spcPct val="130000"/>
              </a:lnSpc>
              <a:spcBef>
                <a:spcPts val="0"/>
              </a:spcBef>
              <a:spcAft>
                <a:spcPts val="0"/>
              </a:spcAft>
              <a:buFont typeface="Arial" panose="020B0604020202090204" pitchFamily="34" charset="0"/>
              <a:buChar char="•"/>
            </a:pP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ImageNet</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上对抗微调，与</a:t>
            </a:r>
            <a:r>
              <a:rPr lang="zh-CN" altLang="en-US" sz="16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四个代表性基线方法</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在</a:t>
            </a:r>
            <a:r>
              <a:rPr lang="zh-CN" altLang="en-US" sz="16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15个零样本数据集</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上对比</a:t>
            </a:r>
            <a:r>
              <a:rPr lang="zh-CN" altLang="en-US" sz="16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干净准确率和</a:t>
            </a:r>
            <a:r>
              <a:rPr lang="zh-CN" altLang="en-US" sz="1600" b="1">
                <a:solidFill>
                  <a:srgbClr val="0F1115"/>
                </a:solidFill>
                <a:latin typeface="微软雅黑" panose="020B0503020204020204" pitchFamily="34" charset="-122"/>
                <a:ea typeface="微软雅黑" panose="020B0503020204020204" pitchFamily="34" charset="-122"/>
                <a:cs typeface="微软雅黑" panose="020B0503020204020204" pitchFamily="34" charset="-122"/>
                <a:sym typeface="+mn-ea"/>
              </a:rPr>
              <a:t>鲁棒准确率</a:t>
            </a:r>
            <a:endPar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fontAlgn="auto">
              <a:lnSpc>
                <a:spcPct val="130000"/>
              </a:lnSpc>
              <a:spcBef>
                <a:spcPts val="0"/>
              </a:spcBef>
              <a:spcAft>
                <a:spcPts val="0"/>
              </a:spcAft>
              <a:buFont typeface="Arial" panose="020B0604020202090204" pitchFamily="34" charset="0"/>
              <a:buChar char="•"/>
            </a:pPr>
            <a:r>
              <a:rPr lang="en-US" altLang="zh-CN"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AGFT</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鲁棒准确率超越最强基线3.1%，干净准确率超越1.0%，相比</a:t>
            </a:r>
            <a:r>
              <a:rPr lang="en-US" altLang="zh-CN"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TeCoA</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分别提升8.1%和4.4%。证明</a:t>
            </a:r>
            <a:r>
              <a:rPr lang="en-US" altLang="zh-CN"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AGFT </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能够兼顾鲁棒性与泛化性。</a:t>
            </a:r>
          </a:p>
        </p:txBody>
      </p:sp>
      <p:grpSp>
        <p:nvGrpSpPr>
          <p:cNvPr id="9" name="组合 8"/>
          <p:cNvGrpSpPr/>
          <p:nvPr/>
        </p:nvGrpSpPr>
        <p:grpSpPr>
          <a:xfrm>
            <a:off x="535940" y="1368679"/>
            <a:ext cx="5385435" cy="2649601"/>
            <a:chOff x="3124" y="2450"/>
            <a:chExt cx="5526" cy="3478"/>
          </a:xfrm>
        </p:grpSpPr>
        <p:sp>
          <p:nvSpPr>
            <p:cNvPr id="10" name="圆角矩形 11"/>
            <p:cNvSpPr/>
            <p:nvPr/>
          </p:nvSpPr>
          <p:spPr>
            <a:xfrm>
              <a:off x="3124" y="2668"/>
              <a:ext cx="5526" cy="3260"/>
            </a:xfrm>
            <a:prstGeom prst="roundRect">
              <a:avLst>
                <a:gd name="adj" fmla="val 3704"/>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marL="285750" indent="-285750">
                <a:lnSpc>
                  <a:spcPts val="2400"/>
                </a:lnSpc>
                <a:buFont typeface="Arial" panose="020B0604020202090204" pitchFamily="34" charset="0"/>
                <a:buChar char="•"/>
              </a:pPr>
              <a:endParaRPr lang="en-US" altLang="zh-CN" sz="1600" b="1" dirty="0">
                <a:solidFill>
                  <a:schemeClr val="tx1"/>
                </a:solidFill>
                <a:effectLst/>
                <a:latin typeface="Times New Roman" panose="02020503050405090304" charset="0"/>
                <a:ea typeface="宋体" pitchFamily="2" charset="-122"/>
                <a:cs typeface="Times New Roman" panose="02020503050405090304" charset="0"/>
              </a:endParaRPr>
            </a:p>
          </p:txBody>
        </p:sp>
        <p:sp>
          <p:nvSpPr>
            <p:cNvPr id="11" name="文本框 10"/>
            <p:cNvSpPr txBox="1"/>
            <p:nvPr/>
          </p:nvSpPr>
          <p:spPr>
            <a:xfrm>
              <a:off x="4542" y="2450"/>
              <a:ext cx="2693" cy="363"/>
            </a:xfrm>
            <a:prstGeom prst="rect">
              <a:avLst/>
            </a:prstGeom>
            <a:solidFill>
              <a:schemeClr val="bg1"/>
            </a:solidFill>
          </p:spPr>
          <p:txBody>
            <a:bodyPr wrap="square" lIns="0" tIns="0" rIns="0" bIns="0">
              <a:spAutoFit/>
            </a:bodyPr>
            <a:lstStyle/>
            <a:p>
              <a:pPr algn="ctr"/>
              <a:r>
                <a:rPr 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主实验</a:t>
              </a:r>
            </a:p>
          </p:txBody>
        </p:sp>
      </p:grpSp>
      <p:sp>
        <p:nvSpPr>
          <p:cNvPr id="12" name="圆角矩形 11"/>
          <p:cNvSpPr/>
          <p:nvPr/>
        </p:nvSpPr>
        <p:spPr>
          <a:xfrm>
            <a:off x="6285230" y="4267835"/>
            <a:ext cx="5257800" cy="2278380"/>
          </a:xfrm>
          <a:prstGeom prst="roundRect">
            <a:avLst>
              <a:gd name="adj" fmla="val 3704"/>
            </a:avLst>
          </a:prstGeom>
          <a:ln>
            <a:solidFill>
              <a:schemeClr val="tx1"/>
            </a:solidFill>
          </a:ln>
        </p:spPr>
        <p:style>
          <a:lnRef idx="3">
            <a:schemeClr val="accent1"/>
          </a:lnRef>
          <a:fillRef idx="0">
            <a:srgbClr val="FFFFFF"/>
          </a:fillRef>
          <a:effectRef idx="0">
            <a:srgbClr val="FFFFFF"/>
          </a:effectRef>
          <a:fontRef idx="minor">
            <a:schemeClr val="tx1"/>
          </a:fontRef>
        </p:style>
        <p:txBody>
          <a:bodyPr rtlCol="0" anchor="ctr"/>
          <a:lstStyle/>
          <a:p>
            <a:pPr marL="285750" indent="-285750">
              <a:lnSpc>
                <a:spcPts val="2400"/>
              </a:lnSpc>
              <a:buFont typeface="Arial" panose="020B0604020202090204" pitchFamily="34" charset="0"/>
              <a:buChar char="•"/>
            </a:pPr>
            <a:endParaRPr lang="zh-CN" altLang="en-US" sz="1600" b="1" dirty="0">
              <a:solidFill>
                <a:schemeClr val="tx1"/>
              </a:solidFill>
              <a:effectLst/>
              <a:latin typeface="Times New Roman" panose="02020503050405090304" charset="0"/>
              <a:ea typeface="宋体" pitchFamily="2" charset="-122"/>
              <a:cs typeface="Times New Roman" panose="02020503050405090304" charset="0"/>
            </a:endParaRPr>
          </a:p>
          <a:p>
            <a:pPr marL="285750" indent="-285750">
              <a:lnSpc>
                <a:spcPts val="2400"/>
              </a:lnSpc>
              <a:buFont typeface="Arial" panose="020B0604020202090204" pitchFamily="34" charset="0"/>
              <a:buChar char="•"/>
            </a:pPr>
            <a:endParaRPr lang="zh-CN" altLang="en-US" sz="1600" b="1" dirty="0">
              <a:solidFill>
                <a:schemeClr val="tx1"/>
              </a:solidFill>
              <a:effectLst/>
              <a:latin typeface="Times New Roman" panose="02020503050405090304" charset="0"/>
              <a:ea typeface="宋体" pitchFamily="2" charset="-122"/>
              <a:cs typeface="Times New Roman" panose="02020503050405090304" charset="0"/>
            </a:endParaRPr>
          </a:p>
          <a:p>
            <a:pPr marL="285750" indent="-285750">
              <a:lnSpc>
                <a:spcPts val="2400"/>
              </a:lnSpc>
              <a:buFont typeface="Arial" panose="020B0604020202090204" pitchFamily="34" charset="0"/>
              <a:buChar char="•"/>
            </a:pP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TeCoA、PMG-AFT、TGA-ZSR</a:t>
            </a: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对比</a:t>
            </a:r>
            <a:r>
              <a:rPr lang="zh-CN" altLang="en-US" sz="1600" b="1"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前向/反向传播次数和训练时间。</a:t>
            </a:r>
            <a:endPar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ts val="2400"/>
              </a:lnSpc>
              <a:buFont typeface="Arial" panose="020B0604020202090204" pitchFamily="34" charset="0"/>
              <a:buChar char="•"/>
            </a:pPr>
            <a:r>
              <a:rPr lang="en-US" altLang="zh-CN"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AGFT</a:t>
            </a: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仅需1次额外前向传播，训练时间远低于 </a:t>
            </a:r>
            <a:r>
              <a:rPr lang="en-US" altLang="zh-CN"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PMG-AFT </a:t>
            </a: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和 </a:t>
            </a:r>
            <a:r>
              <a:rPr lang="en-US" altLang="zh-CN"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TGA-ZSR</a:t>
            </a: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AGFT</a:t>
            </a:r>
            <a:r>
              <a:rPr lang="zh-CN" altLang="en-US" sz="16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以较低的计算代价取得显著性能提升，具备实际部署的可行性。</a:t>
            </a:r>
          </a:p>
        </p:txBody>
      </p:sp>
      <p:sp>
        <p:nvSpPr>
          <p:cNvPr id="14" name="文本框 13"/>
          <p:cNvSpPr txBox="1"/>
          <p:nvPr/>
        </p:nvSpPr>
        <p:spPr>
          <a:xfrm>
            <a:off x="8114273" y="4101361"/>
            <a:ext cx="1710171" cy="276860"/>
          </a:xfrm>
          <a:prstGeom prst="rect">
            <a:avLst/>
          </a:prstGeom>
          <a:solidFill>
            <a:schemeClr val="bg1"/>
          </a:solidFill>
        </p:spPr>
        <p:txBody>
          <a:bodyPr wrap="square" lIns="0" tIns="0" rIns="0" bIns="0">
            <a:spAutoFit/>
          </a:bodyPr>
          <a:lstStyle/>
          <a:p>
            <a:pPr algn="ctr"/>
            <a:r>
              <a:rPr lang="zh-CN" b="1" dirty="0">
                <a:solidFill>
                  <a:schemeClr val="tx1"/>
                </a:solidFill>
                <a:latin typeface="微软雅黑" panose="020B0503020204020204" pitchFamily="34" charset="-122"/>
                <a:ea typeface="微软雅黑" panose="020B0503020204020204" pitchFamily="34" charset="-122"/>
                <a:cs typeface="Calibri" panose="020F0502020204030204" pitchFamily="34" charset="0"/>
              </a:rPr>
              <a:t>效率验证</a:t>
            </a:r>
          </a:p>
        </p:txBody>
      </p:sp>
      <p:sp>
        <p:nvSpPr>
          <p:cNvPr id="17" name="文本框 16"/>
          <p:cNvSpPr txBox="1"/>
          <p:nvPr/>
        </p:nvSpPr>
        <p:spPr>
          <a:xfrm>
            <a:off x="714375" y="4831715"/>
            <a:ext cx="5080000" cy="1714500"/>
          </a:xfrm>
          <a:prstGeom prst="rect">
            <a:avLst/>
          </a:prstGeom>
        </p:spPr>
        <p:txBody>
          <a:bodyPr>
            <a:spAutoFit/>
          </a:bodyPr>
          <a:lstStyle/>
          <a:p>
            <a:pPr marL="285750" indent="-285750" algn="l" fontAlgn="auto">
              <a:lnSpc>
                <a:spcPct val="110000"/>
              </a:lnSpc>
              <a:spcBef>
                <a:spcPts val="0"/>
              </a:spcBef>
              <a:spcAft>
                <a:spcPts val="0"/>
              </a:spcAft>
              <a:buFont typeface="Arial" panose="020B0604020202090204" pitchFamily="34" charset="0"/>
              <a:buChar char="•"/>
            </a:pPr>
            <a:r>
              <a:rPr lang="zh-CN" altLang="en-US" sz="16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超参数消融</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（验证</a:t>
            </a:r>
            <a:r>
              <a:rPr lang="en-US" altLang="zh-CN"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a:solidFill>
                  <a:srgbClr val="0F1115"/>
                </a:solidFill>
                <a:latin typeface="微软雅黑" panose="020B0503020204020204" pitchFamily="34" charset="-122"/>
                <a:ea typeface="微软雅黑" panose="020B0503020204020204" pitchFamily="34" charset="-122"/>
                <a:cs typeface="微软雅黑" panose="020B0503020204020204" pitchFamily="34" charset="-122"/>
                <a:sym typeface="+mn-ea"/>
              </a:rPr>
              <a:t>γ </a:t>
            </a:r>
            <a:r>
              <a:rPr lang="zh-CN" altLang="en-US" sz="1600">
                <a:solidFill>
                  <a:srgbClr val="0F1115"/>
                </a:solidFill>
                <a:latin typeface="微软雅黑" panose="020B0503020204020204" pitchFamily="34" charset="-122"/>
                <a:ea typeface="微软雅黑" panose="020B0503020204020204" pitchFamily="34" charset="-122"/>
                <a:cs typeface="微软雅黑" panose="020B0503020204020204" pitchFamily="34" charset="-122"/>
                <a:sym typeface="+mn-ea"/>
              </a:rPr>
              <a:t>和 1/</a:t>
            </a:r>
            <a:r>
              <a:rPr lang="en-US" altLang="zh-CN" sz="1600">
                <a:solidFill>
                  <a:srgbClr val="0F1115"/>
                </a:solidFill>
                <a:latin typeface="微软雅黑" panose="020B0503020204020204" pitchFamily="34" charset="-122"/>
                <a:ea typeface="微软雅黑" panose="020B0503020204020204" pitchFamily="34" charset="-122"/>
                <a:cs typeface="微软雅黑" panose="020B0503020204020204" pitchFamily="34" charset="-122"/>
                <a:sym typeface="+mn-ea"/>
              </a:rPr>
              <a:t>τ </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共同控制鲁棒性与泛化性的权衡，发现存在最优平衡点）</a:t>
            </a:r>
          </a:p>
          <a:p>
            <a:pPr marL="285750" indent="-285750" algn="l" fontAlgn="auto">
              <a:lnSpc>
                <a:spcPct val="110000"/>
              </a:lnSpc>
              <a:spcBef>
                <a:spcPts val="0"/>
              </a:spcBef>
              <a:spcAft>
                <a:spcPts val="0"/>
              </a:spcAft>
              <a:buFont typeface="Arial" panose="020B0604020202090204" pitchFamily="34" charset="0"/>
              <a:buChar char="•"/>
            </a:pPr>
            <a:r>
              <a:rPr lang="zh-CN" altLang="en-US" sz="16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分布校准实证</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（对比各方法的置信度和相似度，验证温度缩放是否真的改善分布匹配）</a:t>
            </a:r>
          </a:p>
          <a:p>
            <a:pPr marL="285750" indent="-285750" algn="l" fontAlgn="auto">
              <a:lnSpc>
                <a:spcPct val="110000"/>
              </a:lnSpc>
              <a:spcBef>
                <a:spcPts val="0"/>
              </a:spcBef>
              <a:spcAft>
                <a:spcPts val="0"/>
              </a:spcAft>
              <a:buFont typeface="Arial" panose="020B0604020202090204" pitchFamily="34" charset="0"/>
              <a:buChar char="•"/>
            </a:pPr>
            <a:r>
              <a:rPr lang="zh-CN" altLang="en-US" sz="1600" b="1"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语义结构保留</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（用 </a:t>
            </a:r>
            <a:r>
              <a:rPr lang="en-US" altLang="zh-CN"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Top-5 IoU </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定量对比、</a:t>
            </a:r>
            <a:r>
              <a:rPr lang="en-US" altLang="zh-CN"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t-SNE </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定性可视化验证 </a:t>
            </a:r>
            <a:r>
              <a:rPr lang="en-US" altLang="zh-CN"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AGFT </a:t>
            </a:r>
            <a:r>
              <a:rPr lang="zh-CN" altLang="en-US" sz="160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真的保留了跨模态语义结构）</a:t>
            </a:r>
          </a:p>
        </p:txBody>
      </p:sp>
      <p:sp>
        <p:nvSpPr>
          <p:cNvPr id="19" name="矩形: 圆角 359"/>
          <p:cNvSpPr/>
          <p:nvPr/>
        </p:nvSpPr>
        <p:spPr>
          <a:xfrm>
            <a:off x="6560185" y="4456430"/>
            <a:ext cx="4818380" cy="492125"/>
          </a:xfrm>
          <a:prstGeom prst="roundRect">
            <a:avLst>
              <a:gd name="adj" fmla="val 1988"/>
            </a:avLst>
          </a:prstGeom>
          <a:solidFill>
            <a:schemeClr val="accent5">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r>
              <a:rPr lang="zh-CN" altLang="en-US" sz="2000" b="1" dirty="0">
                <a:solidFill>
                  <a:srgbClr val="AA419E"/>
                </a:solidFill>
                <a:latin typeface="微软雅黑" panose="020B0503020204020204" pitchFamily="34" charset="-122"/>
                <a:ea typeface="微软雅黑" panose="020B0503020204020204" pitchFamily="34" charset="-122"/>
              </a:rPr>
              <a:t>代价是否可接受？</a:t>
            </a:r>
          </a:p>
        </p:txBody>
      </p:sp>
      <p:sp>
        <p:nvSpPr>
          <p:cNvPr id="21" name="矩形: 圆角 359"/>
          <p:cNvSpPr/>
          <p:nvPr/>
        </p:nvSpPr>
        <p:spPr>
          <a:xfrm>
            <a:off x="6560185" y="1730375"/>
            <a:ext cx="4818380" cy="492125"/>
          </a:xfrm>
          <a:prstGeom prst="roundRect">
            <a:avLst>
              <a:gd name="adj" fmla="val 1988"/>
            </a:avLst>
          </a:prstGeom>
          <a:solidFill>
            <a:schemeClr val="accent2">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r>
              <a:rPr lang="zh-CN" altLang="en-US" sz="2000" b="1">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在不同条件下是否依然有效？</a:t>
            </a:r>
            <a:endParaRPr lang="zh-CN" altLang="en-US" sz="20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6" name="矩形: 圆角 359"/>
          <p:cNvSpPr/>
          <p:nvPr/>
        </p:nvSpPr>
        <p:spPr>
          <a:xfrm>
            <a:off x="857250" y="1734185"/>
            <a:ext cx="4818380" cy="492125"/>
          </a:xfrm>
          <a:prstGeom prst="roundRect">
            <a:avLst>
              <a:gd name="adj" fmla="val 1988"/>
            </a:avLst>
          </a:prstGeom>
          <a:solidFill>
            <a:srgbClr val="9B0000">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r>
              <a:rPr lang="en-US" altLang="zh-CN"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AGFT </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整体效果如何？</a:t>
            </a:r>
            <a:endParaRPr lang="zh-CN" altLang="en-US" sz="20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8" name="矩形: 圆角 359"/>
          <p:cNvSpPr/>
          <p:nvPr/>
        </p:nvSpPr>
        <p:spPr>
          <a:xfrm>
            <a:off x="857250" y="4456430"/>
            <a:ext cx="4818380" cy="492125"/>
          </a:xfrm>
          <a:prstGeom prst="roundRect">
            <a:avLst>
              <a:gd name="adj" fmla="val 1988"/>
            </a:avLst>
          </a:prstGeom>
          <a:solidFill>
            <a:schemeClr val="accent6">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indent="0" algn="ctr">
              <a:lnSpc>
                <a:spcPct val="135000"/>
              </a:lnSpc>
              <a:buClr>
                <a:srgbClr val="9B0000"/>
              </a:buClr>
              <a:buFont typeface="Arial" panose="020B0604020202090204" pitchFamily="34" charset="0"/>
              <a:buNone/>
            </a:pPr>
            <a:r>
              <a:rPr lang="zh-CN" altLang="en-US" sz="2000" b="1">
                <a:solidFill>
                  <a:schemeClr val="accent6"/>
                </a:solidFill>
                <a:latin typeface="微软雅黑" panose="020B0503020204020204" pitchFamily="34" charset="-122"/>
                <a:ea typeface="微软雅黑" panose="020B0503020204020204" pitchFamily="34" charset="-122"/>
                <a:cs typeface="微软雅黑" panose="020B0503020204020204" pitchFamily="34" charset="-122"/>
                <a:sym typeface="+mn-ea"/>
              </a:rPr>
              <a:t>为什么有效？</a:t>
            </a:r>
            <a:endParaRPr lang="zh-CN" altLang="en-US" sz="2000" b="1" dirty="0">
              <a:solidFill>
                <a:schemeClr val="accent6"/>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矩形: 圆角 359"/>
          <p:cNvSpPr/>
          <p:nvPr/>
        </p:nvSpPr>
        <p:spPr>
          <a:xfrm>
            <a:off x="259080" y="1064895"/>
            <a:ext cx="11677650" cy="1238250"/>
          </a:xfrm>
          <a:prstGeom prst="roundRect">
            <a:avLst>
              <a:gd name="adj" fmla="val 1988"/>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0" rIns="0" bIns="0" rtlCol="0" anchor="ctr"/>
          <a:lstStyle/>
          <a:p>
            <a:pPr marL="285750" indent="-285750">
              <a:lnSpc>
                <a:spcPct val="125000"/>
              </a:lnSpc>
              <a:buClr>
                <a:srgbClr val="9B0000"/>
              </a:buClr>
              <a:buFont typeface="Arial" panose="020B0604020202090204" pitchFamily="34" charset="0"/>
              <a:buChar char="•"/>
            </a:pPr>
            <a:r>
              <a:rPr lang="en-US" altLang="zh-CN" sz="2000" b="1" dirty="0">
                <a:solidFill>
                  <a:srgbClr val="0070C0"/>
                </a:solidFill>
                <a:latin typeface="微软雅黑" panose="020B0503020204020204" pitchFamily="34" charset="-122"/>
                <a:ea typeface="微软雅黑" panose="020B0503020204020204" pitchFamily="34" charset="-122"/>
              </a:rPr>
              <a:t>AGFT </a:t>
            </a:r>
            <a:r>
              <a:rPr lang="zh-CN" altLang="en-US" sz="2000" b="1" dirty="0">
                <a:solidFill>
                  <a:srgbClr val="0070C0"/>
                </a:solidFill>
                <a:latin typeface="微软雅黑" panose="020B0503020204020204" pitchFamily="34" charset="-122"/>
                <a:ea typeface="微软雅黑" panose="020B0503020204020204" pitchFamily="34" charset="-122"/>
              </a:rPr>
              <a:t>用预训练模型的概率预测替代基于标签的监督，在</a:t>
            </a:r>
            <a:r>
              <a:rPr lang="zh-CN" altLang="en-US" sz="2400" b="1" dirty="0">
                <a:gradFill>
                  <a:gsLst>
                    <a:gs pos="51300">
                      <a:srgbClr val="FE5F4A"/>
                    </a:gs>
                    <a:gs pos="0">
                      <a:srgbClr val="DF0303"/>
                    </a:gs>
                    <a:gs pos="100000">
                      <a:srgbClr val="FEA06E"/>
                    </a:gs>
                  </a:gsLst>
                  <a:lin ang="5400000" scaled="1"/>
                </a:gradFill>
                <a:latin typeface="微软雅黑" panose="020B0503020204020204" pitchFamily="34" charset="-122"/>
                <a:ea typeface="微软雅黑" panose="020B0503020204020204" pitchFamily="34" charset="-122"/>
                <a:sym typeface="+mn-ea"/>
              </a:rPr>
              <a:t>提升</a:t>
            </a:r>
            <a:r>
              <a:rPr lang="en-US" altLang="zh-CN" sz="2400" b="1" dirty="0">
                <a:gradFill>
                  <a:gsLst>
                    <a:gs pos="51300">
                      <a:srgbClr val="FE5F4A"/>
                    </a:gs>
                    <a:gs pos="0">
                      <a:srgbClr val="DF0303"/>
                    </a:gs>
                    <a:gs pos="100000">
                      <a:srgbClr val="FEA06E"/>
                    </a:gs>
                  </a:gsLst>
                  <a:lin ang="5400000" scaled="1"/>
                </a:gradFill>
                <a:latin typeface="微软雅黑" panose="020B0503020204020204" pitchFamily="34" charset="-122"/>
                <a:ea typeface="微软雅黑" panose="020B0503020204020204" pitchFamily="34" charset="-122"/>
                <a:sym typeface="+mn-ea"/>
              </a:rPr>
              <a:t>ZSAR</a:t>
            </a:r>
            <a:r>
              <a:rPr lang="zh-CN" altLang="en-US" sz="2400" b="1" dirty="0">
                <a:gradFill>
                  <a:gsLst>
                    <a:gs pos="51300">
                      <a:srgbClr val="FE5F4A"/>
                    </a:gs>
                    <a:gs pos="0">
                      <a:srgbClr val="DF0303"/>
                    </a:gs>
                    <a:gs pos="100000">
                      <a:srgbClr val="FEA06E"/>
                    </a:gs>
                  </a:gsLst>
                  <a:lin ang="5400000" scaled="1"/>
                </a:gradFill>
                <a:latin typeface="微软雅黑" panose="020B0503020204020204" pitchFamily="34" charset="-122"/>
                <a:ea typeface="微软雅黑" panose="020B0503020204020204" pitchFamily="34" charset="-122"/>
                <a:sym typeface="+mn-ea"/>
              </a:rPr>
              <a:t>性能</a:t>
            </a:r>
            <a:r>
              <a:rPr lang="zh-CN" altLang="en-US" sz="2000" b="1" dirty="0">
                <a:solidFill>
                  <a:srgbClr val="0070C0"/>
                </a:solidFill>
                <a:latin typeface="微软雅黑" panose="020B0503020204020204" pitchFamily="34" charset="-122"/>
                <a:ea typeface="微软雅黑" panose="020B0503020204020204" pitchFamily="34" charset="-122"/>
              </a:rPr>
              <a:t>的同时</a:t>
            </a:r>
            <a:r>
              <a:rPr lang="zh-CN" altLang="en-US" sz="2400" b="1" dirty="0">
                <a:gradFill>
                  <a:gsLst>
                    <a:gs pos="51300">
                      <a:srgbClr val="FE5F4A"/>
                    </a:gs>
                    <a:gs pos="0">
                      <a:srgbClr val="DF0303"/>
                    </a:gs>
                    <a:gs pos="100000">
                      <a:srgbClr val="FEA06E"/>
                    </a:gs>
                  </a:gsLst>
                  <a:lin ang="5400000" scaled="1"/>
                </a:gradFill>
                <a:latin typeface="微软雅黑" panose="020B0503020204020204" pitchFamily="34" charset="-122"/>
                <a:ea typeface="微软雅黑" panose="020B0503020204020204" pitchFamily="34" charset="-122"/>
                <a:sym typeface="+mn-ea"/>
              </a:rPr>
              <a:t>保留跨模态对齐信息</a:t>
            </a:r>
            <a:r>
              <a:rPr lang="zh-CN" altLang="en-US" sz="2000" b="1" dirty="0">
                <a:solidFill>
                  <a:srgbClr val="0070C0"/>
                </a:solidFill>
                <a:latin typeface="微软雅黑" panose="020B0503020204020204" pitchFamily="34" charset="-122"/>
                <a:ea typeface="微软雅黑" panose="020B0503020204020204" pitchFamily="34" charset="-122"/>
              </a:rPr>
              <a:t>，解决了传统对抗微调破坏图文对齐、导致零样本泛化能力下降的问题。</a:t>
            </a:r>
          </a:p>
        </p:txBody>
      </p:sp>
      <p:sp>
        <p:nvSpPr>
          <p:cNvPr id="4" name="矩形 3"/>
          <p:cNvSpPr/>
          <p:nvPr/>
        </p:nvSpPr>
        <p:spPr>
          <a:xfrm>
            <a:off x="9651365" y="0"/>
            <a:ext cx="2617470" cy="664210"/>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sz="2200" b="1" dirty="0">
                <a:solidFill>
                  <a:schemeClr val="bg1"/>
                </a:solidFill>
                <a:latin typeface="微软雅黑" panose="020B0503020204020204" pitchFamily="34" charset="-122"/>
                <a:ea typeface="微软雅黑" panose="020B0503020204020204" pitchFamily="34" charset="-122"/>
                <a:cs typeface="Calibri" panose="020F0502020204030204" pitchFamily="34" charset="0"/>
              </a:rPr>
              <a:t>结论与启发</a:t>
            </a:r>
          </a:p>
        </p:txBody>
      </p:sp>
      <p:sp>
        <p:nvSpPr>
          <p:cNvPr id="2" name="矩形: 圆角 17"/>
          <p:cNvSpPr/>
          <p:nvPr>
            <p:custDataLst>
              <p:tags r:id="rId2"/>
            </p:custDataLst>
          </p:nvPr>
        </p:nvSpPr>
        <p:spPr>
          <a:xfrm>
            <a:off x="259080" y="2590800"/>
            <a:ext cx="3632200" cy="365696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custDataLst>
              <p:tags r:id="rId3"/>
            </p:custDataLst>
          </p:nvPr>
        </p:nvSpPr>
        <p:spPr>
          <a:xfrm>
            <a:off x="4124325" y="2590800"/>
            <a:ext cx="3646805" cy="365315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custDataLst>
              <p:tags r:id="rId4"/>
            </p:custDataLst>
          </p:nvPr>
        </p:nvSpPr>
        <p:spPr>
          <a:xfrm>
            <a:off x="8009255" y="2590800"/>
            <a:ext cx="3919220" cy="3659505"/>
          </a:xfrm>
          <a:prstGeom prst="roundRect">
            <a:avLst>
              <a:gd name="adj" fmla="val 4162"/>
            </a:avLst>
          </a:prstGeom>
          <a:solidFill>
            <a:schemeClr val="bg1"/>
          </a:solidFill>
          <a:ln w="12700">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custDataLst>
              <p:tags r:id="rId5"/>
            </p:custDataLst>
          </p:nvPr>
        </p:nvSpPr>
        <p:spPr>
          <a:xfrm>
            <a:off x="431800" y="3284855"/>
            <a:ext cx="3287395" cy="2750185"/>
          </a:xfrm>
          <a:prstGeom prst="rect">
            <a:avLst/>
          </a:prstGeom>
          <a:solidFill>
            <a:schemeClr val="bg1">
              <a:lumMod val="95000"/>
              <a:alpha val="6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marL="285750" indent="-285750" algn="l">
              <a:lnSpc>
                <a:spcPct val="140000"/>
              </a:lnSpc>
              <a:buFont typeface="Wingdings" panose="05000000000000000000" charset="0"/>
              <a:buChar char="Ø"/>
            </a:pPr>
            <a:r>
              <a:rPr kumimoji="1" lang="en-US" altLang="zh-CN" sz="1600">
                <a:ln w="12700">
                  <a:noFill/>
                </a:ln>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AGFT </a:t>
            </a:r>
            <a:r>
              <a:rPr kumimoji="1" lang="zh-CN" altLang="en-US" sz="1600">
                <a:ln w="12700">
                  <a:noFill/>
                </a:ln>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框架为</a:t>
            </a:r>
            <a:r>
              <a:rPr kumimoji="1" lang="en-US" altLang="zh-CN" sz="1600">
                <a:ln w="12700">
                  <a:noFill/>
                </a:ln>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VLM </a:t>
            </a:r>
            <a:r>
              <a:rPr kumimoji="1" lang="zh-CN" altLang="en-US" sz="1600">
                <a:ln w="12700">
                  <a:noFill/>
                </a:ln>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微调提供了一种新的</a:t>
            </a:r>
            <a:r>
              <a:rPr kumimoji="1" lang="zh-CN" altLang="en-US" sz="1600" b="1">
                <a:ln w="12700">
                  <a:noFill/>
                </a:ln>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有效方法</a:t>
            </a:r>
            <a:r>
              <a:rPr kumimoji="1" lang="en-US" altLang="zh-CN" sz="1600">
                <a:ln w="12700">
                  <a:noFill/>
                </a:ln>
                <a:solidFill>
                  <a:srgbClr val="262626">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indent="-285750" algn="l">
              <a:lnSpc>
                <a:spcPct val="140000"/>
              </a:lnSpc>
              <a:buFont typeface="Wingdings" panose="05000000000000000000" charset="0"/>
              <a:buChar char="Ø"/>
            </a:pPr>
            <a:r>
              <a:rPr kumimoji="1" lang="zh-CN" altLang="en-US" sz="1600">
                <a:ln w="12700">
                  <a:noFill/>
                </a:ln>
                <a:solidFill>
                  <a:srgbClr val="262626">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分析了对抗微调破坏跨模态对齐的原因，为方法设计</a:t>
            </a:r>
            <a:r>
              <a:rPr kumimoji="1" lang="zh-CN" altLang="en-US" sz="1600">
                <a:ln w="12700">
                  <a:noFill/>
                </a:ln>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提供了</a:t>
            </a:r>
            <a:r>
              <a:rPr kumimoji="1" lang="zh-CN" altLang="en-US" sz="1600" b="1">
                <a:ln w="12700">
                  <a:noFill/>
                </a:ln>
                <a:solidFill>
                  <a:schemeClr val="accent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理论依据</a:t>
            </a:r>
            <a:r>
              <a:rPr kumimoji="1" lang="zh-CN" altLang="en-US" sz="1600">
                <a:ln w="12700">
                  <a:noFill/>
                </a:ln>
                <a:solidFill>
                  <a:srgbClr val="262626">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indent="-285750" algn="l">
              <a:lnSpc>
                <a:spcPct val="140000"/>
              </a:lnSpc>
              <a:buFont typeface="Wingdings" panose="05000000000000000000" charset="0"/>
              <a:buChar char="Ø"/>
            </a:pP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计算效率高，具备</a:t>
            </a:r>
            <a:r>
              <a:rPr lang="zh-CN" altLang="en-US" sz="16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实际应用价值</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，可扩展至更广泛的 </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VLM </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下游任务。</a:t>
            </a:r>
          </a:p>
        </p:txBody>
      </p:sp>
      <p:sp>
        <p:nvSpPr>
          <p:cNvPr id="6" name="矩形 5"/>
          <p:cNvSpPr/>
          <p:nvPr>
            <p:custDataLst>
              <p:tags r:id="rId6"/>
            </p:custDataLst>
          </p:nvPr>
        </p:nvSpPr>
        <p:spPr>
          <a:xfrm>
            <a:off x="766445" y="2766695"/>
            <a:ext cx="2617470" cy="376555"/>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1600" b="1">
                <a:ln w="12700">
                  <a:noFill/>
                </a:ln>
                <a:solidFill>
                  <a:schemeClr val="bg1">
                    <a:alpha val="100000"/>
                  </a:schemeClr>
                </a:solidFill>
                <a:latin typeface="微软雅黑" panose="020B0503020204020204" pitchFamily="34" charset="-122"/>
                <a:ea typeface="微软雅黑" panose="020B0503020204020204" pitchFamily="34" charset="-122"/>
                <a:cs typeface="Source Han Sans CN Bold" panose="020B0800000000000000" charset="-122"/>
                <a:sym typeface="+mn-ea"/>
              </a:rPr>
              <a:t>对</a:t>
            </a:r>
            <a:r>
              <a:rPr kumimoji="1" lang="zh-CN" altLang="en-US" sz="1600" b="1">
                <a:ln w="12700">
                  <a:noFill/>
                </a:ln>
                <a:solidFill>
                  <a:schemeClr val="bg1">
                    <a:alpha val="100000"/>
                  </a:schemeClr>
                </a:solidFill>
                <a:latin typeface="微软雅黑" panose="020B0503020204020204" pitchFamily="34" charset="-122"/>
                <a:ea typeface="微软雅黑" panose="020B0503020204020204" pitchFamily="34" charset="-122"/>
                <a:cs typeface="Source Han Sans CN Bold" panose="020B0800000000000000" charset="-122"/>
                <a:sym typeface="+mn-ea"/>
              </a:rPr>
              <a:t>视觉语言模型</a:t>
            </a:r>
            <a:r>
              <a:rPr kumimoji="1" lang="en-US" altLang="zh-CN" sz="1600" b="1">
                <a:ln w="12700">
                  <a:noFill/>
                </a:ln>
                <a:solidFill>
                  <a:schemeClr val="bg1">
                    <a:alpha val="100000"/>
                  </a:schemeClr>
                </a:solidFill>
                <a:latin typeface="微软雅黑" panose="020B0503020204020204" pitchFamily="34" charset="-122"/>
                <a:ea typeface="微软雅黑" panose="020B0503020204020204" pitchFamily="34" charset="-122"/>
                <a:cs typeface="Source Han Sans CN Bold" panose="020B0800000000000000" charset="-122"/>
                <a:sym typeface="+mn-ea"/>
              </a:rPr>
              <a:t>的贡献</a:t>
            </a:r>
            <a:endParaRPr kumimoji="1" lang="en-US" altLang="zh-CN" sz="1600" b="1" dirty="0">
              <a:ln w="12700">
                <a:noFill/>
              </a:ln>
              <a:solidFill>
                <a:schemeClr val="bg1">
                  <a:alpha val="100000"/>
                </a:schemeClr>
              </a:solidFill>
              <a:latin typeface="微软雅黑" panose="020B0503020204020204" pitchFamily="34" charset="-122"/>
              <a:ea typeface="微软雅黑" panose="020B0503020204020204" pitchFamily="34" charset="-122"/>
              <a:cs typeface="Source Han Sans CN Bold" panose="020B0800000000000000" charset="-122"/>
              <a:sym typeface="+mn-ea"/>
            </a:endParaRPr>
          </a:p>
        </p:txBody>
      </p:sp>
      <p:sp>
        <p:nvSpPr>
          <p:cNvPr id="7" name="矩形 6"/>
          <p:cNvSpPr/>
          <p:nvPr>
            <p:custDataLst>
              <p:tags r:id="rId7"/>
            </p:custDataLst>
          </p:nvPr>
        </p:nvSpPr>
        <p:spPr>
          <a:xfrm>
            <a:off x="5100955" y="2729230"/>
            <a:ext cx="1694180" cy="414655"/>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zh-CN" altLang="en-US" sz="1600" b="1">
                <a:ln w="12700">
                  <a:noFill/>
                </a:ln>
                <a:solidFill>
                  <a:srgbClr val="FFFFFF">
                    <a:alpha val="100000"/>
                  </a:srgbClr>
                </a:solidFill>
                <a:latin typeface="微软雅黑" panose="020B0503020204020204" pitchFamily="34" charset="-122"/>
                <a:ea typeface="微软雅黑" panose="020B0503020204020204" pitchFamily="34" charset="-122"/>
                <a:cs typeface="Source Han Sans CN Bold" panose="020B0800000000000000" charset="-122"/>
                <a:sym typeface="+mn-ea"/>
              </a:rPr>
              <a:t>方法设计</a:t>
            </a:r>
            <a:r>
              <a:rPr kumimoji="1" lang="en-US" altLang="zh-CN" sz="1600" b="1">
                <a:ln w="12700">
                  <a:noFill/>
                </a:ln>
                <a:solidFill>
                  <a:srgbClr val="FFFFFF">
                    <a:alpha val="100000"/>
                  </a:srgbClr>
                </a:solidFill>
                <a:latin typeface="微软雅黑" panose="020B0503020204020204" pitchFamily="34" charset="-122"/>
                <a:ea typeface="微软雅黑" panose="020B0503020204020204" pitchFamily="34" charset="-122"/>
                <a:cs typeface="Source Han Sans CN Bold" panose="020B0800000000000000" charset="-122"/>
                <a:sym typeface="+mn-ea"/>
              </a:rPr>
              <a:t>的启示</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custDataLst>
              <p:tags r:id="rId8"/>
            </p:custDataLst>
          </p:nvPr>
        </p:nvSpPr>
        <p:spPr>
          <a:xfrm>
            <a:off x="9036050" y="2733675"/>
            <a:ext cx="1694180" cy="376555"/>
          </a:xfrm>
          <a:prstGeom prst="rect">
            <a:avLst/>
          </a:prstGeom>
          <a:solidFill>
            <a:schemeClr val="accent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5000"/>
              </a:lnSpc>
            </a:pPr>
            <a:r>
              <a:rPr lang="zh-CN" altLang="en-US" sz="1600" b="1" dirty="0">
                <a:solidFill>
                  <a:schemeClr val="bg1"/>
                </a:solidFill>
                <a:latin typeface="微软雅黑" panose="020B0503020204020204" pitchFamily="34" charset="-122"/>
                <a:ea typeface="微软雅黑" panose="020B0503020204020204" pitchFamily="34" charset="-122"/>
              </a:rPr>
              <a:t>未来工作方向</a:t>
            </a:r>
          </a:p>
        </p:txBody>
      </p:sp>
      <p:sp>
        <p:nvSpPr>
          <p:cNvPr id="55" name="矩形 54"/>
          <p:cNvSpPr/>
          <p:nvPr>
            <p:custDataLst>
              <p:tags r:id="rId9"/>
            </p:custDataLst>
          </p:nvPr>
        </p:nvSpPr>
        <p:spPr>
          <a:xfrm>
            <a:off x="4369435" y="3284855"/>
            <a:ext cx="3152775" cy="2750185"/>
          </a:xfrm>
          <a:prstGeom prst="rect">
            <a:avLst/>
          </a:prstGeom>
          <a:solidFill>
            <a:schemeClr val="bg1">
              <a:lumMod val="95000"/>
              <a:alpha val="6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indent="0" algn="ctr">
              <a:lnSpc>
                <a:spcPct val="125000"/>
              </a:lnSpc>
              <a:buFont typeface="Wingdings" panose="05000000000000000000" pitchFamily="2" charset="2"/>
              <a:buNone/>
            </a:pPr>
            <a:r>
              <a:rPr kumimoji="1" lang="zh-CN" altLang="en-US" b="1" dirty="0">
                <a:ln w="12700">
                  <a:noFill/>
                </a:ln>
                <a:solidFill>
                  <a:schemeClr val="tx1">
                    <a:alpha val="100000"/>
                  </a:schemeClr>
                </a:solidFill>
                <a:latin typeface="微软雅黑" panose="020B0503020204020204" pitchFamily="34" charset="-122"/>
                <a:ea typeface="微软雅黑" panose="020B0503020204020204" pitchFamily="34" charset="-122"/>
                <a:cs typeface="Source Han Sans" panose="020B0400000000000000" charset="-122"/>
                <a:sym typeface="+mn-ea"/>
              </a:rPr>
              <a:t>软分布替代硬标签的策略为多模态监督信号设计提供了新思路，可推广到其他需要保留结构信息的任务。</a:t>
            </a:r>
          </a:p>
        </p:txBody>
      </p:sp>
      <p:sp>
        <p:nvSpPr>
          <p:cNvPr id="56" name="矩形 55"/>
          <p:cNvSpPr/>
          <p:nvPr>
            <p:custDataLst>
              <p:tags r:id="rId10"/>
            </p:custDataLst>
          </p:nvPr>
        </p:nvSpPr>
        <p:spPr>
          <a:xfrm>
            <a:off x="8219440" y="3284855"/>
            <a:ext cx="3395980" cy="2750185"/>
          </a:xfrm>
          <a:prstGeom prst="rect">
            <a:avLst/>
          </a:prstGeom>
          <a:solidFill>
            <a:schemeClr val="bg1">
              <a:lumMod val="95000"/>
              <a:alpha val="6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90000" tIns="0" rIns="0" bIns="0" rtlCol="0" anchor="ctr"/>
          <a:lstStyle/>
          <a:p>
            <a:pPr marL="285750" indent="-285750">
              <a:lnSpc>
                <a:spcPct val="135000"/>
              </a:lnSpc>
              <a:buFont typeface="Wingdings" panose="05000000000000000000" charset="0"/>
              <a:buChar char="Ø"/>
            </a:pPr>
            <a:r>
              <a:rPr lang="zh-CN" altLang="en-US" sz="1600" b="1" dirty="0">
                <a:solidFill>
                  <a:schemeClr val="accent1"/>
                </a:solidFill>
                <a:latin typeface="微软雅黑" panose="020B0503020204020204" pitchFamily="34" charset="-122"/>
                <a:ea typeface="微软雅黑" panose="020B0503020204020204" pitchFamily="34" charset="-122"/>
              </a:rPr>
              <a:t>扩展威胁模型：</a:t>
            </a:r>
            <a:r>
              <a:rPr lang="zh-CN" altLang="en-US" sz="1600" dirty="0">
                <a:solidFill>
                  <a:schemeClr val="tx1"/>
                </a:solidFill>
                <a:latin typeface="微软雅黑" panose="020B0503020204020204" pitchFamily="34" charset="-122"/>
                <a:ea typeface="微软雅黑" panose="020B0503020204020204" pitchFamily="34" charset="-122"/>
              </a:rPr>
              <a:t>从 </a:t>
            </a:r>
            <a:r>
              <a:rPr lang="en-US" altLang="en-US" sz="1600" dirty="0">
                <a:solidFill>
                  <a:schemeClr val="tx1"/>
                </a:solidFill>
                <a:latin typeface="微软雅黑" panose="020B0503020204020204" pitchFamily="34" charset="-122"/>
                <a:ea typeface="微软雅黑" panose="020B0503020204020204" pitchFamily="34" charset="-122"/>
              </a:rPr>
              <a:t>ℓ∞ </a:t>
            </a:r>
            <a:r>
              <a:rPr lang="zh-CN" altLang="en-US" sz="1600" dirty="0">
                <a:solidFill>
                  <a:schemeClr val="tx1"/>
                </a:solidFill>
                <a:latin typeface="微软雅黑" panose="020B0503020204020204" pitchFamily="34" charset="-122"/>
                <a:ea typeface="微软雅黑" panose="020B0503020204020204" pitchFamily="34" charset="-122"/>
              </a:rPr>
              <a:t>扩展到 </a:t>
            </a:r>
            <a:r>
              <a:rPr lang="en-US" altLang="en-US" sz="1600" dirty="0">
                <a:solidFill>
                  <a:schemeClr val="tx1"/>
                </a:solidFill>
                <a:latin typeface="微软雅黑" panose="020B0503020204020204" pitchFamily="34" charset="-122"/>
                <a:ea typeface="微软雅黑" panose="020B0503020204020204" pitchFamily="34" charset="-122"/>
              </a:rPr>
              <a:t>ℓ₂、</a:t>
            </a:r>
            <a:r>
              <a:rPr lang="zh-CN" altLang="en-US" sz="1600" dirty="0">
                <a:solidFill>
                  <a:schemeClr val="tx1"/>
                </a:solidFill>
                <a:latin typeface="微软雅黑" panose="020B0503020204020204" pitchFamily="34" charset="-122"/>
                <a:ea typeface="微软雅黑" panose="020B0503020204020204" pitchFamily="34" charset="-122"/>
              </a:rPr>
              <a:t>文本级攻击、联合文本-图像攻击</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indent="-285750">
              <a:lnSpc>
                <a:spcPct val="135000"/>
              </a:lnSpc>
              <a:buFont typeface="Wingdings" panose="05000000000000000000" charset="0"/>
              <a:buChar char="Ø"/>
            </a:pPr>
            <a:r>
              <a:rPr lang="zh-CN" altLang="en-US" sz="1600" b="1" dirty="0">
                <a:solidFill>
                  <a:schemeClr val="accent1"/>
                </a:solidFill>
                <a:latin typeface="微软雅黑" panose="020B0503020204020204" pitchFamily="34" charset="-122"/>
                <a:ea typeface="微软雅黑" panose="020B0503020204020204" pitchFamily="34" charset="-122"/>
              </a:rPr>
              <a:t>扩展模型架构</a:t>
            </a:r>
            <a:r>
              <a:rPr lang="zh-CN" altLang="en-US" sz="1600"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tx1"/>
                </a:solidFill>
                <a:latin typeface="微软雅黑" panose="020B0503020204020204" pitchFamily="34" charset="-122"/>
                <a:ea typeface="微软雅黑" panose="020B0503020204020204" pitchFamily="34" charset="-122"/>
              </a:rPr>
              <a:t>从</a:t>
            </a:r>
            <a:r>
              <a:rPr lang="en-US" altLang="zh-CN" sz="1600" dirty="0">
                <a:solidFill>
                  <a:schemeClr val="tx1"/>
                </a:solidFill>
                <a:latin typeface="微软雅黑" panose="020B0503020204020204" pitchFamily="34" charset="-122"/>
                <a:ea typeface="微软雅黑" panose="020B0503020204020204" pitchFamily="34" charset="-122"/>
              </a:rPr>
              <a:t>CLIP</a:t>
            </a:r>
            <a:r>
              <a:rPr lang="zh-CN" altLang="en-US" sz="1600" dirty="0">
                <a:solidFill>
                  <a:schemeClr val="tx1"/>
                </a:solidFill>
                <a:latin typeface="微软雅黑" panose="020B0503020204020204" pitchFamily="34" charset="-122"/>
                <a:ea typeface="微软雅黑" panose="020B0503020204020204" pitchFamily="34" charset="-122"/>
              </a:rPr>
              <a:t>扩展到其他跨模态模型和</a:t>
            </a:r>
            <a:r>
              <a:rPr lang="en-US" altLang="zh-CN" sz="1600" dirty="0">
                <a:solidFill>
                  <a:schemeClr val="tx1"/>
                </a:solidFill>
                <a:latin typeface="微软雅黑" panose="020B0503020204020204" pitchFamily="34" charset="-122"/>
                <a:ea typeface="微软雅黑" panose="020B0503020204020204" pitchFamily="34" charset="-122"/>
              </a:rPr>
              <a:t>Transformer</a:t>
            </a:r>
            <a:r>
              <a:rPr lang="zh-CN" altLang="en-US" sz="1600" dirty="0">
                <a:solidFill>
                  <a:schemeClr val="tx1"/>
                </a:solidFill>
                <a:latin typeface="微软雅黑" panose="020B0503020204020204" pitchFamily="34" charset="-122"/>
                <a:ea typeface="微软雅黑" panose="020B0503020204020204" pitchFamily="34" charset="-122"/>
              </a:rPr>
              <a:t>架构</a:t>
            </a:r>
            <a:endParaRPr lang="en-US" altLang="zh-CN" sz="1600" dirty="0">
              <a:solidFill>
                <a:schemeClr val="tx1"/>
              </a:solidFill>
              <a:latin typeface="微软雅黑" panose="020B0503020204020204" pitchFamily="34" charset="-122"/>
              <a:ea typeface="微软雅黑" panose="020B0503020204020204" pitchFamily="34" charset="-122"/>
            </a:endParaRPr>
          </a:p>
          <a:p>
            <a:pPr marL="285750" indent="-285750">
              <a:lnSpc>
                <a:spcPct val="135000"/>
              </a:lnSpc>
              <a:buFont typeface="Wingdings" panose="05000000000000000000" charset="0"/>
              <a:buChar char="Ø"/>
            </a:pPr>
            <a:r>
              <a:rPr lang="zh-CN" altLang="en-US" sz="1600" b="1" dirty="0">
                <a:solidFill>
                  <a:schemeClr val="accent1"/>
                </a:solidFill>
                <a:latin typeface="微软雅黑" panose="020B0503020204020204" pitchFamily="34" charset="-122"/>
                <a:ea typeface="微软雅黑" panose="020B0503020204020204" pitchFamily="34" charset="-122"/>
              </a:rPr>
              <a:t>扩展下游任务：</a:t>
            </a:r>
            <a:r>
              <a:rPr lang="zh-CN" altLang="en-US" sz="1600" dirty="0">
                <a:solidFill>
                  <a:schemeClr val="tx1"/>
                </a:solidFill>
                <a:latin typeface="微软雅黑" panose="020B0503020204020204" pitchFamily="34" charset="-122"/>
                <a:ea typeface="微软雅黑" panose="020B0503020204020204" pitchFamily="34" charset="-122"/>
              </a:rPr>
              <a:t>从零样本分类扩展到视觉问答、图像描述等。</a:t>
            </a:r>
          </a:p>
        </p:txBody>
      </p:sp>
      <p:sp>
        <p:nvSpPr>
          <p:cNvPr id="5" name="灯片编号占位符 18"/>
          <p:cNvSpPr txBox="1"/>
          <p:nvPr/>
        </p:nvSpPr>
        <p:spPr>
          <a:xfrm>
            <a:off x="9302750" y="6356350"/>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97AA5570-5C36-4F12-A1EB-4155A99A1666}" type="slidenum">
              <a:rPr lang="zh-CN" altLang="en-US" smtClean="0"/>
              <a:t>63</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 y="1847849"/>
            <a:ext cx="12192000" cy="26674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4800" b="1" dirty="0">
                <a:solidFill>
                  <a:schemeClr val="bg1"/>
                </a:solidFill>
                <a:latin typeface="微软雅黑" panose="020B0503020204020204" pitchFamily="34" charset="-122"/>
                <a:ea typeface="微软雅黑" panose="020B0503020204020204" pitchFamily="34" charset="-122"/>
                <a:sym typeface="+mn-ea"/>
              </a:rPr>
              <a:t>感谢观看与聆听！</a:t>
            </a:r>
            <a:endParaRPr lang="zh-CN" altLang="en-US" sz="4800" b="1" dirty="0">
              <a:solidFill>
                <a:schemeClr val="bg1"/>
              </a:solidFill>
              <a:latin typeface="微软雅黑" panose="020B0503020204020204" pitchFamily="34" charset="-122"/>
              <a:ea typeface="微软雅黑" panose="020B0503020204020204" pitchFamily="34" charset="-122"/>
            </a:endParaRPr>
          </a:p>
          <a:p>
            <a:pPr algn="ctr">
              <a:lnSpc>
                <a:spcPct val="150000"/>
              </a:lnSpc>
            </a:pPr>
            <a:r>
              <a:rPr lang="en-US" altLang="zh-CN" sz="4800" b="1" dirty="0">
                <a:solidFill>
                  <a:schemeClr val="bg1"/>
                </a:solidFill>
                <a:latin typeface="微软雅黑" panose="020B0503020204020204" pitchFamily="34" charset="-122"/>
                <a:ea typeface="微软雅黑" panose="020B0503020204020204" pitchFamily="34" charset="-122"/>
                <a:sym typeface="+mn-ea"/>
              </a:rPr>
              <a:t>THANKS</a:t>
            </a:r>
            <a:endParaRPr lang="en-US" altLang="zh-CN" sz="4800" b="1" dirty="0">
              <a:solidFill>
                <a:schemeClr val="bg1"/>
              </a:solidFill>
              <a:effectLst/>
              <a:latin typeface="微软雅黑" panose="020B0503020204020204" pitchFamily="34" charset="-122"/>
              <a:ea typeface="微软雅黑" panose="020B0503020204020204" pitchFamily="34" charset="-122"/>
            </a:endParaRPr>
          </a:p>
        </p:txBody>
      </p:sp>
      <p:graphicFrame>
        <p:nvGraphicFramePr>
          <p:cNvPr id="10" name="表格 2"/>
          <p:cNvGraphicFramePr>
            <a:graphicFrameLocks noGrp="1"/>
          </p:cNvGraphicFramePr>
          <p:nvPr/>
        </p:nvGraphicFramePr>
        <p:xfrm>
          <a:off x="3844450" y="4829446"/>
          <a:ext cx="4683234" cy="1319530"/>
        </p:xfrm>
        <a:graphic>
          <a:graphicData uri="http://schemas.openxmlformats.org/drawingml/2006/table">
            <a:tbl>
              <a:tblPr firstRow="1" bandRow="1">
                <a:tableStyleId>{2D5ABB26-0587-4C30-8999-92F81FD0307C}</a:tableStyleId>
              </a:tblPr>
              <a:tblGrid>
                <a:gridCol w="1618531">
                  <a:extLst>
                    <a:ext uri="{9D8B030D-6E8A-4147-A177-3AD203B41FA5}">
                      <a16:colId xmlns:a16="http://schemas.microsoft.com/office/drawing/2014/main" val="20000"/>
                    </a:ext>
                  </a:extLst>
                </a:gridCol>
                <a:gridCol w="377190">
                  <a:extLst>
                    <a:ext uri="{9D8B030D-6E8A-4147-A177-3AD203B41FA5}">
                      <a16:colId xmlns:a16="http://schemas.microsoft.com/office/drawing/2014/main" val="20001"/>
                    </a:ext>
                  </a:extLst>
                </a:gridCol>
                <a:gridCol w="2687513">
                  <a:extLst>
                    <a:ext uri="{9D8B030D-6E8A-4147-A177-3AD203B41FA5}">
                      <a16:colId xmlns:a16="http://schemas.microsoft.com/office/drawing/2014/main" val="20002"/>
                    </a:ext>
                  </a:extLst>
                </a:gridCol>
              </a:tblGrid>
              <a:tr h="1319530">
                <a:tc>
                  <a:txBody>
                    <a:bodyPr/>
                    <a:lstStyle/>
                    <a:p>
                      <a:pPr marL="0" algn="dist" defTabSz="457200" rtl="0" eaLnBrk="1" latinLnBrk="0" hangingPunct="1">
                        <a:lnSpc>
                          <a:spcPct val="150000"/>
                        </a:lnSpc>
                      </a:pPr>
                      <a:endParaRPr lang="zh-CN" altLang="en-US" sz="1800" b="1"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457200" rtl="0" eaLnBrk="1" latinLnBrk="0" hangingPunct="1">
                        <a:lnSpc>
                          <a:spcPct val="150000"/>
                        </a:lnSpc>
                      </a:pPr>
                      <a:endParaRPr lang="zh-CN" altLang="en-US" sz="1800" b="1"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200" rtl="0" eaLnBrk="1" latinLnBrk="0" hangingPunct="1">
                        <a:lnSpc>
                          <a:spcPct val="150000"/>
                        </a:lnSpc>
                      </a:pPr>
                      <a:endParaRPr lang="zh-CN" altLang="en-US" sz="180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0" y="469900"/>
            <a:ext cx="12192000" cy="2570480"/>
          </a:xfrm>
        </p:spPr>
        <p:txBody>
          <a:bodyPr>
            <a:normAutofit/>
          </a:bodyPr>
          <a:lstStyle/>
          <a:p>
            <a:pPr marL="0" indent="0" algn="ctr">
              <a:lnSpc>
                <a:spcPct val="120000"/>
              </a:lnSpc>
              <a:spcBef>
                <a:spcPts val="600"/>
              </a:spcBef>
              <a:spcAft>
                <a:spcPts val="600"/>
              </a:spcAft>
            </a:pPr>
            <a:r>
              <a:rPr lang="en-US" altLang="zh-CN" sz="3555" b="1">
                <a:latin typeface="Times New Roman Bold" panose="02020503050405090304" charset="0"/>
                <a:cs typeface="Times New Roman Bold" panose="02020503050405090304" charset="0"/>
              </a:rPr>
              <a:t>Revisiting Visual Corruptions in LVLMs:</a:t>
            </a:r>
            <a:br>
              <a:rPr lang="en-US" altLang="zh-CN" sz="3555" b="1">
                <a:latin typeface="Times New Roman Bold" panose="02020503050405090304" charset="0"/>
                <a:cs typeface="Times New Roman Bold" panose="02020503050405090304" charset="0"/>
              </a:rPr>
            </a:br>
            <a:r>
              <a:rPr lang="en-US" altLang="zh-CN" sz="3555" b="1">
                <a:latin typeface="Times New Roman Bold" panose="02020503050405090304" charset="0"/>
                <a:cs typeface="Times New Roman Bold" panose="02020503050405090304" charset="0"/>
              </a:rPr>
              <a:t>A Shape–Texture Perspective on Model Failures</a:t>
            </a:r>
          </a:p>
        </p:txBody>
      </p:sp>
      <p:sp>
        <p:nvSpPr>
          <p:cNvPr id="3" name="副标题 2"/>
          <p:cNvSpPr>
            <a:spLocks noGrp="1"/>
          </p:cNvSpPr>
          <p:nvPr>
            <p:ph type="subTitle" idx="1"/>
            <p:custDataLst>
              <p:tags r:id="rId3"/>
            </p:custDataLst>
          </p:nvPr>
        </p:nvSpPr>
        <p:spPr/>
        <p:txBody>
          <a:bodyPr>
            <a:normAutofit fontScale="95000"/>
          </a:bodyPr>
          <a:lstStyle/>
          <a:p>
            <a:r>
              <a:rPr lang="en-US" altLang="zh-CN"/>
              <a:t>Qiu X, Kan M, He Z, et al. Revisiting Visual Corruptions in LVLMs: A Shape-Texture Perspective on Model Failures[C]//Proceedings of the IEEE/CVF Conference on Computer Vision and Pattern Recognition. 2026: 40845-40854.</a:t>
            </a:r>
          </a:p>
        </p:txBody>
      </p:sp>
      <p:sp>
        <p:nvSpPr>
          <p:cNvPr id="4" name="文本框 3"/>
          <p:cNvSpPr txBox="1"/>
          <p:nvPr/>
        </p:nvSpPr>
        <p:spPr>
          <a:xfrm>
            <a:off x="4189730" y="5764530"/>
            <a:ext cx="3613150" cy="368300"/>
          </a:xfrm>
          <a:prstGeom prst="rect">
            <a:avLst/>
          </a:prstGeom>
          <a:noFill/>
        </p:spPr>
        <p:txBody>
          <a:bodyPr wrap="square" rtlCol="0">
            <a:spAutoFit/>
          </a:bodyPr>
          <a:lstStyle/>
          <a:p>
            <a:pPr algn="ctr"/>
            <a:r>
              <a:rPr lang="zh-CN" altLang="en-US">
                <a:solidFill>
                  <a:schemeClr val="tx1"/>
                </a:solidFill>
                <a:latin typeface="宋体" charset="0"/>
                <a:ea typeface="宋体" charset="0"/>
                <a:cs typeface="宋体" charset="0"/>
              </a:rPr>
              <a:t>主讲人：张城</a:t>
            </a:r>
            <a:r>
              <a:rPr lang="en-US" altLang="zh-CN">
                <a:solidFill>
                  <a:schemeClr val="tx1"/>
                </a:solidFill>
                <a:latin typeface="宋体" charset="0"/>
                <a:ea typeface="宋体" charset="0"/>
                <a:cs typeface="宋体" charset="0"/>
              </a:rPr>
              <a:t>2612192</a:t>
            </a:r>
          </a:p>
        </p:txBody>
      </p:sp>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582930" y="1177290"/>
            <a:ext cx="11176000" cy="5485130"/>
            <a:chOff x="643" y="750"/>
            <a:chExt cx="17600" cy="8638"/>
          </a:xfrm>
        </p:grpSpPr>
        <p:sp>
          <p:nvSpPr>
            <p:cNvPr id="5" name="文本框 4"/>
            <p:cNvSpPr txBox="1"/>
            <p:nvPr/>
          </p:nvSpPr>
          <p:spPr>
            <a:xfrm>
              <a:off x="2337" y="4576"/>
              <a:ext cx="3294" cy="1016"/>
            </a:xfrm>
            <a:prstGeom prst="rect">
              <a:avLst/>
            </a:prstGeom>
            <a:solidFill>
              <a:srgbClr val="E9687A"/>
            </a:solidFill>
          </p:spPr>
          <p:txBody>
            <a:bodyPr wrap="square" rtlCol="0">
              <a:spAutoFit/>
            </a:bodyPr>
            <a:lstStyle/>
            <a:p>
              <a:pPr algn="ctr"/>
              <a:r>
                <a:rPr lang="en-US" altLang="zh-CN"/>
                <a:t>LVLM</a:t>
              </a:r>
              <a:r>
                <a:rPr lang="zh-CN" altLang="en-US"/>
                <a:t>视觉退化</a:t>
              </a:r>
              <a:r>
                <a:rPr lang="en-US" altLang="zh-CN"/>
                <a:t>visual corruptions</a:t>
              </a:r>
              <a:endParaRPr lang="zh-CN" altLang="en-US"/>
            </a:p>
          </p:txBody>
        </p:sp>
        <p:sp>
          <p:nvSpPr>
            <p:cNvPr id="7" name="文本框 6"/>
            <p:cNvSpPr txBox="1"/>
            <p:nvPr/>
          </p:nvSpPr>
          <p:spPr>
            <a:xfrm>
              <a:off x="940" y="1532"/>
              <a:ext cx="2448" cy="1161"/>
            </a:xfrm>
            <a:prstGeom prst="rect">
              <a:avLst/>
            </a:prstGeom>
            <a:solidFill>
              <a:srgbClr val="B6B3D6"/>
            </a:solidFill>
          </p:spPr>
          <p:txBody>
            <a:bodyPr wrap="square" rtlCol="0" anchor="ctr" anchorCtr="0">
              <a:spAutoFit/>
            </a:bodyPr>
            <a:lstStyle/>
            <a:p>
              <a:pPr algn="ctr"/>
              <a:r>
                <a:rPr lang="zh-CN" altLang="en-US" sz="1400"/>
                <a:t>视觉基础不足</a:t>
              </a:r>
            </a:p>
            <a:p>
              <a:pPr algn="ctr"/>
              <a:r>
                <a:rPr lang="en-US" altLang="zh-CN" sz="1400"/>
                <a:t>insufficient visual grounding</a:t>
              </a:r>
            </a:p>
          </p:txBody>
        </p:sp>
        <p:sp>
          <p:nvSpPr>
            <p:cNvPr id="10" name="文本框 9"/>
            <p:cNvSpPr txBox="1"/>
            <p:nvPr/>
          </p:nvSpPr>
          <p:spPr>
            <a:xfrm>
              <a:off x="4265" y="1526"/>
              <a:ext cx="3201" cy="1161"/>
            </a:xfrm>
            <a:prstGeom prst="rect">
              <a:avLst/>
            </a:prstGeom>
            <a:solidFill>
              <a:srgbClr val="B6B3D6"/>
            </a:solidFill>
          </p:spPr>
          <p:txBody>
            <a:bodyPr wrap="square" rtlCol="0" anchor="ctr" anchorCtr="0">
              <a:spAutoFit/>
            </a:bodyPr>
            <a:lstStyle/>
            <a:p>
              <a:pPr algn="ctr"/>
              <a:r>
                <a:rPr lang="zh-CN" altLang="en-US" sz="1400"/>
                <a:t>过度依赖语言先验</a:t>
              </a:r>
            </a:p>
            <a:p>
              <a:pPr algn="ctr"/>
              <a:r>
                <a:rPr lang="en-US" altLang="zh-CN" sz="1400"/>
                <a:t>overreliance on language priors</a:t>
              </a:r>
            </a:p>
          </p:txBody>
        </p:sp>
        <p:sp>
          <p:nvSpPr>
            <p:cNvPr id="11" name="圆角矩形 10"/>
            <p:cNvSpPr/>
            <p:nvPr/>
          </p:nvSpPr>
          <p:spPr>
            <a:xfrm>
              <a:off x="643" y="750"/>
              <a:ext cx="7089" cy="2253"/>
            </a:xfrm>
            <a:prstGeom prst="roundRect">
              <a:avLst/>
            </a:prstGeom>
            <a:ln w="57150">
              <a:solidFill>
                <a:srgbClr val="D5D1D1"/>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2" name="文本框 11"/>
            <p:cNvSpPr txBox="1"/>
            <p:nvPr/>
          </p:nvSpPr>
          <p:spPr>
            <a:xfrm>
              <a:off x="2337" y="862"/>
              <a:ext cx="3343" cy="580"/>
            </a:xfrm>
            <a:prstGeom prst="rect">
              <a:avLst/>
            </a:prstGeom>
            <a:noFill/>
          </p:spPr>
          <p:txBody>
            <a:bodyPr wrap="square" rtlCol="0">
              <a:spAutoFit/>
            </a:bodyPr>
            <a:lstStyle/>
            <a:p>
              <a:pPr algn="ctr"/>
              <a:r>
                <a:rPr lang="zh-CN" altLang="en-US"/>
                <a:t>传统理论</a:t>
              </a:r>
            </a:p>
          </p:txBody>
        </p:sp>
        <p:sp>
          <p:nvSpPr>
            <p:cNvPr id="13" name="右箭头 12"/>
            <p:cNvSpPr/>
            <p:nvPr/>
          </p:nvSpPr>
          <p:spPr>
            <a:xfrm rot="5400000">
              <a:off x="3221" y="3435"/>
              <a:ext cx="1239" cy="761"/>
            </a:xfrm>
            <a:prstGeom prst="rightArrow">
              <a:avLst/>
            </a:prstGeom>
            <a:solidFill>
              <a:srgbClr val="D5D1D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圆角矩形 13"/>
            <p:cNvSpPr/>
            <p:nvPr/>
          </p:nvSpPr>
          <p:spPr>
            <a:xfrm>
              <a:off x="643" y="7136"/>
              <a:ext cx="7089" cy="2253"/>
            </a:xfrm>
            <a:prstGeom prst="roundRect">
              <a:avLst/>
            </a:prstGeom>
            <a:ln w="57150">
              <a:solidFill>
                <a:srgbClr val="D5D1D1"/>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5" name="上箭头 14"/>
            <p:cNvSpPr/>
            <p:nvPr/>
          </p:nvSpPr>
          <p:spPr>
            <a:xfrm>
              <a:off x="3461" y="5704"/>
              <a:ext cx="804" cy="1268"/>
            </a:xfrm>
            <a:prstGeom prst="upArrow">
              <a:avLst/>
            </a:prstGeom>
            <a:solidFill>
              <a:srgbClr val="DCDCDC"/>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文本框 15"/>
            <p:cNvSpPr txBox="1"/>
            <p:nvPr/>
          </p:nvSpPr>
          <p:spPr>
            <a:xfrm>
              <a:off x="1386" y="8390"/>
              <a:ext cx="2002" cy="580"/>
            </a:xfrm>
            <a:prstGeom prst="rect">
              <a:avLst/>
            </a:prstGeom>
            <a:solidFill>
              <a:srgbClr val="F8B2A2"/>
            </a:solidFill>
          </p:spPr>
          <p:txBody>
            <a:bodyPr wrap="square" rtlCol="0">
              <a:spAutoFit/>
            </a:bodyPr>
            <a:lstStyle/>
            <a:p>
              <a:pPr algn="ctr"/>
              <a:r>
                <a:rPr lang="zh-CN" altLang="en-US"/>
                <a:t>形状</a:t>
              </a:r>
              <a:r>
                <a:rPr lang="en-US" altLang="zh-CN"/>
                <a:t>shape</a:t>
              </a:r>
            </a:p>
          </p:txBody>
        </p:sp>
        <p:sp>
          <p:nvSpPr>
            <p:cNvPr id="17" name="文本框 16"/>
            <p:cNvSpPr txBox="1"/>
            <p:nvPr/>
          </p:nvSpPr>
          <p:spPr>
            <a:xfrm>
              <a:off x="4474" y="8390"/>
              <a:ext cx="2447" cy="580"/>
            </a:xfrm>
            <a:prstGeom prst="rect">
              <a:avLst/>
            </a:prstGeom>
            <a:solidFill>
              <a:srgbClr val="F8B2A2"/>
            </a:solidFill>
          </p:spPr>
          <p:txBody>
            <a:bodyPr wrap="square" rtlCol="0" anchor="ctr" anchorCtr="0">
              <a:spAutoFit/>
            </a:bodyPr>
            <a:lstStyle/>
            <a:p>
              <a:pPr algn="ctr"/>
              <a:r>
                <a:rPr lang="zh-CN" altLang="en-US"/>
                <a:t>纹理</a:t>
              </a:r>
              <a:r>
                <a:rPr lang="en-US" altLang="zh-CN"/>
                <a:t>texture</a:t>
              </a:r>
            </a:p>
          </p:txBody>
        </p:sp>
        <p:sp>
          <p:nvSpPr>
            <p:cNvPr id="18" name="文本框 17"/>
            <p:cNvSpPr txBox="1"/>
            <p:nvPr/>
          </p:nvSpPr>
          <p:spPr>
            <a:xfrm>
              <a:off x="2025" y="7391"/>
              <a:ext cx="3968" cy="580"/>
            </a:xfrm>
            <a:prstGeom prst="rect">
              <a:avLst/>
            </a:prstGeom>
            <a:noFill/>
          </p:spPr>
          <p:txBody>
            <a:bodyPr wrap="square" rtlCol="0">
              <a:spAutoFit/>
            </a:bodyPr>
            <a:lstStyle/>
            <a:p>
              <a:pPr algn="ctr"/>
              <a:r>
                <a:rPr lang="en-US" altLang="zh-CN"/>
                <a:t> </a:t>
              </a:r>
              <a:r>
                <a:rPr lang="zh-CN" altLang="en-US"/>
                <a:t>退化异质性</a:t>
              </a:r>
              <a:endParaRPr lang="en-US" altLang="zh-CN"/>
            </a:p>
          </p:txBody>
        </p:sp>
        <p:sp>
          <p:nvSpPr>
            <p:cNvPr id="19" name="右箭头 18"/>
            <p:cNvSpPr/>
            <p:nvPr/>
          </p:nvSpPr>
          <p:spPr>
            <a:xfrm rot="18840000">
              <a:off x="7449" y="6034"/>
              <a:ext cx="2072" cy="729"/>
            </a:xfrm>
            <a:prstGeom prst="rightArrow">
              <a:avLst/>
            </a:prstGeom>
            <a:solidFill>
              <a:srgbClr val="D5D1D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文本框 19"/>
            <p:cNvSpPr txBox="1"/>
            <p:nvPr/>
          </p:nvSpPr>
          <p:spPr>
            <a:xfrm>
              <a:off x="9516" y="4365"/>
              <a:ext cx="8540" cy="1016"/>
            </a:xfrm>
            <a:prstGeom prst="rect">
              <a:avLst/>
            </a:prstGeom>
            <a:solidFill>
              <a:srgbClr val="E6E6E6"/>
            </a:solidFill>
          </p:spPr>
          <p:txBody>
            <a:bodyPr wrap="square" rtlCol="0" anchor="t">
              <a:spAutoFit/>
            </a:bodyPr>
            <a:lstStyle/>
            <a:p>
              <a:pPr algn="ctr"/>
              <a:r>
                <a:rPr lang="zh-CN" altLang="en-US"/>
                <a:t>形状</a:t>
              </a:r>
              <a:r>
                <a:rPr lang="en-US" altLang="zh-CN"/>
                <a:t>-</a:t>
              </a:r>
              <a:r>
                <a:rPr lang="zh-CN" altLang="en-US"/>
                <a:t>纹理双路径对比解码</a:t>
              </a:r>
              <a:r>
                <a:rPr lang="en-US" altLang="zh-CN"/>
                <a:t>”</a:t>
              </a:r>
              <a:r>
                <a:rPr lang="zh-CN" altLang="en-US"/>
                <a:t>（</a:t>
              </a:r>
              <a:r>
                <a:rPr lang="en-US" altLang="zh-CN"/>
                <a:t>ST-CD</a:t>
              </a:r>
              <a:r>
                <a:rPr lang="zh-CN" altLang="en-US"/>
                <a:t>）框架</a:t>
              </a:r>
            </a:p>
            <a:p>
              <a:pPr algn="ctr"/>
              <a:r>
                <a:rPr lang="en-US" altLang="zh-CN"/>
                <a:t>Shape–Texture Dual-Path Contrastive Decoding</a:t>
              </a:r>
            </a:p>
          </p:txBody>
        </p:sp>
        <p:sp>
          <p:nvSpPr>
            <p:cNvPr id="21" name="圆角矩形 20"/>
            <p:cNvSpPr/>
            <p:nvPr/>
          </p:nvSpPr>
          <p:spPr>
            <a:xfrm>
              <a:off x="9305" y="4162"/>
              <a:ext cx="8939" cy="1374"/>
            </a:xfrm>
            <a:prstGeom prst="roundRect">
              <a:avLst/>
            </a:prstGeom>
            <a:ln w="57150">
              <a:solidFill>
                <a:srgbClr val="D5D1D1"/>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grpSp>
      <p:sp>
        <p:nvSpPr>
          <p:cNvPr id="24" name="文本框 23"/>
          <p:cNvSpPr txBox="1"/>
          <p:nvPr/>
        </p:nvSpPr>
        <p:spPr>
          <a:xfrm>
            <a:off x="744220" y="382905"/>
            <a:ext cx="6096000" cy="583565"/>
          </a:xfrm>
          <a:prstGeom prst="rect">
            <a:avLst/>
          </a:prstGeom>
          <a:noFill/>
        </p:spPr>
        <p:txBody>
          <a:bodyPr wrap="square" rtlCol="0" anchor="t">
            <a:spAutoFit/>
          </a:bodyPr>
          <a:lstStyle/>
          <a:p>
            <a:r>
              <a:rPr lang="en-US" altLang="zh-CN" sz="3200">
                <a:sym typeface="+mn-ea"/>
              </a:rPr>
              <a:t>Background</a:t>
            </a:r>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Related Works</a:t>
            </a:r>
            <a:endParaRPr lang="zh-CN" altLang="en-US"/>
          </a:p>
        </p:txBody>
      </p:sp>
      <p:sp>
        <p:nvSpPr>
          <p:cNvPr id="3" name="文本占位符 2"/>
          <p:cNvSpPr>
            <a:spLocks noGrp="1"/>
          </p:cNvSpPr>
          <p:nvPr>
            <p:ph type="body" idx="1"/>
          </p:nvPr>
        </p:nvSpPr>
        <p:spPr>
          <a:xfrm>
            <a:off x="608330" y="1673225"/>
            <a:ext cx="5342255" cy="454660"/>
          </a:xfrm>
        </p:spPr>
        <p:txBody>
          <a:bodyPr>
            <a:normAutofit/>
          </a:bodyPr>
          <a:lstStyle/>
          <a:p>
            <a:r>
              <a:rPr lang="en-US" altLang="zh-CN"/>
              <a:t>Shape–Texture Representations </a:t>
            </a:r>
          </a:p>
        </p:txBody>
      </p:sp>
      <p:sp>
        <p:nvSpPr>
          <p:cNvPr id="4" name="内容占位符 3"/>
          <p:cNvSpPr>
            <a:spLocks noGrp="1"/>
          </p:cNvSpPr>
          <p:nvPr>
            <p:ph sz="half" idx="2"/>
          </p:nvPr>
        </p:nvSpPr>
        <p:spPr>
          <a:xfrm>
            <a:off x="608330" y="2486660"/>
            <a:ext cx="11037570" cy="4074795"/>
          </a:xfrm>
        </p:spPr>
        <p:txBody>
          <a:bodyPr>
            <a:noAutofit/>
          </a:bodyPr>
          <a:lstStyle/>
          <a:p>
            <a:r>
              <a:rPr lang="en-US" altLang="zh-CN">
                <a:solidFill>
                  <a:schemeClr val="tx1"/>
                </a:solidFill>
                <a:latin typeface="仿宋_GB2312" charset="0"/>
                <a:ea typeface="仿宋_GB2312" charset="0"/>
                <a:cs typeface="仿宋_GB2312" charset="0"/>
              </a:rPr>
              <a:t> </a:t>
            </a:r>
            <a:r>
              <a:rPr lang="zh-CN" altLang="en-US">
                <a:solidFill>
                  <a:schemeClr val="tx1"/>
                </a:solidFill>
                <a:latin typeface="仿宋_GB2312" charset="0"/>
                <a:ea typeface="仿宋_GB2312" charset="0"/>
                <a:cs typeface="仿宋_GB2312" charset="0"/>
              </a:rPr>
              <a:t>形状偏置模型在面对各种数据退化时具有更好的泛化能力，而纹理偏置模型则倾向于过拟合表面的外观模式。</a:t>
            </a:r>
            <a:r>
              <a:rPr lang="en-US" altLang="zh-CN">
                <a:solidFill>
                  <a:schemeClr val="tx1"/>
                </a:solidFill>
                <a:latin typeface="仿宋_GB2312" charset="0"/>
                <a:ea typeface="仿宋_GB2312" charset="0"/>
                <a:cs typeface="仿宋_GB2312" charset="0"/>
                <a:sym typeface="+mn-ea"/>
              </a:rPr>
              <a:t> [7]</a:t>
            </a:r>
          </a:p>
          <a:p>
            <a:r>
              <a:rPr lang="en-US" altLang="zh-CN">
                <a:solidFill>
                  <a:schemeClr val="tx1"/>
                </a:solidFill>
                <a:latin typeface="仿宋_GB2312" charset="0"/>
                <a:ea typeface="仿宋_GB2312" charset="0"/>
                <a:cs typeface="仿宋_GB2312" charset="0"/>
              </a:rPr>
              <a:t> </a:t>
            </a:r>
            <a:r>
              <a:rPr lang="zh-CN" altLang="en-US">
                <a:solidFill>
                  <a:schemeClr val="tx1"/>
                </a:solidFill>
                <a:latin typeface="仿宋_GB2312" charset="0"/>
                <a:ea typeface="仿宋_GB2312" charset="0"/>
                <a:cs typeface="仿宋_GB2312" charset="0"/>
              </a:rPr>
              <a:t>利用自信息显式地解耦了形状与纹理特征，并选择性地抑制了纹理主导的区域。</a:t>
            </a:r>
            <a:r>
              <a:rPr lang="en-US" altLang="zh-CN">
                <a:solidFill>
                  <a:schemeClr val="tx1"/>
                </a:solidFill>
                <a:latin typeface="仿宋_GB2312" charset="0"/>
                <a:ea typeface="仿宋_GB2312" charset="0"/>
                <a:cs typeface="仿宋_GB2312" charset="0"/>
                <a:sym typeface="+mn-ea"/>
              </a:rPr>
              <a:t>[32]</a:t>
            </a:r>
          </a:p>
          <a:p>
            <a:r>
              <a:rPr lang="zh-CN" altLang="en-US">
                <a:solidFill>
                  <a:schemeClr val="tx1"/>
                </a:solidFill>
                <a:latin typeface="仿宋_GB2312" charset="0"/>
                <a:ea typeface="仿宋_GB2312" charset="0"/>
                <a:cs typeface="仿宋_GB2312" charset="0"/>
              </a:rPr>
              <a:t>过度依赖任一线索都可能导致模型表现脆弱</a:t>
            </a:r>
            <a:r>
              <a:rPr lang="en-US" altLang="zh-CN">
                <a:solidFill>
                  <a:schemeClr val="tx1"/>
                </a:solidFill>
                <a:latin typeface="仿宋_GB2312" charset="0"/>
                <a:ea typeface="仿宋_GB2312" charset="0"/>
                <a:cs typeface="仿宋_GB2312" charset="0"/>
              </a:rPr>
              <a:t>,</a:t>
            </a:r>
            <a:r>
              <a:rPr lang="zh-CN" altLang="en-US">
                <a:solidFill>
                  <a:schemeClr val="tx1"/>
                </a:solidFill>
                <a:latin typeface="仿宋_GB2312" charset="0"/>
                <a:ea typeface="仿宋_GB2312" charset="0"/>
                <a:cs typeface="仿宋_GB2312" charset="0"/>
              </a:rPr>
              <a:t>主张利用线索冲突数据集进行平衡的表征学习。</a:t>
            </a:r>
            <a:r>
              <a:rPr lang="en-US" altLang="zh-CN">
                <a:solidFill>
                  <a:schemeClr val="tx1"/>
                </a:solidFill>
                <a:latin typeface="仿宋_GB2312" charset="0"/>
                <a:ea typeface="仿宋_GB2312" charset="0"/>
                <a:cs typeface="仿宋_GB2312" charset="0"/>
                <a:sym typeface="+mn-ea"/>
              </a:rPr>
              <a:t> [19]</a:t>
            </a:r>
          </a:p>
          <a:p>
            <a:r>
              <a:rPr lang="zh-CN" altLang="en-US">
                <a:solidFill>
                  <a:schemeClr val="tx1"/>
                </a:solidFill>
                <a:latin typeface="仿宋_GB2312" charset="0"/>
                <a:ea typeface="仿宋_GB2312" charset="0"/>
                <a:cs typeface="仿宋_GB2312" charset="0"/>
              </a:rPr>
              <a:t>在模糊或弹性形变等特定退化条件下，纹理信息甚至可能比形状信息更可靠。</a:t>
            </a:r>
            <a:r>
              <a:rPr lang="en-US" altLang="zh-CN">
                <a:solidFill>
                  <a:schemeClr val="tx1"/>
                </a:solidFill>
                <a:latin typeface="仿宋_GB2312" charset="0"/>
                <a:ea typeface="仿宋_GB2312" charset="0"/>
                <a:cs typeface="仿宋_GB2312" charset="0"/>
                <a:sym typeface="+mn-ea"/>
              </a:rPr>
              <a:t> [29]</a:t>
            </a:r>
          </a:p>
          <a:p>
            <a:r>
              <a:rPr lang="zh-CN" altLang="en-US" b="1">
                <a:solidFill>
                  <a:schemeClr val="tx1"/>
                </a:solidFill>
                <a:latin typeface="仿宋_GB2312" charset="0"/>
                <a:ea typeface="仿宋_GB2312" charset="0"/>
                <a:cs typeface="仿宋_GB2312" charset="0"/>
              </a:rPr>
              <a:t>这些研究共同表明，</a:t>
            </a:r>
            <a:r>
              <a:rPr lang="zh-CN" altLang="en-US" b="1">
                <a:solidFill>
                  <a:srgbClr val="E9687A"/>
                </a:solidFill>
                <a:latin typeface="仿宋_GB2312" charset="0"/>
                <a:ea typeface="仿宋_GB2312" charset="0"/>
                <a:cs typeface="仿宋_GB2312" charset="0"/>
              </a:rPr>
              <a:t>形状与纹理为视觉鲁棒性提供了互补的感知线索</a:t>
            </a:r>
            <a:r>
              <a:rPr lang="zh-CN" altLang="en-US" b="1">
                <a:solidFill>
                  <a:schemeClr val="tx1"/>
                </a:solidFill>
                <a:latin typeface="仿宋_GB2312" charset="0"/>
                <a:ea typeface="仿宋_GB2312" charset="0"/>
                <a:cs typeface="仿宋_GB2312" charset="0"/>
              </a:rPr>
              <a:t>。</a:t>
            </a:r>
          </a:p>
        </p:txBody>
      </p:sp>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Related Works</a:t>
            </a:r>
          </a:p>
        </p:txBody>
      </p:sp>
      <p:sp>
        <p:nvSpPr>
          <p:cNvPr id="5" name="文本占位符 4"/>
          <p:cNvSpPr>
            <a:spLocks noGrp="1"/>
          </p:cNvSpPr>
          <p:nvPr>
            <p:ph type="body" sz="quarter" idx="3"/>
          </p:nvPr>
        </p:nvSpPr>
        <p:spPr>
          <a:xfrm>
            <a:off x="609600" y="1517650"/>
            <a:ext cx="10968355" cy="498475"/>
          </a:xfrm>
        </p:spPr>
        <p:txBody>
          <a:bodyPr/>
          <a:lstStyle/>
          <a:p>
            <a:pPr marL="0" indent="0">
              <a:buNone/>
            </a:pPr>
            <a:r>
              <a:rPr lang="zh-CN" altLang="en-US" sz="2000">
                <a:latin typeface="Times New Roman Regular" panose="02020503050405090304" charset="0"/>
                <a:ea typeface="PingFang SC Semibold" panose="020B0400000000000000" charset="-122"/>
                <a:cs typeface="Times New Roman Regular" panose="02020503050405090304" charset="0"/>
              </a:rPr>
              <a:t>视觉对比解码</a:t>
            </a:r>
            <a:r>
              <a:rPr lang="en-US" altLang="zh-CN" sz="2000">
                <a:latin typeface="Times New Roman Regular" panose="02020503050405090304" charset="0"/>
                <a:ea typeface="PingFang SC Semibold" panose="020B0400000000000000" charset="-122"/>
                <a:cs typeface="Times New Roman Regular" panose="02020503050405090304" charset="0"/>
              </a:rPr>
              <a:t> Visual Contrastive Decoding</a:t>
            </a:r>
          </a:p>
        </p:txBody>
      </p:sp>
      <p:sp>
        <p:nvSpPr>
          <p:cNvPr id="6" name="内容占位符 5"/>
          <p:cNvSpPr>
            <a:spLocks noGrp="1"/>
          </p:cNvSpPr>
          <p:nvPr/>
        </p:nvSpPr>
        <p:spPr>
          <a:xfrm>
            <a:off x="607695" y="2219960"/>
            <a:ext cx="10970260" cy="4029710"/>
          </a:xfrm>
          <a:prstGeom prst="rect">
            <a:avLst/>
          </a:prstGeom>
        </p:spPr>
        <p:txBody>
          <a:bodyPr vert="horz" lIns="101600" tIns="0" rIns="82550" bIns="0" rtlCol="0"/>
          <a:lst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a:solidFill>
                  <a:schemeClr val="tx1"/>
                </a:solidFill>
                <a:latin typeface="仿宋_GB2312" charset="0"/>
                <a:ea typeface="仿宋_GB2312" charset="0"/>
                <a:cs typeface="仿宋_GB2312" charset="0"/>
              </a:rPr>
              <a:t>对比解码作为一种无需训练的方法，近期被提出用于增强大语言模型输出的可靠性</a:t>
            </a:r>
            <a:r>
              <a:rPr lang="en-US" altLang="zh-CN">
                <a:solidFill>
                  <a:schemeClr val="tx1"/>
                </a:solidFill>
                <a:latin typeface="仿宋_GB2312" charset="0"/>
                <a:ea typeface="仿宋_GB2312" charset="0"/>
                <a:cs typeface="仿宋_GB2312" charset="0"/>
              </a:rPr>
              <a:t> [12, 18, 34]</a:t>
            </a:r>
          </a:p>
          <a:p>
            <a:r>
              <a:rPr lang="en-US" altLang="zh-CN">
                <a:solidFill>
                  <a:schemeClr val="tx1"/>
                </a:solidFill>
                <a:latin typeface="仿宋_GB2312" charset="0"/>
                <a:ea typeface="仿宋_GB2312" charset="0"/>
                <a:cs typeface="仿宋_GB2312" charset="0"/>
              </a:rPr>
              <a:t>Leng </a:t>
            </a:r>
            <a:r>
              <a:rPr lang="zh-CN" altLang="en-US">
                <a:solidFill>
                  <a:schemeClr val="tx1"/>
                </a:solidFill>
                <a:latin typeface="仿宋_GB2312" charset="0"/>
                <a:ea typeface="仿宋_GB2312" charset="0"/>
                <a:cs typeface="仿宋_GB2312" charset="0"/>
              </a:rPr>
              <a:t>等人</a:t>
            </a:r>
            <a:r>
              <a:rPr lang="en-US" altLang="zh-CN">
                <a:solidFill>
                  <a:schemeClr val="tx1"/>
                </a:solidFill>
                <a:latin typeface="仿宋_GB2312" charset="0"/>
                <a:ea typeface="仿宋_GB2312" charset="0"/>
                <a:cs typeface="仿宋_GB2312" charset="0"/>
              </a:rPr>
              <a:t> [16] </a:t>
            </a:r>
            <a:r>
              <a:rPr lang="zh-CN" altLang="en-US">
                <a:solidFill>
                  <a:schemeClr val="tx1"/>
                </a:solidFill>
                <a:latin typeface="仿宋_GB2312" charset="0"/>
                <a:ea typeface="仿宋_GB2312" charset="0"/>
                <a:cs typeface="仿宋_GB2312" charset="0"/>
              </a:rPr>
              <a:t>提出了视觉对比解码（</a:t>
            </a:r>
            <a:r>
              <a:rPr lang="en-US" altLang="zh-CN">
                <a:solidFill>
                  <a:schemeClr val="tx1"/>
                </a:solidFill>
                <a:latin typeface="仿宋_GB2312" charset="0"/>
                <a:ea typeface="仿宋_GB2312" charset="0"/>
                <a:cs typeface="仿宋_GB2312" charset="0"/>
              </a:rPr>
              <a:t>VCD</a:t>
            </a:r>
            <a:r>
              <a:rPr lang="zh-CN" altLang="en-US">
                <a:solidFill>
                  <a:schemeClr val="tx1"/>
                </a:solidFill>
                <a:latin typeface="仿宋_GB2312" charset="0"/>
                <a:ea typeface="仿宋_GB2312" charset="0"/>
                <a:cs typeface="仿宋_GB2312" charset="0"/>
              </a:rPr>
              <a:t>），该方法利用含噪图像变体构建对比</a:t>
            </a:r>
            <a:r>
              <a:rPr lang="en-US" altLang="zh-CN">
                <a:solidFill>
                  <a:schemeClr val="tx1"/>
                </a:solidFill>
                <a:latin typeface="仿宋_GB2312" charset="0"/>
                <a:ea typeface="仿宋_GB2312" charset="0"/>
                <a:cs typeface="仿宋_GB2312" charset="0"/>
              </a:rPr>
              <a:t> Logits</a:t>
            </a:r>
            <a:r>
              <a:rPr lang="zh-CN" altLang="en-US">
                <a:solidFill>
                  <a:schemeClr val="tx1"/>
                </a:solidFill>
                <a:latin typeface="仿宋_GB2312" charset="0"/>
                <a:ea typeface="仿宋_GB2312" charset="0"/>
                <a:cs typeface="仿宋_GB2312" charset="0"/>
              </a:rPr>
              <a:t>，从而抑制过度自信或存在偏差的预测。</a:t>
            </a:r>
          </a:p>
          <a:p>
            <a:r>
              <a:rPr lang="zh-CN" altLang="en-US">
                <a:solidFill>
                  <a:schemeClr val="tx1"/>
                </a:solidFill>
                <a:latin typeface="仿宋_GB2312" charset="0"/>
                <a:ea typeface="仿宋_GB2312" charset="0"/>
                <a:cs typeface="仿宋_GB2312" charset="0"/>
              </a:rPr>
              <a:t>后续研究探索了其他形式的对比信号：</a:t>
            </a:r>
          </a:p>
          <a:p>
            <a:pPr marL="457200" lvl="1" indent="0">
              <a:buNone/>
            </a:pPr>
            <a:r>
              <a:rPr lang="en-US" altLang="zh-CN">
                <a:solidFill>
                  <a:schemeClr val="tx1"/>
                </a:solidFill>
                <a:latin typeface="仿宋_GB2312" charset="0"/>
                <a:ea typeface="仿宋_GB2312" charset="0"/>
                <a:cs typeface="仿宋_GB2312" charset="0"/>
              </a:rPr>
              <a:t>M3ID [4] </a:t>
            </a:r>
            <a:r>
              <a:rPr lang="zh-CN" altLang="en-US">
                <a:solidFill>
                  <a:schemeClr val="tx1"/>
                </a:solidFill>
                <a:latin typeface="仿宋_GB2312" charset="0"/>
                <a:ea typeface="仿宋_GB2312" charset="0"/>
                <a:cs typeface="仿宋_GB2312" charset="0"/>
              </a:rPr>
              <a:t>和图像对比解码（</a:t>
            </a:r>
            <a:r>
              <a:rPr lang="en-US" altLang="zh-CN">
                <a:solidFill>
                  <a:schemeClr val="tx1"/>
                </a:solidFill>
                <a:latin typeface="仿宋_GB2312" charset="0"/>
                <a:ea typeface="仿宋_GB2312" charset="0"/>
                <a:cs typeface="仿宋_GB2312" charset="0"/>
              </a:rPr>
              <a:t>ICD</a:t>
            </a:r>
            <a:r>
              <a:rPr lang="zh-CN" altLang="en-US">
                <a:solidFill>
                  <a:schemeClr val="tx1"/>
                </a:solidFill>
                <a:latin typeface="仿宋_GB2312" charset="0"/>
                <a:ea typeface="仿宋_GB2312" charset="0"/>
                <a:cs typeface="仿宋_GB2312" charset="0"/>
              </a:rPr>
              <a:t>）</a:t>
            </a:r>
            <a:r>
              <a:rPr lang="en-US" altLang="zh-CN">
                <a:solidFill>
                  <a:schemeClr val="tx1"/>
                </a:solidFill>
                <a:latin typeface="仿宋_GB2312" charset="0"/>
                <a:ea typeface="仿宋_GB2312" charset="0"/>
                <a:cs typeface="仿宋_GB2312" charset="0"/>
              </a:rPr>
              <a:t>[36] </a:t>
            </a:r>
            <a:r>
              <a:rPr lang="zh-CN" altLang="en-US">
                <a:solidFill>
                  <a:schemeClr val="tx1"/>
                </a:solidFill>
                <a:latin typeface="仿宋_GB2312" charset="0"/>
                <a:ea typeface="仿宋_GB2312" charset="0"/>
                <a:cs typeface="仿宋_GB2312" charset="0"/>
              </a:rPr>
              <a:t>依赖于纯文本上下文；</a:t>
            </a:r>
          </a:p>
          <a:p>
            <a:pPr marL="457200" lvl="1" indent="0">
              <a:buNone/>
            </a:pPr>
            <a:r>
              <a:rPr lang="zh-CN" altLang="en-US">
                <a:solidFill>
                  <a:schemeClr val="tx1"/>
                </a:solidFill>
                <a:latin typeface="仿宋_GB2312" charset="0"/>
                <a:ea typeface="仿宋_GB2312" charset="0"/>
                <a:cs typeface="仿宋_GB2312" charset="0"/>
              </a:rPr>
              <a:t>语言对比解码（</a:t>
            </a:r>
            <a:r>
              <a:rPr lang="en-US" altLang="zh-CN">
                <a:solidFill>
                  <a:schemeClr val="tx1"/>
                </a:solidFill>
                <a:latin typeface="仿宋_GB2312" charset="0"/>
                <a:ea typeface="仿宋_GB2312" charset="0"/>
                <a:cs typeface="仿宋_GB2312" charset="0"/>
              </a:rPr>
              <a:t>LCD</a:t>
            </a:r>
            <a:r>
              <a:rPr lang="zh-CN" altLang="en-US">
                <a:solidFill>
                  <a:schemeClr val="tx1"/>
                </a:solidFill>
                <a:latin typeface="仿宋_GB2312" charset="0"/>
                <a:ea typeface="仿宋_GB2312" charset="0"/>
                <a:cs typeface="仿宋_GB2312" charset="0"/>
              </a:rPr>
              <a:t>）</a:t>
            </a:r>
            <a:r>
              <a:rPr lang="en-US" altLang="zh-CN">
                <a:solidFill>
                  <a:schemeClr val="tx1"/>
                </a:solidFill>
                <a:latin typeface="仿宋_GB2312" charset="0"/>
                <a:ea typeface="仿宋_GB2312" charset="0"/>
                <a:cs typeface="仿宋_GB2312" charset="0"/>
              </a:rPr>
              <a:t>[25] </a:t>
            </a:r>
            <a:r>
              <a:rPr lang="zh-CN" altLang="en-US">
                <a:solidFill>
                  <a:schemeClr val="tx1"/>
                </a:solidFill>
                <a:latin typeface="仿宋_GB2312" charset="0"/>
                <a:ea typeface="仿宋_GB2312" charset="0"/>
                <a:cs typeface="仿宋_GB2312" charset="0"/>
              </a:rPr>
              <a:t>引入误导性指令作为对比提示；</a:t>
            </a:r>
          </a:p>
          <a:p>
            <a:pPr marL="457200" lvl="1" indent="0">
              <a:buNone/>
            </a:pPr>
            <a:r>
              <a:rPr lang="zh-CN" altLang="en-US">
                <a:solidFill>
                  <a:schemeClr val="tx1"/>
                </a:solidFill>
                <a:latin typeface="仿宋_GB2312" charset="0"/>
                <a:ea typeface="仿宋_GB2312" charset="0"/>
                <a:cs typeface="仿宋_GB2312" charset="0"/>
              </a:rPr>
              <a:t>而视觉增强对比解码（</a:t>
            </a:r>
            <a:r>
              <a:rPr lang="en-US" altLang="zh-CN">
                <a:solidFill>
                  <a:schemeClr val="tx1"/>
                </a:solidFill>
                <a:latin typeface="仿宋_GB2312" charset="0"/>
                <a:ea typeface="仿宋_GB2312" charset="0"/>
                <a:cs typeface="仿宋_GB2312" charset="0"/>
              </a:rPr>
              <a:t>VACoDe</a:t>
            </a:r>
            <a:r>
              <a:rPr lang="zh-CN" altLang="en-US">
                <a:solidFill>
                  <a:schemeClr val="tx1"/>
                </a:solidFill>
                <a:latin typeface="仿宋_GB2312" charset="0"/>
                <a:ea typeface="仿宋_GB2312" charset="0"/>
                <a:cs typeface="仿宋_GB2312" charset="0"/>
              </a:rPr>
              <a:t>）</a:t>
            </a:r>
            <a:r>
              <a:rPr lang="en-US" altLang="zh-CN">
                <a:solidFill>
                  <a:schemeClr val="tx1"/>
                </a:solidFill>
                <a:latin typeface="仿宋_GB2312" charset="0"/>
                <a:ea typeface="仿宋_GB2312" charset="0"/>
                <a:cs typeface="仿宋_GB2312" charset="0"/>
              </a:rPr>
              <a:t>[14] [15] </a:t>
            </a:r>
            <a:r>
              <a:rPr lang="zh-CN" altLang="en-US">
                <a:solidFill>
                  <a:schemeClr val="tx1"/>
                </a:solidFill>
                <a:latin typeface="仿宋_GB2312" charset="0"/>
                <a:ea typeface="仿宋_GB2312" charset="0"/>
                <a:cs typeface="仿宋_GB2312" charset="0"/>
              </a:rPr>
              <a:t>的研究则采用了多种图像增强技术。</a:t>
            </a:r>
          </a:p>
        </p:txBody>
      </p:sp>
    </p:spTree>
    <p:custDataLst>
      <p:tags r:id="rId1"/>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2200" y="256610"/>
            <a:ext cx="10969200" cy="705600"/>
          </a:xfrm>
        </p:spPr>
        <p:txBody>
          <a:bodyPr>
            <a:noAutofit/>
          </a:bodyPr>
          <a:lstStyle/>
          <a:p>
            <a:r>
              <a:rPr lang="zh-CN" altLang="en-US" sz="2000" b="1">
                <a:latin typeface="仿宋_GB2312" charset="0"/>
                <a:ea typeface="仿宋_GB2312" charset="0"/>
                <a:cs typeface="仿宋_GB2312" charset="0"/>
              </a:rPr>
              <a:t>形状</a:t>
            </a:r>
            <a:r>
              <a:rPr lang="en-US" altLang="zh-CN" sz="2000" b="1">
                <a:latin typeface="仿宋_GB2312" charset="0"/>
                <a:ea typeface="仿宋_GB2312" charset="0"/>
                <a:cs typeface="仿宋_GB2312" charset="0"/>
              </a:rPr>
              <a:t>-</a:t>
            </a:r>
            <a:r>
              <a:rPr lang="zh-CN" altLang="en-US" sz="2000" b="1">
                <a:latin typeface="仿宋_GB2312" charset="0"/>
                <a:ea typeface="仿宋_GB2312" charset="0"/>
                <a:cs typeface="仿宋_GB2312" charset="0"/>
              </a:rPr>
              <a:t>纹理子空间中由破坏引起的特征偏移</a:t>
            </a:r>
            <a:br>
              <a:rPr lang="zh-CN" altLang="en-US" sz="2000" b="1">
                <a:latin typeface="仿宋_GB2312" charset="0"/>
                <a:ea typeface="仿宋_GB2312" charset="0"/>
                <a:cs typeface="仿宋_GB2312" charset="0"/>
              </a:rPr>
            </a:br>
            <a:r>
              <a:rPr lang="en-US" altLang="zh-CN" sz="2000">
                <a:latin typeface="仿宋_GB2312" charset="0"/>
                <a:ea typeface="仿宋_GB2312" charset="0"/>
                <a:cs typeface="仿宋_GB2312" charset="0"/>
                <a:sym typeface="+mn-ea"/>
              </a:rPr>
              <a:t>Corruption-induced feature shifts in shape-texture subspace</a:t>
            </a:r>
            <a:endParaRPr lang="zh-CN" altLang="en-US" sz="2000" b="1">
              <a:latin typeface="仿宋_GB2312" charset="0"/>
              <a:ea typeface="仿宋_GB2312" charset="0"/>
              <a:cs typeface="仿宋_GB2312" charset="0"/>
            </a:endParaRPr>
          </a:p>
        </p:txBody>
      </p:sp>
      <p:pic>
        <p:nvPicPr>
          <p:cNvPr id="4" name="内容占位符 3" descr="截屏2026-09-29 13.23.55"/>
          <p:cNvPicPr>
            <a:picLocks noGrp="1" noChangeAspect="1"/>
          </p:cNvPicPr>
          <p:nvPr>
            <p:ph idx="1"/>
          </p:nvPr>
        </p:nvPicPr>
        <p:blipFill>
          <a:blip r:embed="rId3"/>
          <a:stretch>
            <a:fillRect/>
          </a:stretch>
        </p:blipFill>
        <p:spPr>
          <a:xfrm>
            <a:off x="6566535" y="1410970"/>
            <a:ext cx="5424805" cy="4598035"/>
          </a:xfrm>
          <a:prstGeom prst="rect">
            <a:avLst/>
          </a:prstGeom>
        </p:spPr>
      </p:pic>
      <p:sp>
        <p:nvSpPr>
          <p:cNvPr id="5" name="文本框 4"/>
          <p:cNvSpPr txBox="1"/>
          <p:nvPr/>
        </p:nvSpPr>
        <p:spPr>
          <a:xfrm>
            <a:off x="546100" y="1020128"/>
            <a:ext cx="5080000" cy="337185"/>
          </a:xfrm>
          <a:prstGeom prst="rect">
            <a:avLst/>
          </a:prstGeom>
        </p:spPr>
        <p:txBody>
          <a:bodyPr>
            <a:spAutoFit/>
          </a:bodyPr>
          <a:lstStyle/>
          <a:p>
            <a:r>
              <a:rPr lang="zh-CN" altLang="en-US" sz="1600"/>
              <a:t>正交感知子空间的构建</a:t>
            </a:r>
          </a:p>
        </p:txBody>
      </p:sp>
      <p:sp>
        <p:nvSpPr>
          <p:cNvPr id="6" name="文本框 5"/>
          <p:cNvSpPr txBox="1"/>
          <p:nvPr/>
        </p:nvSpPr>
        <p:spPr>
          <a:xfrm>
            <a:off x="462915" y="1379220"/>
            <a:ext cx="6505575" cy="5194300"/>
          </a:xfrm>
          <a:prstGeom prst="rect">
            <a:avLst/>
          </a:prstGeom>
        </p:spPr>
        <p:txBody>
          <a:bodyPr wrap="square">
            <a:noAutofit/>
          </a:bodyPr>
          <a:lstStyle/>
          <a:p>
            <a:pPr indent="0" fontAlgn="auto">
              <a:lnSpc>
                <a:spcPct val="150000"/>
              </a:lnSpc>
              <a:spcBef>
                <a:spcPct val="0"/>
              </a:spcBef>
            </a:pPr>
            <a:r>
              <a:rPr lang="zh-CN" altLang="en-US" sz="2000">
                <a:latin typeface="仿宋_GB2312" charset="0"/>
                <a:ea typeface="仿宋_GB2312" charset="0"/>
                <a:cs typeface="仿宋_GB2312" charset="0"/>
              </a:rPr>
              <a:t>用 </a:t>
            </a:r>
            <a:r>
              <a:rPr lang="en-US" altLang="zh-CN" sz="2000">
                <a:latin typeface="仿宋_GB2312" charset="0"/>
                <a:ea typeface="仿宋_GB2312" charset="0"/>
                <a:cs typeface="仿宋_GB2312" charset="0"/>
              </a:rPr>
              <a:t>LLaVA </a:t>
            </a:r>
            <a:r>
              <a:rPr lang="zh-CN" altLang="en-US" sz="2000">
                <a:latin typeface="仿宋_GB2312" charset="0"/>
                <a:ea typeface="仿宋_GB2312" charset="0"/>
                <a:cs typeface="仿宋_GB2312" charset="0"/>
              </a:rPr>
              <a:t>的视觉编码器提取：</a:t>
            </a:r>
          </a:p>
          <a:p>
            <a:pPr marL="800100" lvl="1" indent="-342900" fontAlgn="auto">
              <a:lnSpc>
                <a:spcPct val="150000"/>
              </a:lnSpc>
              <a:spcBef>
                <a:spcPct val="0"/>
              </a:spcBef>
              <a:buFont typeface="Wingdings" panose="05000000000000000000" charset="0"/>
              <a:buChar char=""/>
            </a:pPr>
            <a:r>
              <a:rPr lang="zh-CN" altLang="en-US" sz="2000">
                <a:latin typeface="仿宋_GB2312" charset="0"/>
                <a:ea typeface="仿宋_GB2312" charset="0"/>
                <a:cs typeface="仿宋_GB2312" charset="0"/>
                <a:sym typeface="+mn-ea"/>
              </a:rPr>
              <a:t>清晰图像均值特征</a:t>
            </a:r>
            <a:r>
              <a:rPr lang="en-US" altLang="zh-CN" sz="2000">
                <a:latin typeface="仿宋_GB2312" charset="0"/>
                <a:ea typeface="仿宋_GB2312" charset="0"/>
                <a:cs typeface="仿宋_GB2312" charset="0"/>
                <a:sym typeface="+mn-ea"/>
              </a:rPr>
              <a:t>	</a:t>
            </a:r>
            <a:r>
              <a:rPr lang="zh-CN" altLang="en-US" sz="2000">
                <a:latin typeface="仿宋_GB2312" charset="0"/>
                <a:ea typeface="仿宋_GB2312" charset="0"/>
                <a:cs typeface="仿宋_GB2312" charset="0"/>
                <a:sym typeface="+mn-ea"/>
              </a:rPr>
              <a:t>，</a:t>
            </a:r>
            <a:endParaRPr lang="zh-CN" altLang="en-US" sz="2000">
              <a:latin typeface="仿宋_GB2312" charset="0"/>
              <a:ea typeface="仿宋_GB2312" charset="0"/>
              <a:cs typeface="仿宋_GB2312" charset="0"/>
            </a:endParaRPr>
          </a:p>
          <a:p>
            <a:pPr marL="800100" lvl="1" indent="-342900" fontAlgn="auto">
              <a:lnSpc>
                <a:spcPct val="150000"/>
              </a:lnSpc>
              <a:spcBef>
                <a:spcPct val="0"/>
              </a:spcBef>
              <a:buFont typeface="Wingdings" panose="05000000000000000000" charset="0"/>
              <a:buChar char=""/>
            </a:pPr>
            <a:r>
              <a:rPr lang="zh-CN" altLang="en-US" sz="2000">
                <a:latin typeface="仿宋_GB2312" charset="0"/>
                <a:ea typeface="仿宋_GB2312" charset="0"/>
                <a:cs typeface="仿宋_GB2312" charset="0"/>
                <a:sym typeface="+mn-ea"/>
              </a:rPr>
              <a:t>边缘图均值特征</a:t>
            </a:r>
            <a:r>
              <a:rPr lang="en-US" altLang="zh-CN" sz="2000">
                <a:latin typeface="仿宋_GB2312" charset="0"/>
                <a:ea typeface="仿宋_GB2312" charset="0"/>
                <a:cs typeface="仿宋_GB2312" charset="0"/>
                <a:sym typeface="+mn-ea"/>
              </a:rPr>
              <a:t>	     </a:t>
            </a:r>
            <a:r>
              <a:rPr lang="zh-CN" altLang="en-US" sz="2000">
                <a:latin typeface="仿宋_GB2312" charset="0"/>
                <a:ea typeface="仿宋_GB2312" charset="0"/>
                <a:cs typeface="仿宋_GB2312" charset="0"/>
                <a:sym typeface="+mn-ea"/>
              </a:rPr>
              <a:t>，</a:t>
            </a:r>
            <a:endParaRPr lang="zh-CN" altLang="en-US" sz="2000">
              <a:latin typeface="仿宋_GB2312" charset="0"/>
              <a:ea typeface="仿宋_GB2312" charset="0"/>
              <a:cs typeface="仿宋_GB2312" charset="0"/>
            </a:endParaRPr>
          </a:p>
          <a:p>
            <a:pPr marL="800100" lvl="1" indent="-342900" fontAlgn="auto">
              <a:lnSpc>
                <a:spcPct val="150000"/>
              </a:lnSpc>
              <a:spcBef>
                <a:spcPct val="0"/>
              </a:spcBef>
              <a:buFont typeface="Wingdings" panose="05000000000000000000" charset="0"/>
              <a:buChar char=""/>
            </a:pPr>
            <a:r>
              <a:rPr lang="zh-CN" altLang="en-US" sz="2000">
                <a:latin typeface="仿宋_GB2312" charset="0"/>
                <a:ea typeface="仿宋_GB2312" charset="0"/>
                <a:cs typeface="仿宋_GB2312" charset="0"/>
                <a:sym typeface="+mn-ea"/>
              </a:rPr>
              <a:t>以及拼图图均值特征</a:t>
            </a:r>
            <a:endParaRPr lang="zh-CN" altLang="en-US" sz="2000">
              <a:latin typeface="仿宋_GB2312" charset="0"/>
              <a:ea typeface="仿宋_GB2312" charset="0"/>
              <a:cs typeface="仿宋_GB2312" charset="0"/>
            </a:endParaRPr>
          </a:p>
          <a:p>
            <a:pPr marL="0" lvl="1" indent="0" fontAlgn="auto">
              <a:lnSpc>
                <a:spcPct val="150000"/>
              </a:lnSpc>
              <a:spcBef>
                <a:spcPct val="0"/>
              </a:spcBef>
            </a:pPr>
            <a:r>
              <a:rPr lang="zh-CN" altLang="en-US" sz="2000">
                <a:latin typeface="仿宋_GB2312" charset="0"/>
                <a:ea typeface="仿宋_GB2312" charset="0"/>
                <a:cs typeface="仿宋_GB2312" charset="0"/>
                <a:sym typeface="+mn-ea"/>
              </a:rPr>
              <a:t>计算表征方向偏移向量：</a:t>
            </a:r>
          </a:p>
          <a:p>
            <a:pPr marL="0" lvl="1" indent="0" fontAlgn="auto">
              <a:lnSpc>
                <a:spcPct val="150000"/>
              </a:lnSpc>
              <a:spcBef>
                <a:spcPct val="0"/>
              </a:spcBef>
            </a:pPr>
            <a:endParaRPr lang="zh-CN" altLang="en-US" sz="2000">
              <a:latin typeface="仿宋_GB2312" charset="0"/>
              <a:ea typeface="仿宋_GB2312" charset="0"/>
              <a:cs typeface="仿宋_GB2312" charset="0"/>
              <a:sym typeface="+mn-ea"/>
            </a:endParaRPr>
          </a:p>
          <a:p>
            <a:pPr marL="0" lvl="1" indent="0" fontAlgn="auto">
              <a:lnSpc>
                <a:spcPct val="150000"/>
              </a:lnSpc>
              <a:spcBef>
                <a:spcPct val="0"/>
              </a:spcBef>
            </a:pPr>
            <a:endParaRPr lang="zh-CN" altLang="en-US" sz="2000">
              <a:latin typeface="仿宋_GB2312" charset="0"/>
              <a:ea typeface="仿宋_GB2312" charset="0"/>
              <a:cs typeface="仿宋_GB2312" charset="0"/>
              <a:sym typeface="+mn-ea"/>
            </a:endParaRPr>
          </a:p>
          <a:p>
            <a:pPr marL="0" lvl="1" indent="0" fontAlgn="auto">
              <a:lnSpc>
                <a:spcPct val="150000"/>
              </a:lnSpc>
              <a:spcBef>
                <a:spcPct val="0"/>
              </a:spcBef>
            </a:pPr>
            <a:r>
              <a:rPr lang="zh-CN" altLang="en-US" sz="2000">
                <a:latin typeface="仿宋_GB2312" charset="0"/>
                <a:ea typeface="仿宋_GB2312" charset="0"/>
                <a:cs typeface="仿宋_GB2312" charset="0"/>
                <a:sym typeface="+mn-ea"/>
              </a:rPr>
              <a:t>利用</a:t>
            </a:r>
            <a:r>
              <a:rPr lang="en-US" altLang="zh-CN" sz="2000">
                <a:latin typeface="仿宋_GB2312" charset="0"/>
                <a:ea typeface="仿宋_GB2312" charset="0"/>
                <a:cs typeface="仿宋_GB2312" charset="0"/>
                <a:sym typeface="+mn-ea"/>
              </a:rPr>
              <a:t> Gram-Schmidt </a:t>
            </a:r>
            <a:r>
              <a:rPr lang="zh-CN" altLang="en-US" sz="2000">
                <a:latin typeface="仿宋_GB2312" charset="0"/>
                <a:ea typeface="仿宋_GB2312" charset="0"/>
                <a:cs typeface="仿宋_GB2312" charset="0"/>
                <a:sym typeface="+mn-ea"/>
              </a:rPr>
              <a:t>正交化，得到一组标准正交基</a:t>
            </a:r>
            <a:r>
              <a:rPr lang="en-US" altLang="zh-CN" sz="2000">
                <a:latin typeface="仿宋_GB2312" charset="0"/>
                <a:ea typeface="仿宋_GB2312" charset="0"/>
                <a:cs typeface="仿宋_GB2312" charset="0"/>
                <a:sym typeface="+mn-ea"/>
              </a:rPr>
              <a:t> </a:t>
            </a:r>
            <a:endParaRPr lang="zh-CN" altLang="en-US" sz="2000">
              <a:latin typeface="仿宋_GB2312" charset="0"/>
              <a:ea typeface="仿宋_GB2312" charset="0"/>
              <a:cs typeface="仿宋_GB2312" charset="0"/>
              <a:sym typeface="+mn-ea"/>
            </a:endParaRPr>
          </a:p>
          <a:p>
            <a:pPr marL="0" lvl="1" indent="0" fontAlgn="auto">
              <a:lnSpc>
                <a:spcPct val="150000"/>
              </a:lnSpc>
              <a:spcBef>
                <a:spcPct val="0"/>
              </a:spcBef>
            </a:pPr>
            <a:r>
              <a:rPr lang="zh-CN" altLang="en-US" sz="2000">
                <a:latin typeface="仿宋_GB2312" charset="0"/>
                <a:ea typeface="仿宋_GB2312" charset="0"/>
                <a:cs typeface="仿宋_GB2312" charset="0"/>
              </a:rPr>
              <a:t>对于任意退化图像集</a:t>
            </a:r>
            <a:r>
              <a:rPr lang="en-US" altLang="zh-CN" sz="2000">
                <a:latin typeface="仿宋_GB2312" charset="0"/>
                <a:ea typeface="仿宋_GB2312" charset="0"/>
                <a:cs typeface="仿宋_GB2312" charset="0"/>
              </a:rPr>
              <a:t> c</a:t>
            </a:r>
            <a:r>
              <a:rPr lang="zh-CN" altLang="en-US" sz="2000">
                <a:latin typeface="仿宋_GB2312" charset="0"/>
                <a:ea typeface="仿宋_GB2312" charset="0"/>
                <a:cs typeface="仿宋_GB2312" charset="0"/>
              </a:rPr>
              <a:t>，计算其偏移向量在该子空间中的投影坐标：</a:t>
            </a:r>
          </a:p>
          <a:p>
            <a:pPr lvl="1" indent="0" fontAlgn="auto">
              <a:lnSpc>
                <a:spcPct val="150000"/>
              </a:lnSpc>
              <a:spcBef>
                <a:spcPct val="0"/>
              </a:spcBef>
              <a:buFont typeface="Wingdings" panose="05000000000000000000" charset="0"/>
              <a:buNone/>
            </a:pPr>
            <a:endParaRPr lang="en-US" altLang="zh-CN" sz="2000">
              <a:latin typeface="仿宋_GB2312" charset="0"/>
              <a:ea typeface="仿宋_GB2312" charset="0"/>
              <a:cs typeface="仿宋_GB2312" charset="0"/>
            </a:endParaRPr>
          </a:p>
        </p:txBody>
      </p:sp>
      <p:pic>
        <p:nvPicPr>
          <p:cNvPr id="7" name="334E55B0-647D-440b-865C-3EC943EB4CBC-1" descr="wpsoffice"/>
          <p:cNvPicPr>
            <a:picLocks noChangeAspect="1"/>
          </p:cNvPicPr>
          <p:nvPr/>
        </p:nvPicPr>
        <p:blipFill>
          <a:blip r:embed="rId4"/>
          <a:stretch>
            <a:fillRect/>
          </a:stretch>
        </p:blipFill>
        <p:spPr>
          <a:xfrm>
            <a:off x="3491230" y="2050415"/>
            <a:ext cx="587375" cy="226060"/>
          </a:xfrm>
          <a:prstGeom prst="rect">
            <a:avLst/>
          </a:prstGeom>
        </p:spPr>
      </p:pic>
      <p:pic>
        <p:nvPicPr>
          <p:cNvPr id="8" name="334E55B0-647D-440b-865C-3EC943EB4CBC-2" descr="wpsoffice"/>
          <p:cNvPicPr>
            <a:picLocks noChangeAspect="1"/>
          </p:cNvPicPr>
          <p:nvPr/>
        </p:nvPicPr>
        <p:blipFill>
          <a:blip r:embed="rId5"/>
          <a:stretch>
            <a:fillRect/>
          </a:stretch>
        </p:blipFill>
        <p:spPr>
          <a:xfrm>
            <a:off x="3223260" y="2493645"/>
            <a:ext cx="498475" cy="246380"/>
          </a:xfrm>
          <a:prstGeom prst="rect">
            <a:avLst/>
          </a:prstGeom>
        </p:spPr>
      </p:pic>
      <p:pic>
        <p:nvPicPr>
          <p:cNvPr id="9" name="334E55B0-647D-440b-865C-3EC943EB4CBC-3" descr="wpsoffice"/>
          <p:cNvPicPr>
            <a:picLocks noChangeAspect="1"/>
          </p:cNvPicPr>
          <p:nvPr/>
        </p:nvPicPr>
        <p:blipFill>
          <a:blip r:embed="rId6"/>
          <a:stretch>
            <a:fillRect/>
          </a:stretch>
        </p:blipFill>
        <p:spPr>
          <a:xfrm>
            <a:off x="3721735" y="2957830"/>
            <a:ext cx="658495" cy="226060"/>
          </a:xfrm>
          <a:prstGeom prst="rect">
            <a:avLst/>
          </a:prstGeom>
        </p:spPr>
      </p:pic>
      <p:pic>
        <p:nvPicPr>
          <p:cNvPr id="11" name="334E55B0-647D-440b-865C-3EC943EB4CBC-4" descr="wpsoffice"/>
          <p:cNvPicPr>
            <a:picLocks noChangeAspect="1"/>
          </p:cNvPicPr>
          <p:nvPr/>
        </p:nvPicPr>
        <p:blipFill>
          <a:blip r:embed="rId7"/>
          <a:stretch>
            <a:fillRect/>
          </a:stretch>
        </p:blipFill>
        <p:spPr>
          <a:xfrm>
            <a:off x="996950" y="3727450"/>
            <a:ext cx="3673475" cy="365125"/>
          </a:xfrm>
          <a:prstGeom prst="rect">
            <a:avLst/>
          </a:prstGeom>
        </p:spPr>
      </p:pic>
      <p:pic>
        <p:nvPicPr>
          <p:cNvPr id="12" name="334E55B0-647D-440b-865C-3EC943EB4CBC-5" descr="wpsoffice"/>
          <p:cNvPicPr>
            <a:picLocks noChangeAspect="1"/>
          </p:cNvPicPr>
          <p:nvPr/>
        </p:nvPicPr>
        <p:blipFill>
          <a:blip r:embed="rId8"/>
          <a:stretch>
            <a:fillRect/>
          </a:stretch>
        </p:blipFill>
        <p:spPr>
          <a:xfrm>
            <a:off x="976630" y="4271645"/>
            <a:ext cx="3647440" cy="326390"/>
          </a:xfrm>
          <a:prstGeom prst="rect">
            <a:avLst/>
          </a:prstGeom>
        </p:spPr>
      </p:pic>
      <p:pic>
        <p:nvPicPr>
          <p:cNvPr id="13" name="334E55B0-647D-440b-865C-3EC943EB4CBC-6" descr="wpsoffice"/>
          <p:cNvPicPr>
            <a:picLocks noChangeAspect="1"/>
          </p:cNvPicPr>
          <p:nvPr/>
        </p:nvPicPr>
        <p:blipFill>
          <a:blip r:embed="rId9"/>
          <a:stretch>
            <a:fillRect/>
          </a:stretch>
        </p:blipFill>
        <p:spPr>
          <a:xfrm>
            <a:off x="2024380" y="5695315"/>
            <a:ext cx="2476500" cy="304800"/>
          </a:xfrm>
          <a:prstGeom prst="rect">
            <a:avLst/>
          </a:prstGeom>
        </p:spPr>
      </p:pic>
      <p:pic>
        <p:nvPicPr>
          <p:cNvPr id="14" name="334E55B0-647D-440b-865C-3EC943EB4CBC-7" descr="wpsoffice"/>
          <p:cNvPicPr>
            <a:picLocks noChangeAspect="1"/>
          </p:cNvPicPr>
          <p:nvPr/>
        </p:nvPicPr>
        <p:blipFill>
          <a:blip r:embed="rId10"/>
          <a:stretch>
            <a:fillRect/>
          </a:stretch>
        </p:blipFill>
        <p:spPr>
          <a:xfrm>
            <a:off x="608330" y="6075680"/>
            <a:ext cx="5641975" cy="417830"/>
          </a:xfrm>
          <a:prstGeom prst="rect">
            <a:avLst/>
          </a:prstGeom>
        </p:spPr>
      </p:pic>
      <p:sp>
        <p:nvSpPr>
          <p:cNvPr id="15" name="文本框 14"/>
          <p:cNvSpPr txBox="1"/>
          <p:nvPr/>
        </p:nvSpPr>
        <p:spPr>
          <a:xfrm>
            <a:off x="7151370" y="6075680"/>
            <a:ext cx="6096000" cy="368300"/>
          </a:xfrm>
          <a:prstGeom prst="rect">
            <a:avLst/>
          </a:prstGeom>
          <a:noFill/>
        </p:spPr>
        <p:txBody>
          <a:bodyPr wrap="square" rtlCol="0" anchor="t">
            <a:spAutoFit/>
          </a:bodyPr>
          <a:lstStyle/>
          <a:p>
            <a:r>
              <a:rPr lang="en-US" altLang="zh-CN">
                <a:latin typeface="仿宋_GB2312" charset="0"/>
                <a:ea typeface="仿宋_GB2312" charset="0"/>
                <a:sym typeface="+mn-ea"/>
              </a:rPr>
              <a:t>[1]Qiu X, Kan M, He Z, et al.fig2</a:t>
            </a:r>
          </a:p>
        </p:txBody>
      </p:sp>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140405"/>
            <a:ext cx="10969200" cy="705600"/>
          </a:xfrm>
        </p:spPr>
        <p:txBody>
          <a:bodyPr/>
          <a:lstStyle/>
          <a:p>
            <a:r>
              <a:rPr lang="en-US" altLang="zh-CN"/>
              <a:t>Failure Modes under  Visual Corruptions</a:t>
            </a:r>
          </a:p>
        </p:txBody>
      </p:sp>
      <p:pic>
        <p:nvPicPr>
          <p:cNvPr id="4" name="内容占位符 3"/>
          <p:cNvPicPr>
            <a:picLocks noGrp="1" noChangeAspect="1"/>
          </p:cNvPicPr>
          <p:nvPr>
            <p:ph idx="1"/>
          </p:nvPr>
        </p:nvPicPr>
        <p:blipFill>
          <a:blip r:embed="rId3"/>
          <a:stretch>
            <a:fillRect/>
          </a:stretch>
        </p:blipFill>
        <p:spPr>
          <a:xfrm>
            <a:off x="377190" y="1157605"/>
            <a:ext cx="11071225" cy="5403215"/>
          </a:xfrm>
          <a:prstGeom prst="rect">
            <a:avLst/>
          </a:prstGeom>
        </p:spPr>
      </p:pic>
      <p:sp>
        <p:nvSpPr>
          <p:cNvPr id="16" name="文本框 15"/>
          <p:cNvSpPr txBox="1"/>
          <p:nvPr/>
        </p:nvSpPr>
        <p:spPr>
          <a:xfrm>
            <a:off x="2462530" y="845820"/>
            <a:ext cx="1271270" cy="368300"/>
          </a:xfrm>
          <a:prstGeom prst="rect">
            <a:avLst/>
          </a:prstGeom>
          <a:solidFill>
            <a:srgbClr val="F8B2A2"/>
          </a:solidFill>
        </p:spPr>
        <p:txBody>
          <a:bodyPr wrap="square" rtlCol="0">
            <a:spAutoFit/>
          </a:bodyPr>
          <a:lstStyle/>
          <a:p>
            <a:pPr algn="ctr"/>
            <a:r>
              <a:rPr lang="zh-CN" altLang="en-US"/>
              <a:t>形状</a:t>
            </a:r>
            <a:r>
              <a:rPr lang="en-US" altLang="zh-CN"/>
              <a:t>shape</a:t>
            </a:r>
          </a:p>
        </p:txBody>
      </p:sp>
      <p:sp>
        <p:nvSpPr>
          <p:cNvPr id="17" name="文本框 16"/>
          <p:cNvSpPr txBox="1"/>
          <p:nvPr/>
        </p:nvSpPr>
        <p:spPr>
          <a:xfrm>
            <a:off x="8147685" y="845820"/>
            <a:ext cx="1553845" cy="368300"/>
          </a:xfrm>
          <a:prstGeom prst="rect">
            <a:avLst/>
          </a:prstGeom>
          <a:solidFill>
            <a:srgbClr val="F8B2A2"/>
          </a:solidFill>
        </p:spPr>
        <p:txBody>
          <a:bodyPr wrap="square" rtlCol="0" anchor="ctr" anchorCtr="0">
            <a:spAutoFit/>
          </a:bodyPr>
          <a:lstStyle/>
          <a:p>
            <a:pPr algn="ctr"/>
            <a:r>
              <a:rPr lang="zh-CN" altLang="en-US"/>
              <a:t>纹理</a:t>
            </a:r>
            <a:r>
              <a:rPr lang="en-US" altLang="zh-CN"/>
              <a:t>texture</a:t>
            </a:r>
          </a:p>
        </p:txBody>
      </p:sp>
      <p:sp>
        <p:nvSpPr>
          <p:cNvPr id="5" name="文本框 4"/>
          <p:cNvSpPr txBox="1"/>
          <p:nvPr/>
        </p:nvSpPr>
        <p:spPr>
          <a:xfrm>
            <a:off x="503555" y="6436360"/>
            <a:ext cx="4425315" cy="368300"/>
          </a:xfrm>
          <a:prstGeom prst="rect">
            <a:avLst/>
          </a:prstGeom>
          <a:noFill/>
        </p:spPr>
        <p:txBody>
          <a:bodyPr wrap="square" rtlCol="0">
            <a:spAutoFit/>
          </a:bodyPr>
          <a:lstStyle/>
          <a:p>
            <a:r>
              <a:rPr lang="en-US" altLang="zh-CN">
                <a:solidFill>
                  <a:schemeClr val="tx1"/>
                </a:solidFill>
                <a:latin typeface="仿宋_GB2312" charset="0"/>
                <a:ea typeface="仿宋_GB2312" charset="0"/>
              </a:rPr>
              <a:t>[1]</a:t>
            </a:r>
            <a:r>
              <a:rPr lang="en-US" altLang="zh-CN">
                <a:solidFill>
                  <a:schemeClr val="tx1"/>
                </a:solidFill>
                <a:latin typeface="仿宋_GB2312" charset="0"/>
                <a:ea typeface="仿宋_GB2312" charset="0"/>
                <a:sym typeface="+mn-ea"/>
              </a:rPr>
              <a:t>Qiu X, Kan M, He Z, et al.fig1</a:t>
            </a:r>
          </a:p>
        </p:txBody>
      </p:sp>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428695"/>
            <a:ext cx="10969200" cy="705600"/>
          </a:xfrm>
        </p:spPr>
        <p:txBody>
          <a:bodyPr/>
          <a:lstStyle/>
          <a:p>
            <a:r>
              <a:rPr lang="en-US" altLang="zh-CN"/>
              <a:t>4. Methods</a:t>
            </a:r>
          </a:p>
        </p:txBody>
      </p:sp>
      <p:pic>
        <p:nvPicPr>
          <p:cNvPr id="4" name="内容占位符 3" descr="截屏2026-09-29 16.46.49"/>
          <p:cNvPicPr>
            <a:picLocks noGrp="1" noChangeAspect="1"/>
          </p:cNvPicPr>
          <p:nvPr>
            <p:ph idx="1"/>
          </p:nvPr>
        </p:nvPicPr>
        <p:blipFill>
          <a:blip r:embed="rId3"/>
          <a:stretch>
            <a:fillRect/>
          </a:stretch>
        </p:blipFill>
        <p:spPr>
          <a:xfrm>
            <a:off x="366395" y="1036955"/>
            <a:ext cx="11452860" cy="5442585"/>
          </a:xfrm>
          <a:prstGeom prst="rect">
            <a:avLst/>
          </a:prstGeom>
        </p:spPr>
      </p:pic>
    </p:spTree>
    <p:custDataLst>
      <p:tags r:id="rId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5.Experimental Results</a:t>
            </a:r>
          </a:p>
        </p:txBody>
      </p:sp>
      <p:pic>
        <p:nvPicPr>
          <p:cNvPr id="4" name="内容占位符 3" descr="截屏2026-09-29 18.08.12"/>
          <p:cNvPicPr>
            <a:picLocks noGrp="1" noChangeAspect="1"/>
          </p:cNvPicPr>
          <p:nvPr>
            <p:ph idx="1"/>
          </p:nvPr>
        </p:nvPicPr>
        <p:blipFill>
          <a:blip r:embed="rId3"/>
          <a:stretch>
            <a:fillRect/>
          </a:stretch>
        </p:blipFill>
        <p:spPr>
          <a:xfrm>
            <a:off x="1136015" y="1313815"/>
            <a:ext cx="9913620" cy="4977130"/>
          </a:xfrm>
          <a:prstGeom prst="rect">
            <a:avLst/>
          </a:prstGeom>
        </p:spPr>
      </p:pic>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5.Experimental Results</a:t>
            </a:r>
          </a:p>
        </p:txBody>
      </p:sp>
      <p:pic>
        <p:nvPicPr>
          <p:cNvPr id="5" name="内容占位符 4" descr="截屏2026-09-29 18.08.23"/>
          <p:cNvPicPr>
            <a:picLocks noGrp="1" noChangeAspect="1"/>
          </p:cNvPicPr>
          <p:nvPr>
            <p:ph idx="1"/>
          </p:nvPr>
        </p:nvPicPr>
        <p:blipFill>
          <a:blip r:embed="rId3"/>
          <a:stretch>
            <a:fillRect/>
          </a:stretch>
        </p:blipFill>
        <p:spPr>
          <a:xfrm>
            <a:off x="1277620" y="1490345"/>
            <a:ext cx="9629775" cy="4759325"/>
          </a:xfrm>
          <a:prstGeom prst="rect">
            <a:avLst/>
          </a:prstGeom>
        </p:spPr>
      </p:pic>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消融实验</a:t>
            </a:r>
          </a:p>
        </p:txBody>
      </p:sp>
      <p:pic>
        <p:nvPicPr>
          <p:cNvPr id="4" name="内容占位符 3" descr="截屏2026-09-29 18.18.39"/>
          <p:cNvPicPr>
            <a:picLocks noGrp="1" noChangeAspect="1"/>
          </p:cNvPicPr>
          <p:nvPr>
            <p:ph idx="1"/>
          </p:nvPr>
        </p:nvPicPr>
        <p:blipFill>
          <a:blip r:embed="rId3"/>
          <a:stretch>
            <a:fillRect/>
          </a:stretch>
        </p:blipFill>
        <p:spPr>
          <a:xfrm>
            <a:off x="716915" y="1313815"/>
            <a:ext cx="10391775" cy="3486150"/>
          </a:xfrm>
          <a:prstGeom prst="rect">
            <a:avLst/>
          </a:prstGeom>
        </p:spPr>
      </p:pic>
      <p:sp>
        <p:nvSpPr>
          <p:cNvPr id="5" name="文本框 4"/>
          <p:cNvSpPr txBox="1"/>
          <p:nvPr/>
        </p:nvSpPr>
        <p:spPr>
          <a:xfrm>
            <a:off x="916305" y="4903470"/>
            <a:ext cx="10093960" cy="1568450"/>
          </a:xfrm>
          <a:prstGeom prst="rect">
            <a:avLst/>
          </a:prstGeom>
        </p:spPr>
        <p:txBody>
          <a:bodyPr wrap="square">
            <a:spAutoFit/>
          </a:bodyPr>
          <a:lstStyle/>
          <a:p>
            <a:pPr marL="0" indent="0">
              <a:spcBef>
                <a:spcPct val="0"/>
              </a:spcBef>
            </a:pPr>
            <a:r>
              <a:rPr lang="en-US" altLang="zh-CN" sz="1600" b="1">
                <a:latin typeface="Google Sans Text"/>
                <a:ea typeface="Google Sans Text"/>
              </a:rPr>
              <a:t>Vanilla</a:t>
            </a:r>
            <a:r>
              <a:rPr lang="zh-CN" altLang="en-US" sz="1600">
                <a:latin typeface="Google Sans Text"/>
                <a:ea typeface="Google Sans Text"/>
              </a:rPr>
              <a:t>：无对比校准的原始基线模型。</a:t>
            </a:r>
          </a:p>
          <a:p>
            <a:pPr marL="0" indent="0">
              <a:spcBef>
                <a:spcPct val="0"/>
              </a:spcBef>
            </a:pPr>
            <a:r>
              <a:rPr lang="en-US" altLang="zh-CN" sz="1600" b="1">
                <a:latin typeface="Google Sans Text"/>
                <a:ea typeface="Google Sans Text"/>
              </a:rPr>
              <a:t>Diffusion Noise</a:t>
            </a:r>
            <a:r>
              <a:rPr lang="zh-CN" altLang="en-US" sz="1600">
                <a:latin typeface="Google Sans Text"/>
                <a:ea typeface="Google Sans Text"/>
              </a:rPr>
              <a:t>：前人 </a:t>
            </a:r>
            <a:r>
              <a:rPr lang="en-US" altLang="zh-CN" sz="1600">
                <a:latin typeface="Google Sans Text"/>
                <a:ea typeface="Google Sans Text"/>
              </a:rPr>
              <a:t>VCD </a:t>
            </a:r>
            <a:r>
              <a:rPr lang="zh-CN" altLang="en-US" sz="1600">
                <a:latin typeface="Google Sans Text"/>
                <a:ea typeface="Google Sans Text"/>
              </a:rPr>
              <a:t>采用的扩散加噪图。</a:t>
            </a:r>
          </a:p>
          <a:p>
            <a:pPr marL="0" indent="0">
              <a:spcBef>
                <a:spcPct val="0"/>
              </a:spcBef>
            </a:pPr>
            <a:r>
              <a:rPr lang="en-US" altLang="zh-CN" sz="1600" b="1">
                <a:latin typeface="Google Sans Text"/>
                <a:ea typeface="Google Sans Text"/>
              </a:rPr>
              <a:t>Blank Image</a:t>
            </a:r>
            <a:r>
              <a:rPr lang="zh-CN" altLang="en-US" sz="1600">
                <a:latin typeface="Google Sans Text"/>
                <a:ea typeface="Google Sans Text"/>
              </a:rPr>
              <a:t>：</a:t>
            </a:r>
            <a:r>
              <a:rPr lang="en-US" altLang="zh-CN" sz="1600">
                <a:latin typeface="Google Sans Text"/>
                <a:ea typeface="Google Sans Text"/>
              </a:rPr>
              <a:t>M3ID </a:t>
            </a:r>
            <a:r>
              <a:rPr lang="zh-CN" altLang="en-US" sz="1600">
                <a:latin typeface="Google Sans Text"/>
                <a:ea typeface="Google Sans Text"/>
              </a:rPr>
              <a:t>和 </a:t>
            </a:r>
            <a:r>
              <a:rPr lang="en-US" altLang="zh-CN" sz="1600">
                <a:latin typeface="Google Sans Text"/>
                <a:ea typeface="Google Sans Text"/>
              </a:rPr>
              <a:t>LCD </a:t>
            </a:r>
            <a:r>
              <a:rPr lang="zh-CN" altLang="en-US" sz="1600">
                <a:latin typeface="Google Sans Text"/>
                <a:ea typeface="Google Sans Text"/>
              </a:rPr>
              <a:t>使用的纯黑</a:t>
            </a:r>
            <a:r>
              <a:rPr lang="en-US" altLang="zh-CN" sz="1600">
                <a:latin typeface="Google Sans Text"/>
                <a:ea typeface="Google Sans Text"/>
              </a:rPr>
              <a:t>/</a:t>
            </a:r>
            <a:r>
              <a:rPr lang="zh-CN" altLang="en-US" sz="1600">
                <a:latin typeface="Google Sans Text"/>
                <a:ea typeface="Google Sans Text"/>
              </a:rPr>
              <a:t>空白图像。</a:t>
            </a:r>
          </a:p>
          <a:p>
            <a:pPr marL="0" indent="0">
              <a:spcBef>
                <a:spcPct val="0"/>
              </a:spcBef>
            </a:pPr>
            <a:r>
              <a:rPr lang="en-US" altLang="zh-CN" sz="1600" b="1">
                <a:latin typeface="Google Sans Text"/>
                <a:ea typeface="Google Sans Text"/>
              </a:rPr>
              <a:t>Downsample</a:t>
            </a:r>
            <a:r>
              <a:rPr lang="zh-CN" altLang="en-US" sz="1600">
                <a:latin typeface="Google Sans Text"/>
                <a:ea typeface="Google Sans Text"/>
              </a:rPr>
              <a:t>：双线性插值下采样降质图。</a:t>
            </a:r>
          </a:p>
          <a:p>
            <a:pPr marL="0" indent="0">
              <a:spcBef>
                <a:spcPct val="0"/>
              </a:spcBef>
            </a:pPr>
            <a:r>
              <a:rPr lang="zh-CN" altLang="en-US" sz="1600" b="1">
                <a:latin typeface="Google Sans Text"/>
                <a:ea typeface="Google Sans Text"/>
              </a:rPr>
              <a:t>通用数据增强</a:t>
            </a:r>
            <a:r>
              <a:rPr lang="zh-CN" altLang="en-US" sz="1600">
                <a:latin typeface="Google Sans Text"/>
                <a:ea typeface="Google Sans Text"/>
              </a:rPr>
              <a:t>：裁剪（</a:t>
            </a:r>
            <a:r>
              <a:rPr lang="en-US" altLang="zh-CN" sz="1600">
                <a:latin typeface="Google Sans Text"/>
                <a:ea typeface="Google Sans Text"/>
              </a:rPr>
              <a:t>Crop</a:t>
            </a:r>
            <a:r>
              <a:rPr lang="zh-CN" altLang="en-US" sz="1600">
                <a:latin typeface="Google Sans Text"/>
                <a:ea typeface="Google Sans Text"/>
              </a:rPr>
              <a:t>）、随机擦除（</a:t>
            </a:r>
            <a:r>
              <a:rPr lang="en-US" altLang="zh-CN" sz="1600">
                <a:latin typeface="Google Sans Text"/>
                <a:ea typeface="Google Sans Text"/>
              </a:rPr>
              <a:t>Erase</a:t>
            </a:r>
            <a:r>
              <a:rPr lang="zh-CN" altLang="en-US" sz="1600">
                <a:latin typeface="Google Sans Text"/>
                <a:ea typeface="Google Sans Text"/>
              </a:rPr>
              <a:t>）与水平翻转（</a:t>
            </a:r>
            <a:r>
              <a:rPr lang="en-US" altLang="zh-CN" sz="1600">
                <a:latin typeface="Google Sans Text"/>
                <a:ea typeface="Google Sans Text"/>
              </a:rPr>
              <a:t>Flip</a:t>
            </a:r>
            <a:r>
              <a:rPr lang="zh-CN" altLang="en-US" sz="1600">
                <a:latin typeface="Google Sans Text"/>
                <a:ea typeface="Google Sans Text"/>
              </a:rPr>
              <a:t>）。</a:t>
            </a:r>
          </a:p>
          <a:p>
            <a:pPr marL="0" indent="0">
              <a:spcBef>
                <a:spcPct val="0"/>
              </a:spcBef>
            </a:pPr>
            <a:r>
              <a:rPr lang="zh-CN" altLang="en-US" sz="1600" b="1">
                <a:latin typeface="Google Sans Text"/>
                <a:ea typeface="Google Sans Text"/>
              </a:rPr>
              <a:t>论文提出的对偶探针</a:t>
            </a:r>
            <a:r>
              <a:rPr lang="zh-CN" altLang="en-US" sz="1600">
                <a:latin typeface="Google Sans Text"/>
                <a:ea typeface="Google Sans Text"/>
              </a:rPr>
              <a:t>：</a:t>
            </a:r>
            <a:r>
              <a:rPr lang="en-US" altLang="zh-CN" sz="1600">
                <a:latin typeface="Google Sans Text"/>
                <a:ea typeface="Google Sans Text"/>
              </a:rPr>
              <a:t>Canny </a:t>
            </a:r>
            <a:r>
              <a:rPr lang="zh-CN" altLang="en-US" sz="1600">
                <a:latin typeface="Google Sans Text"/>
                <a:ea typeface="Google Sans Text"/>
              </a:rPr>
              <a:t>边缘提取（</a:t>
            </a:r>
            <a:r>
              <a:rPr lang="en-US" altLang="zh-CN" sz="1600">
                <a:latin typeface="Google Sans Text"/>
                <a:ea typeface="Google Sans Text"/>
              </a:rPr>
              <a:t>Canny Edge</a:t>
            </a:r>
            <a:r>
              <a:rPr lang="zh-CN" altLang="en-US" sz="1600">
                <a:latin typeface="Google Sans Text"/>
                <a:ea typeface="Google Sans Text"/>
              </a:rPr>
              <a:t>）与拼图打乱（</a:t>
            </a:r>
            <a:r>
              <a:rPr lang="en-US" altLang="zh-CN" sz="1600">
                <a:latin typeface="Google Sans Text"/>
                <a:ea typeface="Google Sans Text"/>
              </a:rPr>
              <a:t>Jigsaw Puzzle</a:t>
            </a:r>
            <a:r>
              <a:rPr lang="zh-CN" altLang="en-US" sz="1600">
                <a:latin typeface="Google Sans Text"/>
                <a:ea typeface="Google Sans Text"/>
              </a:rPr>
              <a:t>）</a:t>
            </a:r>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消融实验</a:t>
            </a:r>
          </a:p>
        </p:txBody>
      </p:sp>
      <p:pic>
        <p:nvPicPr>
          <p:cNvPr id="5" name="内容占位符 4" descr="截屏2026-09-29 18.18.51"/>
          <p:cNvPicPr>
            <a:picLocks noGrp="1" noChangeAspect="1"/>
          </p:cNvPicPr>
          <p:nvPr>
            <p:ph idx="1"/>
          </p:nvPr>
        </p:nvPicPr>
        <p:blipFill>
          <a:blip r:embed="rId3"/>
          <a:stretch>
            <a:fillRect/>
          </a:stretch>
        </p:blipFill>
        <p:spPr>
          <a:xfrm>
            <a:off x="4815840" y="608330"/>
            <a:ext cx="6420485" cy="1842135"/>
          </a:xfrm>
          <a:prstGeom prst="rect">
            <a:avLst/>
          </a:prstGeom>
        </p:spPr>
      </p:pic>
      <p:grpSp>
        <p:nvGrpSpPr>
          <p:cNvPr id="12" name="组合 11"/>
          <p:cNvGrpSpPr/>
          <p:nvPr/>
        </p:nvGrpSpPr>
        <p:grpSpPr>
          <a:xfrm>
            <a:off x="381000" y="2311400"/>
            <a:ext cx="11415395" cy="3784600"/>
            <a:chOff x="600" y="3640"/>
            <a:chExt cx="17977" cy="5960"/>
          </a:xfrm>
        </p:grpSpPr>
        <p:sp>
          <p:nvSpPr>
            <p:cNvPr id="6" name="文本框 5"/>
            <p:cNvSpPr txBox="1"/>
            <p:nvPr/>
          </p:nvSpPr>
          <p:spPr>
            <a:xfrm>
              <a:off x="600" y="3640"/>
              <a:ext cx="17977" cy="5960"/>
            </a:xfrm>
            <a:prstGeom prst="rect">
              <a:avLst/>
            </a:prstGeom>
          </p:spPr>
          <p:txBody>
            <a:bodyPr wrap="square">
              <a:spAutoFit/>
            </a:bodyPr>
            <a:lstStyle/>
            <a:p>
              <a:pPr indent="0" fontAlgn="auto">
                <a:lnSpc>
                  <a:spcPct val="150000"/>
                </a:lnSpc>
                <a:spcBef>
                  <a:spcPct val="0"/>
                </a:spcBef>
              </a:pPr>
              <a:r>
                <a:rPr lang="zh-CN" altLang="en-US" sz="1600" b="1">
                  <a:latin typeface="Google Sans Text"/>
                  <a:ea typeface="Google Sans Text"/>
                </a:rPr>
                <a:t>固定权重（</a:t>
              </a:r>
              <a:r>
                <a:rPr lang="en-US" altLang="zh-CN" sz="1600" b="1">
                  <a:latin typeface="Google Sans Text"/>
                  <a:ea typeface="Google Sans Text"/>
                </a:rPr>
                <a:t>Fixed Weights, Fix</a:t>
              </a:r>
              <a:r>
                <a:rPr lang="zh-CN" altLang="en-US" sz="1600" b="1">
                  <a:latin typeface="Google Sans Text"/>
                  <a:ea typeface="Google Sans Text"/>
                </a:rPr>
                <a:t>）</a:t>
              </a:r>
              <a:r>
                <a:rPr lang="zh-CN" altLang="en-US" sz="1600">
                  <a:latin typeface="Google Sans Text"/>
                  <a:ea typeface="Google Sans Text"/>
                </a:rPr>
                <a:t>：</a:t>
              </a:r>
            </a:p>
            <a:p>
              <a:pPr indent="0" fontAlgn="auto">
                <a:lnSpc>
                  <a:spcPct val="150000"/>
                </a:lnSpc>
                <a:spcBef>
                  <a:spcPct val="0"/>
                </a:spcBef>
                <a:buFont typeface="Arial" panose="020B0604020202090204"/>
                <a:buChar char="•"/>
              </a:pPr>
              <a:r>
                <a:rPr lang="zh-CN" altLang="en-US" sz="1600">
                  <a:latin typeface="Google Sans Text"/>
                  <a:ea typeface="Google Sans Text"/>
                </a:rPr>
                <a:t>沿用传统 </a:t>
              </a:r>
              <a:r>
                <a:rPr lang="en-US" altLang="zh-CN" sz="1600">
                  <a:latin typeface="Google Sans Text"/>
                  <a:ea typeface="Google Sans Text"/>
                </a:rPr>
                <a:t>VCD </a:t>
              </a:r>
              <a:r>
                <a:rPr lang="zh-CN" altLang="en-US" sz="1600">
                  <a:latin typeface="Google Sans Text"/>
                  <a:ea typeface="Google Sans Text"/>
                </a:rPr>
                <a:t>的默认配置，固定权重不作动态改变，即 </a:t>
              </a:r>
            </a:p>
            <a:p>
              <a:pPr indent="0" fontAlgn="auto">
                <a:lnSpc>
                  <a:spcPct val="150000"/>
                </a:lnSpc>
                <a:spcBef>
                  <a:spcPct val="0"/>
                </a:spcBef>
              </a:pPr>
              <a:r>
                <a:rPr lang="zh-CN" altLang="en-US" sz="1600" b="1">
                  <a:latin typeface="Google Sans Text"/>
                  <a:ea typeface="Google Sans Text"/>
                </a:rPr>
                <a:t>基于距离的加权（</a:t>
              </a:r>
              <a:r>
                <a:rPr lang="en-US" altLang="zh-CN" sz="1600" b="1">
                  <a:latin typeface="Google Sans Text"/>
                  <a:ea typeface="Google Sans Text"/>
                </a:rPr>
                <a:t>Distance-Based Weights, Distance</a:t>
              </a:r>
              <a:r>
                <a:rPr lang="zh-CN" altLang="en-US" sz="1600" b="1">
                  <a:latin typeface="Google Sans Text"/>
                  <a:ea typeface="Google Sans Text"/>
                </a:rPr>
                <a:t>）</a:t>
              </a:r>
              <a:r>
                <a:rPr lang="zh-CN" altLang="en-US" sz="1600">
                  <a:latin typeface="Google Sans Text"/>
                  <a:ea typeface="Google Sans Text"/>
                </a:rPr>
                <a:t>：</a:t>
              </a:r>
            </a:p>
            <a:p>
              <a:pPr indent="0" fontAlgn="auto">
                <a:lnSpc>
                  <a:spcPct val="150000"/>
                </a:lnSpc>
                <a:spcBef>
                  <a:spcPct val="0"/>
                </a:spcBef>
                <a:buFont typeface="Arial" panose="020B0604020202090204"/>
                <a:buChar char="•"/>
              </a:pPr>
              <a:r>
                <a:rPr lang="zh-CN" altLang="en-US" sz="1600">
                  <a:latin typeface="Google Sans Text"/>
                  <a:ea typeface="Google Sans Text"/>
                </a:rPr>
                <a:t>以原始 </a:t>
              </a:r>
              <a:r>
                <a:rPr lang="en-US" altLang="zh-CN" sz="1600">
                  <a:latin typeface="Google Sans Text"/>
                  <a:ea typeface="Google Sans Text"/>
                </a:rPr>
                <a:t>Logit </a:t>
              </a:r>
              <a:r>
                <a:rPr lang="zh-CN" altLang="en-US" sz="1600">
                  <a:latin typeface="Google Sans Text"/>
                  <a:ea typeface="Google Sans Text"/>
                </a:rPr>
                <a:t>与对比 </a:t>
              </a:r>
              <a:r>
                <a:rPr lang="en-US" altLang="zh-CN" sz="1600">
                  <a:latin typeface="Google Sans Text"/>
                  <a:ea typeface="Google Sans Text"/>
                </a:rPr>
                <a:t>Logit </a:t>
              </a:r>
              <a:r>
                <a:rPr lang="zh-CN" altLang="en-US" sz="1600">
                  <a:latin typeface="Google Sans Text"/>
                  <a:ea typeface="Google Sans Text"/>
                </a:rPr>
                <a:t>之间的欧氏距离作为系数：</a:t>
              </a:r>
            </a:p>
            <a:p>
              <a:pPr indent="0" fontAlgn="auto">
                <a:lnSpc>
                  <a:spcPct val="150000"/>
                </a:lnSpc>
                <a:spcBef>
                  <a:spcPct val="0"/>
                </a:spcBef>
                <a:buFont typeface="Arial" panose="020B0604020202090204"/>
                <a:buChar char="•"/>
              </a:pPr>
              <a:r>
                <a:rPr lang="zh-CN" altLang="en-US" sz="1600">
                  <a:latin typeface="Google Sans Text"/>
                  <a:ea typeface="Google Sans Text"/>
                </a:rPr>
                <a:t>其直觉是两者的差异越大，代表受到的破坏影响越强，应给予越大的修正力。</a:t>
              </a:r>
            </a:p>
            <a:p>
              <a:pPr indent="0" fontAlgn="auto">
                <a:lnSpc>
                  <a:spcPct val="150000"/>
                </a:lnSpc>
                <a:spcBef>
                  <a:spcPct val="0"/>
                </a:spcBef>
              </a:pPr>
              <a:r>
                <a:rPr lang="zh-CN" altLang="en-US" sz="1600" b="1">
                  <a:latin typeface="Google Sans Text"/>
                  <a:ea typeface="Google Sans Text"/>
                </a:rPr>
                <a:t>基于信息熵的加权（</a:t>
              </a:r>
              <a:r>
                <a:rPr lang="en-US" altLang="zh-CN" sz="1600" b="1">
                  <a:latin typeface="Google Sans Text"/>
                  <a:ea typeface="Google Sans Text"/>
                </a:rPr>
                <a:t>Entropy-Based Weights, Entropy</a:t>
              </a:r>
              <a:r>
                <a:rPr lang="zh-CN" altLang="en-US" sz="1600" b="1">
                  <a:latin typeface="Google Sans Text"/>
                  <a:ea typeface="Google Sans Text"/>
                </a:rPr>
                <a:t>，论文默认方案）</a:t>
              </a:r>
              <a:r>
                <a:rPr lang="zh-CN" altLang="en-US" sz="1600">
                  <a:latin typeface="Google Sans Text"/>
                  <a:ea typeface="Google Sans Text"/>
                </a:rPr>
                <a:t>：</a:t>
              </a:r>
            </a:p>
            <a:p>
              <a:pPr indent="0" fontAlgn="auto">
                <a:lnSpc>
                  <a:spcPct val="150000"/>
                </a:lnSpc>
                <a:spcBef>
                  <a:spcPct val="0"/>
                </a:spcBef>
                <a:buFont typeface="Arial" panose="020B0604020202090204"/>
                <a:buChar char="•"/>
              </a:pPr>
              <a:r>
                <a:rPr lang="zh-CN" altLang="en-US" sz="1600">
                  <a:latin typeface="Google Sans Text"/>
                  <a:ea typeface="Google Sans Text"/>
                </a:rPr>
                <a:t>利用香农预测熵作为模型不确定度与探针可靠度的衡量指标：</a:t>
              </a:r>
            </a:p>
            <a:p>
              <a:pPr indent="0" fontAlgn="auto">
                <a:lnSpc>
                  <a:spcPct val="150000"/>
                </a:lnSpc>
                <a:spcBef>
                  <a:spcPct val="0"/>
                </a:spcBef>
              </a:pPr>
              <a:r>
                <a:rPr lang="zh-CN" altLang="en-US" sz="1600" b="1">
                  <a:latin typeface="Google Sans Text"/>
                  <a:ea typeface="Google Sans Text"/>
                </a:rPr>
                <a:t>数据驱动的可学习加权（</a:t>
              </a:r>
              <a:r>
                <a:rPr lang="en-US" altLang="zh-CN" sz="1600" b="1">
                  <a:latin typeface="Google Sans Text"/>
                  <a:ea typeface="Google Sans Text"/>
                </a:rPr>
                <a:t>Learned Weights, Learned</a:t>
              </a:r>
              <a:r>
                <a:rPr lang="zh-CN" altLang="en-US" sz="1600" b="1">
                  <a:latin typeface="Google Sans Text"/>
                  <a:ea typeface="Google Sans Text"/>
                </a:rPr>
                <a:t>）</a:t>
              </a:r>
              <a:r>
                <a:rPr lang="zh-CN" altLang="en-US" sz="1600">
                  <a:latin typeface="Google Sans Text"/>
                  <a:ea typeface="Google Sans Text"/>
                </a:rPr>
                <a:t>：</a:t>
              </a:r>
            </a:p>
            <a:p>
              <a:pPr indent="0" fontAlgn="auto">
                <a:lnSpc>
                  <a:spcPct val="150000"/>
                </a:lnSpc>
                <a:spcBef>
                  <a:spcPct val="0"/>
                </a:spcBef>
                <a:buFont typeface="Arial" panose="020B0604020202090204"/>
                <a:buChar char="•"/>
              </a:pPr>
              <a:r>
                <a:rPr lang="zh-CN" altLang="en-US" sz="1600">
                  <a:latin typeface="Google Sans Text"/>
                  <a:ea typeface="Google Sans Text"/>
                </a:rPr>
                <a:t>针对 </a:t>
              </a:r>
              <a:r>
                <a:rPr lang="en-US" altLang="zh-CN" sz="1600">
                  <a:latin typeface="Google Sans Text"/>
                  <a:ea typeface="Google Sans Text"/>
                </a:rPr>
                <a:t>30% </a:t>
              </a:r>
              <a:r>
                <a:rPr lang="zh-CN" altLang="en-US" sz="1600">
                  <a:latin typeface="Google Sans Text"/>
                  <a:ea typeface="Google Sans Text"/>
                </a:rPr>
                <a:t>的破坏验证集提取频域特征 </a:t>
              </a:r>
              <a:r>
                <a:rPr lang="en-US" altLang="zh-CN" sz="1600">
                  <a:latin typeface="Google Sans Text"/>
                  <a:ea typeface="Google Sans Text"/>
                </a:rPr>
                <a:t>	</a:t>
              </a:r>
              <a:r>
                <a:rPr lang="zh-CN" altLang="en-US" sz="1600">
                  <a:latin typeface="Google Sans Text"/>
                  <a:ea typeface="Google Sans Text"/>
                </a:rPr>
                <a:t>（频域能直观显露高频噪声等退化模式），训练一个轻量化的 </a:t>
              </a:r>
              <a:r>
                <a:rPr lang="en-US" altLang="zh-CN" sz="1600">
                  <a:latin typeface="Google Sans Text"/>
                  <a:ea typeface="Google Sans Text"/>
                </a:rPr>
                <a:t>ResNet-18 </a:t>
              </a:r>
              <a:r>
                <a:rPr lang="zh-CN" altLang="en-US" sz="1600">
                  <a:latin typeface="Google Sans Text"/>
                  <a:ea typeface="Google Sans Text"/>
                </a:rPr>
                <a:t>网络直接回归拟合最佳权重：</a:t>
              </a:r>
              <a:r>
                <a:rPr lang="en-US" altLang="zh-CN" sz="1600">
                  <a:latin typeface="Google Sans Text"/>
                  <a:ea typeface="Google Sans Text"/>
                </a:rPr>
                <a:t>			      </a:t>
              </a:r>
              <a:r>
                <a:rPr lang="zh-CN" altLang="en-US" sz="1600">
                  <a:latin typeface="Google Sans Text"/>
                  <a:ea typeface="Google Sans Text"/>
                </a:rPr>
                <a:t>。</a:t>
              </a:r>
            </a:p>
          </p:txBody>
        </p:sp>
        <p:pic>
          <p:nvPicPr>
            <p:cNvPr id="7" name="334E55B0-647D-440b-865C-3EC943EB4CBC-8" descr="wpsoffice"/>
            <p:cNvPicPr>
              <a:picLocks noChangeAspect="1"/>
            </p:cNvPicPr>
            <p:nvPr/>
          </p:nvPicPr>
          <p:blipFill>
            <a:blip r:embed="rId4"/>
            <a:stretch>
              <a:fillRect/>
            </a:stretch>
          </p:blipFill>
          <p:spPr>
            <a:xfrm>
              <a:off x="9530" y="7244"/>
              <a:ext cx="8071" cy="470"/>
            </a:xfrm>
            <a:prstGeom prst="rect">
              <a:avLst/>
            </a:prstGeom>
          </p:spPr>
        </p:pic>
        <p:pic>
          <p:nvPicPr>
            <p:cNvPr id="8" name="334E55B0-647D-440b-865C-3EC943EB4CBC-9" descr="wpsoffice"/>
            <p:cNvPicPr>
              <a:picLocks noChangeAspect="1"/>
            </p:cNvPicPr>
            <p:nvPr/>
          </p:nvPicPr>
          <p:blipFill>
            <a:blip r:embed="rId5"/>
            <a:stretch>
              <a:fillRect/>
            </a:stretch>
          </p:blipFill>
          <p:spPr>
            <a:xfrm>
              <a:off x="8471" y="5544"/>
              <a:ext cx="2964" cy="418"/>
            </a:xfrm>
            <a:prstGeom prst="rect">
              <a:avLst/>
            </a:prstGeom>
          </p:spPr>
        </p:pic>
        <p:pic>
          <p:nvPicPr>
            <p:cNvPr id="9" name="334E55B0-647D-440b-865C-3EC943EB4CBC-10" descr="wpsoffice"/>
            <p:cNvPicPr>
              <a:picLocks noChangeAspect="1"/>
            </p:cNvPicPr>
            <p:nvPr/>
          </p:nvPicPr>
          <p:blipFill>
            <a:blip r:embed="rId6"/>
            <a:stretch>
              <a:fillRect/>
            </a:stretch>
          </p:blipFill>
          <p:spPr>
            <a:xfrm>
              <a:off x="8919" y="7791"/>
              <a:ext cx="4811" cy="586"/>
            </a:xfrm>
            <a:prstGeom prst="rect">
              <a:avLst/>
            </a:prstGeom>
          </p:spPr>
        </p:pic>
        <p:pic>
          <p:nvPicPr>
            <p:cNvPr id="10" name="334E55B0-647D-440b-865C-3EC943EB4CBC-11" descr="wpsoffice"/>
            <p:cNvPicPr>
              <a:picLocks noChangeAspect="1"/>
            </p:cNvPicPr>
            <p:nvPr/>
          </p:nvPicPr>
          <p:blipFill>
            <a:blip r:embed="rId7"/>
            <a:stretch>
              <a:fillRect/>
            </a:stretch>
          </p:blipFill>
          <p:spPr>
            <a:xfrm>
              <a:off x="6254" y="8532"/>
              <a:ext cx="408" cy="321"/>
            </a:xfrm>
            <a:prstGeom prst="rect">
              <a:avLst/>
            </a:prstGeom>
          </p:spPr>
        </p:pic>
        <p:pic>
          <p:nvPicPr>
            <p:cNvPr id="11" name="334E55B0-647D-440b-865C-3EC943EB4CBC-12" descr="wpsoffice"/>
            <p:cNvPicPr>
              <a:picLocks noChangeAspect="1"/>
            </p:cNvPicPr>
            <p:nvPr/>
          </p:nvPicPr>
          <p:blipFill>
            <a:blip r:embed="rId8"/>
            <a:stretch>
              <a:fillRect/>
            </a:stretch>
          </p:blipFill>
          <p:spPr>
            <a:xfrm>
              <a:off x="3546" y="9130"/>
              <a:ext cx="4976" cy="470"/>
            </a:xfrm>
            <a:prstGeom prst="rect">
              <a:avLst/>
            </a:prstGeom>
          </p:spPr>
        </p:pic>
      </p:grpSp>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641420"/>
            <a:ext cx="10969200" cy="705600"/>
          </a:xfrm>
        </p:spPr>
        <p:txBody>
          <a:bodyPr/>
          <a:lstStyle/>
          <a:p>
            <a:r>
              <a:rPr lang="zh-CN" altLang="en-US">
                <a:sym typeface="+mn-ea"/>
              </a:rPr>
              <a:t>论文的核心贡献</a:t>
            </a:r>
            <a:endParaRPr lang="zh-CN"/>
          </a:p>
        </p:txBody>
      </p:sp>
      <p:sp>
        <p:nvSpPr>
          <p:cNvPr id="3" name="内容占位符 2"/>
          <p:cNvSpPr>
            <a:spLocks noGrp="1"/>
          </p:cNvSpPr>
          <p:nvPr>
            <p:ph idx="1"/>
          </p:nvPr>
        </p:nvSpPr>
        <p:spPr>
          <a:xfrm>
            <a:off x="552450" y="1991360"/>
            <a:ext cx="10968990" cy="3816985"/>
          </a:xfrm>
        </p:spPr>
        <p:txBody>
          <a:bodyPr>
            <a:noAutofit/>
          </a:bodyPr>
          <a:lstStyle/>
          <a:p>
            <a:pPr algn="l">
              <a:lnSpc>
                <a:spcPct val="100000"/>
              </a:lnSpc>
              <a:buClrTx/>
              <a:buSzTx/>
            </a:pPr>
            <a:r>
              <a:rPr lang="zh-CN" altLang="en-US" sz="2400" b="1">
                <a:solidFill>
                  <a:schemeClr val="tx1"/>
                </a:solidFill>
                <a:latin typeface="仿宋_GB2312" charset="0"/>
                <a:ea typeface="仿宋_GB2312" charset="0"/>
                <a:cs typeface="仿宋_GB2312" charset="0"/>
              </a:rPr>
              <a:t>提出了“以退化为中心”的形状-纹理感知新视角：</a:t>
            </a:r>
          </a:p>
          <a:p>
            <a:pPr marL="457200" lvl="1" indent="0">
              <a:lnSpc>
                <a:spcPct val="100000"/>
              </a:lnSpc>
              <a:buFont typeface="Wingdings" panose="05000000000000000000" charset="0"/>
              <a:buNone/>
            </a:pPr>
            <a:endParaRPr lang="en-US" altLang="zh-CN" sz="2000">
              <a:latin typeface="仿宋_GB2312" charset="0"/>
              <a:ea typeface="仿宋_GB2312" charset="0"/>
              <a:cs typeface="仿宋_GB2312" charset="0"/>
            </a:endParaRPr>
          </a:p>
          <a:p>
            <a:pPr>
              <a:lnSpc>
                <a:spcPct val="100000"/>
              </a:lnSpc>
            </a:pPr>
            <a:r>
              <a:rPr lang="zh-CN" altLang="en-US" sz="2400" b="1">
                <a:solidFill>
                  <a:schemeClr val="tx1"/>
                </a:solidFill>
                <a:latin typeface="仿宋_GB2312" charset="0"/>
                <a:ea typeface="仿宋_GB2312" charset="0"/>
                <a:cs typeface="仿宋_GB2312" charset="0"/>
              </a:rPr>
              <a:t>设计了即插即用、免训练的双路对比解码框架（</a:t>
            </a:r>
            <a:r>
              <a:rPr lang="en-US" altLang="zh-CN" sz="2400" b="1">
                <a:solidFill>
                  <a:schemeClr val="tx1"/>
                </a:solidFill>
                <a:latin typeface="仿宋_GB2312" charset="0"/>
                <a:ea typeface="仿宋_GB2312" charset="0"/>
                <a:cs typeface="仿宋_GB2312" charset="0"/>
              </a:rPr>
              <a:t>ST-CD</a:t>
            </a:r>
            <a:r>
              <a:rPr lang="zh-CN" altLang="en-US" sz="2400" b="1">
                <a:solidFill>
                  <a:schemeClr val="tx1"/>
                </a:solidFill>
                <a:latin typeface="仿宋_GB2312" charset="0"/>
                <a:ea typeface="仿宋_GB2312" charset="0"/>
                <a:cs typeface="仿宋_GB2312" charset="0"/>
              </a:rPr>
              <a:t>）：</a:t>
            </a:r>
          </a:p>
          <a:p>
            <a:pPr marL="457200" lvl="1" indent="0">
              <a:lnSpc>
                <a:spcPct val="100000"/>
              </a:lnSpc>
              <a:buFont typeface="Wingdings" panose="05000000000000000000" charset="0"/>
              <a:buNone/>
            </a:pPr>
            <a:endParaRPr lang="en-US" altLang="zh-CN" sz="2000">
              <a:latin typeface="仿宋_GB2312" charset="0"/>
              <a:ea typeface="仿宋_GB2312" charset="0"/>
              <a:cs typeface="仿宋_GB2312" charset="0"/>
            </a:endParaRPr>
          </a:p>
          <a:p>
            <a:pPr algn="l">
              <a:lnSpc>
                <a:spcPct val="100000"/>
              </a:lnSpc>
              <a:buClrTx/>
              <a:buSzTx/>
            </a:pPr>
            <a:r>
              <a:rPr lang="zh-CN" altLang="en-US" sz="2400" b="1">
                <a:solidFill>
                  <a:schemeClr val="tx1"/>
                </a:solidFill>
                <a:latin typeface="仿宋_GB2312" charset="0"/>
                <a:ea typeface="仿宋_GB2312" charset="0"/>
                <a:cs typeface="仿宋_GB2312" charset="0"/>
              </a:rPr>
              <a:t>构建了优雅的信息论自适应双向门控机制：</a:t>
            </a:r>
          </a:p>
          <a:p>
            <a:pPr algn="l">
              <a:lnSpc>
                <a:spcPct val="100000"/>
              </a:lnSpc>
              <a:buClrTx/>
              <a:buSzTx/>
            </a:pPr>
            <a:endParaRPr lang="zh-CN" altLang="en-US" sz="2400" b="1">
              <a:solidFill>
                <a:schemeClr val="tx1"/>
              </a:solidFill>
              <a:latin typeface="仿宋_GB2312" charset="0"/>
              <a:ea typeface="仿宋_GB2312" charset="0"/>
              <a:cs typeface="仿宋_GB2312" charset="0"/>
            </a:endParaRPr>
          </a:p>
          <a:p>
            <a:pPr algn="l">
              <a:lnSpc>
                <a:spcPct val="100000"/>
              </a:lnSpc>
              <a:buClrTx/>
              <a:buSzTx/>
            </a:pPr>
            <a:r>
              <a:rPr lang="zh-CN" altLang="en-US" sz="2400" b="1">
                <a:solidFill>
                  <a:schemeClr val="tx1"/>
                </a:solidFill>
                <a:latin typeface="仿宋_GB2312" charset="0"/>
                <a:ea typeface="仿宋_GB2312" charset="0"/>
                <a:cs typeface="仿宋_GB2312" charset="0"/>
              </a:rPr>
              <a:t> 全面的实证验证与高质量基准开源：</a:t>
            </a:r>
          </a:p>
          <a:p>
            <a:pPr lvl="1">
              <a:lnSpc>
                <a:spcPct val="100000"/>
              </a:lnSpc>
              <a:buFont typeface="Wingdings" panose="05000000000000000000" charset="0"/>
              <a:buChar char=""/>
            </a:pPr>
            <a:endParaRPr lang="zh-CN" altLang="en-US" sz="2400" b="1">
              <a:solidFill>
                <a:schemeClr val="tx1"/>
              </a:solidFill>
              <a:latin typeface="仿宋_GB2312" charset="0"/>
              <a:ea typeface="仿宋_GB2312" charset="0"/>
              <a:cs typeface="仿宋_GB2312" charset="0"/>
            </a:endParaRPr>
          </a:p>
        </p:txBody>
      </p:sp>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400" y="695395"/>
            <a:ext cx="10969200" cy="705600"/>
          </a:xfrm>
        </p:spPr>
        <p:txBody>
          <a:bodyPr/>
          <a:lstStyle/>
          <a:p>
            <a:r>
              <a:rPr lang="zh-CN" altLang="en-US">
                <a:sym typeface="+mn-ea"/>
              </a:rPr>
              <a:t>不足与局限性</a:t>
            </a:r>
            <a:endParaRPr lang="zh-CN" altLang="en-US"/>
          </a:p>
        </p:txBody>
      </p:sp>
      <p:sp>
        <p:nvSpPr>
          <p:cNvPr id="3" name="内容占位符 2"/>
          <p:cNvSpPr>
            <a:spLocks noGrp="1"/>
          </p:cNvSpPr>
          <p:nvPr>
            <p:ph idx="1"/>
          </p:nvPr>
        </p:nvSpPr>
        <p:spPr>
          <a:xfrm>
            <a:off x="608330" y="1866900"/>
            <a:ext cx="10968990" cy="4382770"/>
          </a:xfrm>
        </p:spPr>
        <p:txBody>
          <a:bodyPr>
            <a:noAutofit/>
          </a:bodyPr>
          <a:lstStyle/>
          <a:p>
            <a:pPr>
              <a:lnSpc>
                <a:spcPct val="100000"/>
              </a:lnSpc>
            </a:pPr>
            <a:r>
              <a:rPr lang="zh-CN" altLang="en-US" sz="2400" b="1">
                <a:latin typeface="仿宋_GB2312" charset="0"/>
                <a:ea typeface="仿宋_GB2312" charset="0"/>
                <a:cs typeface="仿宋_GB2312" charset="0"/>
              </a:rPr>
              <a:t>依然存在不可忽略的推理计算延迟与显存开销：</a:t>
            </a:r>
          </a:p>
          <a:p>
            <a:pPr marL="457200" lvl="1" indent="0">
              <a:lnSpc>
                <a:spcPct val="100000"/>
              </a:lnSpc>
              <a:buFont typeface="Wingdings" panose="05000000000000000000" charset="0"/>
              <a:buNone/>
            </a:pPr>
            <a:r>
              <a:rPr lang="en-US" altLang="zh-CN" sz="2000">
                <a:latin typeface="仿宋_GB2312" charset="0"/>
                <a:ea typeface="仿宋_GB2312" charset="0"/>
                <a:cs typeface="仿宋_GB2312" charset="0"/>
              </a:rPr>
              <a:t>   </a:t>
            </a:r>
          </a:p>
          <a:p>
            <a:pPr algn="l">
              <a:lnSpc>
                <a:spcPct val="100000"/>
              </a:lnSpc>
              <a:buClrTx/>
              <a:buSzTx/>
            </a:pPr>
            <a:r>
              <a:rPr lang="zh-CN" altLang="en-US" sz="2400" b="1">
                <a:latin typeface="仿宋_GB2312" charset="0"/>
                <a:ea typeface="仿宋_GB2312" charset="0"/>
                <a:cs typeface="仿宋_GB2312" charset="0"/>
              </a:rPr>
              <a:t>核心探针依赖传统图像处理启发式算子：</a:t>
            </a:r>
          </a:p>
          <a:p>
            <a:pPr algn="l">
              <a:lnSpc>
                <a:spcPct val="100000"/>
              </a:lnSpc>
              <a:buClrTx/>
              <a:buSzTx/>
            </a:pPr>
            <a:endParaRPr lang="zh-CN" altLang="en-US" sz="2400" b="1">
              <a:latin typeface="仿宋_GB2312" charset="0"/>
              <a:ea typeface="仿宋_GB2312" charset="0"/>
              <a:cs typeface="仿宋_GB2312" charset="0"/>
            </a:endParaRPr>
          </a:p>
          <a:p>
            <a:pPr algn="l">
              <a:lnSpc>
                <a:spcPct val="100000"/>
              </a:lnSpc>
              <a:buClrTx/>
              <a:buSzTx/>
            </a:pPr>
            <a:r>
              <a:rPr lang="zh-CN" altLang="en-US" sz="2400" b="1">
                <a:latin typeface="仿宋_GB2312" charset="0"/>
                <a:ea typeface="仿宋_GB2312" charset="0"/>
                <a:cs typeface="仿宋_GB2312" charset="0"/>
              </a:rPr>
              <a:t>无监督熵权与数据驱动最佳权重之间仍存在性能鸿沟：</a:t>
            </a:r>
          </a:p>
          <a:p>
            <a:pPr marL="457200" lvl="1" indent="0">
              <a:lnSpc>
                <a:spcPct val="100000"/>
              </a:lnSpc>
              <a:buFont typeface="Wingdings" panose="05000000000000000000" charset="0"/>
              <a:buNone/>
            </a:pPr>
            <a:r>
              <a:rPr lang="en-US" altLang="zh-CN" sz="2000">
                <a:latin typeface="仿宋_GB2312" charset="0"/>
                <a:ea typeface="仿宋_GB2312" charset="0"/>
                <a:cs typeface="仿宋_GB2312" charset="0"/>
              </a:rPr>
              <a:t>   </a:t>
            </a:r>
          </a:p>
          <a:p>
            <a:pPr algn="l">
              <a:lnSpc>
                <a:spcPct val="100000"/>
              </a:lnSpc>
              <a:buClrTx/>
              <a:buSzTx/>
            </a:pPr>
            <a:r>
              <a:rPr lang="zh-CN" altLang="en-US" sz="2400" b="1">
                <a:latin typeface="仿宋_GB2312" charset="0"/>
                <a:ea typeface="仿宋_GB2312" charset="0"/>
                <a:cs typeface="仿宋_GB2312" charset="0"/>
              </a:rPr>
              <a:t>感知维度局限于中低层空间退化：</a:t>
            </a:r>
          </a:p>
          <a:p>
            <a:pPr marL="457200" lvl="1" indent="0">
              <a:lnSpc>
                <a:spcPct val="100000"/>
              </a:lnSpc>
              <a:buFont typeface="Wingdings" panose="05000000000000000000" charset="0"/>
              <a:buNone/>
            </a:pPr>
            <a:endParaRPr lang="zh-CN" altLang="en-US" sz="2400" b="1">
              <a:latin typeface="仿宋_GB2312" charset="0"/>
              <a:ea typeface="仿宋_GB2312" charset="0"/>
              <a:cs typeface="仿宋_GB2312" charset="0"/>
            </a:endParaRPr>
          </a:p>
        </p:txBody>
      </p:sp>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1"/>
            <p:custDataLst>
              <p:tags r:id="rId2"/>
            </p:custDataLst>
          </p:nvPr>
        </p:nvSpPr>
        <p:spPr>
          <a:xfrm>
            <a:off x="2418715" y="1901190"/>
            <a:ext cx="8250555" cy="1705610"/>
          </a:xfrm>
        </p:spPr>
        <p:txBody>
          <a:bodyPr/>
          <a:lstStyle/>
          <a:p>
            <a:r>
              <a:rPr lang="zh-CN" altLang="en-US" dirty="0"/>
              <a:t>THANK  YOU</a:t>
            </a:r>
          </a:p>
        </p:txBody>
      </p:sp>
      <p:sp>
        <p:nvSpPr>
          <p:cNvPr id="3" name="文本占位符 2"/>
          <p:cNvSpPr>
            <a:spLocks noGrp="1"/>
          </p:cNvSpPr>
          <p:nvPr>
            <p:ph type="body" sz="quarter" idx="17"/>
            <p:custDataLst>
              <p:tags r:id="rId3"/>
            </p:custDataLst>
          </p:nvPr>
        </p:nvSpPr>
        <p:spPr>
          <a:xfrm>
            <a:off x="2418715" y="4375145"/>
            <a:ext cx="7444103" cy="656600"/>
          </a:xfrm>
        </p:spPr>
        <p:txBody>
          <a:bodyPr/>
          <a:lstStyle/>
          <a:p>
            <a:r>
              <a:rPr lang="zh-CN" altLang="en-US"/>
              <a:t>汇报人：张城</a:t>
            </a:r>
            <a:r>
              <a:rPr lang="en-US" altLang="zh-CN"/>
              <a:t>2612192</a:t>
            </a:r>
          </a:p>
        </p:txBody>
      </p:sp>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frame-bg"/>
          <p:cNvSpPr/>
          <p:nvPr/>
        </p:nvSpPr>
        <p:spPr>
          <a:xfrm>
            <a:off x="476250" y="381000"/>
            <a:ext cx="11239500" cy="6096000"/>
          </a:xfrm>
          <a:prstGeom prst="roundRect">
            <a:avLst>
              <a:gd name="adj" fmla="val 625"/>
            </a:avLst>
          </a:prstGeom>
          <a:solidFill>
            <a:schemeClr val="lt1"/>
          </a:solidFill>
          <a:ln w="14288">
            <a:solidFill>
              <a:srgbClr val="CBD5E1"/>
            </a:solidFill>
          </a:ln>
        </p:spPr>
        <p:txBody>
          <a:bodyPr/>
          <a:lstStyle/>
          <a:p>
            <a:endParaRPr lang="zh-CN" altLang="en-US"/>
          </a:p>
        </p:txBody>
      </p:sp>
      <p:sp>
        <p:nvSpPr>
          <p:cNvPr id="3" name="cover-frame-accent"/>
          <p:cNvSpPr/>
          <p:nvPr/>
        </p:nvSpPr>
        <p:spPr>
          <a:xfrm>
            <a:off x="476250" y="381000"/>
            <a:ext cx="11239500" cy="76200"/>
          </a:xfrm>
          <a:prstGeom prst="rect">
            <a:avLst/>
          </a:prstGeom>
          <a:solidFill>
            <a:schemeClr val="accent1"/>
          </a:solidFill>
          <a:ln>
            <a:noFill/>
          </a:ln>
        </p:spPr>
      </p:sp>
      <p:sp>
        <p:nvSpPr>
          <p:cNvPr id="4" name="cover-frame-gold"/>
          <p:cNvSpPr/>
          <p:nvPr/>
        </p:nvSpPr>
        <p:spPr>
          <a:xfrm>
            <a:off x="476250" y="457200"/>
            <a:ext cx="11239500" cy="28575"/>
          </a:xfrm>
          <a:prstGeom prst="rect">
            <a:avLst/>
          </a:prstGeom>
          <a:solidFill>
            <a:schemeClr val="accent2"/>
          </a:solidFill>
          <a:ln>
            <a:noFill/>
          </a:ln>
        </p:spPr>
      </p:sp>
      <p:grpSp>
        <p:nvGrpSpPr>
          <p:cNvPr id="11" name="cover-title"/>
          <p:cNvGrpSpPr/>
          <p:nvPr/>
        </p:nvGrpSpPr>
        <p:grpSpPr>
          <a:xfrm>
            <a:off x="851535" y="1008697"/>
            <a:ext cx="10477500" cy="1763078"/>
            <a:chOff x="851535" y="1008697"/>
            <a:chExt cx="10477500" cy="1763078"/>
          </a:xfrm>
        </p:grpSpPr>
        <p:sp>
          <p:nvSpPr>
            <p:cNvPr id="7" name="TextBox 7"/>
            <p:cNvSpPr txBox="1"/>
            <p:nvPr/>
          </p:nvSpPr>
          <p:spPr>
            <a:xfrm>
              <a:off x="857250" y="1008697"/>
              <a:ext cx="8903335" cy="1107440"/>
            </a:xfrm>
            <a:prstGeom prst="rect">
              <a:avLst/>
            </a:prstGeom>
            <a:noFill/>
            <a:ln>
              <a:noFill/>
            </a:ln>
          </p:spPr>
          <p:txBody>
            <a:bodyPr wrap="none" lIns="0" tIns="0" rIns="0" bIns="0" anchor="t" anchorCtr="0">
              <a:spAutoFit/>
            </a:bodyPr>
            <a:lstStyle/>
            <a:p>
              <a:pPr marL="0" indent="0" algn="l">
                <a:buNone/>
              </a:pPr>
              <a:r>
                <a:rPr lang="en-US" sz="3600" b="1"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0"/>
                  <a:sym typeface="+mn-ea"/>
                </a:rPr>
                <a:t>Unlearning the Noisy Correspondence </a:t>
              </a:r>
            </a:p>
            <a:p>
              <a:pPr marL="0" indent="0" algn="l">
                <a:buNone/>
              </a:pPr>
              <a:r>
                <a:rPr lang="en-US" sz="3600" b="1" dirty="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0"/>
                  <a:sym typeface="+mn-ea"/>
                </a:rPr>
                <a:t>Makes CLIP More Robust</a:t>
              </a:r>
            </a:p>
          </p:txBody>
        </p:sp>
        <p:sp>
          <p:nvSpPr>
            <p:cNvPr id="8" name="TextBox 8"/>
            <p:cNvSpPr txBox="1"/>
            <p:nvPr/>
          </p:nvSpPr>
          <p:spPr>
            <a:xfrm>
              <a:off x="5378450" y="1700847"/>
              <a:ext cx="127000" cy="553720"/>
            </a:xfrm>
            <a:prstGeom prst="rect">
              <a:avLst/>
            </a:prstGeom>
            <a:noFill/>
            <a:ln>
              <a:noFill/>
            </a:ln>
          </p:spPr>
          <p:txBody>
            <a:bodyPr wrap="none" lIns="0" tIns="0" rIns="0" bIns="0" anchor="t" anchorCtr="0">
              <a:spAutoFit/>
            </a:bodyPr>
            <a:lstStyle/>
            <a:p>
              <a:pPr algn="l" defTabSz="457200"/>
              <a:endParaRPr lang="zh-CN" sz="3600" b="1" dirty="0">
                <a:solidFill>
                  <a:schemeClr val="accent1"/>
                </a:solidFill>
                <a:latin typeface="+mn-lt"/>
                <a:ea typeface="+mn-ea"/>
                <a:cs typeface="+mn-cs"/>
              </a:endParaRPr>
            </a:p>
          </p:txBody>
        </p:sp>
        <p:sp>
          <p:nvSpPr>
            <p:cNvPr id="10" name="Line 10"/>
            <p:cNvSpPr/>
            <p:nvPr/>
          </p:nvSpPr>
          <p:spPr>
            <a:xfrm>
              <a:off x="851535" y="2762250"/>
              <a:ext cx="10477500" cy="9525"/>
            </a:xfrm>
            <a:custGeom>
              <a:avLst/>
              <a:gdLst/>
              <a:ahLst/>
              <a:cxnLst/>
              <a:rect l="l" t="t" r="r" b="b"/>
              <a:pathLst>
                <a:path w="10477500" h="9525">
                  <a:moveTo>
                    <a:pt x="0" y="0"/>
                  </a:moveTo>
                  <a:lnTo>
                    <a:pt x="10477500" y="0"/>
                  </a:lnTo>
                </a:path>
              </a:pathLst>
            </a:custGeom>
            <a:noFill/>
            <a:ln w="14288">
              <a:solidFill>
                <a:schemeClr val="accent2"/>
              </a:solidFill>
            </a:ln>
          </p:spPr>
        </p:sp>
      </p:grpSp>
      <p:grpSp>
        <p:nvGrpSpPr>
          <p:cNvPr id="26" name="cover-meta"/>
          <p:cNvGrpSpPr/>
          <p:nvPr/>
        </p:nvGrpSpPr>
        <p:grpSpPr>
          <a:xfrm>
            <a:off x="857250" y="3143250"/>
            <a:ext cx="10477500" cy="1666875"/>
            <a:chOff x="857250" y="3143250"/>
            <a:chExt cx="10477500" cy="1666875"/>
          </a:xfrm>
        </p:grpSpPr>
        <p:sp>
          <p:nvSpPr>
            <p:cNvPr id="12" name="Rectangle 12"/>
            <p:cNvSpPr/>
            <p:nvPr/>
          </p:nvSpPr>
          <p:spPr>
            <a:xfrm>
              <a:off x="857250" y="3143250"/>
              <a:ext cx="5048250" cy="1666875"/>
            </a:xfrm>
            <a:prstGeom prst="roundRect">
              <a:avLst>
                <a:gd name="adj" fmla="val 2286"/>
              </a:avLst>
            </a:prstGeom>
            <a:solidFill>
              <a:schemeClr val="lt2"/>
            </a:solidFill>
            <a:ln w="9525">
              <a:solidFill>
                <a:schemeClr val="accent6"/>
              </a:solidFill>
            </a:ln>
          </p:spPr>
        </p:sp>
        <p:sp>
          <p:nvSpPr>
            <p:cNvPr id="13" name="Rectangle 13"/>
            <p:cNvSpPr/>
            <p:nvPr/>
          </p:nvSpPr>
          <p:spPr>
            <a:xfrm>
              <a:off x="857250" y="3143250"/>
              <a:ext cx="5048250" cy="57150"/>
            </a:xfrm>
            <a:prstGeom prst="roundRect">
              <a:avLst>
                <a:gd name="adj" fmla="val 33333"/>
              </a:avLst>
            </a:prstGeom>
            <a:solidFill>
              <a:schemeClr val="accent1"/>
            </a:solidFill>
            <a:ln>
              <a:noFill/>
            </a:ln>
          </p:spPr>
        </p:sp>
        <p:sp>
          <p:nvSpPr>
            <p:cNvPr id="14" name="TextBox 14"/>
            <p:cNvSpPr txBox="1"/>
            <p:nvPr/>
          </p:nvSpPr>
          <p:spPr>
            <a:xfrm>
              <a:off x="1136142" y="3378518"/>
              <a:ext cx="342900" cy="207645"/>
            </a:xfrm>
            <a:prstGeom prst="rect">
              <a:avLst/>
            </a:prstGeom>
            <a:noFill/>
            <a:ln>
              <a:noFill/>
            </a:ln>
          </p:spPr>
          <p:txBody>
            <a:bodyPr wrap="none" lIns="0" tIns="0" rIns="0" bIns="0" anchor="t" anchorCtr="0">
              <a:spAutoFit/>
            </a:bodyPr>
            <a:lstStyle/>
            <a:p>
              <a:pPr algn="l" defTabSz="457200"/>
              <a:r>
                <a:rPr lang="zh-CN" sz="1350" b="1" dirty="0">
                  <a:solidFill>
                    <a:schemeClr val="accent1"/>
                  </a:solidFill>
                  <a:latin typeface="+mn-lt"/>
                  <a:ea typeface="+mn-ea"/>
                  <a:cs typeface="+mn-cs"/>
                </a:rPr>
                <a:t>作者</a:t>
              </a:r>
            </a:p>
          </p:txBody>
        </p:sp>
        <p:sp>
          <p:nvSpPr>
            <p:cNvPr id="15" name="Line 15"/>
            <p:cNvSpPr/>
            <p:nvPr/>
          </p:nvSpPr>
          <p:spPr>
            <a:xfrm>
              <a:off x="1143000" y="3667125"/>
              <a:ext cx="4476750" cy="9525"/>
            </a:xfrm>
            <a:custGeom>
              <a:avLst/>
              <a:gdLst/>
              <a:ahLst/>
              <a:cxnLst/>
              <a:rect l="l" t="t" r="r" b="b"/>
              <a:pathLst>
                <a:path w="4476750" h="9525">
                  <a:moveTo>
                    <a:pt x="0" y="0"/>
                  </a:moveTo>
                  <a:lnTo>
                    <a:pt x="4476750" y="0"/>
                  </a:lnTo>
                </a:path>
              </a:pathLst>
            </a:custGeom>
            <a:noFill/>
            <a:ln w="9525">
              <a:solidFill>
                <a:schemeClr val="accent6"/>
              </a:solidFill>
            </a:ln>
          </p:spPr>
        </p:sp>
        <p:sp>
          <p:nvSpPr>
            <p:cNvPr id="16" name="TextBox 16"/>
            <p:cNvSpPr txBox="1"/>
            <p:nvPr/>
          </p:nvSpPr>
          <p:spPr>
            <a:xfrm>
              <a:off x="1137285" y="3879056"/>
              <a:ext cx="4515485" cy="687070"/>
            </a:xfrm>
            <a:prstGeom prst="rect">
              <a:avLst/>
            </a:prstGeom>
            <a:noFill/>
            <a:ln>
              <a:noFill/>
            </a:ln>
          </p:spPr>
          <p:txBody>
            <a:bodyPr wrap="none" lIns="0" tIns="0" rIns="0" bIns="0" anchor="t" anchorCtr="0">
              <a:spAutoFit/>
            </a:bodyPr>
            <a:lstStyle/>
            <a:p>
              <a:pPr algn="l" defTabSz="457200"/>
              <a:r>
                <a:rPr lang="zh-CN" sz="1120" dirty="0">
                  <a:solidFill>
                    <a:schemeClr val="accent1"/>
                  </a:solidFill>
                  <a:latin typeface="+mn-lt"/>
                  <a:ea typeface="+mn-ea"/>
                  <a:cs typeface="+mn-cs"/>
                </a:rPr>
                <a:t>作者: </a:t>
              </a:r>
              <a:r>
                <a:rPr lang="en-US" altLang="zh-CN" sz="1120" dirty="0">
                  <a:solidFill>
                    <a:schemeClr val="accent1"/>
                  </a:solidFill>
                  <a:latin typeface="+mn-lt"/>
                  <a:ea typeface="+mn-ea"/>
                  <a:cs typeface="+mn-cs"/>
                </a:rPr>
                <a:t>Haochen Han, Alex Jinpeng Wang, Peijun Ye, Fangming Liu</a:t>
              </a:r>
              <a:r>
                <a:rPr lang="zh-CN" altLang="en-US" sz="1120" dirty="0">
                  <a:solidFill>
                    <a:schemeClr val="accent1"/>
                  </a:solidFill>
                  <a:latin typeface="+mn-lt"/>
                  <a:ea typeface="+mn-ea"/>
                  <a:cs typeface="+mn-cs"/>
                </a:rPr>
                <a:t>，</a:t>
              </a:r>
            </a:p>
            <a:p>
              <a:pPr algn="l" defTabSz="457200"/>
              <a:r>
                <a:rPr lang="en-US" altLang="zh-CN" sz="1120" dirty="0">
                  <a:solidFill>
                    <a:schemeClr val="accent1"/>
                  </a:solidFill>
                  <a:latin typeface="+mn-lt"/>
                  <a:ea typeface="+mn-ea"/>
                  <a:cs typeface="+mn-cs"/>
                </a:rPr>
                <a:t>Peng Cheng Laboratory Central South University</a:t>
              </a:r>
            </a:p>
            <a:p>
              <a:pPr algn="l" defTabSz="457200"/>
              <a:endParaRPr lang="zh-CN" altLang="en-US" sz="1120" dirty="0">
                <a:solidFill>
                  <a:schemeClr val="accent1"/>
                </a:solidFill>
                <a:latin typeface="+mn-lt"/>
                <a:ea typeface="+mn-ea"/>
                <a:cs typeface="+mn-cs"/>
              </a:endParaRPr>
            </a:p>
            <a:p>
              <a:pPr algn="l" defTabSz="457200"/>
              <a:endParaRPr lang="en-US" altLang="zh-CN" sz="1120" dirty="0">
                <a:solidFill>
                  <a:schemeClr val="accent1"/>
                </a:solidFill>
                <a:latin typeface="+mn-lt"/>
                <a:ea typeface="+mn-ea"/>
                <a:cs typeface="+mn-cs"/>
              </a:endParaRPr>
            </a:p>
          </p:txBody>
        </p:sp>
        <p:sp>
          <p:nvSpPr>
            <p:cNvPr id="19" name="Rectangle 19"/>
            <p:cNvSpPr/>
            <p:nvPr/>
          </p:nvSpPr>
          <p:spPr>
            <a:xfrm>
              <a:off x="6286500" y="3143250"/>
              <a:ext cx="5048250" cy="1666875"/>
            </a:xfrm>
            <a:prstGeom prst="roundRect">
              <a:avLst>
                <a:gd name="adj" fmla="val 2286"/>
              </a:avLst>
            </a:prstGeom>
            <a:solidFill>
              <a:schemeClr val="lt2"/>
            </a:solidFill>
            <a:ln w="9525">
              <a:solidFill>
                <a:schemeClr val="accent6"/>
              </a:solidFill>
            </a:ln>
          </p:spPr>
        </p:sp>
        <p:sp>
          <p:nvSpPr>
            <p:cNvPr id="20" name="Rectangle 20"/>
            <p:cNvSpPr/>
            <p:nvPr/>
          </p:nvSpPr>
          <p:spPr>
            <a:xfrm>
              <a:off x="6286500" y="3143250"/>
              <a:ext cx="5048250" cy="57150"/>
            </a:xfrm>
            <a:prstGeom prst="roundRect">
              <a:avLst>
                <a:gd name="adj" fmla="val 33333"/>
              </a:avLst>
            </a:prstGeom>
            <a:solidFill>
              <a:schemeClr val="accent2"/>
            </a:solidFill>
            <a:ln>
              <a:noFill/>
            </a:ln>
          </p:spPr>
        </p:sp>
        <p:sp>
          <p:nvSpPr>
            <p:cNvPr id="21" name="TextBox 21"/>
            <p:cNvSpPr txBox="1"/>
            <p:nvPr/>
          </p:nvSpPr>
          <p:spPr>
            <a:xfrm>
              <a:off x="6565392" y="3378518"/>
              <a:ext cx="514350" cy="207645"/>
            </a:xfrm>
            <a:prstGeom prst="rect">
              <a:avLst/>
            </a:prstGeom>
            <a:noFill/>
            <a:ln>
              <a:noFill/>
            </a:ln>
          </p:spPr>
          <p:txBody>
            <a:bodyPr wrap="none" lIns="0" tIns="0" rIns="0" bIns="0" anchor="t" anchorCtr="0">
              <a:spAutoFit/>
            </a:bodyPr>
            <a:lstStyle/>
            <a:p>
              <a:pPr algn="l" defTabSz="457200"/>
              <a:r>
                <a:rPr lang="zh-CN" sz="1350" b="1" dirty="0">
                  <a:solidFill>
                    <a:schemeClr val="accent1"/>
                  </a:solidFill>
                  <a:latin typeface="+mn-lt"/>
                  <a:ea typeface="+mn-ea"/>
                  <a:cs typeface="+mn-cs"/>
                </a:rPr>
                <a:t>汇报人</a:t>
              </a:r>
            </a:p>
          </p:txBody>
        </p:sp>
        <p:sp>
          <p:nvSpPr>
            <p:cNvPr id="22" name="Line 22"/>
            <p:cNvSpPr/>
            <p:nvPr/>
          </p:nvSpPr>
          <p:spPr>
            <a:xfrm>
              <a:off x="6572250" y="3667125"/>
              <a:ext cx="4476750" cy="9525"/>
            </a:xfrm>
            <a:custGeom>
              <a:avLst/>
              <a:gdLst/>
              <a:ahLst/>
              <a:cxnLst/>
              <a:rect l="l" t="t" r="r" b="b"/>
              <a:pathLst>
                <a:path w="4476750" h="9525">
                  <a:moveTo>
                    <a:pt x="0" y="0"/>
                  </a:moveTo>
                  <a:lnTo>
                    <a:pt x="4476750" y="0"/>
                  </a:lnTo>
                </a:path>
              </a:pathLst>
            </a:custGeom>
            <a:noFill/>
            <a:ln w="9525">
              <a:solidFill>
                <a:schemeClr val="accent6"/>
              </a:solidFill>
            </a:ln>
          </p:spPr>
        </p:sp>
        <p:sp>
          <p:nvSpPr>
            <p:cNvPr id="23" name="TextBox 23"/>
            <p:cNvSpPr txBox="1"/>
            <p:nvPr/>
          </p:nvSpPr>
          <p:spPr>
            <a:xfrm>
              <a:off x="6566535" y="3879056"/>
              <a:ext cx="1595755" cy="171450"/>
            </a:xfrm>
            <a:prstGeom prst="rect">
              <a:avLst/>
            </a:prstGeom>
            <a:noFill/>
            <a:ln>
              <a:noFill/>
            </a:ln>
          </p:spPr>
          <p:txBody>
            <a:bodyPr wrap="none" lIns="0" tIns="0" rIns="0" bIns="0" anchor="t" anchorCtr="0">
              <a:spAutoFit/>
            </a:bodyPr>
            <a:lstStyle/>
            <a:p>
              <a:pPr algn="l" defTabSz="457200"/>
              <a:r>
                <a:rPr lang="zh-CN" sz="1120" dirty="0">
                  <a:solidFill>
                    <a:schemeClr val="accent1"/>
                  </a:solidFill>
                  <a:latin typeface="+mn-lt"/>
                  <a:ea typeface="+mn-ea"/>
                  <a:cs typeface="+mn-cs"/>
                </a:rPr>
                <a:t>汇报人: </a:t>
              </a:r>
              <a:r>
                <a:rPr lang="en-US" altLang="zh-CN" sz="1120" dirty="0">
                  <a:solidFill>
                    <a:schemeClr val="accent1"/>
                  </a:solidFill>
                  <a:latin typeface="+mn-lt"/>
                  <a:ea typeface="+mn-ea"/>
                  <a:cs typeface="+mn-cs"/>
                </a:rPr>
                <a:t> 26121</a:t>
              </a:r>
              <a:r>
                <a:rPr lang="en-US" sz="1120" dirty="0">
                  <a:solidFill>
                    <a:schemeClr val="accent1"/>
                  </a:solidFill>
                  <a:latin typeface="+mn-lt"/>
                  <a:ea typeface="+mn-ea"/>
                  <a:cs typeface="+mn-cs"/>
                </a:rPr>
                <a:t>55 </a:t>
              </a:r>
              <a:r>
                <a:rPr lang="zh-CN" altLang="en-US" sz="1120" dirty="0">
                  <a:solidFill>
                    <a:schemeClr val="accent1"/>
                  </a:solidFill>
                  <a:latin typeface="+mn-lt"/>
                  <a:ea typeface="+mn-ea"/>
                  <a:cs typeface="+mn-cs"/>
                </a:rPr>
                <a:t>王语凡</a:t>
              </a:r>
            </a:p>
          </p:txBody>
        </p:sp>
        <p:sp>
          <p:nvSpPr>
            <p:cNvPr id="24" name="TextBox 24"/>
            <p:cNvSpPr txBox="1"/>
            <p:nvPr/>
          </p:nvSpPr>
          <p:spPr>
            <a:xfrm>
              <a:off x="6566535" y="4117181"/>
              <a:ext cx="929640" cy="171450"/>
            </a:xfrm>
            <a:prstGeom prst="rect">
              <a:avLst/>
            </a:prstGeom>
            <a:noFill/>
            <a:ln>
              <a:noFill/>
            </a:ln>
          </p:spPr>
          <p:txBody>
            <a:bodyPr wrap="none" lIns="0" tIns="0" rIns="0" bIns="0" anchor="t" anchorCtr="0">
              <a:spAutoFit/>
            </a:bodyPr>
            <a:lstStyle/>
            <a:p>
              <a:pPr algn="l" defTabSz="457200"/>
              <a:r>
                <a:rPr lang="zh-CN" sz="1120" dirty="0">
                  <a:solidFill>
                    <a:schemeClr val="accent1"/>
                  </a:solidFill>
                  <a:latin typeface="+mn-lt"/>
                  <a:ea typeface="+mn-ea"/>
                  <a:cs typeface="+mn-cs"/>
                </a:rPr>
                <a:t>专业: 软件工程</a:t>
              </a:r>
            </a:p>
          </p:txBody>
        </p:sp>
      </p:grpSp>
      <p:sp>
        <p:nvSpPr>
          <p:cNvPr id="9" name="TextBox 9"/>
          <p:cNvSpPr txBox="1"/>
          <p:nvPr/>
        </p:nvSpPr>
        <p:spPr>
          <a:xfrm>
            <a:off x="878842" y="2399982"/>
            <a:ext cx="4499610" cy="276860"/>
          </a:xfrm>
          <a:prstGeom prst="rect">
            <a:avLst/>
          </a:prstGeom>
          <a:noFill/>
          <a:ln>
            <a:noFill/>
          </a:ln>
        </p:spPr>
        <p:txBody>
          <a:bodyPr wrap="none" lIns="0" tIns="0" rIns="0" bIns="0" anchor="t" anchorCtr="0">
            <a:spAutoFit/>
          </a:bodyPr>
          <a:lstStyle/>
          <a:p>
            <a:pPr algn="ctr" defTabSz="457200"/>
            <a:r>
              <a:rPr lang="zh-CN" altLang="en-US" i="1" dirty="0">
                <a:solidFill>
                  <a:schemeClr val="accent2"/>
                </a:solidFill>
                <a:latin typeface="+mn-lt"/>
                <a:ea typeface="+mn-ea"/>
                <a:cs typeface="+mn-cs"/>
              </a:rPr>
              <a:t>通过遗忘噪声图文对应关系提升 </a:t>
            </a:r>
            <a:r>
              <a:rPr lang="en-US" altLang="zh-CN" i="1" dirty="0">
                <a:solidFill>
                  <a:schemeClr val="accent2"/>
                </a:solidFill>
                <a:latin typeface="+mn-lt"/>
                <a:ea typeface="+mn-ea"/>
                <a:cs typeface="+mn-cs"/>
              </a:rPr>
              <a:t>CLIP </a:t>
            </a:r>
            <a:r>
              <a:rPr lang="zh-CN" altLang="en-US" i="1" dirty="0">
                <a:solidFill>
                  <a:schemeClr val="accent2"/>
                </a:solidFill>
                <a:latin typeface="+mn-lt"/>
                <a:ea typeface="+mn-ea"/>
                <a:cs typeface="+mn-cs"/>
              </a:rPr>
              <a:t>鲁棒性</a:t>
            </a:r>
          </a:p>
        </p:txBody>
      </p:sp>
      <p:sp>
        <p:nvSpPr>
          <p:cNvPr id="5" name="文本框 4"/>
          <p:cNvSpPr txBox="1"/>
          <p:nvPr/>
        </p:nvSpPr>
        <p:spPr>
          <a:xfrm>
            <a:off x="3129280" y="699706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ROADMAP</a:t>
            </a:r>
            <a:endParaRPr lang="en-US" sz="1000" dirty="0"/>
          </a:p>
        </p:txBody>
      </p:sp>
      <p:sp>
        <p:nvSpPr>
          <p:cNvPr id="3"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汇报目录</a:t>
            </a:r>
          </a:p>
        </p:txBody>
      </p:sp>
      <p:sp>
        <p:nvSpPr>
          <p:cNvPr id="5" name="Shape 3"/>
          <p:cNvSpPr/>
          <p:nvPr>
            <p:custDataLst>
              <p:tags r:id="rId1"/>
            </p:custDataLst>
          </p:nvPr>
        </p:nvSpPr>
        <p:spPr>
          <a:xfrm>
            <a:off x="777240" y="1874520"/>
            <a:ext cx="3246120" cy="3337560"/>
          </a:xfrm>
          <a:prstGeom prst="roundRect">
            <a:avLst>
              <a:gd name="adj" fmla="val 1127"/>
            </a:avLst>
          </a:prstGeom>
          <a:solidFill>
            <a:srgbClr val="315AA8"/>
          </a:solidFill>
          <a:ln w="12700">
            <a:solidFill>
              <a:srgbClr val="D9DDE5"/>
            </a:solidFill>
            <a:prstDash val="solid"/>
          </a:ln>
        </p:spPr>
      </p:sp>
      <p:sp>
        <p:nvSpPr>
          <p:cNvPr id="6" name="Text 4"/>
          <p:cNvSpPr/>
          <p:nvPr>
            <p:custDataLst>
              <p:tags r:id="rId2"/>
            </p:custDataLst>
          </p:nvPr>
        </p:nvSpPr>
        <p:spPr>
          <a:xfrm>
            <a:off x="1051560" y="2194560"/>
            <a:ext cx="640080" cy="320040"/>
          </a:xfrm>
          <a:prstGeom prst="rect">
            <a:avLst/>
          </a:prstGeom>
          <a:noFill/>
        </p:spPr>
        <p:txBody>
          <a:bodyPr wrap="square" lIns="0" tIns="0" rIns="0" bIns="0" rtlCol="0" anchor="ctr">
            <a:normAutofit lnSpcReduction="10000"/>
          </a:bodyPr>
          <a:lstStyle/>
          <a:p>
            <a:pPr marL="0" indent="0" algn="l">
              <a:buNone/>
            </a:pPr>
            <a:r>
              <a:rPr lang="en-US" sz="2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2300" dirty="0"/>
          </a:p>
        </p:txBody>
      </p:sp>
      <p:sp>
        <p:nvSpPr>
          <p:cNvPr id="7" name="Text 5"/>
          <p:cNvSpPr/>
          <p:nvPr>
            <p:custDataLst>
              <p:tags r:id="rId3"/>
            </p:custDataLst>
          </p:nvPr>
        </p:nvSpPr>
        <p:spPr>
          <a:xfrm>
            <a:off x="1051560" y="2834640"/>
            <a:ext cx="2651760" cy="457200"/>
          </a:xfrm>
          <a:prstGeom prst="rect">
            <a:avLst/>
          </a:prstGeom>
          <a:noFill/>
        </p:spPr>
        <p:txBody>
          <a:bodyPr wrap="square" lIns="0" tIns="0" rIns="0" bIns="0" rtlCol="0" anchor="ctr">
            <a:normAutofit/>
          </a:bodyPr>
          <a:lstStyle/>
          <a:p>
            <a:pPr marL="0" indent="0" algn="l">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研究背景与动机</a:t>
            </a:r>
            <a:endParaRPr lang="en-US" sz="2000" dirty="0"/>
          </a:p>
        </p:txBody>
      </p:sp>
      <p:sp>
        <p:nvSpPr>
          <p:cNvPr id="8" name="Text 6"/>
          <p:cNvSpPr/>
          <p:nvPr>
            <p:custDataLst>
              <p:tags r:id="rId4"/>
            </p:custDataLst>
          </p:nvPr>
        </p:nvSpPr>
        <p:spPr>
          <a:xfrm>
            <a:off x="1051560" y="3794760"/>
            <a:ext cx="2560320" cy="685800"/>
          </a:xfrm>
          <a:prstGeom prst="rect">
            <a:avLst/>
          </a:prstGeom>
          <a:noFill/>
        </p:spPr>
        <p:txBody>
          <a:bodyPr wrap="square" lIns="0" tIns="0" rIns="0" bIns="0" rtlCol="0" anchor="ctr">
            <a:normAutofit/>
          </a:bodyPr>
          <a:lstStyle/>
          <a:p>
            <a:pPr marL="0" indent="0" algn="l">
              <a:buNone/>
            </a:pPr>
            <a:r>
              <a:rPr lang="en-US" sz="16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CLIP</a:t>
            </a:r>
            <a:r>
              <a:rPr lang="zh-CN" altLang="en-US" sz="16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为什么会受到噪声影响</a:t>
            </a:r>
          </a:p>
        </p:txBody>
      </p:sp>
      <p:sp>
        <p:nvSpPr>
          <p:cNvPr id="9" name="Shape 7"/>
          <p:cNvSpPr/>
          <p:nvPr>
            <p:custDataLst>
              <p:tags r:id="rId5"/>
            </p:custDataLst>
          </p:nvPr>
        </p:nvSpPr>
        <p:spPr>
          <a:xfrm>
            <a:off x="4572000" y="1874520"/>
            <a:ext cx="3246120" cy="3337560"/>
          </a:xfrm>
          <a:prstGeom prst="roundRect">
            <a:avLst>
              <a:gd name="adj" fmla="val 1127"/>
            </a:avLst>
          </a:prstGeom>
          <a:solidFill>
            <a:srgbClr val="E9822F"/>
          </a:solidFill>
          <a:ln w="12700">
            <a:solidFill>
              <a:srgbClr val="D9DDE5"/>
            </a:solidFill>
            <a:prstDash val="solid"/>
          </a:ln>
        </p:spPr>
      </p:sp>
      <p:sp>
        <p:nvSpPr>
          <p:cNvPr id="10" name="Text 8"/>
          <p:cNvSpPr/>
          <p:nvPr>
            <p:custDataLst>
              <p:tags r:id="rId6"/>
            </p:custDataLst>
          </p:nvPr>
        </p:nvSpPr>
        <p:spPr>
          <a:xfrm>
            <a:off x="4846320" y="2194560"/>
            <a:ext cx="640080" cy="320040"/>
          </a:xfrm>
          <a:prstGeom prst="rect">
            <a:avLst/>
          </a:prstGeom>
          <a:noFill/>
        </p:spPr>
        <p:txBody>
          <a:bodyPr wrap="square" lIns="0" tIns="0" rIns="0" bIns="0" rtlCol="0" anchor="ctr">
            <a:normAutofit lnSpcReduction="10000"/>
          </a:bodyPr>
          <a:lstStyle/>
          <a:p>
            <a:pPr marL="0" indent="0" algn="l">
              <a:buNone/>
            </a:pPr>
            <a:r>
              <a:rPr lang="en-US" sz="2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2300" dirty="0"/>
          </a:p>
        </p:txBody>
      </p:sp>
      <p:sp>
        <p:nvSpPr>
          <p:cNvPr id="11" name="Text 9"/>
          <p:cNvSpPr/>
          <p:nvPr>
            <p:custDataLst>
              <p:tags r:id="rId7"/>
            </p:custDataLst>
          </p:nvPr>
        </p:nvSpPr>
        <p:spPr>
          <a:xfrm>
            <a:off x="4846320" y="2834640"/>
            <a:ext cx="2651760" cy="457200"/>
          </a:xfrm>
          <a:prstGeom prst="rect">
            <a:avLst/>
          </a:prstGeom>
          <a:noFill/>
        </p:spPr>
        <p:txBody>
          <a:bodyPr wrap="square" lIns="0" tIns="0" rIns="0" bIns="0" rtlCol="0" anchor="ctr">
            <a:normAutofit/>
          </a:bodyPr>
          <a:lstStyle/>
          <a:p>
            <a:pPr marL="0" indent="0" algn="l">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NCU 方法与关键机制</a:t>
            </a:r>
            <a:endParaRPr lang="en-US" sz="2000" dirty="0"/>
          </a:p>
        </p:txBody>
      </p:sp>
      <p:sp>
        <p:nvSpPr>
          <p:cNvPr id="12" name="Text 10"/>
          <p:cNvSpPr/>
          <p:nvPr>
            <p:custDataLst>
              <p:tags r:id="rId8"/>
            </p:custDataLst>
          </p:nvPr>
        </p:nvSpPr>
        <p:spPr>
          <a:xfrm>
            <a:off x="4846320" y="3794760"/>
            <a:ext cx="2560320" cy="685800"/>
          </a:xfrm>
          <a:prstGeom prst="rect">
            <a:avLst/>
          </a:prstGeom>
          <a:noFill/>
        </p:spPr>
        <p:txBody>
          <a:bodyPr wrap="square" lIns="0" tIns="0" rIns="0" bIns="0" rtlCol="0" anchor="ctr">
            <a:normAutofit/>
          </a:bodyPr>
          <a:lstStyle/>
          <a:p>
            <a:pPr marL="0" indent="0" algn="l">
              <a:buNone/>
            </a:pPr>
            <a:r>
              <a:rPr lang="zh-CN" altLang="en-US" sz="16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如何同时遗忘</a:t>
            </a:r>
            <a:r>
              <a:rPr lang="en-US" altLang="zh-CN" sz="16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FP</a:t>
            </a:r>
            <a:r>
              <a:rPr lang="zh-CN" altLang="en-US" sz="16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和</a:t>
            </a:r>
            <a:r>
              <a:rPr lang="en-US" altLang="zh-CN" sz="16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FN</a:t>
            </a:r>
          </a:p>
        </p:txBody>
      </p:sp>
      <p:sp>
        <p:nvSpPr>
          <p:cNvPr id="13" name="Shape 11"/>
          <p:cNvSpPr/>
          <p:nvPr>
            <p:custDataLst>
              <p:tags r:id="rId9"/>
            </p:custDataLst>
          </p:nvPr>
        </p:nvSpPr>
        <p:spPr>
          <a:xfrm>
            <a:off x="8366760" y="1874520"/>
            <a:ext cx="3246120" cy="3337560"/>
          </a:xfrm>
          <a:prstGeom prst="roundRect">
            <a:avLst>
              <a:gd name="adj" fmla="val 1127"/>
            </a:avLst>
          </a:prstGeom>
          <a:solidFill>
            <a:srgbClr val="4D9C63"/>
          </a:solidFill>
          <a:ln w="12700">
            <a:solidFill>
              <a:srgbClr val="D9DDE5"/>
            </a:solidFill>
            <a:prstDash val="solid"/>
          </a:ln>
        </p:spPr>
      </p:sp>
      <p:sp>
        <p:nvSpPr>
          <p:cNvPr id="14" name="Text 12"/>
          <p:cNvSpPr/>
          <p:nvPr>
            <p:custDataLst>
              <p:tags r:id="rId10"/>
            </p:custDataLst>
          </p:nvPr>
        </p:nvSpPr>
        <p:spPr>
          <a:xfrm>
            <a:off x="8641080" y="2194560"/>
            <a:ext cx="640080" cy="320040"/>
          </a:xfrm>
          <a:prstGeom prst="rect">
            <a:avLst/>
          </a:prstGeom>
          <a:noFill/>
        </p:spPr>
        <p:txBody>
          <a:bodyPr wrap="square" lIns="0" tIns="0" rIns="0" bIns="0" rtlCol="0" anchor="ctr">
            <a:normAutofit lnSpcReduction="10000"/>
          </a:bodyPr>
          <a:lstStyle/>
          <a:p>
            <a:pPr marL="0" indent="0" algn="l">
              <a:buNone/>
            </a:pPr>
            <a:r>
              <a:rPr lang="en-US" sz="2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2300" dirty="0"/>
          </a:p>
        </p:txBody>
      </p:sp>
      <p:sp>
        <p:nvSpPr>
          <p:cNvPr id="15" name="Text 13"/>
          <p:cNvSpPr/>
          <p:nvPr>
            <p:custDataLst>
              <p:tags r:id="rId11"/>
            </p:custDataLst>
          </p:nvPr>
        </p:nvSpPr>
        <p:spPr>
          <a:xfrm>
            <a:off x="8641080" y="2834640"/>
            <a:ext cx="2651760" cy="457200"/>
          </a:xfrm>
          <a:prstGeom prst="rect">
            <a:avLst/>
          </a:prstGeom>
          <a:noFill/>
        </p:spPr>
        <p:txBody>
          <a:bodyPr wrap="square" lIns="0" tIns="0" rIns="0" bIns="0" rtlCol="0" anchor="ctr">
            <a:normAutofit/>
          </a:bodyPr>
          <a:lstStyle/>
          <a:p>
            <a:pPr marL="0" indent="0" algn="l">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实验验证与结论</a:t>
            </a:r>
            <a:endParaRPr lang="en-US" sz="2000" dirty="0"/>
          </a:p>
        </p:txBody>
      </p:sp>
      <p:sp>
        <p:nvSpPr>
          <p:cNvPr id="16" name="Text 14"/>
          <p:cNvSpPr/>
          <p:nvPr>
            <p:custDataLst>
              <p:tags r:id="rId12"/>
            </p:custDataLst>
          </p:nvPr>
        </p:nvSpPr>
        <p:spPr>
          <a:xfrm>
            <a:off x="8641080" y="3794760"/>
            <a:ext cx="2560320" cy="685800"/>
          </a:xfrm>
          <a:prstGeom prst="rect">
            <a:avLst/>
          </a:prstGeom>
          <a:noFill/>
        </p:spPr>
        <p:txBody>
          <a:bodyPr wrap="square" lIns="0" tIns="0" rIns="0" bIns="0" rtlCol="0" anchor="ctr">
            <a:normAutofit/>
          </a:bodyPr>
          <a:lstStyle/>
          <a:p>
            <a:pPr marL="0" indent="0" algn="l">
              <a:buNone/>
            </a:pPr>
            <a:r>
              <a:rPr lang="zh-CN" altLang="en-US" sz="16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性能、组件和效率是否得到验证</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01 · BACKGROUND</a:t>
            </a:r>
            <a:endParaRPr lang="en-US" sz="1000" dirty="0"/>
          </a:p>
        </p:txBody>
      </p:sp>
      <p:sp>
        <p:nvSpPr>
          <p:cNvPr id="3"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CLIP 的能力来自大规模图文对，但规模也带来噪声</a:t>
            </a:r>
            <a:endParaRPr lang="en-US" sz="2600" dirty="0"/>
          </a:p>
        </p:txBody>
      </p:sp>
      <p:grpSp>
        <p:nvGrpSpPr>
          <p:cNvPr id="11" name="组合 10"/>
          <p:cNvGrpSpPr/>
          <p:nvPr/>
        </p:nvGrpSpPr>
        <p:grpSpPr>
          <a:xfrm>
            <a:off x="568960" y="1111885"/>
            <a:ext cx="4152265" cy="5069205"/>
            <a:chOff x="896" y="1751"/>
            <a:chExt cx="5368" cy="7983"/>
          </a:xfrm>
        </p:grpSpPr>
        <p:sp>
          <p:nvSpPr>
            <p:cNvPr id="5" name="Shape 3"/>
            <p:cNvSpPr/>
            <p:nvPr/>
          </p:nvSpPr>
          <p:spPr>
            <a:xfrm>
              <a:off x="896" y="1751"/>
              <a:ext cx="5368" cy="7983"/>
            </a:xfrm>
            <a:prstGeom prst="roundRect">
              <a:avLst>
                <a:gd name="adj" fmla="val 1143"/>
              </a:avLst>
            </a:prstGeom>
            <a:solidFill>
              <a:srgbClr val="F4F6FA"/>
            </a:solidFill>
            <a:ln w="12700">
              <a:solidFill>
                <a:srgbClr val="D9DDE5"/>
              </a:solidFill>
              <a:prstDash val="solid"/>
            </a:ln>
          </p:spPr>
        </p:sp>
        <p:sp>
          <p:nvSpPr>
            <p:cNvPr id="6" name="Text 4"/>
            <p:cNvSpPr/>
            <p:nvPr/>
          </p:nvSpPr>
          <p:spPr>
            <a:xfrm>
              <a:off x="1564" y="1914"/>
              <a:ext cx="4032" cy="432"/>
            </a:xfrm>
            <a:prstGeom prst="rect">
              <a:avLst/>
            </a:prstGeom>
            <a:noFill/>
          </p:spPr>
          <p:txBody>
            <a:bodyPr wrap="square" lIns="0" tIns="0" rIns="0" bIns="0" rtlCol="0" anchor="ctr">
              <a:normAutofit fontScale="97500" lnSpcReduction="10000"/>
            </a:bodyPr>
            <a:lstStyle/>
            <a:p>
              <a:pPr marL="0" indent="0" algn="ctr">
                <a:buNone/>
              </a:pPr>
              <a:r>
                <a:rPr 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CLIP</a:t>
              </a: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基本训练方式</a:t>
              </a:r>
            </a:p>
          </p:txBody>
        </p:sp>
        <mc:AlternateContent xmlns:mc="http://schemas.openxmlformats.org/markup-compatibility/2006" xmlns:a14="http://schemas.microsoft.com/office/drawing/2010/main">
          <mc:Choice Requires="a14">
            <p:sp>
              <p:nvSpPr>
                <p:cNvPr id="20" name="Text 6"/>
                <p:cNvSpPr/>
                <p:nvPr>
                  <p:custDataLst>
                    <p:tags r:id="rId2"/>
                  </p:custDataLst>
                </p:nvPr>
              </p:nvSpPr>
              <p:spPr>
                <a:xfrm>
                  <a:off x="1217" y="2346"/>
                  <a:ext cx="4936" cy="6570"/>
                </a:xfrm>
                <a:prstGeom prst="rect">
                  <a:avLst/>
                </a:prstGeom>
                <a:noFill/>
              </p:spPr>
              <p:txBody>
                <a:bodyPr wrap="square" lIns="0" tIns="0" rIns="0" bIns="0" rtlCol="0" anchor="ctr">
                  <a:normAutofit/>
                </a:bodyPr>
                <a:lstStyle/>
                <a:p>
                  <a:pPr marL="0" indent="0" algn="l" fontAlgn="auto">
                    <a:lnSpc>
                      <a:spcPct val="100000"/>
                    </a:lnSpc>
                    <a:buNone/>
                  </a:pPr>
                  <a:r>
                    <a:rPr 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CLIP</a:t>
                  </a:r>
                  <a:r>
                    <a:rPr lang="zh-CN" alt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包含两个编码器</a:t>
                  </a:r>
                  <a:endParaRPr lang="zh-CN" alt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endParaRPr>
                </a:p>
                <a:p>
                  <a:pPr marL="285750" indent="-285750" algn="l" fontAlgn="auto">
                    <a:lnSpc>
                      <a:spcPct val="10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图像编码器</a:t>
                  </a:r>
                  <a14:m>
                    <m:oMath xmlns:m="http://schemas.openxmlformats.org/officeDocument/2006/math">
                      <m:r>
                        <m:rPr>
                          <m:sty m:val="p"/>
                        </m:rPr>
                        <a:rPr lang="en-US" altLang="zh-CN" sz="1400" dirty="0">
                          <a:solidFill>
                            <a:schemeClr val="accent2"/>
                          </a:solidFill>
                          <a:latin typeface="Cambria Math" panose="02040503050406030204" charset="0"/>
                          <a:ea typeface="微软雅黑" panose="020B0503020204020204" pitchFamily="34" charset="-122"/>
                          <a:cs typeface="Cambria Math" panose="02040503050406030204" charset="0"/>
                          <a:sym typeface="+mn-ea"/>
                        </a:rPr>
                        <m:t>fv</m:t>
                      </m:r>
                    </m:oMath>
                  </a14:m>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285750" indent="-285750" algn="l" fontAlgn="auto">
                    <a:lnSpc>
                      <a:spcPct val="10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文本编码器</a:t>
                  </a:r>
                  <a14:m>
                    <m:oMath xmlns:m="http://schemas.openxmlformats.org/officeDocument/2006/math">
                      <m:r>
                        <m:rPr>
                          <m:sty m:val="p"/>
                        </m:rPr>
                        <a:rPr lang="en-US" altLang="zh-CN" sz="1400" dirty="0">
                          <a:solidFill>
                            <a:schemeClr val="accent2"/>
                          </a:solidFill>
                          <a:latin typeface="Cambria Math" panose="02040503050406030204" charset="0"/>
                          <a:ea typeface="微软雅黑" panose="020B0503020204020204" pitchFamily="34" charset="-122"/>
                          <a:cs typeface="Cambria Math" panose="02040503050406030204" charset="0"/>
                          <a:sym typeface="+mn-ea"/>
                        </a:rPr>
                        <m:t>ft</m:t>
                      </m:r>
                    </m:oMath>
                  </a14:m>
                  <a:endParaRPr lang="en-US" altLang="zh-CN" sz="1600" dirty="0">
                    <a:solidFill>
                      <a:schemeClr val="accent2"/>
                    </a:solidFill>
                    <a:latin typeface="Cambria Math" panose="02040503050406030204" charset="0"/>
                    <a:ea typeface="微软雅黑" panose="020B0503020204020204" pitchFamily="34" charset="-122"/>
                    <a:cs typeface="Cambria Math" panose="02040503050406030204" charset="0"/>
                    <a:sym typeface="+mn-ea"/>
                  </a:endParaRPr>
                </a:p>
                <a:p>
                  <a:pPr indent="0" algn="l" fontAlgn="auto">
                    <a:lnSpc>
                      <a:spcPct val="100000"/>
                    </a:lnSpc>
                    <a:buFont typeface="Arial" panose="020B0604020202090204" pitchFamily="34" charset="0"/>
                    <a:buNone/>
                  </a:pPr>
                  <a:endParaRPr lang="en-US" alt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l" fontAlgn="auto">
                    <a:lnSpc>
                      <a:spcPct val="100000"/>
                    </a:lnSpc>
                    <a:buFont typeface="Arial" panose="020B0604020202090204" pitchFamily="34" charset="0"/>
                    <a:buNone/>
                  </a:pPr>
                  <a:r>
                    <a:rPr lang="zh-CN" alt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对于一个图像和文本对</a:t>
                  </a:r>
                  <a:r>
                    <a:rPr lang="en-US" alt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14:m>
                    <m:oMath xmlns:m="http://schemas.openxmlformats.org/officeDocument/2006/math">
                      <m:r>
                        <a:rPr lang="en-US" altLang="zh-CN" sz="1600" b="1" i="1" dirty="0">
                          <a:solidFill>
                            <a:srgbClr val="315AA8"/>
                          </a:solidFill>
                          <a:latin typeface="Cambria Math" panose="02040503050406030204" charset="0"/>
                          <a:ea typeface="微软雅黑" panose="020B0503020204020204" pitchFamily="34" charset="-122"/>
                          <a:cs typeface="Cambria Math" panose="02040503050406030204" charset="0"/>
                          <a:sym typeface="+mn-ea"/>
                        </a:rPr>
                        <m:t>(</m:t>
                      </m:r>
                      <m:sSub>
                        <m:sSubPr>
                          <m:ctrlPr>
                            <a:rPr lang="en-US" altLang="zh-CN" sz="1600" b="1" i="1" dirty="0">
                              <a:solidFill>
                                <a:srgbClr val="315AA8"/>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en-US" altLang="zh-CN" sz="1600" b="1" i="1" dirty="0">
                              <a:solidFill>
                                <a:srgbClr val="315AA8"/>
                              </a:solidFill>
                              <a:latin typeface="Cambria Math" panose="02040503050406030204" charset="0"/>
                              <a:ea typeface="微软雅黑" panose="020B0503020204020204" pitchFamily="34" charset="-122"/>
                              <a:cs typeface="Cambria Math" panose="02040503050406030204" charset="0"/>
                              <a:sym typeface="+mn-ea"/>
                            </a:rPr>
                            <m:t>𝑣</m:t>
                          </m:r>
                        </m:e>
                        <m:sub>
                          <m:r>
                            <a:rPr lang="en-US" altLang="zh-CN" sz="1600" b="1" i="1" dirty="0">
                              <a:solidFill>
                                <a:srgbClr val="315AA8"/>
                              </a:solidFill>
                              <a:latin typeface="Cambria Math" panose="02040503050406030204" charset="0"/>
                              <a:ea typeface="微软雅黑" panose="020B0503020204020204" pitchFamily="34" charset="-122"/>
                              <a:cs typeface="Cambria Math" panose="02040503050406030204" charset="0"/>
                              <a:sym typeface="+mn-ea"/>
                            </a:rPr>
                            <m:t>𝑖</m:t>
                          </m:r>
                        </m:sub>
                      </m:sSub>
                      <m:r>
                        <a:rPr lang="en-US" altLang="zh-CN" sz="1600" b="1" i="1" dirty="0">
                          <a:solidFill>
                            <a:srgbClr val="315AA8"/>
                          </a:solidFill>
                          <a:latin typeface="Cambria Math" panose="02040503050406030204" charset="0"/>
                          <a:ea typeface="微软雅黑" panose="020B0503020204020204" pitchFamily="34" charset="-122"/>
                          <a:cs typeface="Cambria Math" panose="02040503050406030204" charset="0"/>
                          <a:sym typeface="+mn-ea"/>
                        </a:rPr>
                        <m:t>,</m:t>
                      </m:r>
                      <m:sSub>
                        <m:sSubPr>
                          <m:ctrlPr>
                            <a:rPr lang="en-US" altLang="zh-CN" sz="1600" b="1" i="1" dirty="0">
                              <a:solidFill>
                                <a:srgbClr val="315AA8"/>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en-US" altLang="zh-CN" sz="1600" b="1" i="1" dirty="0">
                              <a:solidFill>
                                <a:srgbClr val="315AA8"/>
                              </a:solidFill>
                              <a:latin typeface="Cambria Math" panose="02040503050406030204" charset="0"/>
                              <a:ea typeface="微软雅黑" panose="020B0503020204020204" pitchFamily="34" charset="-122"/>
                              <a:cs typeface="Cambria Math" panose="02040503050406030204" charset="0"/>
                              <a:sym typeface="+mn-ea"/>
                            </a:rPr>
                            <m:t>𝑡</m:t>
                          </m:r>
                        </m:e>
                        <m:sub>
                          <m:r>
                            <a:rPr lang="en-US" altLang="zh-CN" sz="1600" b="1" i="1" dirty="0">
                              <a:solidFill>
                                <a:srgbClr val="315AA8"/>
                              </a:solidFill>
                              <a:latin typeface="Cambria Math" panose="02040503050406030204" charset="0"/>
                              <a:ea typeface="微软雅黑" panose="020B0503020204020204" pitchFamily="34" charset="-122"/>
                              <a:cs typeface="Cambria Math" panose="02040503050406030204" charset="0"/>
                              <a:sym typeface="+mn-ea"/>
                            </a:rPr>
                            <m:t>𝑖</m:t>
                          </m:r>
                        </m:sub>
                      </m:sSub>
                      <m:r>
                        <a:rPr lang="en-US" altLang="zh-CN" sz="1600" b="1" i="1" dirty="0">
                          <a:solidFill>
                            <a:srgbClr val="315AA8"/>
                          </a:solidFill>
                          <a:latin typeface="Cambria Math" panose="02040503050406030204" charset="0"/>
                          <a:ea typeface="微软雅黑" panose="020B0503020204020204" pitchFamily="34" charset="-122"/>
                          <a:cs typeface="Cambria Math" panose="02040503050406030204" charset="0"/>
                          <a:sym typeface="+mn-ea"/>
                        </a:rPr>
                        <m:t>)</m:t>
                      </m:r>
                    </m:oMath>
                  </a14:m>
                  <a:endParaRPr lang="en-US" altLang="zh-CN" sz="1600" b="1" i="1" dirty="0">
                    <a:solidFill>
                      <a:srgbClr val="315AA8"/>
                    </a:solidFill>
                    <a:latin typeface="Cambria Math" panose="02040503050406030204" charset="0"/>
                    <a:ea typeface="微软雅黑" panose="020B0503020204020204" pitchFamily="34" charset="-122"/>
                    <a:cs typeface="Cambria Math" panose="02040503050406030204" charset="0"/>
                    <a:sym typeface="+mn-ea"/>
                  </a:endParaRPr>
                </a:p>
                <a:p>
                  <a:pPr marL="285750" indent="-285750" algn="l" fontAlgn="auto">
                    <a:lnSpc>
                      <a:spcPct val="100000"/>
                    </a:lnSpc>
                    <a:buFont typeface="Arial" panose="020B0604020202090204" pitchFamily="34" charset="0"/>
                    <a:buChar char="•"/>
                  </a:pPr>
                  <a14:m>
                    <m:oMath xmlns:m="http://schemas.openxmlformats.org/officeDocument/2006/math">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图像</m:t>
                      </m:r>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m:t>
                      </m:r>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视觉编码器</m:t>
                      </m:r>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m:t>
                      </m:r>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视觉表示</m:t>
                      </m:r>
                    </m:oMath>
                  </a14:m>
                  <a:endPar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285750" indent="-285750" algn="l" fontAlgn="auto">
                    <a:lnSpc>
                      <a:spcPct val="100000"/>
                    </a:lnSpc>
                    <a:buFont typeface="Arial" panose="020B0604020202090204" pitchFamily="34" charset="0"/>
                    <a:buChar char="•"/>
                  </a:pPr>
                  <a14:m>
                    <m:oMath xmlns:m="http://schemas.openxmlformats.org/officeDocument/2006/math">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文本</m:t>
                      </m:r>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m:t>
                      </m:r>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文本编码器</m:t>
                      </m:r>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m:t>
                      </m:r>
                      <m:r>
                        <a:rPr lang="en-US" altLang="zh-CN" sz="1400"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文本表示</m:t>
                      </m:r>
                    </m:oMath>
                  </a14:m>
                  <a:endPar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l" fontAlgn="auto">
                    <a:lnSpc>
                      <a:spcPct val="100000"/>
                    </a:lnSpc>
                    <a:buFont typeface="Arial" panose="020B0604020202090204" pitchFamily="34" charset="0"/>
                    <a:buNone/>
                  </a:pPr>
                  <a:endParaRPr lang="zh-CN" alt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l" fontAlgn="auto">
                    <a:lnSpc>
                      <a:spcPct val="100000"/>
                    </a:lnSpc>
                    <a:buFont typeface="Arial" panose="020B0604020202090204" pitchFamily="34" charset="0"/>
                    <a:buNone/>
                  </a:pPr>
                  <a:r>
                    <a:rPr lang="en-US" alt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CLIP</a:t>
                  </a:r>
                  <a:r>
                    <a:rPr lang="zh-CN" alt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目标：</a:t>
                  </a:r>
                </a:p>
                <a:p>
                  <a:pPr marL="285750" indent="-285750" algn="l" fontAlgn="auto">
                    <a:lnSpc>
                      <a:spcPct val="10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让正确匹配的图像和文本相似</a:t>
                  </a:r>
                </a:p>
                <a:p>
                  <a:pPr marL="285750" indent="-285750" algn="l" fontAlgn="auto">
                    <a:lnSpc>
                      <a:spcPct val="10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让</a:t>
                  </a:r>
                  <a:r>
                    <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batch</a:t>
                  </a: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中其他不匹配的图像和文本不相似</a:t>
                  </a:r>
                  <a:endParaRPr lang="zh-CN" altLang="en-US" sz="1400"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l" fontAlgn="auto">
                    <a:lnSpc>
                      <a:spcPct val="100000"/>
                    </a:lnSpc>
                    <a:buFont typeface="Arial" panose="020B0604020202090204" pitchFamily="34" charset="0"/>
                    <a:buNone/>
                  </a:pPr>
                  <a:endParaRPr lang="zh-CN" alt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l" fontAlgn="auto">
                    <a:lnSpc>
                      <a:spcPct val="100000"/>
                    </a:lnSpc>
                    <a:buFont typeface="Arial" panose="020B0604020202090204" pitchFamily="34" charset="0"/>
                    <a:buNone/>
                  </a:pPr>
                  <a:r>
                    <a:rPr lang="zh-CN" alt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缺陷：</a:t>
                  </a:r>
                </a:p>
                <a:p>
                  <a:pPr marL="285750" indent="-285750" algn="l" fontAlgn="auto">
                    <a:lnSpc>
                      <a:spcPct val="10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如果训练图文对本身错误，</a:t>
                  </a:r>
                  <a:r>
                    <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CLIP </a:t>
                  </a: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会把错误关系学进视觉表示空间</a:t>
                  </a:r>
                </a:p>
                <a:p>
                  <a:pPr marL="0" lvl="0" indent="0" algn="just" fontAlgn="auto">
                    <a:lnSpc>
                      <a:spcPct val="100000"/>
                    </a:lnSpc>
                    <a:buFont typeface="Arial" panose="020B0604020202090204" pitchFamily="34" charset="0"/>
                    <a:buNone/>
                  </a:pPr>
                  <a:endParaRPr lang="en-US" alt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l" fontAlgn="auto">
                    <a:lnSpc>
                      <a:spcPct val="100000"/>
                    </a:lnSpc>
                    <a:buNone/>
                  </a:pPr>
                  <a:endParaRPr lang="en-US" alt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endParaRPr>
                </a:p>
              </p:txBody>
            </p:sp>
          </mc:Choice>
          <mc:Fallback xmlns="">
            <p:sp>
              <p:nvSpPr>
                <p:cNvPr id="20" name="Text 6"/>
                <p:cNvSpPr>
                  <a:spLocks noRot="1" noChangeAspect="1" noMove="1" noResize="1" noEditPoints="1" noAdjustHandles="1" noChangeArrowheads="1" noChangeShapeType="1" noTextEdit="1"/>
                </p:cNvSpPr>
                <p:nvPr>
                  <p:custDataLst>
                    <p:tags r:id="rId5"/>
                  </p:custDataLst>
                </p:nvPr>
              </p:nvSpPr>
              <p:spPr>
                <a:xfrm>
                  <a:off x="1217" y="2346"/>
                  <a:ext cx="4936" cy="6570"/>
                </a:xfrm>
                <a:prstGeom prst="rect">
                  <a:avLst/>
                </a:prstGeom>
                <a:blipFill rotWithShape="1">
                  <a:blip r:embed="rId6"/>
                </a:blipFill>
              </p:spPr>
              <p:txBody>
                <a:bodyPr/>
                <a:lstStyle/>
                <a:p>
                  <a:r>
                    <a:rPr lang="zh-CN" altLang="en-US">
                      <a:noFill/>
                    </a:rPr>
                    <a:t> </a:t>
                  </a:r>
                </a:p>
              </p:txBody>
            </p:sp>
          </mc:Fallback>
        </mc:AlternateContent>
      </p:grpSp>
      <p:grpSp>
        <p:nvGrpSpPr>
          <p:cNvPr id="7" name="组合 6"/>
          <p:cNvGrpSpPr/>
          <p:nvPr/>
        </p:nvGrpSpPr>
        <p:grpSpPr>
          <a:xfrm>
            <a:off x="6373495" y="1151890"/>
            <a:ext cx="4272280" cy="5023485"/>
            <a:chOff x="7056" y="1814"/>
            <a:chExt cx="5040" cy="7911"/>
          </a:xfrm>
        </p:grpSpPr>
        <p:sp>
          <p:nvSpPr>
            <p:cNvPr id="9" name="Shape 7"/>
            <p:cNvSpPr/>
            <p:nvPr/>
          </p:nvSpPr>
          <p:spPr>
            <a:xfrm>
              <a:off x="7056" y="1814"/>
              <a:ext cx="5040" cy="7911"/>
            </a:xfrm>
            <a:prstGeom prst="roundRect">
              <a:avLst>
                <a:gd name="adj" fmla="val 1143"/>
              </a:avLst>
            </a:prstGeom>
            <a:solidFill>
              <a:srgbClr val="EEF2F8"/>
            </a:solidFill>
            <a:ln w="12700">
              <a:solidFill>
                <a:srgbClr val="D9DDE5"/>
              </a:solidFill>
              <a:prstDash val="solid"/>
            </a:ln>
          </p:spPr>
        </p:sp>
        <p:sp>
          <p:nvSpPr>
            <p:cNvPr id="10" name="Text 8"/>
            <p:cNvSpPr/>
            <p:nvPr/>
          </p:nvSpPr>
          <p:spPr>
            <a:xfrm>
              <a:off x="7517" y="1914"/>
              <a:ext cx="4032" cy="432"/>
            </a:xfrm>
            <a:prstGeom prst="rect">
              <a:avLst/>
            </a:prstGeom>
            <a:noFill/>
          </p:spPr>
          <p:txBody>
            <a:bodyPr wrap="square" lIns="0" tIns="0" rIns="0" bIns="0" rtlCol="0" anchor="ctr">
              <a:normAutofit fontScale="97500" lnSpcReduction="10000"/>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噪声来源</a:t>
              </a:r>
            </a:p>
          </p:txBody>
        </p:sp>
        <p:sp>
          <p:nvSpPr>
            <p:cNvPr id="21" name="Text 6"/>
            <p:cNvSpPr/>
            <p:nvPr>
              <p:custDataLst>
                <p:tags r:id="rId1"/>
              </p:custDataLst>
            </p:nvPr>
          </p:nvSpPr>
          <p:spPr>
            <a:xfrm>
              <a:off x="7411" y="2880"/>
              <a:ext cx="4255" cy="3960"/>
            </a:xfrm>
            <a:prstGeom prst="rect">
              <a:avLst/>
            </a:prstGeom>
            <a:noFill/>
          </p:spPr>
          <p:txBody>
            <a:bodyPr wrap="square" lIns="0" tIns="0" rIns="0" bIns="0" rtlCol="0" anchor="ctr">
              <a:normAutofit/>
            </a:bodyPr>
            <a:lstStyle/>
            <a:p>
              <a:pPr marL="0" lvl="0" indent="0" algn="just" fontAlgn="auto">
                <a:lnSpc>
                  <a:spcPct val="100000"/>
                </a:lnSpc>
                <a:buFont typeface="Arial" panose="020B0604020202090204" pitchFamily="34" charset="0"/>
                <a:buNone/>
              </a:pPr>
              <a:r>
                <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来源：</a:t>
              </a:r>
            </a:p>
            <a:p>
              <a:pPr marL="285750" lvl="0" indent="-285750" algn="just" fontAlgn="auto">
                <a:lnSpc>
                  <a:spcPct val="100000"/>
                </a:lnSpc>
                <a:buFont typeface="Arial" panose="020B0604020202090204" pitchFamily="34" charset="0"/>
                <a:buChar char="•"/>
              </a:pPr>
              <a:r>
                <a:rPr 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视觉语言模型经常使用网页爬取的图像和文本</a:t>
              </a:r>
            </a:p>
            <a:p>
              <a:pPr marL="285750" lvl="0" indent="-285750" algn="just" fontAlgn="auto">
                <a:lnSpc>
                  <a:spcPct val="100000"/>
                </a:lnSpc>
                <a:buFont typeface="Arial" panose="020B0604020202090204" pitchFamily="34" charset="0"/>
                <a:buChar char="•"/>
              </a:pPr>
              <a:r>
                <a:rPr 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数据规模很大，很难保证每一对图文都准确匹配</a:t>
              </a:r>
            </a:p>
            <a:p>
              <a:pPr marL="285750" lvl="0" indent="-285750" algn="just" fontAlgn="auto">
                <a:lnSpc>
                  <a:spcPct val="100000"/>
                </a:lnSpc>
                <a:buFont typeface="Arial" panose="020B0604020202090204" pitchFamily="34" charset="0"/>
                <a:buChar char="•"/>
              </a:pPr>
              <a:endParaRPr lang="zh-CN" sz="16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0" lvl="0" indent="0" algn="just" fontAlgn="auto">
                <a:lnSpc>
                  <a:spcPct val="100000"/>
                </a:lnSpc>
                <a:buFont typeface="Arial" panose="020B0604020202090204" pitchFamily="34" charset="0"/>
                <a:buNone/>
              </a:pPr>
              <a:r>
                <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问题：</a:t>
              </a:r>
            </a:p>
            <a:p>
              <a:pPr marL="285750" lvl="0" indent="-285750" algn="just" fontAlgn="auto">
                <a:lnSpc>
                  <a:spcPct val="100000"/>
                </a:lnSpc>
                <a:buFont typeface="Arial" panose="020B0604020202090204" pitchFamily="34" charset="0"/>
                <a:buChar char="•"/>
              </a:pPr>
              <a:r>
                <a:rPr 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图文对本身就是错误的</a:t>
              </a:r>
            </a:p>
            <a:p>
              <a:pPr marL="285750" lvl="0" indent="-285750" algn="just" fontAlgn="auto">
                <a:lnSpc>
                  <a:spcPct val="100000"/>
                </a:lnSpc>
                <a:buFont typeface="Arial" panose="020B0604020202090204" pitchFamily="34" charset="0"/>
                <a:buChar char="•"/>
              </a:pPr>
              <a:r>
                <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batch</a:t>
              </a: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中存在语义相近但没有配对的样本</a:t>
              </a: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l" fontAlgn="auto">
                <a:lnSpc>
                  <a:spcPct val="100000"/>
                </a:lnSpc>
                <a:buNone/>
              </a:pP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Text 10"/>
            <p:cNvSpPr/>
            <p:nvPr/>
          </p:nvSpPr>
          <p:spPr>
            <a:xfrm>
              <a:off x="7560" y="7374"/>
              <a:ext cx="4032" cy="576"/>
            </a:xfrm>
            <a:prstGeom prst="rect">
              <a:avLst/>
            </a:prstGeom>
            <a:noFill/>
          </p:spPr>
          <p:txBody>
            <a:bodyPr wrap="square" lIns="0" tIns="0" rIns="0" bIns="0" rtlCol="0" anchor="ctr">
              <a:normAutofit/>
            </a:bodyPr>
            <a:lstStyle/>
            <a:p>
              <a:pPr marL="0" indent="0" algn="ctr">
                <a:buNone/>
              </a:pPr>
              <a:r>
                <a:rPr lang="en-US" sz="1600"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错误监督会被模型记住</a:t>
              </a:r>
              <a:endParaRPr lang="en-US" sz="1600" dirty="0"/>
            </a:p>
          </p:txBody>
        </p:sp>
      </p:grpSp>
      <p:sp>
        <p:nvSpPr>
          <p:cNvPr id="4" name="Text 10"/>
          <p:cNvSpPr/>
          <p:nvPr/>
        </p:nvSpPr>
        <p:spPr>
          <a:xfrm>
            <a:off x="817118" y="5433060"/>
            <a:ext cx="3417824" cy="365760"/>
          </a:xfrm>
          <a:prstGeom prst="rect">
            <a:avLst/>
          </a:prstGeom>
          <a:noFill/>
        </p:spPr>
        <p:txBody>
          <a:bodyPr wrap="square" lIns="0" tIns="0" rIns="0" bIns="0" rtlCol="0" anchor="ctr">
            <a:normAutofit/>
          </a:bodyPr>
          <a:lstStyle/>
          <a:p>
            <a:pPr marL="0" indent="0" algn="ctr">
              <a:buNone/>
            </a:pPr>
            <a:r>
              <a:rPr lang="en-US" sz="1600"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CLIP</a:t>
            </a:r>
            <a:r>
              <a:rPr lang="zh-CN" altLang="en-US" sz="1600"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存在训练监督关系问题</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01 · BACKGROUND</a:t>
            </a:r>
            <a:endParaRPr lang="en-US" sz="1000" dirty="0"/>
          </a:p>
        </p:txBody>
      </p:sp>
      <p:sp>
        <p:nvSpPr>
          <p:cNvPr id="3"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传统方法的不足</a:t>
            </a:r>
          </a:p>
        </p:txBody>
      </p:sp>
      <p:grpSp>
        <p:nvGrpSpPr>
          <p:cNvPr id="17" name="组合 16"/>
          <p:cNvGrpSpPr/>
          <p:nvPr/>
        </p:nvGrpSpPr>
        <p:grpSpPr>
          <a:xfrm>
            <a:off x="6655435" y="1118235"/>
            <a:ext cx="4267200" cy="4363945"/>
            <a:chOff x="8261" y="1737"/>
            <a:chExt cx="8140" cy="7603"/>
          </a:xfrm>
        </p:grpSpPr>
        <p:grpSp>
          <p:nvGrpSpPr>
            <p:cNvPr id="4" name="组合 3"/>
            <p:cNvGrpSpPr/>
            <p:nvPr/>
          </p:nvGrpSpPr>
          <p:grpSpPr>
            <a:xfrm>
              <a:off x="8261" y="1737"/>
              <a:ext cx="8140" cy="7603"/>
              <a:chOff x="3871" y="1931"/>
              <a:chExt cx="8225" cy="7603"/>
            </a:xfrm>
          </p:grpSpPr>
          <p:sp>
            <p:nvSpPr>
              <p:cNvPr id="9" name="Shape 7"/>
              <p:cNvSpPr/>
              <p:nvPr/>
            </p:nvSpPr>
            <p:spPr>
              <a:xfrm>
                <a:off x="3871" y="1931"/>
                <a:ext cx="8225" cy="7603"/>
              </a:xfrm>
              <a:prstGeom prst="roundRect">
                <a:avLst>
                  <a:gd name="adj" fmla="val 1143"/>
                </a:avLst>
              </a:prstGeom>
              <a:solidFill>
                <a:srgbClr val="EEF2F8"/>
              </a:solidFill>
              <a:ln w="12700">
                <a:solidFill>
                  <a:srgbClr val="D9DDE5"/>
                </a:solidFill>
                <a:prstDash val="solid"/>
              </a:ln>
            </p:spPr>
          </p:sp>
          <p:sp>
            <p:nvSpPr>
              <p:cNvPr id="21" name="Text 6"/>
              <p:cNvSpPr/>
              <p:nvPr>
                <p:custDataLst>
                  <p:tags r:id="rId2"/>
                </p:custDataLst>
              </p:nvPr>
            </p:nvSpPr>
            <p:spPr>
              <a:xfrm>
                <a:off x="4427" y="2880"/>
                <a:ext cx="7239" cy="4645"/>
              </a:xfrm>
              <a:prstGeom prst="rect">
                <a:avLst/>
              </a:prstGeom>
              <a:noFill/>
            </p:spPr>
            <p:txBody>
              <a:bodyPr wrap="square" lIns="0" tIns="0" rIns="0" bIns="0" rtlCol="0" anchor="ctr">
                <a:normAutofit fontScale="92500" lnSpcReduction="10000"/>
              </a:bodyPr>
              <a:lstStyle/>
              <a:p>
                <a:pPr marL="0" lvl="0" indent="0" algn="just" fontAlgn="auto">
                  <a:lnSpc>
                    <a:spcPct val="150000"/>
                  </a:lnSpc>
                  <a:buFont typeface="Arial" panose="020B0604020202090204" pitchFamily="34" charset="0"/>
                  <a:buNone/>
                </a:pPr>
                <a:r>
                  <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梯度上升：</a:t>
                </a:r>
              </a:p>
              <a:p>
                <a:pPr marL="285750" lvl="0" indent="-285750" algn="just" fontAlgn="auto">
                  <a:lnSpc>
                    <a:spcPct val="150000"/>
                  </a:lnSpc>
                  <a:buFont typeface="Arial" panose="020B0604020202090204" pitchFamily="34" charset="0"/>
                  <a:buChar char="•"/>
                </a:pPr>
                <a:r>
                  <a:rPr 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通过最大化错误样本上的损失，让模型忘掉这些样本</a:t>
                </a:r>
              </a:p>
              <a:p>
                <a:pPr marL="285750" lvl="0" indent="-285750" algn="just" fontAlgn="auto">
                  <a:lnSpc>
                    <a:spcPct val="150000"/>
                  </a:lnSpc>
                  <a:buFont typeface="Arial" panose="020B0604020202090204" pitchFamily="34" charset="0"/>
                  <a:buChar char="•"/>
                </a:pPr>
                <a:r>
                  <a:rPr 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没有告诉模型朝哪个方向修改，模型可能学到无意义的替代方式</a:t>
                </a:r>
                <a:endParaRPr lang="zh-CN" sz="16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0" lvl="0" indent="0" algn="just" fontAlgn="auto">
                  <a:lnSpc>
                    <a:spcPct val="150000"/>
                  </a:lnSpc>
                  <a:buFont typeface="Arial" panose="020B0604020202090204" pitchFamily="34" charset="0"/>
                  <a:buNone/>
                </a:pPr>
                <a:r>
                  <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问题：</a:t>
                </a:r>
              </a:p>
              <a:p>
                <a:pPr marL="285750" lvl="0" indent="-285750" algn="just" fontAlgn="auto">
                  <a:lnSpc>
                    <a:spcPct val="15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遗忘方向不明确；</a:t>
                </a:r>
              </a:p>
              <a:p>
                <a:pPr marL="285750" lvl="0" indent="-285750" algn="just" fontAlgn="auto">
                  <a:lnSpc>
                    <a:spcPct val="15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可能破坏原有语义结构；</a:t>
                </a:r>
              </a:p>
              <a:p>
                <a:pPr marL="285750" lvl="0" indent="-285750" algn="just" fontAlgn="auto">
                  <a:lnSpc>
                    <a:spcPct val="15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可能把有用信息一起遗忘</a:t>
                </a:r>
              </a:p>
              <a:p>
                <a:pPr marL="0" indent="0" algn="l" fontAlgn="auto">
                  <a:lnSpc>
                    <a:spcPct val="100000"/>
                  </a:lnSpc>
                  <a:buNone/>
                </a:pP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Text 10"/>
              <p:cNvSpPr/>
              <p:nvPr/>
            </p:nvSpPr>
            <p:spPr>
              <a:xfrm>
                <a:off x="5204" y="8135"/>
                <a:ext cx="5242" cy="720"/>
              </a:xfrm>
              <a:prstGeom prst="rect">
                <a:avLst/>
              </a:prstGeom>
              <a:noFill/>
            </p:spPr>
            <p:txBody>
              <a:bodyPr wrap="square" lIns="0" tIns="0" rIns="0" bIns="0" rtlCol="0" anchor="ctr">
                <a:normAutofit/>
              </a:bodyPr>
              <a:lstStyle/>
              <a:p>
                <a:pPr marL="0" indent="0" algn="ctr">
                  <a:buNone/>
                </a:pPr>
                <a:r>
                  <a:rPr lang="zh-CN" altLang="en-US" sz="1600"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模型需要</a:t>
                </a:r>
                <a:r>
                  <a:rPr lang="en-US" altLang="zh-CN" sz="1600"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1600"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有方向的遗忘</a:t>
                </a:r>
                <a:r>
                  <a:rPr lang="en-US" altLang="zh-CN" sz="1600"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a:t>
                </a:r>
              </a:p>
            </p:txBody>
          </p:sp>
        </p:grpSp>
        <p:sp>
          <p:nvSpPr>
            <p:cNvPr id="10" name="Text 8"/>
            <p:cNvSpPr/>
            <p:nvPr/>
          </p:nvSpPr>
          <p:spPr>
            <a:xfrm>
              <a:off x="10377" y="1921"/>
              <a:ext cx="4163" cy="607"/>
            </a:xfrm>
            <a:prstGeom prst="rect">
              <a:avLst/>
            </a:prstGeom>
            <a:noFill/>
          </p:spPr>
          <p:txBody>
            <a:bodyPr wrap="square" lIns="0" tIns="0" rIns="0" bIns="0" rtlCol="0" anchor="ctr">
              <a:normAutofit/>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直接梯度上升</a:t>
              </a:r>
            </a:p>
          </p:txBody>
        </p:sp>
      </p:grpSp>
      <p:grpSp>
        <p:nvGrpSpPr>
          <p:cNvPr id="11" name="组合 10"/>
          <p:cNvGrpSpPr/>
          <p:nvPr/>
        </p:nvGrpSpPr>
        <p:grpSpPr>
          <a:xfrm>
            <a:off x="568960" y="1111885"/>
            <a:ext cx="4079240" cy="4363085"/>
            <a:chOff x="896" y="1751"/>
            <a:chExt cx="6177" cy="7066"/>
          </a:xfrm>
        </p:grpSpPr>
        <p:sp>
          <p:nvSpPr>
            <p:cNvPr id="5" name="Shape 3"/>
            <p:cNvSpPr/>
            <p:nvPr/>
          </p:nvSpPr>
          <p:spPr>
            <a:xfrm>
              <a:off x="896" y="1751"/>
              <a:ext cx="6177" cy="7066"/>
            </a:xfrm>
            <a:prstGeom prst="roundRect">
              <a:avLst>
                <a:gd name="adj" fmla="val 1143"/>
              </a:avLst>
            </a:prstGeom>
            <a:solidFill>
              <a:srgbClr val="F4F6FA"/>
            </a:solidFill>
            <a:ln w="12700">
              <a:solidFill>
                <a:srgbClr val="D9DDE5"/>
              </a:solidFill>
              <a:prstDash val="solid"/>
            </a:ln>
          </p:spPr>
        </p:sp>
        <p:sp>
          <p:nvSpPr>
            <p:cNvPr id="6" name="Text 4"/>
            <p:cNvSpPr/>
            <p:nvPr/>
          </p:nvSpPr>
          <p:spPr>
            <a:xfrm>
              <a:off x="1991" y="1914"/>
              <a:ext cx="3990" cy="432"/>
            </a:xfrm>
            <a:prstGeom prst="rect">
              <a:avLst/>
            </a:prstGeom>
            <a:noFill/>
          </p:spPr>
          <p:txBody>
            <a:bodyPr wrap="square" lIns="0" tIns="0" rIns="0" bIns="0" rtlCol="0" anchor="ctr">
              <a:normAutofit fontScale="95000" lnSpcReduction="10000"/>
            </a:bodyPr>
            <a:lstStyle/>
            <a:p>
              <a:pPr marL="0" indent="0" algn="ctr">
                <a:buNone/>
              </a:pPr>
              <a:r>
                <a:rPr lang="zh-CN"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从头进行鲁棒性训练</a:t>
              </a:r>
            </a:p>
          </p:txBody>
        </p:sp>
        <p:sp>
          <p:nvSpPr>
            <p:cNvPr id="20" name="Text 6"/>
            <p:cNvSpPr/>
            <p:nvPr>
              <p:custDataLst>
                <p:tags r:id="rId1"/>
              </p:custDataLst>
            </p:nvPr>
          </p:nvSpPr>
          <p:spPr>
            <a:xfrm>
              <a:off x="1214" y="2647"/>
              <a:ext cx="5291" cy="5960"/>
            </a:xfrm>
            <a:prstGeom prst="rect">
              <a:avLst/>
            </a:prstGeom>
            <a:noFill/>
          </p:spPr>
          <p:txBody>
            <a:bodyPr wrap="square" lIns="0" tIns="0" rIns="0" bIns="0" rtlCol="0" anchor="ctr">
              <a:normAutofit/>
            </a:bodyPr>
            <a:lstStyle/>
            <a:p>
              <a:pPr marL="0" indent="0" algn="l" fontAlgn="auto">
                <a:lnSpc>
                  <a:spcPct val="150000"/>
                </a:lnSpc>
                <a:buNone/>
              </a:pPr>
              <a:r>
                <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已有方法：预训练阶段处理噪声</a:t>
              </a:r>
              <a:endParaRPr lang="zh-CN" alt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endParaRPr>
            </a:p>
            <a:p>
              <a:pPr marL="285750" indent="-285750" algn="l" fontAlgn="auto">
                <a:lnSpc>
                  <a:spcPct val="150000"/>
                </a:lnSpc>
                <a:buFont typeface="Arial" panose="020B0604020202090204" pitchFamily="34" charset="0"/>
                <a:buChar char="•"/>
              </a:pPr>
              <a:r>
                <a:rPr 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从头训练</a:t>
              </a:r>
            </a:p>
            <a:p>
              <a:pPr marL="285750" indent="-285750" algn="l" fontAlgn="auto">
                <a:lnSpc>
                  <a:spcPct val="150000"/>
                </a:lnSpc>
                <a:buFont typeface="Arial" panose="020B0604020202090204" pitchFamily="34" charset="0"/>
                <a:buChar char="•"/>
              </a:pPr>
              <a:r>
                <a:rPr 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重新读取大规模数据</a:t>
              </a:r>
            </a:p>
            <a:p>
              <a:pPr marL="285750" indent="-285750" algn="l" fontAlgn="auto">
                <a:lnSpc>
                  <a:spcPct val="150000"/>
                </a:lnSpc>
                <a:buFont typeface="Arial" panose="020B0604020202090204" pitchFamily="34" charset="0"/>
                <a:buChar char="•"/>
              </a:pPr>
              <a:r>
                <a:rPr 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计算资源使用量大</a:t>
              </a: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285750" indent="-285750" algn="l" fontAlgn="auto">
                <a:lnSpc>
                  <a:spcPct val="150000"/>
                </a:lnSpc>
                <a:buFont typeface="Arial" panose="020B0604020202090204" pitchFamily="34" charset="0"/>
                <a:buChar char="•"/>
              </a:pPr>
              <a:r>
                <a:rPr lang="zh-CN" altLang="en-US" sz="1400" dirty="0">
                  <a:solidFill>
                    <a:schemeClr val="accent2"/>
                  </a:solidFill>
                  <a:latin typeface="Cambria Math" panose="02040503050406030204" charset="0"/>
                  <a:ea typeface="微软雅黑" panose="020B0503020204020204" pitchFamily="34" charset="-122"/>
                  <a:cs typeface="Cambria Math" panose="02040503050406030204" charset="0"/>
                  <a:sym typeface="+mn-ea"/>
                </a:rPr>
                <a:t>依赖完整的训练数据</a:t>
              </a:r>
              <a:endParaRPr lang="en-US" altLang="zh-CN" sz="1400" dirty="0">
                <a:solidFill>
                  <a:schemeClr val="accent2"/>
                </a:solidFill>
                <a:latin typeface="Cambria Math" panose="02040503050406030204" charset="0"/>
                <a:ea typeface="微软雅黑" panose="020B0503020204020204" pitchFamily="34" charset="-122"/>
                <a:cs typeface="Cambria Math" panose="02040503050406030204" charset="0"/>
                <a:sym typeface="+mn-ea"/>
              </a:endParaRPr>
            </a:p>
            <a:p>
              <a:pPr indent="0" algn="l" fontAlgn="auto">
                <a:lnSpc>
                  <a:spcPct val="150000"/>
                </a:lnSpc>
                <a:buFont typeface="Arial" panose="020B0604020202090204" pitchFamily="34" charset="0"/>
                <a:buNone/>
              </a:pPr>
              <a:endParaRPr lang="en-US" alt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l" fontAlgn="auto">
                <a:lnSpc>
                  <a:spcPct val="150000"/>
                </a:lnSpc>
                <a:buFont typeface="Arial" panose="020B0604020202090204" pitchFamily="34" charset="0"/>
                <a:buNone/>
              </a:pPr>
              <a:r>
                <a:rPr lang="zh-CN" altLang="en-US" sz="1600" b="1" dirty="0">
                  <a:solidFill>
                    <a:srgbClr val="315AA8"/>
                  </a:solidFill>
                  <a:latin typeface="Cambria Math" panose="02040503050406030204" charset="0"/>
                  <a:ea typeface="微软雅黑" panose="020B0503020204020204" pitchFamily="34" charset="-122"/>
                  <a:cs typeface="Cambria Math" panose="02040503050406030204" charset="0"/>
                  <a:sym typeface="+mn-ea"/>
                </a:rPr>
                <a:t>存在问题：</a:t>
              </a:r>
              <a:endParaRPr lang="en-US" altLang="zh-CN" sz="1600" b="1" dirty="0">
                <a:solidFill>
                  <a:srgbClr val="315AA8"/>
                </a:solidFill>
                <a:latin typeface="Cambria Math" panose="02040503050406030204" charset="0"/>
                <a:ea typeface="微软雅黑" panose="020B0503020204020204" pitchFamily="34" charset="-122"/>
                <a:cs typeface="Cambria Math" panose="02040503050406030204" charset="0"/>
                <a:sym typeface="+mn-ea"/>
              </a:endParaRPr>
            </a:p>
            <a:p>
              <a:pPr marL="285750" indent="-285750" algn="l" fontAlgn="auto">
                <a:lnSpc>
                  <a:spcPct val="15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原训练数据已经无法完整访问</a:t>
              </a:r>
            </a:p>
            <a:p>
              <a:pPr marL="285750" indent="-285750" algn="l" fontAlgn="auto">
                <a:lnSpc>
                  <a:spcPct val="15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一部分数据属于私有数据</a:t>
              </a:r>
            </a:p>
            <a:p>
              <a:pPr marL="285750" indent="-285750" algn="l" fontAlgn="auto">
                <a:lnSpc>
                  <a:spcPct val="15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重新训练成本过高</a:t>
              </a:r>
            </a:p>
            <a:p>
              <a:pPr marL="285750" indent="-285750" algn="l" fontAlgn="auto">
                <a:lnSpc>
                  <a:spcPct val="150000"/>
                </a:lnSpc>
                <a:buFont typeface="Arial" panose="020B0604020202090204" pitchFamily="34" charset="0"/>
                <a:buChar char="•"/>
              </a:pPr>
              <a:r>
                <a:rPr lang="zh-CN" altLang="en-US"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模型已训练完成，没必要全部推倒重来</a:t>
              </a: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0" lvl="0" indent="0" algn="just" fontAlgn="auto">
                <a:lnSpc>
                  <a:spcPct val="100000"/>
                </a:lnSpc>
                <a:buFont typeface="Arial" panose="020B0604020202090204" pitchFamily="34" charset="0"/>
                <a:buNone/>
              </a:pPr>
              <a:endParaRPr lang="en-US" alt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gn="l" fontAlgn="auto">
                <a:lnSpc>
                  <a:spcPct val="100000"/>
                </a:lnSpc>
                <a:buNone/>
              </a:pPr>
              <a:endParaRPr lang="en-US" alt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endParaRPr>
            </a:p>
          </p:txBody>
        </p:sp>
      </p:grpSp>
      <p:sp>
        <p:nvSpPr>
          <p:cNvPr id="7" name="Text 10"/>
          <p:cNvSpPr/>
          <p:nvPr/>
        </p:nvSpPr>
        <p:spPr>
          <a:xfrm>
            <a:off x="3237865" y="5686425"/>
            <a:ext cx="4445635" cy="638810"/>
          </a:xfrm>
          <a:prstGeom prst="rect">
            <a:avLst/>
          </a:prstGeom>
          <a:noFill/>
        </p:spPr>
        <p:txBody>
          <a:bodyPr wrap="square" lIns="0" tIns="0" rIns="0" bIns="0" rtlCol="0" anchor="ctr">
            <a:normAutofit/>
          </a:bodyPr>
          <a:lstStyle/>
          <a:p>
            <a:pPr marL="0" indent="0" algn="ctr">
              <a:buNone/>
            </a:pPr>
            <a:r>
              <a:rPr lang="zh-CN"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论文需要一种</a:t>
            </a:r>
            <a:r>
              <a:rPr lang="en-US" altLang="zh-CN"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低成本且有方向的遗忘</a:t>
            </a:r>
            <a:r>
              <a:rPr lang="en-US" altLang="zh-CN" b="1" dirty="0">
                <a:solidFill>
                  <a:srgbClr val="C94C58"/>
                </a:solidFill>
                <a:latin typeface="微软雅黑" panose="020B0503020204020204" pitchFamily="34" charset="-122"/>
                <a:ea typeface="微软雅黑" panose="020B0503020204020204" pitchFamily="34" charset="-122"/>
                <a:cs typeface="微软雅黑" panose="020B0503020204020204" pitchFamily="34" charset="-120"/>
              </a:rPr>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01 · BACKGROUND</a:t>
            </a:r>
            <a:endParaRPr lang="en-US" sz="1000" dirty="0"/>
          </a:p>
        </p:txBody>
      </p:sp>
      <p:sp>
        <p:nvSpPr>
          <p:cNvPr id="3"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两类噪声</a:t>
            </a:r>
          </a:p>
        </p:txBody>
      </p:sp>
      <p:grpSp>
        <p:nvGrpSpPr>
          <p:cNvPr id="7" name="组合 6"/>
          <p:cNvGrpSpPr/>
          <p:nvPr/>
        </p:nvGrpSpPr>
        <p:grpSpPr>
          <a:xfrm>
            <a:off x="567055" y="1152525"/>
            <a:ext cx="4229735" cy="5003165"/>
            <a:chOff x="12888" y="1814"/>
            <a:chExt cx="6661" cy="7879"/>
          </a:xfrm>
        </p:grpSpPr>
        <p:sp>
          <p:nvSpPr>
            <p:cNvPr id="13" name="Shape 11"/>
            <p:cNvSpPr/>
            <p:nvPr/>
          </p:nvSpPr>
          <p:spPr>
            <a:xfrm>
              <a:off x="12888" y="1814"/>
              <a:ext cx="6661" cy="7879"/>
            </a:xfrm>
            <a:prstGeom prst="roundRect">
              <a:avLst>
                <a:gd name="adj" fmla="val 1143"/>
              </a:avLst>
            </a:prstGeom>
            <a:solidFill>
              <a:srgbClr val="F4F6FA"/>
            </a:solidFill>
            <a:ln w="12700">
              <a:solidFill>
                <a:srgbClr val="D9DDE5"/>
              </a:solidFill>
              <a:prstDash val="solid"/>
            </a:ln>
          </p:spPr>
        </p:sp>
        <p:sp>
          <p:nvSpPr>
            <p:cNvPr id="14" name="Text 12"/>
            <p:cNvSpPr/>
            <p:nvPr/>
          </p:nvSpPr>
          <p:spPr>
            <a:xfrm>
              <a:off x="14226" y="1914"/>
              <a:ext cx="4032" cy="432"/>
            </a:xfrm>
            <a:prstGeom prst="rect">
              <a:avLst/>
            </a:prstGeom>
            <a:noFill/>
          </p:spPr>
          <p:txBody>
            <a:bodyPr wrap="square" lIns="0" tIns="0" rIns="0" bIns="0" rtlCol="0" anchor="ctr">
              <a:normAutofit fontScale="80000" lnSpcReduction="10000"/>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两类</a:t>
              </a:r>
              <a:r>
                <a:rPr lang="en-US" altLang="zh-CN"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Noisy Correspondence</a:t>
              </a:r>
            </a:p>
          </p:txBody>
        </p:sp>
        <mc:AlternateContent xmlns:mc="http://schemas.openxmlformats.org/markup-compatibility/2006" xmlns:a14="http://schemas.microsoft.com/office/drawing/2010/main">
          <mc:Choice Requires="a14">
            <p:sp>
              <p:nvSpPr>
                <p:cNvPr id="15" name="Text 13"/>
                <p:cNvSpPr/>
                <p:nvPr/>
              </p:nvSpPr>
              <p:spPr>
                <a:xfrm>
                  <a:off x="13392" y="2536"/>
                  <a:ext cx="5701" cy="6019"/>
                </a:xfrm>
                <a:prstGeom prst="rect">
                  <a:avLst/>
                </a:prstGeom>
                <a:noFill/>
              </p:spPr>
              <p:txBody>
                <a:bodyPr wrap="square" lIns="0" tIns="0" rIns="0" bIns="0" rtlCol="0" anchor="ctr">
                  <a:normAutofit fontScale="35000" lnSpcReduction="20000"/>
                </a:bodyPr>
                <a:lstStyle/>
                <a:p>
                  <a:pPr indent="0" algn="just" fontAlgn="auto">
                    <a:lnSpc>
                      <a:spcPct val="100000"/>
                    </a:lnSpc>
                    <a:buFont typeface="Arial" panose="020B0604020202090204" pitchFamily="34" charset="0"/>
                    <a:buNone/>
                  </a:pPr>
                  <a:r>
                    <a:rPr lang="en-US" alt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False Positive</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本来不匹配的图文，被错误地当成了正样本</a:t>
                  </a:r>
                </a:p>
                <a:p>
                  <a:pPr marL="285750" indent="-285750" algn="just" fontAlgn="auto">
                    <a:lnSpc>
                      <a:spcPct val="100000"/>
                    </a:lnSpc>
                    <a:buFont typeface="Arial" panose="020B0604020202090204" pitchFamily="34" charset="0"/>
                    <a:buChar char="•"/>
                  </a:pP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oMath>
                  </a14:m>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图配了 </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oMath>
                  </a14:m>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错误文本）</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应该匹配</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ub>
                      </m:sSub>
                    </m:oMath>
                  </a14:m>
                  <a:endPar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en-US" alt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False Negative</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本来语义相关的图文，被训练过程错误地当成了负样本</a:t>
                  </a:r>
                </a:p>
                <a:p>
                  <a:pPr marL="285750" indent="-285750" algn="just" fontAlgn="auto">
                    <a:lnSpc>
                      <a:spcPct val="100000"/>
                    </a:lnSpc>
                    <a:buFont typeface="Arial" panose="020B0604020202090204" pitchFamily="34" charset="0"/>
                    <a:buChar char="•"/>
                  </a:pP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oMath>
                  </a14:m>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图）配了</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oMath>
                  </a14:m>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漏掉关键信息的文本）</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真正应该匹配</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sym typeface="+mn-ea"/>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sym typeface="+mn-ea"/>
                            </a:rPr>
                            <m:t>𝑗</m:t>
                          </m:r>
                        </m:sub>
                      </m:sSub>
                    </m:oMath>
                  </a14:m>
                  <a:endParaRPr lang="en-US" altLang="zh-CN" sz="2335" i="1" dirty="0">
                    <a:solidFill>
                      <a:schemeClr val="accent2"/>
                    </a:solidFill>
                    <a:latin typeface="Cambria Math" panose="02040503050406030204" charset="0"/>
                    <a:ea typeface="MS Mincho" charset="0"/>
                    <a:cs typeface="Cambria Math" panose="02040503050406030204" charset="0"/>
                    <a:sym typeface="+mn-ea"/>
                  </a:endParaRPr>
                </a:p>
                <a:p>
                  <a:pPr marL="285750" indent="-285750" algn="just" fontAlgn="auto">
                    <a:lnSpc>
                      <a:spcPct val="100000"/>
                    </a:lnSpc>
                    <a:buFont typeface="Arial" panose="020B0604020202090204" pitchFamily="34" charset="0"/>
                    <a:buChar char="•"/>
                  </a:pPr>
                  <a:endParaRPr lang="en-US" altLang="zh-CN" sz="1400" dirty="0">
                    <a:solidFill>
                      <a:schemeClr val="accent2"/>
                    </a:solidFill>
                    <a:latin typeface="Cambria Math" panose="02040503050406030204" charset="0"/>
                    <a:ea typeface="微软雅黑" panose="020B0503020204020204" pitchFamily="34" charset="-122"/>
                    <a:cs typeface="Cambria Math" panose="02040503050406030204" charset="0"/>
                    <a:sym typeface="+mn-ea"/>
                  </a:endParaRPr>
                </a:p>
                <a:p>
                  <a:pPr indent="0" algn="just" fontAlgn="auto">
                    <a:lnSpc>
                      <a:spcPct val="100000"/>
                    </a:lnSpc>
                    <a:buFont typeface="Arial" panose="020B0604020202090204" pitchFamily="34" charset="0"/>
                    <a:buNone/>
                  </a:pPr>
                  <a:r>
                    <a:rPr lang="en-US" alt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NCU</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学习最难负样本</a:t>
                  </a:r>
                  <a14:m>
                    <m:oMath xmlns:m="http://schemas.openxmlformats.org/officeDocument/2006/math">
                      <m:sSubSup>
                        <m:sSubSup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𝑁𝑒𝑔</m:t>
                          </m:r>
                        </m:sup>
                      </m:sSubSup>
                    </m:oMath>
                  </a14:m>
                  <a:endPar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FP</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sSubSup>
                        <m:sSubSup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𝑁𝑒𝑔</m:t>
                          </m:r>
                        </m:sup>
                      </m:sSubSup>
                    </m:oMath>
                  </a14:m>
                  <a:r>
                    <a:rPr 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作为</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上界</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把错误正样本 </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oMath>
                  </a14:m>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从图像旁边推开</a:t>
                  </a:r>
                </a:p>
                <a:p>
                  <a:pPr marL="285750" indent="-285750" algn="just" fontAlgn="auto">
                    <a:lnSpc>
                      <a:spcPct val="100000"/>
                    </a:lnSpc>
                    <a:buFont typeface="Arial" panose="020B0604020202090204" pitchFamily="34" charset="0"/>
                    <a:buChar char="•"/>
                  </a:pP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FN</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sSubSup>
                        <m:sSubSup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𝑁𝑒𝑔</m:t>
                          </m:r>
                        </m:sup>
                      </m:sSubSup>
                    </m:oMath>
                  </a14:m>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作为下界，把本应相关却被漏掉的 </a:t>
                  </a:r>
                  <a14:m>
                    <m:oMath xmlns:m="http://schemas.openxmlformats.org/officeDocument/2006/math">
                      <m:sSubSup>
                        <m:sSubSup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𝑁𝑒𝑔</m:t>
                          </m:r>
                        </m:sup>
                      </m:sSubSup>
                    </m:oMath>
                  </a14:m>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拉近，从而建模 </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一对多" 的关系（一张图可以有多个正确文本描述）</a:t>
                  </a:r>
                </a:p>
                <a:p>
                  <a:pPr indent="0" algn="just" fontAlgn="auto">
                    <a:lnSpc>
                      <a:spcPct val="100000"/>
                    </a:lnSpc>
                    <a:buFont typeface="Arial" panose="020B0604020202090204" pitchFamily="34" charset="0"/>
                    <a:buNone/>
                  </a:pPr>
                  <a:endParaRPr lang="en-US" altLang="zh-CN" sz="2335" dirty="0">
                    <a:solidFill>
                      <a:schemeClr val="accent2"/>
                    </a:solidFill>
                    <a:latin typeface="Cambria Math" panose="02040503050406030204" charset="0"/>
                    <a:ea typeface="微软雅黑" panose="020B0503020204020204" pitchFamily="34" charset="-122"/>
                    <a:cs typeface="Cambria Math" panose="02040503050406030204" charset="0"/>
                    <a:sym typeface="+mn-ea"/>
                  </a:endParaRPr>
                </a:p>
              </p:txBody>
            </p:sp>
          </mc:Choice>
          <mc:Fallback xmlns="">
            <p:sp>
              <p:nvSpPr>
                <p:cNvPr id="15" name="Text 13"/>
                <p:cNvSpPr>
                  <a:spLocks noRot="1" noChangeAspect="1" noMove="1" noResize="1" noEditPoints="1" noAdjustHandles="1" noChangeArrowheads="1" noChangeShapeType="1" noTextEdit="1"/>
                </p:cNvSpPr>
                <p:nvPr/>
              </p:nvSpPr>
              <p:spPr>
                <a:xfrm>
                  <a:off x="13392" y="2536"/>
                  <a:ext cx="5701" cy="6019"/>
                </a:xfrm>
                <a:prstGeom prst="rect">
                  <a:avLst/>
                </a:prstGeom>
                <a:blipFill rotWithShape="1">
                  <a:blip r:embed="rId3"/>
                </a:blipFill>
              </p:spPr>
              <p:txBody>
                <a:bodyPr/>
                <a:lstStyle/>
                <a:p>
                  <a:r>
                    <a:rPr lang="zh-CN" altLang="en-US">
                      <a:noFill/>
                    </a:rPr>
                    <a:t> </a:t>
                  </a:r>
                </a:p>
              </p:txBody>
            </p:sp>
          </mc:Fallback>
        </mc:AlternateContent>
        <p:sp>
          <p:nvSpPr>
            <p:cNvPr id="16" name="Text 14"/>
            <p:cNvSpPr/>
            <p:nvPr/>
          </p:nvSpPr>
          <p:spPr>
            <a:xfrm>
              <a:off x="14338" y="8844"/>
              <a:ext cx="4032" cy="576"/>
            </a:xfrm>
            <a:prstGeom prst="rect">
              <a:avLst/>
            </a:prstGeom>
            <a:noFill/>
          </p:spPr>
          <p:txBody>
            <a:bodyPr wrap="square" lIns="0" tIns="0" rIns="0" bIns="0" rtlCol="0" anchor="ctr">
              <a:normAutofit/>
            </a:bodyPr>
            <a:lstStyle/>
            <a:p>
              <a:pPr marL="0" indent="0" algn="ctr">
                <a:buNone/>
              </a:pPr>
              <a:r>
                <a:rPr lang="en-US" sz="1600" b="1" dirty="0">
                  <a:solidFill>
                    <a:srgbClr val="4D9C63"/>
                  </a:solidFill>
                  <a:latin typeface="微软雅黑" panose="020B0503020204020204" pitchFamily="34" charset="-122"/>
                  <a:ea typeface="微软雅黑" panose="020B0503020204020204" pitchFamily="34" charset="-122"/>
                  <a:cs typeface="微软雅黑" panose="020B0503020204020204" pitchFamily="34" charset="-120"/>
                </a:rPr>
                <a:t>本文要直接消除它们</a:t>
              </a:r>
              <a:endParaRPr lang="en-US" sz="1600" dirty="0"/>
            </a:p>
          </p:txBody>
        </p:sp>
      </p:grpSp>
      <p:pic>
        <p:nvPicPr>
          <p:cNvPr id="8" name="图片 7"/>
          <p:cNvPicPr>
            <a:picLocks noChangeAspect="1"/>
          </p:cNvPicPr>
          <p:nvPr/>
        </p:nvPicPr>
        <p:blipFill>
          <a:blip r:embed="rId4"/>
          <a:stretch>
            <a:fillRect/>
          </a:stretch>
        </p:blipFill>
        <p:spPr>
          <a:xfrm>
            <a:off x="4973320" y="835025"/>
            <a:ext cx="6924675" cy="4410075"/>
          </a:xfrm>
          <a:prstGeom prst="rect">
            <a:avLst/>
          </a:prstGeom>
        </p:spPr>
      </p:pic>
      <p:sp>
        <p:nvSpPr>
          <p:cNvPr id="63" name="Rectangle 63"/>
          <p:cNvSpPr/>
          <p:nvPr/>
        </p:nvSpPr>
        <p:spPr>
          <a:xfrm>
            <a:off x="6000750" y="5334000"/>
            <a:ext cx="4612005" cy="809625"/>
          </a:xfrm>
          <a:prstGeom prst="roundRect">
            <a:avLst>
              <a:gd name="adj" fmla="val 4706"/>
            </a:avLst>
          </a:prstGeom>
          <a:solidFill>
            <a:schemeClr val="lt2"/>
          </a:solidFill>
          <a:ln w="9525">
            <a:solidFill>
              <a:schemeClr val="accent2"/>
            </a:solidFill>
          </a:ln>
        </p:spPr>
      </p:sp>
      <p:sp>
        <p:nvSpPr>
          <p:cNvPr id="65" name="TextBox 65"/>
          <p:cNvSpPr txBox="1"/>
          <p:nvPr/>
        </p:nvSpPr>
        <p:spPr>
          <a:xfrm>
            <a:off x="6624955" y="5614035"/>
            <a:ext cx="3211830" cy="696595"/>
          </a:xfrm>
          <a:prstGeom prst="rect">
            <a:avLst/>
          </a:prstGeom>
          <a:noFill/>
          <a:ln>
            <a:noFill/>
          </a:ln>
        </p:spPr>
        <p:txBody>
          <a:bodyPr wrap="none" lIns="0" tIns="0" rIns="0" bIns="0" anchor="t" anchorCtr="0">
            <a:noAutofit/>
          </a:bodyPr>
          <a:lstStyle/>
          <a:p>
            <a:pPr algn="l" defTabSz="457200"/>
            <a:r>
              <a:rPr lang="en-US" altLang="zh-CN" b="1" dirty="0">
                <a:solidFill>
                  <a:schemeClr val="accent2"/>
                </a:solidFill>
                <a:latin typeface="+mn-lt"/>
                <a:ea typeface="+mn-ea"/>
                <a:cs typeface="+mn-cs"/>
              </a:rPr>
              <a:t>FP</a:t>
            </a:r>
            <a:r>
              <a:rPr lang="zh-CN" altLang="en-US" b="1" dirty="0">
                <a:solidFill>
                  <a:schemeClr val="accent2"/>
                </a:solidFill>
                <a:latin typeface="+mn-lt"/>
                <a:ea typeface="+mn-ea"/>
                <a:cs typeface="+mn-cs"/>
              </a:rPr>
              <a:t>是错误拉近，</a:t>
            </a:r>
            <a:r>
              <a:rPr lang="en-US" altLang="zh-CN" b="1" dirty="0">
                <a:solidFill>
                  <a:schemeClr val="accent2"/>
                </a:solidFill>
                <a:latin typeface="+mn-lt"/>
                <a:ea typeface="+mn-ea"/>
                <a:cs typeface="+mn-cs"/>
              </a:rPr>
              <a:t>FN</a:t>
            </a:r>
            <a:r>
              <a:rPr lang="zh-CN" altLang="en-US" b="1" dirty="0">
                <a:solidFill>
                  <a:schemeClr val="accent2"/>
                </a:solidFill>
                <a:latin typeface="+mn-lt"/>
                <a:ea typeface="+mn-ea"/>
                <a:cs typeface="+mn-cs"/>
              </a:rPr>
              <a:t>是错误推远</a:t>
            </a:r>
            <a:endParaRPr lang="en-US" altLang="zh-CN" b="1" dirty="0">
              <a:solidFill>
                <a:schemeClr val="accent2"/>
              </a:solidFill>
              <a:latin typeface="+mn-lt"/>
              <a:ea typeface="+mn-ea"/>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567055" y="1152525"/>
            <a:ext cx="5215890" cy="5003165"/>
            <a:chOff x="12888" y="1814"/>
            <a:chExt cx="6661" cy="7879"/>
          </a:xfrm>
        </p:grpSpPr>
        <p:sp>
          <p:nvSpPr>
            <p:cNvPr id="13" name="Shape 11"/>
            <p:cNvSpPr/>
            <p:nvPr/>
          </p:nvSpPr>
          <p:spPr>
            <a:xfrm>
              <a:off x="12888" y="1814"/>
              <a:ext cx="6661" cy="7879"/>
            </a:xfrm>
            <a:prstGeom prst="roundRect">
              <a:avLst>
                <a:gd name="adj" fmla="val 1143"/>
              </a:avLst>
            </a:prstGeom>
            <a:solidFill>
              <a:srgbClr val="F4F6FA"/>
            </a:solidFill>
            <a:ln w="12700">
              <a:solidFill>
                <a:srgbClr val="D9DDE5"/>
              </a:solidFill>
              <a:prstDash val="solid"/>
            </a:ln>
          </p:spPr>
        </p:sp>
        <mc:AlternateContent xmlns:mc="http://schemas.openxmlformats.org/markup-compatibility/2006" xmlns:a14="http://schemas.microsoft.com/office/drawing/2010/main">
          <mc:Choice Requires="a14">
            <p:sp>
              <p:nvSpPr>
                <p:cNvPr id="15" name="Text 13"/>
                <p:cNvSpPr/>
                <p:nvPr/>
              </p:nvSpPr>
              <p:spPr>
                <a:xfrm>
                  <a:off x="13392" y="2648"/>
                  <a:ext cx="5701" cy="6859"/>
                </a:xfrm>
                <a:prstGeom prst="rect">
                  <a:avLst/>
                </a:prstGeom>
                <a:noFill/>
              </p:spPr>
              <p:txBody>
                <a:bodyPr wrap="square" lIns="0" tIns="0" rIns="0" bIns="0" rtlCol="0" anchor="ctr">
                  <a:normAutofit fontScale="57500" lnSpcReduction="20000"/>
                </a:bodyPr>
                <a:lstStyle/>
                <a:p>
                  <a:pPr indent="0" algn="just" fontAlgn="auto">
                    <a:lnSpc>
                      <a:spcPct val="100000"/>
                    </a:lnSpc>
                    <a:buFont typeface="Arial" panose="020B0604020202090204" pitchFamily="34" charset="0"/>
                    <a:buNone/>
                  </a:pP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数据集定义：</a:t>
                  </a:r>
                </a:p>
                <a:p>
                  <a:pPr marL="285750" indent="-285750" algn="just" fontAlgn="auto">
                    <a:lnSpc>
                      <a:spcPct val="100000"/>
                    </a:lnSpc>
                    <a:buFont typeface="Arial" panose="020B0604020202090204" pitchFamily="34" charset="0"/>
                    <a:buChar char="•"/>
                  </a:pPr>
                  <a:r>
                    <a:rPr 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Forget Set:</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𝐷</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𝐹𝐺</m:t>
                          </m:r>
                        </m:sub>
                      </m:sSub>
                    </m:oMath>
                  </a14:m>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表示可能是</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FP</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的图文对</a:t>
                  </a: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Retain Set:</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𝐷</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𝑅𝑇</m:t>
                          </m:r>
                        </m:sub>
                      </m:sSub>
                    </m:oMath>
                  </a14:m>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，表示相对可信的图文对</a:t>
                  </a:r>
                  <a:endPar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满足条件</a:t>
                  </a:r>
                  <a14:m>
                    <m:oMath xmlns:m="http://schemas.openxmlformats.org/officeDocument/2006/math">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 </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𝐷</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𝐷</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𝐹𝐺</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𝐷</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𝑅𝑇</m:t>
                          </m:r>
                        </m:sub>
                      </m:sSub>
                    </m:oMath>
                  </a14:m>
                  <a:endPar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双向匹配置信度</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NCU</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使用预训练</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CLIP</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当前的表示能力计算匹配置信度</a:t>
                  </a:r>
                </a:p>
                <a:p>
                  <a:pPr marL="285750" indent="-285750" algn="just" fontAlgn="auto">
                    <a:lnSpc>
                      <a:spcPct val="100000"/>
                    </a:lnSpc>
                    <a:buFont typeface="Arial" panose="020B0604020202090204" pitchFamily="34" charset="0"/>
                    <a:buChar char="•"/>
                  </a:pPr>
                  <a14:m>
                    <m:oMath xmlns:m="http://schemas.openxmlformats.org/officeDocument/2006/math">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𝜔</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f>
                        <m:f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fPr>
                        <m:num>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1</m:t>
                          </m:r>
                        </m:num>
                        <m:den>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2</m:t>
                          </m:r>
                        </m:den>
                      </m:f>
                      <m:d>
                        <m:dPr>
                          <m:begChr m:val="["/>
                          <m:endChr m:val="]"/>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d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𝑝</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𝑝</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e>
                      </m:d>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endParaRPr lang="en-US" altLang="zh-CN" sz="2335" dirty="0">
                    <a:solidFill>
                      <a:schemeClr val="accent2"/>
                    </a:solidFill>
                    <a:latin typeface="Cambria Math" panose="02040503050406030204" charset="0"/>
                    <a:ea typeface="微软雅黑" panose="020B0503020204020204" pitchFamily="34" charset="-122"/>
                    <a:cs typeface="Cambria Math" panose="02040503050406030204" charset="0"/>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图像到文本方向为：</a:t>
                  </a:r>
                  <a14:m>
                    <m:oMath xmlns:m="http://schemas.openxmlformats.org/officeDocument/2006/math">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𝑝</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f>
                        <m:f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fPr>
                        <m:num>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𝑒𝑥𝑝</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𝜏</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num>
                        <m:den>
                          <m:nary>
                            <m:naryPr>
                              <m:chr m:val="∑"/>
                              <m:limLoc m:val="subSup"/>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naryPr>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𝑗</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=1</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m:t>
                              </m:r>
                            </m:sup>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𝑒𝑥𝑝</m:t>
                              </m:r>
                            </m:e>
                          </m:nary>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𝑗</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𝜏</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den>
                      </m:f>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endPar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文本到图像方向为：</a:t>
                  </a:r>
                  <a14:m>
                    <m:oMath xmlns:m="http://schemas.openxmlformats.org/officeDocument/2006/math">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𝑝</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f>
                        <m:f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fPr>
                        <m:num>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𝑒𝑥𝑝</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𝜏</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num>
                        <m:den>
                          <m:nary>
                            <m:naryPr>
                              <m:chr m:val="∑"/>
                              <m:limLoc m:val="subSup"/>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naryPr>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𝑗</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=1</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m:t>
                              </m:r>
                            </m:sup>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𝑒𝑥𝑝</m:t>
                              </m:r>
                            </m:e>
                          </m:nary>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𝑗</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𝜏</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den>
                      </m:f>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endPar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双向置信度越低，越可能存在错误图文对应</a:t>
                  </a:r>
                </a:p>
                <a:p>
                  <a:pPr indent="0" algn="just" fontAlgn="auto">
                    <a:lnSpc>
                      <a:spcPct val="100000"/>
                    </a:lnSpc>
                    <a:buFont typeface="Arial" panose="020B0604020202090204" pitchFamily="34" charset="0"/>
                    <a:buNone/>
                  </a:pPr>
                  <a:endParaRPr lang="zh-CN" altLang="en-US" sz="2335" i="1" dirty="0">
                    <a:solidFill>
                      <a:schemeClr val="accent2"/>
                    </a:solidFill>
                    <a:latin typeface="Cambria Math" panose="02040503050406030204" charset="0"/>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样本划分</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每个</a:t>
                  </a:r>
                  <a:r>
                    <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batch</a:t>
                  </a: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中，</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𝜔</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oMath>
                  </a14:m>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最低的</a:t>
                  </a:r>
                  <a:r>
                    <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P%</a:t>
                  </a: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图文对划入</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𝐷</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𝐹𝐺</m:t>
                          </m:r>
                        </m:sub>
                      </m:sSub>
                    </m:oMath>
                  </a14:m>
                  <a:endPar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endParaRPr>
                </a:p>
                <a:p>
                  <a:pPr marL="285750" indent="-285750" algn="just" fontAlgn="auto">
                    <a:lnSpc>
                      <a:spcPct val="100000"/>
                    </a:lnSpc>
                    <a:buFont typeface="Arial" panose="020B0604020202090204" pitchFamily="34" charset="0"/>
                    <a:buChar char="•"/>
                  </a:pP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𝐷</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𝑅𝑇</m:t>
                          </m:r>
                        </m:sub>
                      </m:sSub>
                    </m:oMath>
                  </a14:m>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表示剩余样本</a:t>
                  </a:r>
                </a:p>
                <a:p>
                  <a:pPr indent="0" algn="just" fontAlgn="auto">
                    <a:lnSpc>
                      <a:spcPct val="100000"/>
                    </a:lnSpc>
                    <a:buFont typeface="Arial" panose="020B0604020202090204" pitchFamily="34" charset="0"/>
                    <a:buNone/>
                  </a:pPr>
                  <a:endPar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最难负样本生成：</a:t>
                  </a:r>
                </a:p>
                <a:p>
                  <a:pPr marL="285750" indent="-285750" algn="just" fontAlgn="auto">
                    <a:lnSpc>
                      <a:spcPct val="100000"/>
                    </a:lnSpc>
                    <a:buFont typeface="Arial" panose="020B0604020202090204" pitchFamily="34" charset="0"/>
                    <a:buChar char="•"/>
                  </a:pPr>
                  <a:r>
                    <a:rPr 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原始文本</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oMath>
                  </a14:m>
                  <a:r>
                    <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,NCU</a:t>
                  </a: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在其文本</a:t>
                  </a:r>
                  <a:r>
                    <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token</a:t>
                  </a: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前加入</a:t>
                  </a:r>
                  <a:r>
                    <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m</a:t>
                  </a: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个可学习的共享</a:t>
                  </a:r>
                  <a:r>
                    <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prompt</a:t>
                  </a: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向量，作为文本前缀</a:t>
                  </a:r>
                  <a:endPar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例如</a:t>
                  </a:r>
                  <a:r>
                    <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sym typeface="+mn-ea"/>
                    </a:rPr>
                    <a:t>“the image has no…”“this picture lacks…”</a:t>
                  </a:r>
                  <a:endPar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15" name="Text 13"/>
                <p:cNvSpPr>
                  <a:spLocks noRot="1" noChangeAspect="1" noMove="1" noResize="1" noEditPoints="1" noAdjustHandles="1" noChangeArrowheads="1" noChangeShapeType="1" noTextEdit="1"/>
                </p:cNvSpPr>
                <p:nvPr/>
              </p:nvSpPr>
              <p:spPr>
                <a:xfrm>
                  <a:off x="13392" y="2648"/>
                  <a:ext cx="5701" cy="6859"/>
                </a:xfrm>
                <a:prstGeom prst="rect">
                  <a:avLst/>
                </a:prstGeom>
                <a:blipFill>
                  <a:blip r:embed="rId3"/>
                  <a:stretch>
                    <a:fillRect l="-3279" t="-2381" r="-2186"/>
                  </a:stretch>
                </a:blipFill>
              </p:spPr>
              <p:txBody>
                <a:bodyPr/>
                <a:lstStyle/>
                <a:p>
                  <a:r>
                    <a:rPr lang="zh-CN" altLang="en-US">
                      <a:noFill/>
                    </a:rPr>
                    <a:t> </a:t>
                  </a:r>
                </a:p>
              </p:txBody>
            </p:sp>
          </mc:Fallback>
        </mc:AlternateContent>
      </p:grpSp>
      <p:sp>
        <p:nvSpPr>
          <p:cNvPr id="3"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02 · METHOD</a:t>
            </a:r>
            <a:endParaRPr lang="en-US" sz="1000" dirty="0"/>
          </a:p>
        </p:txBody>
      </p:sp>
      <p:sp>
        <p:nvSpPr>
          <p:cNvPr id="4"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样本划分</a:t>
            </a:r>
          </a:p>
        </p:txBody>
      </p:sp>
      <p:grpSp>
        <p:nvGrpSpPr>
          <p:cNvPr id="10" name="组合 9"/>
          <p:cNvGrpSpPr/>
          <p:nvPr/>
        </p:nvGrpSpPr>
        <p:grpSpPr>
          <a:xfrm>
            <a:off x="6119495" y="1152525"/>
            <a:ext cx="5215890" cy="5003165"/>
            <a:chOff x="12888" y="1814"/>
            <a:chExt cx="6661" cy="7879"/>
          </a:xfrm>
        </p:grpSpPr>
        <p:sp>
          <p:nvSpPr>
            <p:cNvPr id="11" name="Shape 11"/>
            <p:cNvSpPr/>
            <p:nvPr/>
          </p:nvSpPr>
          <p:spPr>
            <a:xfrm>
              <a:off x="12888" y="1814"/>
              <a:ext cx="6661" cy="7879"/>
            </a:xfrm>
            <a:prstGeom prst="roundRect">
              <a:avLst>
                <a:gd name="adj" fmla="val 1143"/>
              </a:avLst>
            </a:prstGeom>
            <a:solidFill>
              <a:srgbClr val="F4F6FA"/>
            </a:solidFill>
            <a:ln w="12700">
              <a:solidFill>
                <a:srgbClr val="D9DDE5"/>
              </a:solidFill>
              <a:prstDash val="solid"/>
            </a:ln>
          </p:spPr>
        </p:sp>
        <p:sp>
          <p:nvSpPr>
            <p:cNvPr id="12" name="Text 13"/>
            <p:cNvSpPr/>
            <p:nvPr/>
          </p:nvSpPr>
          <p:spPr>
            <a:xfrm>
              <a:off x="13109" y="2911"/>
              <a:ext cx="6195" cy="6782"/>
            </a:xfrm>
            <a:prstGeom prst="rect">
              <a:avLst/>
            </a:prstGeom>
            <a:noFill/>
          </p:spPr>
          <p:txBody>
            <a:bodyPr wrap="square" lIns="0" tIns="0" rIns="0" bIns="0" rtlCol="0" anchor="ctr">
              <a:normAutofit lnSpcReduction="10000"/>
            </a:bodyPr>
            <a:lstStyle/>
            <a:p>
              <a:pPr indent="0" algn="just" fontAlgn="auto">
                <a:lnSpc>
                  <a:spcPct val="100000"/>
                </a:lnSpc>
                <a:buFont typeface="Arial" panose="020B0604020202090204" pitchFamily="34" charset="0"/>
                <a:buNone/>
              </a:pP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zh-CN" altLang="en-US"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与原样本适度分离</a:t>
              </a:r>
              <a:r>
                <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indent="0" algn="just" fontAlgn="auto">
                <a:lnSpc>
                  <a:spcPct val="100000"/>
                </a:lnSpc>
                <a:buFont typeface="Arial" panose="020B0604020202090204" pitchFamily="34" charset="0"/>
                <a:buNone/>
              </a:pPr>
              <a:endParaRPr lang="en-US" altLang="zh-CN" sz="16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r>
                <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原样本与其他负样本关系保持一致：</a:t>
              </a:r>
              <a:endParaRPr lang="en-US" altLang="zh-CN" sz="16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1400" i="1" dirty="0">
                <a:solidFill>
                  <a:schemeClr val="accent2"/>
                </a:solidFill>
                <a:latin typeface="Cambria Math" panose="02040503050406030204" charset="0"/>
                <a:ea typeface="MS Mincho" charset="0"/>
                <a:cs typeface="Cambria Math" panose="02040503050406030204" charset="0"/>
              </a:endParaRPr>
            </a:p>
            <a:p>
              <a:pPr marL="285750" indent="-285750" algn="just" fontAlgn="auto">
                <a:lnSpc>
                  <a:spcPct val="100000"/>
                </a:lnSpc>
                <a:buFont typeface="Arial" panose="020B0604020202090204" pitchFamily="34" charset="0"/>
                <a:buChar char="•"/>
              </a:pPr>
              <a:endParaRPr lang="en-US" altLang="zh-CN" sz="1400" i="1" dirty="0">
                <a:solidFill>
                  <a:schemeClr val="accent2"/>
                </a:solidFill>
                <a:latin typeface="Cambria Math" panose="02040503050406030204" charset="0"/>
                <a:ea typeface="MS Mincho" charset="0"/>
                <a:cs typeface="Cambria Math" panose="02040503050406030204" charset="0"/>
              </a:endParaRPr>
            </a:p>
            <a:p>
              <a:pPr marL="285750" indent="-285750" algn="just" fontAlgn="auto">
                <a:lnSpc>
                  <a:spcPct val="100000"/>
                </a:lnSpc>
                <a:buFont typeface="Arial" panose="020B0604020202090204" pitchFamily="34" charset="0"/>
                <a:buChar char="•"/>
              </a:pPr>
              <a:endParaRPr lang="en-US" altLang="zh-CN" sz="1400" i="1" dirty="0">
                <a:solidFill>
                  <a:schemeClr val="accent2"/>
                </a:solidFill>
                <a:latin typeface="Cambria Math" panose="02040503050406030204" charset="0"/>
                <a:ea typeface="MS Mincho" charset="0"/>
                <a:cs typeface="Cambria Math" panose="02040503050406030204" charset="0"/>
              </a:endParaRPr>
            </a:p>
            <a:p>
              <a:pPr marL="285750" indent="-285750" algn="just" fontAlgn="auto">
                <a:lnSpc>
                  <a:spcPct val="100000"/>
                </a:lnSpc>
                <a:buFont typeface="Arial" panose="020B0604020202090204" pitchFamily="34" charset="0"/>
                <a:buChar char="•"/>
              </a:pPr>
              <a:endParaRPr lang="en-US" altLang="zh-CN" sz="1400" i="1" dirty="0">
                <a:solidFill>
                  <a:schemeClr val="accent2"/>
                </a:solidFill>
                <a:latin typeface="Cambria Math" panose="02040503050406030204" charset="0"/>
                <a:ea typeface="MS Mincho" charset="0"/>
                <a:cs typeface="Cambria Math" panose="02040503050406030204" charset="0"/>
              </a:endParaRPr>
            </a:p>
            <a:p>
              <a:pPr indent="0" algn="just" fontAlgn="auto">
                <a:lnSpc>
                  <a:spcPct val="100000"/>
                </a:lnSpc>
                <a:buFont typeface="Arial" panose="020B0604020202090204" pitchFamily="34" charset="0"/>
                <a:buNone/>
              </a:pPr>
              <a:r>
                <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负样本可以对其他图像提供监督</a:t>
              </a:r>
              <a:r>
                <a:rPr 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zh-CN" alt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alt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alt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alt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sz="14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r>
                <a:rPr lang="zh-CN" sz="16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总损失</a:t>
              </a:r>
              <a:endParaRPr lang="en-US" altLang="zh-CN" sz="16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1400" i="1" dirty="0">
                <a:solidFill>
                  <a:schemeClr val="accent2"/>
                </a:solidFill>
                <a:latin typeface="Cambria Math" panose="02040503050406030204" charset="0"/>
                <a:ea typeface="MS Mincho" charset="0"/>
                <a:cs typeface="Cambria Math" panose="02040503050406030204" charset="0"/>
              </a:endParaRPr>
            </a:p>
            <a:p>
              <a:pPr marL="285750" indent="-285750" algn="just" fontAlgn="auto">
                <a:lnSpc>
                  <a:spcPct val="100000"/>
                </a:lnSpc>
                <a:buFont typeface="Arial" panose="020B0604020202090204" pitchFamily="34" charset="0"/>
                <a:buChar char="•"/>
              </a:pPr>
              <a:endParaRPr lang="en-US" altLang="zh-CN" sz="1400" i="1" dirty="0">
                <a:solidFill>
                  <a:schemeClr val="accent2"/>
                </a:solidFill>
                <a:latin typeface="Cambria Math" panose="02040503050406030204" charset="0"/>
                <a:ea typeface="MS Mincho" charset="0"/>
                <a:cs typeface="Cambria Math" panose="02040503050406030204" charset="0"/>
              </a:endParaRPr>
            </a:p>
            <a:p>
              <a:pPr marL="285750" indent="-285750" algn="just" fontAlgn="auto">
                <a:lnSpc>
                  <a:spcPct val="100000"/>
                </a:lnSpc>
                <a:buFont typeface="Arial" panose="020B0604020202090204" pitchFamily="34" charset="0"/>
                <a:buChar char="•"/>
              </a:pPr>
              <a:endParaRPr lang="en-US" altLang="zh-CN" sz="1400" i="1" dirty="0">
                <a:solidFill>
                  <a:schemeClr val="accent2"/>
                </a:solidFill>
                <a:latin typeface="Cambria Math" panose="02040503050406030204" charset="0"/>
                <a:ea typeface="MS Mincho" charset="0"/>
                <a:cs typeface="Cambria Math" panose="02040503050406030204" charset="0"/>
              </a:endParaRPr>
            </a:p>
            <a:p>
              <a:pPr indent="0" algn="just" fontAlgn="auto">
                <a:lnSpc>
                  <a:spcPct val="100000"/>
                </a:lnSpc>
                <a:buFont typeface="Arial" panose="020B0604020202090204" pitchFamily="34" charset="0"/>
                <a:buNone/>
              </a:pP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pic>
        <p:nvPicPr>
          <p:cNvPr id="17" name="图片 16"/>
          <p:cNvPicPr>
            <a:picLocks noChangeAspect="1"/>
          </p:cNvPicPr>
          <p:nvPr/>
        </p:nvPicPr>
        <p:blipFill>
          <a:blip r:embed="rId4"/>
          <a:stretch>
            <a:fillRect/>
          </a:stretch>
        </p:blipFill>
        <p:spPr>
          <a:xfrm>
            <a:off x="6426200" y="3709670"/>
            <a:ext cx="4171950" cy="1257300"/>
          </a:xfrm>
          <a:prstGeom prst="rect">
            <a:avLst/>
          </a:prstGeom>
        </p:spPr>
      </p:pic>
      <p:pic>
        <p:nvPicPr>
          <p:cNvPr id="18" name="图片 17"/>
          <p:cNvPicPr>
            <a:picLocks noChangeAspect="1"/>
          </p:cNvPicPr>
          <p:nvPr/>
        </p:nvPicPr>
        <p:blipFill>
          <a:blip r:embed="rId5"/>
          <a:stretch>
            <a:fillRect/>
          </a:stretch>
        </p:blipFill>
        <p:spPr>
          <a:xfrm>
            <a:off x="6292850" y="1927225"/>
            <a:ext cx="2719705" cy="445770"/>
          </a:xfrm>
          <a:prstGeom prst="rect">
            <a:avLst/>
          </a:prstGeom>
        </p:spPr>
      </p:pic>
      <p:pic>
        <p:nvPicPr>
          <p:cNvPr id="19" name="图片 18"/>
          <p:cNvPicPr>
            <a:picLocks noChangeAspect="1"/>
          </p:cNvPicPr>
          <p:nvPr/>
        </p:nvPicPr>
        <p:blipFill>
          <a:blip r:embed="rId6"/>
          <a:stretch>
            <a:fillRect/>
          </a:stretch>
        </p:blipFill>
        <p:spPr>
          <a:xfrm>
            <a:off x="6292850" y="2646045"/>
            <a:ext cx="3771900" cy="628650"/>
          </a:xfrm>
          <a:prstGeom prst="rect">
            <a:avLst/>
          </a:prstGeom>
        </p:spPr>
      </p:pic>
      <p:pic>
        <p:nvPicPr>
          <p:cNvPr id="20" name="图片 19"/>
          <p:cNvPicPr>
            <a:picLocks noChangeAspect="1"/>
          </p:cNvPicPr>
          <p:nvPr/>
        </p:nvPicPr>
        <p:blipFill>
          <a:blip r:embed="rId7"/>
          <a:stretch>
            <a:fillRect/>
          </a:stretch>
        </p:blipFill>
        <p:spPr>
          <a:xfrm>
            <a:off x="6292850" y="5336540"/>
            <a:ext cx="2739390" cy="513080"/>
          </a:xfrm>
          <a:prstGeom prst="rect">
            <a:avLst/>
          </a:prstGeom>
        </p:spPr>
      </p:pic>
      <p:sp>
        <p:nvSpPr>
          <p:cNvPr id="21" name="Text 12"/>
          <p:cNvSpPr/>
          <p:nvPr/>
        </p:nvSpPr>
        <p:spPr>
          <a:xfrm>
            <a:off x="1416685" y="1216025"/>
            <a:ext cx="2560320" cy="274320"/>
          </a:xfrm>
          <a:prstGeom prst="rect">
            <a:avLst/>
          </a:prstGeom>
          <a:noFill/>
        </p:spPr>
        <p:txBody>
          <a:bodyPr wrap="square" lIns="0" tIns="0" rIns="0" bIns="0" rtlCol="0" anchor="ctr">
            <a:normAutofit fontScale="95000"/>
          </a:bodyPr>
          <a:lstStyle/>
          <a:p>
            <a:pPr marL="0" indent="0" algn="ctr">
              <a:buNone/>
            </a:pPr>
            <a:r>
              <a:rPr lang="zh-CN"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样本划分</a:t>
            </a:r>
          </a:p>
        </p:txBody>
      </p:sp>
      <p:sp>
        <p:nvSpPr>
          <p:cNvPr id="22" name="Text 12"/>
          <p:cNvSpPr/>
          <p:nvPr/>
        </p:nvSpPr>
        <p:spPr>
          <a:xfrm>
            <a:off x="7437755" y="1216025"/>
            <a:ext cx="2560320" cy="274320"/>
          </a:xfrm>
          <a:prstGeom prst="rect">
            <a:avLst/>
          </a:prstGeom>
          <a:noFill/>
        </p:spPr>
        <p:txBody>
          <a:bodyPr wrap="square" lIns="0" tIns="0" rIns="0" bIns="0" rtlCol="0" anchor="ctr">
            <a:normAutofit fontScale="95000"/>
          </a:bodyPr>
          <a:lstStyle/>
          <a:p>
            <a:pPr marL="0" indent="0" algn="ctr">
              <a:buNone/>
            </a:pPr>
            <a:r>
              <a:rPr lang="zh-CN"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最大负样本损失定义</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567055" y="1152525"/>
            <a:ext cx="4463380" cy="5003165"/>
            <a:chOff x="12888" y="1814"/>
            <a:chExt cx="5700" cy="7879"/>
          </a:xfrm>
        </p:grpSpPr>
        <p:sp>
          <p:nvSpPr>
            <p:cNvPr id="13" name="Shape 11"/>
            <p:cNvSpPr/>
            <p:nvPr/>
          </p:nvSpPr>
          <p:spPr>
            <a:xfrm>
              <a:off x="12888" y="1814"/>
              <a:ext cx="5700" cy="7879"/>
            </a:xfrm>
            <a:prstGeom prst="roundRect">
              <a:avLst>
                <a:gd name="adj" fmla="val 1143"/>
              </a:avLst>
            </a:prstGeom>
            <a:solidFill>
              <a:srgbClr val="F4F6FA"/>
            </a:solidFill>
            <a:ln w="12700">
              <a:solidFill>
                <a:srgbClr val="D9DDE5"/>
              </a:solidFill>
              <a:prstDash val="solid"/>
            </a:ln>
          </p:spPr>
        </p:sp>
        <mc:AlternateContent xmlns:mc="http://schemas.openxmlformats.org/markup-compatibility/2006" xmlns:a14="http://schemas.microsoft.com/office/drawing/2010/main">
          <mc:Choice Requires="a14">
            <p:sp>
              <p:nvSpPr>
                <p:cNvPr id="15" name="Text 13"/>
                <p:cNvSpPr/>
                <p:nvPr/>
              </p:nvSpPr>
              <p:spPr>
                <a:xfrm>
                  <a:off x="13292" y="3324"/>
                  <a:ext cx="5094" cy="5361"/>
                </a:xfrm>
                <a:prstGeom prst="rect">
                  <a:avLst/>
                </a:prstGeom>
                <a:noFill/>
              </p:spPr>
              <p:txBody>
                <a:bodyPr wrap="square" lIns="0" tIns="0" rIns="0" bIns="0" rtlCol="0" anchor="ctr">
                  <a:normAutofit fontScale="67500" lnSpcReduction="20000"/>
                </a:bodyPr>
                <a:lstStyle/>
                <a:p>
                  <a:pPr indent="0" algn="just" fontAlgn="auto">
                    <a:lnSpc>
                      <a:spcPct val="100000"/>
                    </a:lnSpc>
                    <a:buFont typeface="Arial" panose="020B0604020202090204" pitchFamily="34" charset="0"/>
                    <a:buNone/>
                  </a:pP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最大化</a:t>
                  </a:r>
                  <a:r>
                    <a:rPr lang="en-US" alt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L2</a:t>
                  </a: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距离</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直接将</a:t>
                  </a:r>
                  <a14:m>
                    <m:oMath xmlns:m="http://schemas.openxmlformats.org/officeDocument/2006/math">
                      <m:sSubSup>
                        <m:sSubSup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𝑁𝑒𝑔</m:t>
                          </m:r>
                        </m:sup>
                      </m:sSubSup>
                    </m:oMath>
                  </a14:m>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推到原文本最远的地方</a:t>
                  </a: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无法为未配对图像提供有意义的监督</a:t>
                  </a:r>
                  <a:endPar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en-US" alt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Similarity Bound</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限制</a:t>
                  </a:r>
                  <a14:m>
                    <m:oMath xmlns:m="http://schemas.openxmlformats.org/officeDocument/2006/math">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Sup>
                        <m:sSubSup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𝑁𝑒𝑔</m:t>
                          </m:r>
                        </m:sup>
                      </m:sSub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𝛼</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𝛽</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允许的位置区域较大</a:t>
                  </a: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多个完全不同的负文本位置均满足约束</a:t>
                  </a: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en-US" alt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Relation Opposite</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利用</a:t>
                  </a:r>
                  <a:r>
                    <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batch</a:t>
                  </a: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中的关系结构限制负样本的位置</a:t>
                  </a: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与原样本分离、不脱离语义空间、与其他样本保持合理关系</a:t>
                  </a:r>
                  <a:endParaRPr lang="en-US" altLang="zh-CN"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15" name="Text 13"/>
                <p:cNvSpPr>
                  <a:spLocks noRot="1" noChangeAspect="1" noMove="1" noResize="1" noEditPoints="1" noAdjustHandles="1" noChangeArrowheads="1" noChangeShapeType="1" noTextEdit="1"/>
                </p:cNvSpPr>
                <p:nvPr/>
              </p:nvSpPr>
              <p:spPr>
                <a:xfrm>
                  <a:off x="13292" y="3324"/>
                  <a:ext cx="5094" cy="5361"/>
                </a:xfrm>
                <a:prstGeom prst="rect">
                  <a:avLst/>
                </a:prstGeom>
                <a:blipFill>
                  <a:blip r:embed="rId2"/>
                  <a:stretch>
                    <a:fillRect l="-4281" t="-9123" r="-3058"/>
                  </a:stretch>
                </a:blipFill>
              </p:spPr>
              <p:txBody>
                <a:bodyPr/>
                <a:lstStyle/>
                <a:p>
                  <a:r>
                    <a:rPr lang="zh-CN" altLang="en-US">
                      <a:noFill/>
                    </a:rPr>
                    <a:t> </a:t>
                  </a:r>
                </a:p>
              </p:txBody>
            </p:sp>
          </mc:Fallback>
        </mc:AlternateContent>
      </p:grpSp>
      <p:sp>
        <p:nvSpPr>
          <p:cNvPr id="3"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02 · METHOD</a:t>
            </a:r>
            <a:endParaRPr lang="en-US" sz="1000" dirty="0"/>
          </a:p>
        </p:txBody>
      </p:sp>
      <p:sp>
        <p:nvSpPr>
          <p:cNvPr id="4"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最难负样本划分</a:t>
            </a:r>
          </a:p>
        </p:txBody>
      </p:sp>
      <p:sp>
        <p:nvSpPr>
          <p:cNvPr id="21" name="Text 12"/>
          <p:cNvSpPr/>
          <p:nvPr/>
        </p:nvSpPr>
        <p:spPr>
          <a:xfrm>
            <a:off x="1416685" y="1216025"/>
            <a:ext cx="2560320" cy="274320"/>
          </a:xfrm>
          <a:prstGeom prst="rect">
            <a:avLst/>
          </a:prstGeom>
          <a:noFill/>
        </p:spPr>
        <p:txBody>
          <a:bodyPr wrap="square" lIns="0" tIns="0" rIns="0" bIns="0" rtlCol="0" anchor="ctr">
            <a:normAutofit fontScale="95000"/>
          </a:bodyPr>
          <a:lstStyle/>
          <a:p>
            <a:pPr marL="0" indent="0" algn="ctr">
              <a:buNone/>
            </a:pPr>
            <a:r>
              <a:rPr lang="zh-CN"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最难负样本样本划分</a:t>
            </a:r>
          </a:p>
        </p:txBody>
      </p:sp>
      <p:pic>
        <p:nvPicPr>
          <p:cNvPr id="2" name="图片 1"/>
          <p:cNvPicPr>
            <a:picLocks noChangeAspect="1"/>
          </p:cNvPicPr>
          <p:nvPr/>
        </p:nvPicPr>
        <p:blipFill>
          <a:blip r:embed="rId3"/>
          <a:stretch>
            <a:fillRect/>
          </a:stretch>
        </p:blipFill>
        <p:spPr>
          <a:xfrm>
            <a:off x="5187315" y="2406015"/>
            <a:ext cx="6808470" cy="19304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898515" y="1152525"/>
            <a:ext cx="5826125" cy="1530350"/>
          </a:xfrm>
          <a:prstGeom prst="rect">
            <a:avLst/>
          </a:prstGeom>
        </p:spPr>
      </p:pic>
      <p:grpSp>
        <p:nvGrpSpPr>
          <p:cNvPr id="7" name="组合 6"/>
          <p:cNvGrpSpPr/>
          <p:nvPr/>
        </p:nvGrpSpPr>
        <p:grpSpPr>
          <a:xfrm>
            <a:off x="567055" y="1152525"/>
            <a:ext cx="4229735" cy="5003165"/>
            <a:chOff x="12888" y="1814"/>
            <a:chExt cx="6661" cy="7879"/>
          </a:xfrm>
        </p:grpSpPr>
        <p:sp>
          <p:nvSpPr>
            <p:cNvPr id="13" name="Shape 11"/>
            <p:cNvSpPr/>
            <p:nvPr/>
          </p:nvSpPr>
          <p:spPr>
            <a:xfrm>
              <a:off x="12888" y="1814"/>
              <a:ext cx="6661" cy="7879"/>
            </a:xfrm>
            <a:prstGeom prst="roundRect">
              <a:avLst>
                <a:gd name="adj" fmla="val 1143"/>
              </a:avLst>
            </a:prstGeom>
            <a:solidFill>
              <a:srgbClr val="F4F6FA"/>
            </a:solidFill>
            <a:ln w="12700">
              <a:solidFill>
                <a:srgbClr val="D9DDE5"/>
              </a:solidFill>
              <a:prstDash val="solid"/>
            </a:ln>
          </p:spPr>
        </p:sp>
        <p:sp>
          <p:nvSpPr>
            <p:cNvPr id="14" name="Text 12"/>
            <p:cNvSpPr/>
            <p:nvPr/>
          </p:nvSpPr>
          <p:spPr>
            <a:xfrm>
              <a:off x="14226" y="1914"/>
              <a:ext cx="4032" cy="432"/>
            </a:xfrm>
            <a:prstGeom prst="rect">
              <a:avLst/>
            </a:prstGeom>
            <a:noFill/>
          </p:spPr>
          <p:txBody>
            <a:bodyPr wrap="square" lIns="0" tIns="0" rIns="0" bIns="0" rtlCol="0" anchor="ctr">
              <a:normAutofit fontScale="95000"/>
            </a:bodyPr>
            <a:lstStyle/>
            <a:p>
              <a:pPr marL="0" indent="0" algn="ctr">
                <a:buNone/>
              </a:pPr>
              <a:r>
                <a:rPr 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NCU</a:t>
              </a: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完整流程</a:t>
              </a:r>
            </a:p>
          </p:txBody>
        </p:sp>
        <mc:AlternateContent xmlns:mc="http://schemas.openxmlformats.org/markup-compatibility/2006" xmlns:a14="http://schemas.microsoft.com/office/drawing/2010/main">
          <mc:Choice Requires="a14">
            <p:sp>
              <p:nvSpPr>
                <p:cNvPr id="15" name="Text 13"/>
                <p:cNvSpPr/>
                <p:nvPr/>
              </p:nvSpPr>
              <p:spPr>
                <a:xfrm>
                  <a:off x="13392" y="2783"/>
                  <a:ext cx="5701" cy="6804"/>
                </a:xfrm>
                <a:prstGeom prst="rect">
                  <a:avLst/>
                </a:prstGeom>
                <a:noFill/>
              </p:spPr>
              <p:txBody>
                <a:bodyPr wrap="square" lIns="0" tIns="0" rIns="0" bIns="0" rtlCol="0" anchor="ctr">
                  <a:normAutofit fontScale="57500" lnSpcReduction="20000"/>
                </a:bodyPr>
                <a:lstStyle/>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输入图像和文本</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输入一个</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batch:</a:t>
                  </a:r>
                  <a14:m>
                    <m:oMath xmlns:m="http://schemas.openxmlformats.org/officeDocument/2006/math">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Sup>
                        <m:sSubSup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=1</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m:t>
                          </m:r>
                        </m:sup>
                      </m:sSub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图像输入视觉编码器，文本输入文本编码器（均为冻结的预训练</a:t>
                  </a:r>
                  <a:r>
                    <a:rPr lang="en-US" altLang="zh-CN" sz="2335" dirty="0">
                      <a:solidFill>
                        <a:schemeClr val="accent2"/>
                      </a:solidFill>
                      <a:latin typeface="Cambria Math" panose="02040503050406030204" charset="0"/>
                      <a:ea typeface="微软雅黑" panose="020B0503020204020204" pitchFamily="34" charset="-122"/>
                      <a:cs typeface="Cambria Math" panose="02040503050406030204" charset="0"/>
                    </a:rPr>
                    <a:t>CLIP</a:t>
                  </a:r>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a:t>
                  </a:r>
                  <a:endParaRPr lang="en-US" altLang="zh-CN" sz="2335" dirty="0">
                    <a:solidFill>
                      <a:schemeClr val="accent2"/>
                    </a:solidFill>
                    <a:latin typeface="Cambria Math" panose="02040503050406030204" charset="0"/>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生成负样本</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对原始文本加入可学习</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prompt</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，生</a:t>
                  </a:r>
                  <a14:m>
                    <m:oMath xmlns:m="http://schemas.openxmlformats.org/officeDocument/2006/math">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成</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sSubSup>
                        <m:sSubSup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𝑁𝑒𝑔</m:t>
                          </m:r>
                        </m:sup>
                      </m:sSub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endPar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sz="2335" dirty="0">
                      <a:solidFill>
                        <a:schemeClr val="accent2"/>
                      </a:solidFill>
                      <a:latin typeface="Cambria Math" panose="02040503050406030204" charset="0"/>
                      <a:ea typeface="微软雅黑" panose="020B0503020204020204" pitchFamily="34" charset="-122"/>
                      <a:cs typeface="Cambria Math" panose="02040503050406030204" charset="0"/>
                    </a:rPr>
                    <a:t>每个图像不只对应原始文本，还多了一个负文本候选</a:t>
                  </a:r>
                  <a:endParaRPr lang="en-US" altLang="zh-CN" sz="1400" dirty="0">
                    <a:solidFill>
                      <a:schemeClr val="accent2"/>
                    </a:solidFill>
                    <a:latin typeface="Cambria Math" panose="02040503050406030204" charset="0"/>
                    <a:ea typeface="微软雅黑" panose="020B0503020204020204" pitchFamily="34" charset="-122"/>
                    <a:cs typeface="Cambria Math" panose="02040503050406030204" charset="0"/>
                    <a:sym typeface="+mn-ea"/>
                  </a:endParaRPr>
                </a:p>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扩展成本矩阵</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图文余弦距离</a:t>
                  </a:r>
                  <a14:m>
                    <m:oMath xmlns:m="http://schemas.openxmlformats.org/officeDocument/2006/math">
                      <m:r>
                        <a:rPr lang="en-US" altLang="zh-CN" sz="2335" i="1" dirty="0">
                          <a:solidFill>
                            <a:schemeClr val="accent2"/>
                          </a:solidFill>
                          <a:latin typeface="Cambria Math" panose="02040503050406030204" charset="0"/>
                          <a:ea typeface="MS Mincho" charset="0"/>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acc>
                            <m:accPr>
                              <m:chr m:val="̄"/>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acc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𝐶</m:t>
                              </m:r>
                            </m:e>
                          </m:acc>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r>
                            <a:rPr lang="en-US" altLang="zh-CN" sz="2335" i="1" dirty="0">
                              <a:solidFill>
                                <a:schemeClr val="accent2"/>
                              </a:solidFill>
                              <a:latin typeface="Cambria Math" panose="02040503050406030204" charset="0"/>
                              <a:ea typeface="MS Mincho" charset="0"/>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𝑗</m:t>
                          </m:r>
                        </m:sub>
                      </m:sSub>
                      <m:r>
                        <a:rPr lang="en-US" altLang="zh-CN" sz="2335" i="1" dirty="0">
                          <a:solidFill>
                            <a:schemeClr val="accent2"/>
                          </a:solidFill>
                          <a:latin typeface="Cambria Math" panose="02040503050406030204" charset="0"/>
                          <a:ea typeface="MS Mincho" charset="0"/>
                          <a:cs typeface="Cambria Math" panose="02040503050406030204" charset="0"/>
                        </a:rPr>
                        <m:t>=1−⟨</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335" i="1" dirty="0">
                          <a:solidFill>
                            <a:schemeClr val="accent2"/>
                          </a:solidFill>
                          <a:latin typeface="Cambria Math" panose="02040503050406030204" charset="0"/>
                          <a:ea typeface="MS Mincho" charset="0"/>
                          <a:cs typeface="Cambria Math" panose="02040503050406030204" charset="0"/>
                        </a:rPr>
                        <m:t>,</m:t>
                      </m:r>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𝑗</m:t>
                          </m:r>
                        </m:sub>
                      </m:sSub>
                      <m:r>
                        <a:rPr lang="en-US" altLang="zh-CN" sz="2335" i="1" dirty="0">
                          <a:solidFill>
                            <a:schemeClr val="accent2"/>
                          </a:solidFill>
                          <a:latin typeface="Cambria Math" panose="02040503050406030204" charset="0"/>
                          <a:ea typeface="MS Mincho" charset="0"/>
                          <a:cs typeface="Cambria Math" panose="02040503050406030204" charset="0"/>
                        </a:rPr>
                        <m:t>⟩)</m:t>
                      </m:r>
                    </m:oMath>
                  </a14:m>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，越相近，对齐代价越小</a:t>
                  </a:r>
                </a:p>
                <a:p>
                  <a:pPr marL="285750" indent="-285750" algn="just" fontAlgn="auto">
                    <a:lnSpc>
                      <a:spcPct val="100000"/>
                    </a:lnSpc>
                    <a:buFont typeface="Arial" panose="020B0604020202090204" pitchFamily="34" charset="0"/>
                    <a:buChar char="•"/>
                  </a:pPr>
                  <a:r>
                    <a:rPr 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NCU</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增加了一个负文本列：</a:t>
                  </a:r>
                  <a14:m>
                    <m:oMath xmlns:m="http://schemas.openxmlformats.org/officeDocument/2006/math">
                      <m:r>
                        <a:rPr lang="en-US" altLang="zh-CN" sz="2335" i="1" dirty="0">
                          <a:solidFill>
                            <a:schemeClr val="accent2"/>
                          </a:solidFill>
                          <a:latin typeface="Cambria Math" panose="02040503050406030204" charset="0"/>
                          <a:ea typeface="MS Mincho" charset="0"/>
                          <a:cs typeface="Cambria Math" panose="02040503050406030204" charset="0"/>
                        </a:rPr>
                        <m:t>(</m:t>
                      </m:r>
                      <m:bar>
                        <m:barPr>
                          <m:pos m:val="top"/>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bar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𝐶</m:t>
                          </m:r>
                        </m:e>
                      </m:bar>
                      <m:r>
                        <a:rPr lang="en-US" altLang="zh-CN" sz="2335" i="1" dirty="0">
                          <a:solidFill>
                            <a:schemeClr val="accent2"/>
                          </a:solidFill>
                          <a:latin typeface="Cambria Math" panose="02040503050406030204" charset="0"/>
                          <a:ea typeface="MS Mincho" charset="0"/>
                          <a:cs typeface="Cambria Math" panose="02040503050406030204" charset="0"/>
                        </a:rPr>
                        <m:t>∈</m:t>
                      </m:r>
                      <m:sSup>
                        <m:sSup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p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𝑅</m:t>
                          </m:r>
                        </m:e>
                        <m:sup>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m:t>
                          </m:r>
                          <m:r>
                            <a:rPr lang="en-US" altLang="zh-CN" sz="2335" i="1" dirty="0">
                              <a:solidFill>
                                <a:schemeClr val="accent2"/>
                              </a:solidFill>
                              <a:latin typeface="Cambria Math" panose="02040503050406030204" charset="0"/>
                              <a:ea typeface="MS Mincho" charset="0"/>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𝑁</m:t>
                          </m:r>
                          <m:r>
                            <a:rPr lang="en-US" altLang="zh-CN" sz="2335" i="1" dirty="0">
                              <a:solidFill>
                                <a:schemeClr val="accent2"/>
                              </a:solidFill>
                              <a:latin typeface="Cambria Math" panose="02040503050406030204" charset="0"/>
                              <a:ea typeface="MS Mincho" charset="0"/>
                              <a:cs typeface="Cambria Math" panose="02040503050406030204" charset="0"/>
                            </a:rPr>
                            <m:t>+1)</m:t>
                          </m:r>
                        </m:sup>
                      </m:sSup>
                      <m:r>
                        <a:rPr lang="en-US" altLang="zh-CN" sz="2335" i="1" dirty="0">
                          <a:solidFill>
                            <a:schemeClr val="accent2"/>
                          </a:solidFill>
                          <a:latin typeface="Cambria Math" panose="02040503050406030204" charset="0"/>
                          <a:ea typeface="MS Mincho" charset="0"/>
                          <a:cs typeface="Cambria Math" panose="02040503050406030204" charset="0"/>
                        </a:rPr>
                        <m:t>)</m:t>
                      </m:r>
                    </m:oMath>
                  </a14:m>
                  <a:r>
                    <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rPr>
                    <a:t>专门留给最难负样本</a:t>
                  </a:r>
                </a:p>
                <a:p>
                  <a:pPr indent="0" algn="just" fontAlgn="auto">
                    <a:lnSpc>
                      <a:spcPct val="100000"/>
                    </a:lnSpc>
                    <a:buFont typeface="Arial" panose="020B0604020202090204" pitchFamily="34" charset="0"/>
                    <a:buNone/>
                  </a:pPr>
                  <a:r>
                    <a:rPr lang="zh-CN" altLang="en-US" sz="3165"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掩码矩阵</a:t>
                  </a:r>
                  <a:r>
                    <a:rPr lang="zh-CN" sz="2335"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FP</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错误行，对角线设为</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，最难负样本列设为</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1</a:t>
                  </a:r>
                  <a:endPar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其他行，最难负样本列设为</a:t>
                  </a:r>
                  <a:r>
                    <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0</a:t>
                  </a:r>
                  <a:endPar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r>
                    <a:rPr lang="en-US" alt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OT Plan</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求解的分配矩阵，每个格子表示从图像</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oMath>
                  </a14:m>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流向文本</a:t>
                  </a:r>
                  <a14:m>
                    <m:oMath xmlns:m="http://schemas.openxmlformats.org/officeDocument/2006/math">
                      <m:sSub>
                        <m:sSub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𝑗</m:t>
                          </m:r>
                        </m:sub>
                      </m:sSub>
                    </m:oMath>
                  </a14:m>
                  <a:r>
                    <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rPr>
                    <a:t>的概率大小</a:t>
                  </a:r>
                  <a:endParaRPr lang="zh-CN" altLang="en-US"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rPr>
                    <a:t>灰色越深，表示匹配的质量越大</a:t>
                  </a:r>
                  <a:endParaRPr lang="zh-CN" altLang="en-US" sz="2335" dirty="0">
                    <a:solidFill>
                      <a:schemeClr val="accent2"/>
                    </a:solidFill>
                    <a:latin typeface="微软雅黑" panose="020B0503020204020204" pitchFamily="34" charset="-122"/>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15" name="Text 13"/>
                <p:cNvSpPr>
                  <a:spLocks noRot="1" noChangeAspect="1" noMove="1" noResize="1" noEditPoints="1" noAdjustHandles="1" noChangeArrowheads="1" noChangeShapeType="1" noTextEdit="1"/>
                </p:cNvSpPr>
                <p:nvPr/>
              </p:nvSpPr>
              <p:spPr>
                <a:xfrm>
                  <a:off x="13392" y="2783"/>
                  <a:ext cx="5701" cy="6804"/>
                </a:xfrm>
                <a:prstGeom prst="rect">
                  <a:avLst/>
                </a:prstGeom>
                <a:blipFill>
                  <a:blip r:embed="rId3"/>
                  <a:stretch>
                    <a:fillRect l="-4047" t="-2821" r="-2867"/>
                  </a:stretch>
                </a:blipFill>
              </p:spPr>
              <p:txBody>
                <a:bodyPr/>
                <a:lstStyle/>
                <a:p>
                  <a:r>
                    <a:rPr lang="zh-CN" altLang="en-US">
                      <a:noFill/>
                    </a:rPr>
                    <a:t> </a:t>
                  </a:r>
                </a:p>
              </p:txBody>
            </p:sp>
          </mc:Fallback>
        </mc:AlternateContent>
      </p:grpSp>
      <p:sp>
        <p:nvSpPr>
          <p:cNvPr id="3"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02 · METHOD</a:t>
            </a:r>
            <a:endParaRPr lang="en-US" sz="1000" dirty="0"/>
          </a:p>
        </p:txBody>
      </p:sp>
      <p:sp>
        <p:nvSpPr>
          <p:cNvPr id="4"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模型基本框架</a:t>
            </a:r>
          </a:p>
        </p:txBody>
      </p:sp>
      <p:grpSp>
        <p:nvGrpSpPr>
          <p:cNvPr id="5" name="组合 4"/>
          <p:cNvGrpSpPr/>
          <p:nvPr/>
        </p:nvGrpSpPr>
        <p:grpSpPr>
          <a:xfrm>
            <a:off x="5914390" y="2950845"/>
            <a:ext cx="4912995" cy="3245725"/>
            <a:chOff x="12888" y="1814"/>
            <a:chExt cx="6661" cy="10626"/>
          </a:xfrm>
        </p:grpSpPr>
        <p:sp>
          <p:nvSpPr>
            <p:cNvPr id="6" name="Shape 11"/>
            <p:cNvSpPr/>
            <p:nvPr/>
          </p:nvSpPr>
          <p:spPr>
            <a:xfrm>
              <a:off x="12888" y="1814"/>
              <a:ext cx="6661" cy="10440"/>
            </a:xfrm>
            <a:prstGeom prst="roundRect">
              <a:avLst>
                <a:gd name="adj" fmla="val 1143"/>
              </a:avLst>
            </a:prstGeom>
            <a:solidFill>
              <a:srgbClr val="F4F6FA"/>
            </a:solidFill>
            <a:ln w="12700">
              <a:solidFill>
                <a:srgbClr val="D9DDE5"/>
              </a:solidFill>
              <a:prstDash val="solid"/>
            </a:ln>
          </p:spPr>
        </p:sp>
        <mc:AlternateContent xmlns:mc="http://schemas.openxmlformats.org/markup-compatibility/2006" xmlns:a14="http://schemas.microsoft.com/office/drawing/2010/main">
          <mc:Choice Requires="a14">
            <p:sp>
              <p:nvSpPr>
                <p:cNvPr id="9" name="Text 13"/>
                <p:cNvSpPr/>
                <p:nvPr/>
              </p:nvSpPr>
              <p:spPr>
                <a:xfrm>
                  <a:off x="13392" y="2599"/>
                  <a:ext cx="5701" cy="9841"/>
                </a:xfrm>
                <a:prstGeom prst="rect">
                  <a:avLst/>
                </a:prstGeom>
                <a:noFill/>
              </p:spPr>
              <p:txBody>
                <a:bodyPr wrap="square" lIns="0" tIns="0" rIns="0" bIns="0" rtlCol="0" anchor="ctr">
                  <a:normAutofit fontScale="37500" lnSpcReduction="20000"/>
                </a:bodyPr>
                <a:lstStyle/>
                <a:p>
                  <a:pPr indent="0" algn="just" fontAlgn="auto">
                    <a:lnSpc>
                      <a:spcPct val="100000"/>
                    </a:lnSpc>
                    <a:buFont typeface="Arial" panose="020B0604020202090204" pitchFamily="34" charset="0"/>
                    <a:buNone/>
                  </a:pPr>
                  <a:r>
                    <a:rPr lang="en-US" alt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Aligning</a:t>
                  </a: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对齐</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𝑇</m:t>
                      </m:r>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𝛾</m:t>
                      </m:r>
                      <m:sSup>
                        <m:sSup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pPr>
                        <m:e>
                          <m:acc>
                            <m:accPr>
                              <m:chr m:val="̂"/>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acc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𝛤</m:t>
                              </m:r>
                            </m:e>
                          </m:acc>
                        </m:e>
                        <m:sup>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up>
                      </m:sSup>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+(1−</m:t>
                      </m:r>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𝛾</m:t>
                      </m:r>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𝐼</m:t>
                      </m:r>
                    </m:oMath>
                  </a14:m>
                  <a:endPar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r>
                    <a:rPr lang="zh-CN" sz="2665" dirty="0">
                      <a:solidFill>
                        <a:schemeClr val="accent2"/>
                      </a:solidFill>
                      <a:latin typeface="Cambria Math" panose="02040503050406030204" charset="0"/>
                      <a:ea typeface="微软雅黑" panose="020B0503020204020204" pitchFamily="34" charset="-122"/>
                      <a:cs typeface="Cambria Math" panose="02040503050406030204" charset="0"/>
                    </a:rPr>
                    <a:t>评判最优传输后和调整前的图文分布应该长什么样</a:t>
                  </a:r>
                </a:p>
                <a:p>
                  <a:pPr indent="0" algn="just" fontAlgn="auto">
                    <a:lnSpc>
                      <a:spcPct val="100000"/>
                    </a:lnSpc>
                    <a:buFont typeface="Arial" panose="020B0604020202090204" pitchFamily="34" charset="0"/>
                    <a:buNone/>
                  </a:pPr>
                  <a:r>
                    <a:rPr lang="zh-CN" sz="311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微调目标：</a:t>
                  </a:r>
                </a:p>
                <a:p>
                  <a:pPr marL="171450" indent="-171450" algn="just" fontAlgn="auto">
                    <a:lnSpc>
                      <a:spcPct val="100000"/>
                    </a:lnSpc>
                    <a:buFont typeface="Arial" panose="020B0604020202090204" pitchFamily="34" charset="0"/>
                    <a:buChar char="•"/>
                  </a:pPr>
                  <a:r>
                    <a:rPr lang="zh-CN" sz="2665" dirty="0">
                      <a:solidFill>
                        <a:schemeClr val="accent2"/>
                      </a:solidFill>
                      <a:latin typeface="Cambria Math" panose="02040503050406030204" charset="0"/>
                      <a:ea typeface="微软雅黑" panose="020B0503020204020204" pitchFamily="34" charset="-122"/>
                      <a:cs typeface="Cambria Math" panose="02040503050406030204" charset="0"/>
                      <a:sym typeface="+mn-ea"/>
                    </a:rPr>
                    <a:t>使用</a:t>
                  </a:r>
                  <a:r>
                    <a:rPr lang="en-US" altLang="zh-CN" sz="2665" dirty="0">
                      <a:solidFill>
                        <a:schemeClr val="accent2"/>
                      </a:solidFill>
                      <a:latin typeface="Cambria Math" panose="02040503050406030204" charset="0"/>
                      <a:ea typeface="微软雅黑" panose="020B0503020204020204" pitchFamily="34" charset="-122"/>
                      <a:cs typeface="Cambria Math" panose="02040503050406030204" charset="0"/>
                      <a:sym typeface="+mn-ea"/>
                    </a:rPr>
                    <a:t>KL</a:t>
                  </a:r>
                  <a:r>
                    <a:rPr lang="zh-CN" altLang="en-US" sz="2665" dirty="0">
                      <a:solidFill>
                        <a:schemeClr val="accent2"/>
                      </a:solidFill>
                      <a:latin typeface="Cambria Math" panose="02040503050406030204" charset="0"/>
                      <a:ea typeface="微软雅黑" panose="020B0503020204020204" pitchFamily="34" charset="-122"/>
                      <a:cs typeface="Cambria Math" panose="02040503050406030204" charset="0"/>
                      <a:sym typeface="+mn-ea"/>
                    </a:rPr>
                    <a:t>散度微调，让模型预测接近软目标</a:t>
                  </a:r>
                  <a:endPar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特征空间</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错配的文本）、</a:t>
                  </a: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𝑗</m:t>
                          </m:r>
                        </m:sub>
                      </m:s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另一个文本）、</a:t>
                  </a: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𝑘</m:t>
                          </m:r>
                        </m:sub>
                      </m:s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另一张图）、</a:t>
                  </a: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Sup>
                        <m:sSubSup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up>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𝑁𝑒𝑔</m:t>
                          </m:r>
                        </m:sup>
                      </m:sSubSup>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最难负文本）。</a:t>
                  </a:r>
                </a:p>
                <a:p>
                  <a:pPr marL="285750" indent="-285750" algn="just" fontAlgn="auto">
                    <a:lnSpc>
                      <a:spcPct val="100000"/>
                    </a:lnSpc>
                    <a:buFont typeface="Arial" panose="020B0604020202090204" pitchFamily="34" charset="0"/>
                    <a:buChar char="•"/>
                  </a:pPr>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Unlearn FP</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：把 </a:t>
                  </a: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从错误的</a:t>
                  </a: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旁边拉开，方向指向 </a:t>
                  </a: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Sup>
                        <m:sSubSup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Sup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up>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𝑁𝑒𝑔</m:t>
                          </m:r>
                        </m:sup>
                      </m:sSubSup>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a:t>
                  </a:r>
                </a:p>
                <a:p>
                  <a:pPr marL="285750" indent="-285750" algn="just" fontAlgn="auto">
                    <a:lnSpc>
                      <a:spcPct val="100000"/>
                    </a:lnSpc>
                    <a:buFont typeface="Arial" panose="020B0604020202090204" pitchFamily="34" charset="0"/>
                    <a:buChar char="•"/>
                  </a:pPr>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Unlearn FN</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：把本该和 </a:t>
                  </a: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𝑖</m:t>
                          </m:r>
                        </m:sub>
                      </m:s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相关、却离得远的 </a:t>
                  </a:r>
                  <a14:m>
                    <m:oMath xmlns:m="http://schemas.openxmlformats.org/officeDocument/2006/math">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𝑣</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𝑘</m:t>
                          </m:r>
                        </m:sub>
                      </m:s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sSub>
                        <m:sSubPr>
                          <m:ctrlPr>
                            <a:rPr lang="en-US" altLang="zh-CN" sz="266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bPr>
                        <m:e>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𝑡</m:t>
                          </m:r>
                        </m:e>
                        <m: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𝑗</m:t>
                          </m:r>
                        </m:sub>
                      </m:sSub>
                      <m:r>
                        <a:rPr lang="en-US" altLang="zh-CN" sz="2665" i="1" dirty="0">
                          <a:solidFill>
                            <a:schemeClr val="accent2"/>
                          </a:solidFill>
                          <a:latin typeface="Cambria Math" panose="02040503050406030204" charset="0"/>
                          <a:ea typeface="微软雅黑" panose="020B0503020204020204" pitchFamily="34" charset="-122"/>
                          <a:cs typeface="Cambria Math" panose="02040503050406030204" charset="0"/>
                        </a:rPr>
                        <m:t>)</m:t>
                      </m:r>
                    </m:oMath>
                  </a14:m>
                  <a:r>
                    <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这一对互相拉近。</a:t>
                  </a:r>
                  <a:endParaRPr lang="en-US" altLang="zh-CN" sz="2665" dirty="0">
                    <a:solidFill>
                      <a:schemeClr val="accent2"/>
                    </a:solidFill>
                    <a:latin typeface="Cambria Math" panose="02040503050406030204" charset="0"/>
                    <a:ea typeface="微软雅黑" panose="020B0503020204020204" pitchFamily="34" charset="-122"/>
                    <a:cs typeface="Cambria Math" panose="02040503050406030204" charset="0"/>
                    <a:sym typeface="+mn-ea"/>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9" name="Text 13"/>
                <p:cNvSpPr>
                  <a:spLocks noRot="1" noChangeAspect="1" noMove="1" noResize="1" noEditPoints="1" noAdjustHandles="1" noChangeArrowheads="1" noChangeShapeType="1" noTextEdit="1"/>
                </p:cNvSpPr>
                <p:nvPr/>
              </p:nvSpPr>
              <p:spPr>
                <a:xfrm>
                  <a:off x="13392" y="2599"/>
                  <a:ext cx="5701" cy="9841"/>
                </a:xfrm>
                <a:prstGeom prst="rect">
                  <a:avLst/>
                </a:prstGeom>
                <a:blipFill rotWithShape="1">
                  <a:blip r:embed="rId4"/>
                </a:blipFill>
              </p:spPr>
              <p:txBody>
                <a:bodyPr/>
                <a:lstStyle/>
                <a:p>
                  <a:r>
                    <a:rPr lang="zh-CN" altLang="en-US">
                      <a:noFill/>
                    </a:rPr>
                    <a:t> </a:t>
                  </a:r>
                </a:p>
              </p:txBody>
            </p:sp>
          </mc:Fallback>
        </mc:AlternateContent>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567055" y="1152525"/>
            <a:ext cx="4229735" cy="5505450"/>
            <a:chOff x="12888" y="1814"/>
            <a:chExt cx="6661" cy="8670"/>
          </a:xfrm>
        </p:grpSpPr>
        <p:sp>
          <p:nvSpPr>
            <p:cNvPr id="13" name="Shape 11"/>
            <p:cNvSpPr/>
            <p:nvPr/>
          </p:nvSpPr>
          <p:spPr>
            <a:xfrm>
              <a:off x="12888" y="1814"/>
              <a:ext cx="6661" cy="7879"/>
            </a:xfrm>
            <a:prstGeom prst="roundRect">
              <a:avLst>
                <a:gd name="adj" fmla="val 1143"/>
              </a:avLst>
            </a:prstGeom>
            <a:solidFill>
              <a:srgbClr val="F4F6FA"/>
            </a:solidFill>
            <a:ln w="12700">
              <a:solidFill>
                <a:srgbClr val="D9DDE5"/>
              </a:solidFill>
              <a:prstDash val="solid"/>
            </a:ln>
          </p:spPr>
        </p:sp>
        <mc:AlternateContent xmlns:mc="http://schemas.openxmlformats.org/markup-compatibility/2006" xmlns:a14="http://schemas.microsoft.com/office/drawing/2010/main">
          <mc:Choice Requires="a14">
            <p:sp>
              <p:nvSpPr>
                <p:cNvPr id="15" name="Text 13"/>
                <p:cNvSpPr/>
                <p:nvPr/>
              </p:nvSpPr>
              <p:spPr>
                <a:xfrm>
                  <a:off x="13392" y="2853"/>
                  <a:ext cx="5701" cy="7631"/>
                </a:xfrm>
                <a:prstGeom prst="rect">
                  <a:avLst/>
                </a:prstGeom>
                <a:noFill/>
              </p:spPr>
              <p:txBody>
                <a:bodyPr wrap="square" lIns="0" tIns="0" rIns="0" bIns="0" rtlCol="0" anchor="ctr">
                  <a:normAutofit fontScale="75000" lnSpcReduction="20000"/>
                </a:bodyPr>
                <a:lstStyle/>
                <a:p>
                  <a:pPr indent="0" algn="just" fontAlgn="auto">
                    <a:lnSpc>
                      <a:spcPct val="100000"/>
                    </a:lnSpc>
                    <a:buFont typeface="Arial" panose="020B0604020202090204" pitchFamily="34" charset="0"/>
                    <a:buNone/>
                  </a:pPr>
                  <a:r>
                    <a:rPr lang="zh-CN" sz="2555"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构造</a:t>
                  </a:r>
                  <a:r>
                    <a:rPr lang="en-US" altLang="zh-CN" sz="2555"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OT</a:t>
                  </a:r>
                  <a:r>
                    <a:rPr lang="zh-CN" sz="2335"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14:m>
                    <m:oMathPara xmlns:m="http://schemas.openxmlformats.org/officeDocument/2006/math">
                      <m:oMathParaPr>
                        <m:jc m:val="centerGroup"/>
                      </m:oMathParaPr>
                      <m:oMath xmlns:m="http://schemas.openxmlformats.org/officeDocument/2006/math">
                        <m:sSup>
                          <m:sSupPr>
                            <m:ctrlPr>
                              <a:rPr lang="en-US" altLang="zh-CN" sz="2335" i="1" dirty="0">
                                <a:solidFill>
                                  <a:schemeClr val="accent2"/>
                                </a:solidFill>
                                <a:latin typeface="Cambria Math" panose="02040503050406030204" pitchFamily="18" charset="0"/>
                                <a:ea typeface="MS Mincho" charset="0"/>
                                <a:cs typeface="Cambria Math" panose="02040503050406030204" charset="0"/>
                              </a:rPr>
                            </m:ctrlPr>
                          </m:sSupPr>
                          <m:e>
                            <m:r>
                              <a:rPr lang="en-US" altLang="zh-CN" sz="2335" i="1" dirty="0">
                                <a:solidFill>
                                  <a:schemeClr val="accent2"/>
                                </a:solidFill>
                                <a:latin typeface="Cambria Math" panose="02040503050406030204" charset="0"/>
                                <a:ea typeface="MS Mincho" charset="0"/>
                                <a:cs typeface="Cambria Math" panose="02040503050406030204" charset="0"/>
                              </a:rPr>
                              <m:t>𝛤</m:t>
                            </m:r>
                          </m:e>
                          <m:sup>
                            <m:r>
                              <a:rPr lang="en-US" altLang="zh-CN" sz="2335" i="1" dirty="0">
                                <a:solidFill>
                                  <a:schemeClr val="accent2"/>
                                </a:solidFill>
                                <a:latin typeface="Cambria Math" panose="02040503050406030204" charset="0"/>
                                <a:ea typeface="MS Mincho" charset="0"/>
                                <a:cs typeface="Cambria Math" panose="02040503050406030204" charset="0"/>
                              </a:rPr>
                              <m:t>∗</m:t>
                            </m:r>
                          </m:sup>
                        </m:sSup>
                        <m:r>
                          <a:rPr lang="en-US" altLang="zh-CN" sz="2335" i="1" dirty="0">
                            <a:solidFill>
                              <a:schemeClr val="accent2"/>
                            </a:solidFill>
                            <a:latin typeface="Cambria Math" panose="02040503050406030204" charset="0"/>
                            <a:ea typeface="MS Mincho" charset="0"/>
                            <a:cs typeface="Cambria Math" panose="02040503050406030204" charset="0"/>
                          </a:rPr>
                          <m:t>=</m:t>
                        </m:r>
                        <m:func>
                          <m:func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funcPr>
                          <m:fName>
                            <m:r>
                              <m:rPr>
                                <m:sty m:val="p"/>
                              </m:rP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arg</m:t>
                            </m:r>
                          </m:fName>
                          <m:e>
                            <m:func>
                              <m:func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funcPr>
                              <m:fName>
                                <m:limLow>
                                  <m:limLowPr>
                                    <m:ctrlPr>
                                      <a:rPr lang="en-US" altLang="zh-CN" sz="2335"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limLowPr>
                                  <m:e>
                                    <m:r>
                                      <m:rPr>
                                        <m:sty m:val="p"/>
                                      </m:rP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min</m:t>
                                    </m:r>
                                  </m:e>
                                  <m:lim>
                                    <m:r>
                                      <a:rPr lang="en-US" altLang="zh-CN" sz="2335" i="1" dirty="0">
                                        <a:solidFill>
                                          <a:schemeClr val="accent2"/>
                                        </a:solidFill>
                                        <a:latin typeface="Cambria Math" panose="02040503050406030204" charset="0"/>
                                        <a:ea typeface="MS Mincho" charset="0"/>
                                        <a:cs typeface="Cambria Math" panose="02040503050406030204" charset="0"/>
                                      </a:rPr>
                                      <m:t>𝛤</m:t>
                                    </m:r>
                                    <m:r>
                                      <a:rPr lang="en-US" altLang="zh-CN" sz="2335" i="1" dirty="0">
                                        <a:solidFill>
                                          <a:schemeClr val="accent2"/>
                                        </a:solidFill>
                                        <a:latin typeface="Cambria Math" panose="02040503050406030204" charset="0"/>
                                        <a:ea typeface="MS Mincho" charset="0"/>
                                        <a:cs typeface="Cambria Math" panose="02040503050406030204" charset="0"/>
                                      </a:rPr>
                                      <m:t>∈</m:t>
                                    </m:r>
                                    <m:r>
                                      <a:rPr lang="en-US" altLang="zh-CN" sz="2335" i="1" dirty="0">
                                        <a:solidFill>
                                          <a:schemeClr val="accent2"/>
                                        </a:solidFill>
                                        <a:latin typeface="Cambria Math" panose="02040503050406030204" charset="0"/>
                                        <a:ea typeface="MS Mincho" charset="0"/>
                                        <a:cs typeface="Cambria Math" panose="02040503050406030204" charset="0"/>
                                      </a:rPr>
                                      <m:t>𝛱</m:t>
                                    </m:r>
                                    <m:r>
                                      <a:rPr lang="en-US" altLang="zh-CN" sz="2335" i="1" dirty="0">
                                        <a:solidFill>
                                          <a:schemeClr val="accent2"/>
                                        </a:solidFill>
                                        <a:latin typeface="Cambria Math" panose="02040503050406030204" charset="0"/>
                                        <a:ea typeface="MS Mincho" charset="0"/>
                                        <a:cs typeface="Cambria Math" panose="02040503050406030204" charset="0"/>
                                      </a:rPr>
                                      <m:t>(</m:t>
                                    </m:r>
                                    <m:r>
                                      <a:rPr lang="en-US" altLang="zh-CN" sz="2335" i="1" dirty="0">
                                        <a:solidFill>
                                          <a:schemeClr val="accent2"/>
                                        </a:solidFill>
                                        <a:latin typeface="Cambria Math" panose="02040503050406030204" charset="0"/>
                                        <a:ea typeface="MS Mincho" charset="0"/>
                                        <a:cs typeface="Cambria Math" panose="02040503050406030204" charset="0"/>
                                      </a:rPr>
                                      <m:t>𝜇</m:t>
                                    </m:r>
                                    <m:r>
                                      <a:rPr lang="en-US" altLang="zh-CN" sz="2335" i="1" dirty="0">
                                        <a:solidFill>
                                          <a:schemeClr val="accent2"/>
                                        </a:solidFill>
                                        <a:latin typeface="Cambria Math" panose="02040503050406030204" charset="0"/>
                                        <a:ea typeface="MS Mincho" charset="0"/>
                                        <a:cs typeface="Cambria Math" panose="02040503050406030204" charset="0"/>
                                      </a:rPr>
                                      <m:t>,</m:t>
                                    </m:r>
                                    <m:r>
                                      <a:rPr lang="en-US" altLang="zh-CN" sz="2335" i="1" dirty="0">
                                        <a:solidFill>
                                          <a:schemeClr val="accent2"/>
                                        </a:solidFill>
                                        <a:latin typeface="Cambria Math" panose="02040503050406030204" charset="0"/>
                                        <a:ea typeface="MS Mincho" charset="0"/>
                                        <a:cs typeface="Cambria Math" panose="02040503050406030204" charset="0"/>
                                      </a:rPr>
                                      <m:t>𝜈</m:t>
                                    </m:r>
                                    <m:r>
                                      <a:rPr lang="en-US" altLang="zh-CN" sz="2335" i="1" dirty="0">
                                        <a:solidFill>
                                          <a:schemeClr val="accent2"/>
                                        </a:solidFill>
                                        <a:latin typeface="Cambria Math" panose="02040503050406030204" charset="0"/>
                                        <a:ea typeface="MS Mincho" charset="0"/>
                                        <a:cs typeface="Cambria Math" panose="02040503050406030204" charset="0"/>
                                      </a:rPr>
                                      <m:t>)</m:t>
                                    </m:r>
                                  </m:lim>
                                </m:limLow>
                              </m:fName>
                              <m:e/>
                            </m:func>
                          </m:e>
                        </m:func>
                        <m:r>
                          <a:rPr lang="en-US" altLang="zh-CN" sz="2335" i="1" dirty="0">
                            <a:solidFill>
                              <a:schemeClr val="accent2"/>
                            </a:solidFill>
                            <a:latin typeface="Cambria Math" panose="02040503050406030204" charset="0"/>
                            <a:ea typeface="MS Mincho" charset="0"/>
                            <a:cs typeface="Cambria Math" panose="02040503050406030204" charset="0"/>
                          </a:rPr>
                          <m:t>⟨</m:t>
                        </m:r>
                        <m:r>
                          <a:rPr lang="en-US" altLang="zh-CN" sz="2335" i="1" dirty="0">
                            <a:solidFill>
                              <a:schemeClr val="accent2"/>
                            </a:solidFill>
                            <a:latin typeface="Cambria Math" panose="02040503050406030204" charset="0"/>
                            <a:ea typeface="MS Mincho" charset="0"/>
                            <a:cs typeface="Cambria Math" panose="02040503050406030204" charset="0"/>
                          </a:rPr>
                          <m:t>𝛤</m:t>
                        </m:r>
                        <m:r>
                          <a:rPr lang="en-US" altLang="zh-CN" sz="2335" i="1" dirty="0">
                            <a:solidFill>
                              <a:schemeClr val="accent2"/>
                            </a:solidFill>
                            <a:latin typeface="Cambria Math" panose="02040503050406030204" charset="0"/>
                            <a:ea typeface="MS Mincho" charset="0"/>
                            <a:cs typeface="Cambria Math" panose="02040503050406030204" charset="0"/>
                          </a:rPr>
                          <m:t>,</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𝐶</m:t>
                        </m:r>
                        <m:r>
                          <a:rPr lang="en-US" altLang="zh-CN" sz="2335" i="1" dirty="0">
                            <a:solidFill>
                              <a:schemeClr val="accent2"/>
                            </a:solidFill>
                            <a:latin typeface="Cambria Math" panose="02040503050406030204" charset="0"/>
                            <a:ea typeface="MS Mincho" charset="0"/>
                            <a:cs typeface="Cambria Math" panose="02040503050406030204" charset="0"/>
                          </a:rPr>
                          <m:t>⟩−</m:t>
                        </m:r>
                        <m:r>
                          <a:rPr lang="en-US" altLang="zh-CN" sz="2335" i="1" dirty="0">
                            <a:solidFill>
                              <a:schemeClr val="accent2"/>
                            </a:solidFill>
                            <a:latin typeface="Cambria Math" panose="02040503050406030204" charset="0"/>
                            <a:ea typeface="MS Mincho" charset="0"/>
                            <a:cs typeface="Cambria Math" panose="02040503050406030204" charset="0"/>
                          </a:rPr>
                          <m:t>𝜀</m:t>
                        </m:r>
                        <m:r>
                          <a:rPr lang="en-US" altLang="zh-CN" sz="2335" i="1" dirty="0">
                            <a:solidFill>
                              <a:schemeClr val="accent2"/>
                            </a:solidFill>
                            <a:latin typeface="Cambria Math" panose="02040503050406030204" charset="0"/>
                            <a:ea typeface="微软雅黑" panose="020B0503020204020204" pitchFamily="34" charset="-122"/>
                            <a:cs typeface="Cambria Math" panose="02040503050406030204" charset="0"/>
                          </a:rPr>
                          <m:t>𝐻</m:t>
                        </m:r>
                        <m:r>
                          <a:rPr lang="en-US" altLang="zh-CN" sz="2335" i="1" dirty="0">
                            <a:solidFill>
                              <a:schemeClr val="accent2"/>
                            </a:solidFill>
                            <a:latin typeface="Cambria Math" panose="02040503050406030204" charset="0"/>
                            <a:ea typeface="MS Mincho" charset="0"/>
                            <a:cs typeface="Cambria Math" panose="02040503050406030204" charset="0"/>
                          </a:rPr>
                          <m:t>(</m:t>
                        </m:r>
                        <m:r>
                          <a:rPr lang="en-US" altLang="zh-CN" sz="2335" i="1" dirty="0">
                            <a:solidFill>
                              <a:schemeClr val="accent2"/>
                            </a:solidFill>
                            <a:latin typeface="Cambria Math" panose="02040503050406030204" charset="0"/>
                            <a:ea typeface="MS Mincho" charset="0"/>
                            <a:cs typeface="Cambria Math" panose="02040503050406030204" charset="0"/>
                          </a:rPr>
                          <m:t>𝛤</m:t>
                        </m:r>
                        <m:r>
                          <a:rPr lang="en-US" altLang="zh-CN" sz="2335" i="1" dirty="0">
                            <a:solidFill>
                              <a:schemeClr val="accent2"/>
                            </a:solidFill>
                            <a:latin typeface="Cambria Math" panose="02040503050406030204" charset="0"/>
                            <a:ea typeface="MS Mincho" charset="0"/>
                            <a:cs typeface="Cambria Math" panose="02040503050406030204" charset="0"/>
                          </a:rPr>
                          <m:t>)</m:t>
                        </m:r>
                      </m:oMath>
                    </m:oMathPara>
                  </a14:m>
                  <a:endParaRPr lang="en-US" altLang="zh-CN" sz="2335" i="1" dirty="0">
                    <a:solidFill>
                      <a:schemeClr val="accent2"/>
                    </a:solidFill>
                    <a:latin typeface="Cambria Math" panose="02040503050406030204" charset="0"/>
                    <a:ea typeface="MS Mincho" charset="0"/>
                    <a:cs typeface="Cambria Math" panose="02040503050406030204" charset="0"/>
                  </a:endParaRPr>
                </a:p>
                <a:p>
                  <a:pPr marL="342900" indent="-342900" algn="just" fontAlgn="auto">
                    <a:lnSpc>
                      <a:spcPct val="100000"/>
                    </a:lnSpc>
                    <a:buFont typeface="Arial" panose="020B0604020202090204" pitchFamily="34" charset="0"/>
                    <a:buChar char="•"/>
                  </a:pPr>
                  <a14:m>
                    <m:oMath xmlns:m="http://schemas.openxmlformats.org/officeDocument/2006/math">
                      <m:r>
                        <m:rPr>
                          <m:sty m:val="p"/>
                        </m:rPr>
                        <a:rPr lang="en-US" altLang="zh-CN" sz="2000" dirty="0">
                          <a:solidFill>
                            <a:schemeClr val="accent2"/>
                          </a:solidFill>
                          <a:latin typeface="Cambria Math" panose="02040503050406030204" charset="0"/>
                          <a:ea typeface="MS Mincho" charset="0"/>
                          <a:cs typeface="Cambria Math" panose="02040503050406030204" charset="0"/>
                        </a:rPr>
                        <m:t>C</m:t>
                      </m:r>
                    </m:oMath>
                  </a14:m>
                  <a:r>
                    <a:rPr lang="en-US" altLang="zh-CN" sz="2000" dirty="0">
                      <a:solidFill>
                        <a:schemeClr val="accent2"/>
                      </a:solidFill>
                      <a:latin typeface="Cambria Math" panose="02040503050406030204" charset="0"/>
                      <a:ea typeface="MS Mincho" charset="0"/>
                      <a:cs typeface="Cambria Math" panose="02040503050406030204" charset="0"/>
                    </a:rPr>
                    <a:t>：</a:t>
                  </a:r>
                  <a:r>
                    <a:rPr lang="zh-CN" altLang="en-US" sz="2000" dirty="0">
                      <a:solidFill>
                        <a:schemeClr val="accent2"/>
                      </a:solidFill>
                      <a:latin typeface="Cambria Math" panose="02040503050406030204" charset="0"/>
                      <a:ea typeface="MS Mincho" charset="0"/>
                      <a:cs typeface="Cambria Math" panose="02040503050406030204" charset="0"/>
                    </a:rPr>
                    <a:t>图像与候选文本之间的代价矩阵；</a:t>
                  </a:r>
                </a:p>
                <a:p>
                  <a:pPr marL="342900" indent="-342900" algn="just" fontAlgn="auto">
                    <a:lnSpc>
                      <a:spcPct val="100000"/>
                    </a:lnSpc>
                    <a:buFont typeface="Arial" panose="020B0604020202090204" pitchFamily="34" charset="0"/>
                    <a:buChar char="•"/>
                  </a:pPr>
                  <a14:m>
                    <m:oMath xmlns:m="http://schemas.openxmlformats.org/officeDocument/2006/math">
                      <m:r>
                        <a:rPr lang="en-US" altLang="zh-CN" sz="2000" dirty="0">
                          <a:solidFill>
                            <a:schemeClr val="accent2"/>
                          </a:solidFill>
                          <a:latin typeface="Cambria Math" panose="02040503050406030204" charset="0"/>
                          <a:ea typeface="MS Mincho" charset="0"/>
                          <a:cs typeface="Cambria Math" panose="02040503050406030204" charset="0"/>
                        </a:rPr>
                        <m:t>𝛤</m:t>
                      </m:r>
                    </m:oMath>
                  </a14:m>
                  <a:r>
                    <a:rPr lang="en-US" altLang="zh-CN" sz="2000" dirty="0">
                      <a:solidFill>
                        <a:schemeClr val="accent2"/>
                      </a:solidFill>
                      <a:latin typeface="Cambria Math" panose="02040503050406030204" charset="0"/>
                      <a:ea typeface="MS Mincho" charset="0"/>
                      <a:cs typeface="Cambria Math" panose="02040503050406030204" charset="0"/>
                    </a:rPr>
                    <a:t>：</a:t>
                  </a:r>
                  <a:r>
                    <a:rPr lang="zh-CN" altLang="en-US" sz="2000" dirty="0">
                      <a:solidFill>
                        <a:schemeClr val="accent2"/>
                      </a:solidFill>
                      <a:latin typeface="Cambria Math" panose="02040503050406030204" charset="0"/>
                      <a:ea typeface="MS Mincho" charset="0"/>
                      <a:cs typeface="Cambria Math" panose="02040503050406030204" charset="0"/>
                    </a:rPr>
                    <a:t>要优化的传输／匹配分布；</a:t>
                  </a:r>
                </a:p>
                <a:p>
                  <a:pPr marL="342900" indent="-342900" algn="just" fontAlgn="auto">
                    <a:lnSpc>
                      <a:spcPct val="100000"/>
                    </a:lnSpc>
                    <a:buFont typeface="Arial" panose="020B0604020202090204" pitchFamily="34" charset="0"/>
                    <a:buChar char="•"/>
                  </a:pPr>
                  <a14:m>
                    <m:oMath xmlns:m="http://schemas.openxmlformats.org/officeDocument/2006/math">
                      <m:r>
                        <m:rPr>
                          <m:sty m:val="p"/>
                        </m:rPr>
                        <a:rPr lang="en-US" altLang="zh-CN" sz="2000" dirty="0">
                          <a:solidFill>
                            <a:schemeClr val="accent2"/>
                          </a:solidFill>
                          <a:latin typeface="Cambria Math" panose="02040503050406030204" charset="0"/>
                          <a:ea typeface="MS Mincho" charset="0"/>
                          <a:cs typeface="Cambria Math" panose="02040503050406030204" charset="0"/>
                        </a:rPr>
                        <m:t>H</m:t>
                      </m:r>
                      <m:r>
                        <a:rPr lang="en-US" altLang="zh-CN" sz="2000" dirty="0">
                          <a:solidFill>
                            <a:schemeClr val="accent2"/>
                          </a:solidFill>
                          <a:latin typeface="Cambria Math" panose="02040503050406030204" charset="0"/>
                          <a:ea typeface="MS Mincho" charset="0"/>
                          <a:cs typeface="Cambria Math" panose="02040503050406030204" charset="0"/>
                        </a:rPr>
                        <m:t>(</m:t>
                      </m:r>
                      <m:r>
                        <a:rPr lang="en-US" altLang="zh-CN" sz="2000" dirty="0">
                          <a:solidFill>
                            <a:schemeClr val="accent2"/>
                          </a:solidFill>
                          <a:latin typeface="Cambria Math" panose="02040503050406030204" charset="0"/>
                          <a:ea typeface="MS Mincho" charset="0"/>
                          <a:cs typeface="Cambria Math" panose="02040503050406030204" charset="0"/>
                        </a:rPr>
                        <m:t>𝛤</m:t>
                      </m:r>
                      <m:r>
                        <a:rPr lang="en-US" altLang="zh-CN" sz="2000" dirty="0">
                          <a:solidFill>
                            <a:schemeClr val="accent2"/>
                          </a:solidFill>
                          <a:latin typeface="Cambria Math" panose="02040503050406030204" charset="0"/>
                          <a:ea typeface="MS Mincho" charset="0"/>
                          <a:cs typeface="Cambria Math" panose="02040503050406030204" charset="0"/>
                        </a:rPr>
                        <m:t>)</m:t>
                      </m:r>
                    </m:oMath>
                  </a14:m>
                  <a:r>
                    <a:rPr lang="en-US" altLang="zh-CN" sz="2000" dirty="0">
                      <a:solidFill>
                        <a:schemeClr val="accent2"/>
                      </a:solidFill>
                      <a:latin typeface="Cambria Math" panose="02040503050406030204" charset="0"/>
                      <a:ea typeface="MS Mincho" charset="0"/>
                      <a:cs typeface="Cambria Math" panose="02040503050406030204" charset="0"/>
                    </a:rPr>
                    <a:t>：</a:t>
                  </a:r>
                  <a:r>
                    <a:rPr lang="zh-CN" altLang="en-US" sz="2000" dirty="0">
                      <a:solidFill>
                        <a:schemeClr val="accent2"/>
                      </a:solidFill>
                      <a:latin typeface="Cambria Math" panose="02040503050406030204" charset="0"/>
                      <a:ea typeface="MS Mincho" charset="0"/>
                      <a:cs typeface="Cambria Math" panose="02040503050406030204" charset="0"/>
                    </a:rPr>
                    <a:t>熵正则项，让分配不必是僵硬的一对一结果；</a:t>
                  </a:r>
                </a:p>
                <a:p>
                  <a:pPr marL="342900" indent="-342900" algn="just" fontAlgn="auto">
                    <a:lnSpc>
                      <a:spcPct val="100000"/>
                    </a:lnSpc>
                    <a:buFont typeface="Arial" panose="020B0604020202090204" pitchFamily="34" charset="0"/>
                    <a:buChar char="•"/>
                  </a:pPr>
                  <a14:m>
                    <m:oMath xmlns:m="http://schemas.openxmlformats.org/officeDocument/2006/math">
                      <m:r>
                        <a:rPr lang="en-US" altLang="zh-CN" sz="2000" dirty="0">
                          <a:solidFill>
                            <a:schemeClr val="accent2"/>
                          </a:solidFill>
                          <a:latin typeface="Cambria Math" panose="02040503050406030204" charset="0"/>
                          <a:ea typeface="MS Mincho" charset="0"/>
                          <a:cs typeface="Cambria Math" panose="02040503050406030204" charset="0"/>
                        </a:rPr>
                        <m:t>𝛱</m:t>
                      </m:r>
                      <m:r>
                        <a:rPr lang="en-US" altLang="zh-CN" sz="2000" dirty="0">
                          <a:solidFill>
                            <a:schemeClr val="accent2"/>
                          </a:solidFill>
                          <a:latin typeface="Cambria Math" panose="02040503050406030204" charset="0"/>
                          <a:ea typeface="MS Mincho" charset="0"/>
                          <a:cs typeface="Cambria Math" panose="02040503050406030204" charset="0"/>
                        </a:rPr>
                        <m:t>(</m:t>
                      </m:r>
                      <m:r>
                        <a:rPr lang="en-US" altLang="zh-CN" sz="2000" dirty="0">
                          <a:solidFill>
                            <a:schemeClr val="accent2"/>
                          </a:solidFill>
                          <a:latin typeface="Cambria Math" panose="02040503050406030204" charset="0"/>
                          <a:ea typeface="MS Mincho" charset="0"/>
                          <a:cs typeface="Cambria Math" panose="02040503050406030204" charset="0"/>
                        </a:rPr>
                        <m:t>𝜇</m:t>
                      </m:r>
                      <m:r>
                        <a:rPr lang="en-US" altLang="zh-CN" sz="2000" dirty="0">
                          <a:solidFill>
                            <a:schemeClr val="accent2"/>
                          </a:solidFill>
                          <a:latin typeface="Cambria Math" panose="02040503050406030204" charset="0"/>
                          <a:ea typeface="MS Mincho" charset="0"/>
                          <a:cs typeface="Cambria Math" panose="02040503050406030204" charset="0"/>
                        </a:rPr>
                        <m:t>,</m:t>
                      </m:r>
                      <m:r>
                        <a:rPr lang="en-US" altLang="zh-CN" sz="2000" dirty="0">
                          <a:solidFill>
                            <a:schemeClr val="accent2"/>
                          </a:solidFill>
                          <a:latin typeface="Cambria Math" panose="02040503050406030204" charset="0"/>
                          <a:ea typeface="MS Mincho" charset="0"/>
                          <a:cs typeface="Cambria Math" panose="02040503050406030204" charset="0"/>
                        </a:rPr>
                        <m:t>𝜈</m:t>
                      </m:r>
                      <m:r>
                        <a:rPr lang="en-US" altLang="zh-CN" sz="2000" dirty="0">
                          <a:solidFill>
                            <a:schemeClr val="accent2"/>
                          </a:solidFill>
                          <a:latin typeface="Cambria Math" panose="02040503050406030204" charset="0"/>
                          <a:ea typeface="MS Mincho" charset="0"/>
                          <a:cs typeface="Cambria Math" panose="02040503050406030204" charset="0"/>
                        </a:rPr>
                        <m:t>)</m:t>
                      </m:r>
                    </m:oMath>
                  </a14:m>
                  <a:r>
                    <a:rPr lang="en-US" altLang="zh-CN" sz="2000" dirty="0">
                      <a:solidFill>
                        <a:schemeClr val="accent2"/>
                      </a:solidFill>
                      <a:latin typeface="Cambria Math" panose="02040503050406030204" charset="0"/>
                      <a:ea typeface="MS Mincho" charset="0"/>
                      <a:cs typeface="Cambria Math" panose="02040503050406030204" charset="0"/>
                    </a:rPr>
                    <a:t>：</a:t>
                  </a:r>
                  <a:r>
                    <a:rPr lang="zh-CN" altLang="en-US" sz="2000" dirty="0">
                      <a:solidFill>
                        <a:schemeClr val="accent2"/>
                      </a:solidFill>
                      <a:latin typeface="Cambria Math" panose="02040503050406030204" charset="0"/>
                      <a:ea typeface="MS Mincho" charset="0"/>
                      <a:cs typeface="Cambria Math" panose="02040503050406030204" charset="0"/>
                    </a:rPr>
                    <a:t>满足行列边缘约束的可行分布集合。</a:t>
                  </a:r>
                </a:p>
                <a:p>
                  <a:pPr indent="0" algn="just" fontAlgn="auto">
                    <a:lnSpc>
                      <a:spcPct val="100000"/>
                    </a:lnSpc>
                    <a:buFont typeface="Arial" panose="020B0604020202090204" pitchFamily="34" charset="0"/>
                    <a:buNone/>
                  </a:pPr>
                  <a:r>
                    <a:rPr lang="zh-CN" altLang="en-US" sz="2335" dirty="0">
                      <a:solidFill>
                        <a:schemeClr val="accent1"/>
                      </a:solidFill>
                      <a:latin typeface="Cambria Math" panose="02040503050406030204" charset="0"/>
                      <a:ea typeface="微软雅黑" panose="020B0503020204020204" pitchFamily="34" charset="-122"/>
                      <a:cs typeface="Cambria Math" panose="02040503050406030204" charset="0"/>
                    </a:rPr>
                    <a:t>在 </a:t>
                  </a:r>
                  <a:r>
                    <a:rPr lang="en-US" altLang="zh-CN" sz="2335" dirty="0">
                      <a:solidFill>
                        <a:schemeClr val="accent1"/>
                      </a:solidFill>
                      <a:latin typeface="Cambria Math" panose="02040503050406030204" charset="0"/>
                      <a:ea typeface="微软雅黑" panose="020B0503020204020204" pitchFamily="34" charset="-122"/>
                      <a:cs typeface="Cambria Math" panose="02040503050406030204" charset="0"/>
                    </a:rPr>
                    <a:t>Mask </a:t>
                  </a:r>
                  <a:r>
                    <a:rPr lang="zh-CN" altLang="en-US" sz="2335" dirty="0">
                      <a:solidFill>
                        <a:schemeClr val="accent1"/>
                      </a:solidFill>
                      <a:latin typeface="Cambria Math" panose="02040503050406030204" charset="0"/>
                      <a:ea typeface="微软雅黑" panose="020B0503020204020204" pitchFamily="34" charset="-122"/>
                      <a:cs typeface="Cambria Math" panose="02040503050406030204" charset="0"/>
                    </a:rPr>
                    <a:t>允许的关系中，</a:t>
                  </a:r>
                  <a:r>
                    <a:rPr lang="en-US" altLang="zh-CN" sz="2335" dirty="0">
                      <a:solidFill>
                        <a:schemeClr val="accent1"/>
                      </a:solidFill>
                      <a:latin typeface="Cambria Math" panose="02040503050406030204" charset="0"/>
                      <a:ea typeface="微软雅黑" panose="020B0503020204020204" pitchFamily="34" charset="-122"/>
                      <a:cs typeface="Cambria Math" panose="02040503050406030204" charset="0"/>
                    </a:rPr>
                    <a:t>Sinkhorn </a:t>
                  </a:r>
                  <a:r>
                    <a:rPr lang="zh-CN" altLang="en-US" sz="2335" dirty="0">
                      <a:solidFill>
                        <a:schemeClr val="accent1"/>
                      </a:solidFill>
                      <a:latin typeface="Cambria Math" panose="02040503050406030204" charset="0"/>
                      <a:ea typeface="微软雅黑" panose="020B0503020204020204" pitchFamily="34" charset="-122"/>
                      <a:cs typeface="Cambria Math" panose="02040503050406030204" charset="0"/>
                    </a:rPr>
                    <a:t>求出代价较低、同时满足边缘约束的软匹配分布。</a:t>
                  </a:r>
                  <a:endParaRPr lang="zh-CN" altLang="en-US" sz="2335" dirty="0">
                    <a:solidFill>
                      <a:schemeClr val="accent2"/>
                    </a:solidFill>
                    <a:latin typeface="Cambria Math" panose="02040503050406030204" charset="0"/>
                    <a:ea typeface="微软雅黑" panose="020B0503020204020204" pitchFamily="34" charset="-122"/>
                    <a:cs typeface="Cambria Math" panose="02040503050406030204" charset="0"/>
                  </a:endParaRPr>
                </a:p>
                <a:p>
                  <a:pPr indent="0" algn="just" fontAlgn="auto">
                    <a:lnSpc>
                      <a:spcPct val="100000"/>
                    </a:lnSpc>
                    <a:buFont typeface="Arial" panose="020B0604020202090204" pitchFamily="34" charset="0"/>
                    <a:buNone/>
                  </a:pPr>
                  <a:endParaRPr lang="en-US" altLang="zh-CN" sz="14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15" name="Text 13"/>
                <p:cNvSpPr>
                  <a:spLocks noRot="1" noChangeAspect="1" noMove="1" noResize="1" noEditPoints="1" noAdjustHandles="1" noChangeArrowheads="1" noChangeShapeType="1" noTextEdit="1"/>
                </p:cNvSpPr>
                <p:nvPr/>
              </p:nvSpPr>
              <p:spPr>
                <a:xfrm>
                  <a:off x="13392" y="2853"/>
                  <a:ext cx="5701" cy="7631"/>
                </a:xfrm>
                <a:prstGeom prst="rect">
                  <a:avLst/>
                </a:prstGeom>
                <a:blipFill rotWithShape="1">
                  <a:blip r:embed="rId2"/>
                </a:blipFill>
              </p:spPr>
              <p:txBody>
                <a:bodyPr/>
                <a:lstStyle/>
                <a:p>
                  <a:r>
                    <a:rPr lang="zh-CN" altLang="en-US">
                      <a:noFill/>
                    </a:rPr>
                    <a:t> </a:t>
                  </a:r>
                </a:p>
              </p:txBody>
            </p:sp>
          </mc:Fallback>
        </mc:AlternateContent>
      </p:grpSp>
      <p:sp>
        <p:nvSpPr>
          <p:cNvPr id="3"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02 · METHOD</a:t>
            </a:r>
            <a:endParaRPr lang="en-US" sz="1000" dirty="0"/>
          </a:p>
        </p:txBody>
      </p:sp>
      <p:sp>
        <p:nvSpPr>
          <p:cNvPr id="4"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en-US" altLang="zh-CN"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Optimal Transport</a:t>
            </a: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最优传输</a:t>
            </a:r>
          </a:p>
        </p:txBody>
      </p:sp>
      <p:grpSp>
        <p:nvGrpSpPr>
          <p:cNvPr id="5" name="组合 4"/>
          <p:cNvGrpSpPr/>
          <p:nvPr/>
        </p:nvGrpSpPr>
        <p:grpSpPr>
          <a:xfrm>
            <a:off x="5914390" y="1198880"/>
            <a:ext cx="4912995" cy="5062519"/>
            <a:chOff x="12888" y="1814"/>
            <a:chExt cx="6661" cy="10764"/>
          </a:xfrm>
        </p:grpSpPr>
        <p:sp>
          <p:nvSpPr>
            <p:cNvPr id="6" name="Shape 11"/>
            <p:cNvSpPr/>
            <p:nvPr/>
          </p:nvSpPr>
          <p:spPr>
            <a:xfrm>
              <a:off x="12888" y="1814"/>
              <a:ext cx="6661" cy="10440"/>
            </a:xfrm>
            <a:prstGeom prst="roundRect">
              <a:avLst>
                <a:gd name="adj" fmla="val 1143"/>
              </a:avLst>
            </a:prstGeom>
            <a:solidFill>
              <a:srgbClr val="F4F6FA"/>
            </a:solidFill>
            <a:ln w="12700">
              <a:solidFill>
                <a:srgbClr val="D9DDE5"/>
              </a:solidFill>
              <a:prstDash val="solid"/>
            </a:ln>
          </p:spPr>
        </p:sp>
        <mc:AlternateContent xmlns:mc="http://schemas.openxmlformats.org/markup-compatibility/2006" xmlns:a14="http://schemas.microsoft.com/office/drawing/2010/main">
          <mc:Choice Requires="a14">
            <p:sp>
              <p:nvSpPr>
                <p:cNvPr id="9" name="Text 13"/>
                <p:cNvSpPr/>
                <p:nvPr/>
              </p:nvSpPr>
              <p:spPr>
                <a:xfrm>
                  <a:off x="13392" y="3118"/>
                  <a:ext cx="5701" cy="9460"/>
                </a:xfrm>
                <a:prstGeom prst="rect">
                  <a:avLst/>
                </a:prstGeom>
                <a:noFill/>
              </p:spPr>
              <p:txBody>
                <a:bodyPr wrap="square" lIns="0" tIns="0" rIns="0" bIns="0" rtlCol="0" anchor="ctr">
                  <a:normAutofit/>
                </a:bodyPr>
                <a:lstStyle/>
                <a:p>
                  <a:pPr indent="0" algn="just" fontAlgn="auto">
                    <a:lnSpc>
                      <a:spcPct val="100000"/>
                    </a:lnSpc>
                    <a:buFont typeface="Arial" panose="020B0604020202090204" pitchFamily="34" charset="0"/>
                    <a:buNone/>
                  </a:pPr>
                  <a:r>
                    <a:rPr lang="zh-CN" sz="23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解决问题：</a:t>
                  </a:r>
                </a:p>
                <a:p>
                  <a:pPr indent="0" algn="just" fontAlgn="auto">
                    <a:lnSpc>
                      <a:spcPct val="100000"/>
                    </a:lnSpc>
                    <a:buFont typeface="Arial" panose="020B0604020202090204" pitchFamily="34" charset="0"/>
                    <a:buNone/>
                  </a:pPr>
                  <a:endParaRPr lang="zh-CN" sz="23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r>
                    <a:rPr lang="en-US" sz="21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OT</a:t>
                  </a:r>
                  <a:r>
                    <a:rPr lang="zh-CN" altLang="en-US" sz="21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结果通过对齐得到微调目标：</a:t>
                  </a:r>
                  <a:endParaRPr lang="zh-CN" altLang="en-US" sz="21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14:m>
                    <m:oMath xmlns:m="http://schemas.openxmlformats.org/officeDocument/2006/math">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𝑇</m:t>
                      </m:r>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𝛾</m:t>
                      </m:r>
                      <m:sSup>
                        <m:sSupPr>
                          <m:ctrlPr>
                            <a:rPr lang="en-US" altLang="zh-CN"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sSupPr>
                        <m:e>
                          <m:acc>
                            <m:accPr>
                              <m:chr m:val="̂"/>
                              <m:ctrlPr>
                                <a:rPr lang="en-US" altLang="zh-CN" i="1" dirty="0">
                                  <a:solidFill>
                                    <a:schemeClr val="accent2"/>
                                  </a:solidFill>
                                  <a:latin typeface="Cambria Math" panose="02040503050406030204" pitchFamily="18" charset="0"/>
                                  <a:ea typeface="微软雅黑" panose="020B0503020204020204" pitchFamily="34" charset="-122"/>
                                  <a:cs typeface="Cambria Math" panose="02040503050406030204" charset="0"/>
                                </a:rPr>
                              </m:ctrlPr>
                            </m:accPr>
                            <m:e>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𝛤</m:t>
                              </m:r>
                            </m:e>
                          </m:acc>
                        </m:e>
                        <m:sup>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m:t>
                          </m:r>
                        </m:sup>
                      </m:sSup>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+(1−</m:t>
                      </m:r>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𝛾</m:t>
                      </m:r>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m:t>
                      </m:r>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𝐼</m:t>
                      </m:r>
                    </m:oMath>
                  </a14:m>
                  <a:endParaRPr lang="en-US" altLang="zh-CN"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14:m>
                    <m:oMath xmlns:m="http://schemas.openxmlformats.org/officeDocument/2006/math">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𝑇</m:t>
                      </m:r>
                    </m:oMath>
                  </a14:m>
                  <a:r>
                    <a:rPr lang="zh-CN" altLang="en-US"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是融合后的软匹配目标，</a:t>
                  </a:r>
                  <a14:m>
                    <m:oMath xmlns:m="http://schemas.openxmlformats.org/officeDocument/2006/math">
                      <m:r>
                        <a:rPr lang="en-US" altLang="zh-CN" i="1" dirty="0">
                          <a:solidFill>
                            <a:schemeClr val="accent2"/>
                          </a:solidFill>
                          <a:latin typeface="Cambria Math" panose="02040503050406030204" charset="0"/>
                          <a:ea typeface="微软雅黑" panose="020B0503020204020204" pitchFamily="34" charset="-122"/>
                          <a:cs typeface="Cambria Math" panose="02040503050406030204" charset="0"/>
                        </a:rPr>
                        <m:t>𝑃</m:t>
                      </m:r>
                    </m:oMath>
                  </a14:m>
                  <a:r>
                    <a:rPr lang="en-US" altLang="zh-CN"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是模型当前</a:t>
                  </a:r>
                  <a:r>
                    <a:rPr lang="en-US" altLang="zh-CN"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CLIP</a:t>
                  </a:r>
                  <a:r>
                    <a:rPr lang="zh-CN" altLang="en-US"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rPr>
                    <a:t>预测的匹配分布；</a:t>
                  </a:r>
                </a:p>
                <a:p>
                  <a:pPr indent="0" algn="just" fontAlgn="auto">
                    <a:lnSpc>
                      <a:spcPct val="100000"/>
                    </a:lnSpc>
                    <a:buFont typeface="Arial" panose="020B0604020202090204" pitchFamily="34" charset="0"/>
                    <a:buNone/>
                  </a:pPr>
                  <a:endParaRPr lang="zh-CN" altLang="en-US" sz="21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zh-CN" altLang="en-US" sz="21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用 </a:t>
                  </a:r>
                  <a:r>
                    <a:rPr lang="en-US" altLang="zh-CN" sz="21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KL </a:t>
                  </a:r>
                  <a:r>
                    <a:rPr lang="zh-CN" altLang="en-US" sz="21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散度让模型当前的图文匹配分布接近 </a:t>
                  </a:r>
                  <a:r>
                    <a:rPr lang="en-US" altLang="zh-CN" sz="21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OT </a:t>
                  </a:r>
                  <a:r>
                    <a:rPr lang="zh-CN" altLang="en-US" sz="21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给出的软目标</a:t>
                  </a:r>
                  <a:r>
                    <a:rPr lang="zh-CN" altLang="en-US" sz="2665"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14:m>
                    <m:oMath xmlns:m="http://schemas.openxmlformats.org/officeDocument/2006/math">
                      <m:sSub>
                        <m:sSubPr>
                          <m:ctrlPr>
                            <a:rPr lang="en-US" altLang="zh-CN" i="1" dirty="0">
                              <a:solidFill>
                                <a:schemeClr val="accent2"/>
                              </a:solidFill>
                              <a:uFillTx/>
                              <a:latin typeface="Cambria Math" panose="02040503050406030204" pitchFamily="18" charset="0"/>
                              <a:ea typeface="微软雅黑" panose="020B0503020204020204" pitchFamily="34" charset="-122"/>
                              <a:cs typeface="Cambria Math" panose="02040503050406030204" charset="0"/>
                            </a:rPr>
                          </m:ctrlPr>
                        </m:sSubPr>
                        <m:e>
                          <m: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𝐿</m:t>
                          </m:r>
                        </m:e>
                        <m:sub>
                          <m:r>
                            <m:rPr>
                              <m:sty m:val="p"/>
                            </m:rP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align</m:t>
                          </m:r>
                        </m:sub>
                      </m:sSub>
                      <m: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m:t>
                      </m:r>
                      <m:sSub>
                        <m:sSubPr>
                          <m:ctrlPr>
                            <a:rPr lang="en-US" altLang="zh-CN" i="1" dirty="0">
                              <a:solidFill>
                                <a:schemeClr val="accent2"/>
                              </a:solidFill>
                              <a:uFillTx/>
                              <a:latin typeface="Cambria Math" panose="02040503050406030204" pitchFamily="18" charset="0"/>
                              <a:ea typeface="微软雅黑" panose="020B0503020204020204" pitchFamily="34" charset="-122"/>
                              <a:cs typeface="Cambria Math" panose="02040503050406030204" charset="0"/>
                            </a:rPr>
                          </m:ctrlPr>
                        </m:sSubPr>
                        <m:e>
                          <m: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𝐷</m:t>
                          </m:r>
                        </m:e>
                        <m:sub>
                          <m:r>
                            <m:rPr>
                              <m:sty m:val="p"/>
                            </m:rP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KL</m:t>
                          </m:r>
                        </m:sub>
                      </m:sSub>
                      <m: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m:t>
                      </m:r>
                      <m: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𝑇</m:t>
                      </m:r>
                      <m: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m:t>
                      </m:r>
                      <m: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𝑃</m:t>
                      </m:r>
                      <m:r>
                        <a:rPr lang="en-US" altLang="zh-CN" i="1" dirty="0">
                          <a:solidFill>
                            <a:schemeClr val="accent2"/>
                          </a:solidFill>
                          <a:uFillTx/>
                          <a:latin typeface="Cambria Math" panose="02040503050406030204" charset="0"/>
                          <a:ea typeface="微软雅黑" panose="020B0503020204020204" pitchFamily="34" charset="-122"/>
                          <a:cs typeface="Cambria Math" panose="02040503050406030204" charset="0"/>
                        </a:rPr>
                        <m:t>)</m:t>
                      </m:r>
                    </m:oMath>
                  </a14:m>
                  <a:endParaRPr lang="en-US" altLang="zh-CN"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fontAlgn="auto">
                    <a:lnSpc>
                      <a:spcPct val="100000"/>
                    </a:lnSpc>
                    <a:buFont typeface="Arial" panose="020B0604020202090204" pitchFamily="34" charset="0"/>
                    <a:buChar char="•"/>
                  </a:pPr>
                  <a:endParaRPr lang="zh-CN" altLang="en-US" sz="266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xmlns="">
            <p:sp>
              <p:nvSpPr>
                <p:cNvPr id="9" name="Text 13"/>
                <p:cNvSpPr>
                  <a:spLocks noRot="1" noChangeAspect="1" noMove="1" noResize="1" noEditPoints="1" noAdjustHandles="1" noChangeArrowheads="1" noChangeShapeType="1" noTextEdit="1"/>
                </p:cNvSpPr>
                <p:nvPr/>
              </p:nvSpPr>
              <p:spPr>
                <a:xfrm>
                  <a:off x="13392" y="3118"/>
                  <a:ext cx="5701" cy="9460"/>
                </a:xfrm>
                <a:prstGeom prst="rect">
                  <a:avLst/>
                </a:prstGeom>
                <a:blipFill rotWithShape="1">
                  <a:blip r:embed="rId3"/>
                </a:blipFill>
              </p:spPr>
              <p:txBody>
                <a:bodyPr/>
                <a:lstStyle/>
                <a:p>
                  <a:r>
                    <a:rPr lang="zh-CN" altLang="en-US">
                      <a:noFill/>
                    </a:rPr>
                    <a:t> </a:t>
                  </a:r>
                </a:p>
              </p:txBody>
            </p:sp>
          </mc:Fallback>
        </mc:AlternateContent>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 11"/>
          <p:cNvSpPr/>
          <p:nvPr>
            <p:custDataLst>
              <p:tags r:id="rId1"/>
            </p:custDataLst>
          </p:nvPr>
        </p:nvSpPr>
        <p:spPr>
          <a:xfrm>
            <a:off x="226695" y="1152525"/>
            <a:ext cx="5711825" cy="5074285"/>
          </a:xfrm>
          <a:prstGeom prst="roundRect">
            <a:avLst>
              <a:gd name="adj" fmla="val 1143"/>
            </a:avLst>
          </a:prstGeom>
          <a:solidFill>
            <a:srgbClr val="F4F6FA"/>
          </a:solidFill>
          <a:ln w="12700">
            <a:solidFill>
              <a:srgbClr val="D9DDE5"/>
            </a:solidFill>
            <a:prstDash val="solid"/>
          </a:ln>
        </p:spPr>
        <p:txBody>
          <a:bodyPr/>
          <a:lstStyle/>
          <a:p>
            <a:endParaRPr lang="zh-CN" altLang="en-US"/>
          </a:p>
        </p:txBody>
      </p:sp>
      <p:sp>
        <p:nvSpPr>
          <p:cNvPr id="3"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03 · EXPERIMENT</a:t>
            </a:r>
            <a:endParaRPr lang="en-US" sz="1000" dirty="0"/>
          </a:p>
        </p:txBody>
      </p:sp>
      <p:sp>
        <p:nvSpPr>
          <p:cNvPr id="4"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主要实验结果</a:t>
            </a:r>
          </a:p>
        </p:txBody>
      </p:sp>
      <p:sp>
        <p:nvSpPr>
          <p:cNvPr id="21" name="Text 12"/>
          <p:cNvSpPr/>
          <p:nvPr>
            <p:custDataLst>
              <p:tags r:id="rId2"/>
            </p:custDataLst>
          </p:nvPr>
        </p:nvSpPr>
        <p:spPr>
          <a:xfrm>
            <a:off x="1638935" y="1216025"/>
            <a:ext cx="2651760" cy="357505"/>
          </a:xfrm>
          <a:prstGeom prst="rect">
            <a:avLst/>
          </a:prstGeom>
          <a:noFill/>
        </p:spPr>
        <p:txBody>
          <a:bodyPr wrap="square" lIns="0" tIns="0" rIns="0" bIns="0" rtlCol="0" anchor="ctr">
            <a:normAutofit/>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零样本迁移</a:t>
            </a:r>
          </a:p>
        </p:txBody>
      </p:sp>
      <p:pic>
        <p:nvPicPr>
          <p:cNvPr id="5" name="图片 4"/>
          <p:cNvPicPr>
            <a:picLocks noChangeAspect="1"/>
          </p:cNvPicPr>
          <p:nvPr>
            <p:custDataLst>
              <p:tags r:id="rId3"/>
            </p:custDataLst>
          </p:nvPr>
        </p:nvPicPr>
        <p:blipFill>
          <a:blip r:embed="rId9"/>
          <a:stretch>
            <a:fillRect/>
          </a:stretch>
        </p:blipFill>
        <p:spPr>
          <a:xfrm>
            <a:off x="546735" y="4140835"/>
            <a:ext cx="5292725" cy="1967230"/>
          </a:xfrm>
          <a:prstGeom prst="rect">
            <a:avLst/>
          </a:prstGeom>
        </p:spPr>
      </p:pic>
      <p:sp>
        <p:nvSpPr>
          <p:cNvPr id="8" name="Text 13"/>
          <p:cNvSpPr/>
          <p:nvPr>
            <p:custDataLst>
              <p:tags r:id="rId4"/>
            </p:custDataLst>
          </p:nvPr>
        </p:nvSpPr>
        <p:spPr>
          <a:xfrm>
            <a:off x="546100" y="1701165"/>
            <a:ext cx="5261610" cy="2439670"/>
          </a:xfrm>
          <a:prstGeom prst="rect">
            <a:avLst/>
          </a:prstGeom>
          <a:noFill/>
        </p:spPr>
        <p:txBody>
          <a:bodyPr wrap="square" lIns="0" tIns="0" rIns="0" bIns="0" rtlCol="0" anchor="ctr">
            <a:normAutofit fontScale="47500" lnSpcReduction="20000"/>
          </a:bodyPr>
          <a:lstStyle/>
          <a:p>
            <a:pPr indent="0" algn="just" fontAlgn="auto">
              <a:lnSpc>
                <a:spcPct val="100000"/>
              </a:lnSpc>
              <a:buFont typeface="Arial" panose="020B0604020202090204" pitchFamily="34" charset="0"/>
              <a:buNone/>
            </a:pPr>
            <a:r>
              <a:rPr lang="zh-CN" altLang="en-US" sz="45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验证内容与结果</a:t>
            </a:r>
            <a:r>
              <a:rPr lang="zh-CN" sz="45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论文比较原始 </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CLIP </a:t>
            </a: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和经过 </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微调后的 </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CLIP，</a:t>
            </a: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观察 </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能否消除 </a:t>
            </a:r>
            <a:r>
              <a:rPr lang="en-US" altLang="zh-CN" sz="4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sym typeface="+mn-ea"/>
              </a:rPr>
              <a:t>noisy correspondence</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 </a:t>
            </a: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对模型的影响。</a:t>
            </a:r>
          </a:p>
          <a:p>
            <a:pPr marL="285750" indent="-285750" algn="just" fontAlgn="auto">
              <a:lnSpc>
                <a:spcPct val="100000"/>
              </a:lnSpc>
              <a:buFont typeface="Arial" panose="020B0604020202090204" pitchFamily="34" charset="0"/>
              <a:buChar char="•"/>
            </a:pP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在多个数据集和模型结构上，</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的 </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zero-shot </a:t>
            </a: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分类结果整体优于原始 </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CLIP</a:t>
            </a: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，相比原始</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CLIP</a:t>
            </a:r>
            <a:r>
              <a:rPr lang="zh-CN" altLang="en-US"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提升</a:t>
            </a: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4.0%</a:t>
            </a:r>
          </a:p>
          <a:p>
            <a:pPr marL="285750" indent="-285750" algn="just" fontAlgn="auto">
              <a:lnSpc>
                <a:spcPct val="100000"/>
              </a:lnSpc>
              <a:buFont typeface="Arial" panose="020B0604020202090204" pitchFamily="34" charset="0"/>
              <a:buChar char="•"/>
            </a:pP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CC3M + ViT-B/16：16.0 → 20.0；</a:t>
            </a:r>
          </a:p>
          <a:p>
            <a:pPr marL="285750" indent="-285750" algn="just" fontAlgn="auto">
              <a:lnSpc>
                <a:spcPct val="100000"/>
              </a:lnSpc>
              <a:buFont typeface="Arial" panose="020B0604020202090204" pitchFamily="34" charset="0"/>
              <a:buChar char="•"/>
            </a:pP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CC12M + ViT-B/16：40.6 → 43.4；</a:t>
            </a:r>
          </a:p>
          <a:p>
            <a:pPr marL="285750" indent="-285750" algn="just" fontAlgn="auto">
              <a:lnSpc>
                <a:spcPct val="100000"/>
              </a:lnSpc>
              <a:buFont typeface="Arial" panose="020B0604020202090204" pitchFamily="34" charset="0"/>
              <a:buChar char="•"/>
            </a:pPr>
            <a:r>
              <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YFCC15M-R + ViT-B/32：17.8 → 21.9</a:t>
            </a:r>
            <a:endParaRPr lang="en-US" altLang="zh-CN" sz="4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Shape 11"/>
          <p:cNvSpPr/>
          <p:nvPr>
            <p:custDataLst>
              <p:tags r:id="rId5"/>
            </p:custDataLst>
          </p:nvPr>
        </p:nvSpPr>
        <p:spPr>
          <a:xfrm>
            <a:off x="6132195" y="1152525"/>
            <a:ext cx="5711825" cy="5074285"/>
          </a:xfrm>
          <a:prstGeom prst="roundRect">
            <a:avLst>
              <a:gd name="adj" fmla="val 1143"/>
            </a:avLst>
          </a:prstGeom>
          <a:solidFill>
            <a:srgbClr val="F4F6FA"/>
          </a:solidFill>
          <a:ln w="12700">
            <a:solidFill>
              <a:srgbClr val="D9DDE5"/>
            </a:solidFill>
            <a:prstDash val="solid"/>
          </a:ln>
        </p:spPr>
        <p:txBody>
          <a:bodyPr/>
          <a:lstStyle/>
          <a:p>
            <a:endParaRPr lang="zh-CN" altLang="en-US"/>
          </a:p>
        </p:txBody>
      </p:sp>
      <p:sp>
        <p:nvSpPr>
          <p:cNvPr id="10" name="Text 12"/>
          <p:cNvSpPr/>
          <p:nvPr>
            <p:custDataLst>
              <p:tags r:id="rId6"/>
            </p:custDataLst>
          </p:nvPr>
        </p:nvSpPr>
        <p:spPr>
          <a:xfrm>
            <a:off x="7662545" y="1343025"/>
            <a:ext cx="2651760" cy="357505"/>
          </a:xfrm>
          <a:prstGeom prst="rect">
            <a:avLst/>
          </a:prstGeom>
          <a:noFill/>
        </p:spPr>
        <p:txBody>
          <a:bodyPr wrap="square" lIns="0" tIns="0" rIns="0" bIns="0" rtlCol="0" anchor="ctr">
            <a:normAutofit/>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跨任务迁移能力</a:t>
            </a:r>
          </a:p>
        </p:txBody>
      </p:sp>
      <p:sp>
        <p:nvSpPr>
          <p:cNvPr id="11" name="Text 13"/>
          <p:cNvSpPr/>
          <p:nvPr>
            <p:custDataLst>
              <p:tags r:id="rId7"/>
            </p:custDataLst>
          </p:nvPr>
        </p:nvSpPr>
        <p:spPr>
          <a:xfrm>
            <a:off x="6435725" y="1924685"/>
            <a:ext cx="4893945" cy="1967230"/>
          </a:xfrm>
          <a:prstGeom prst="rect">
            <a:avLst/>
          </a:prstGeom>
          <a:noFill/>
        </p:spPr>
        <p:txBody>
          <a:bodyPr wrap="square" lIns="0" tIns="0" rIns="0" bIns="0" rtlCol="0" anchor="ctr">
            <a:normAutofit fontScale="75000" lnSpcReduction="20000"/>
          </a:bodyPr>
          <a:lstStyle/>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验证内容与结果</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论文进一步使用图文检索任务来验证 </a:t>
            </a: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是否真正</a:t>
            </a:r>
            <a:r>
              <a:rPr lang="zh-CN" altLang="en-US" sz="2800" b="1"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改善了跨模态对齐能力</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在绝大多数图文检索指标上都优于原始 </a:t>
            </a: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CLIP。</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Flickr30K：43.1 → 50.1；</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MSCOCO：26.1 → 30.5。</a:t>
            </a: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2" name="图片 11"/>
          <p:cNvPicPr>
            <a:picLocks noChangeAspect="1"/>
          </p:cNvPicPr>
          <p:nvPr/>
        </p:nvPicPr>
        <p:blipFill>
          <a:blip r:embed="rId10"/>
          <a:stretch>
            <a:fillRect/>
          </a:stretch>
        </p:blipFill>
        <p:spPr>
          <a:xfrm>
            <a:off x="6243955" y="4483100"/>
            <a:ext cx="5471160" cy="150495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 11"/>
          <p:cNvSpPr/>
          <p:nvPr>
            <p:custDataLst>
              <p:tags r:id="rId1"/>
            </p:custDataLst>
          </p:nvPr>
        </p:nvSpPr>
        <p:spPr>
          <a:xfrm>
            <a:off x="226695" y="1152525"/>
            <a:ext cx="5711825" cy="5074285"/>
          </a:xfrm>
          <a:prstGeom prst="roundRect">
            <a:avLst>
              <a:gd name="adj" fmla="val 1143"/>
            </a:avLst>
          </a:prstGeom>
          <a:solidFill>
            <a:srgbClr val="F4F6FA"/>
          </a:solidFill>
          <a:ln w="12700">
            <a:solidFill>
              <a:srgbClr val="D9DDE5"/>
            </a:solidFill>
            <a:prstDash val="solid"/>
          </a:ln>
        </p:spPr>
        <p:txBody>
          <a:bodyPr/>
          <a:lstStyle/>
          <a:p>
            <a:endParaRPr lang="zh-CN" altLang="en-US"/>
          </a:p>
        </p:txBody>
      </p:sp>
      <p:sp>
        <p:nvSpPr>
          <p:cNvPr id="3"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03 · EXPERIMENT</a:t>
            </a:r>
            <a:endParaRPr lang="en-US" sz="1000" dirty="0"/>
          </a:p>
        </p:txBody>
      </p:sp>
      <p:sp>
        <p:nvSpPr>
          <p:cNvPr id="4"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主要实验结果</a:t>
            </a:r>
          </a:p>
        </p:txBody>
      </p:sp>
      <p:sp>
        <p:nvSpPr>
          <p:cNvPr id="21" name="Text 12"/>
          <p:cNvSpPr/>
          <p:nvPr>
            <p:custDataLst>
              <p:tags r:id="rId2"/>
            </p:custDataLst>
          </p:nvPr>
        </p:nvSpPr>
        <p:spPr>
          <a:xfrm>
            <a:off x="1638935" y="1216025"/>
            <a:ext cx="2651760" cy="357505"/>
          </a:xfrm>
          <a:prstGeom prst="rect">
            <a:avLst/>
          </a:prstGeom>
          <a:noFill/>
        </p:spPr>
        <p:txBody>
          <a:bodyPr wrap="square" lIns="0" tIns="0" rIns="0" bIns="0" rtlCol="0" anchor="ctr">
            <a:normAutofit/>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视觉特征迁移能力</a:t>
            </a:r>
          </a:p>
        </p:txBody>
      </p:sp>
      <p:sp>
        <p:nvSpPr>
          <p:cNvPr id="8" name="Text 13"/>
          <p:cNvSpPr/>
          <p:nvPr>
            <p:custDataLst>
              <p:tags r:id="rId3"/>
            </p:custDataLst>
          </p:nvPr>
        </p:nvSpPr>
        <p:spPr>
          <a:xfrm>
            <a:off x="546100" y="1924685"/>
            <a:ext cx="4893945" cy="1567815"/>
          </a:xfrm>
          <a:prstGeom prst="rect">
            <a:avLst/>
          </a:prstGeom>
          <a:noFill/>
        </p:spPr>
        <p:txBody>
          <a:bodyPr wrap="square" lIns="0" tIns="0" rIns="0" bIns="0" rtlCol="0" anchor="ctr">
            <a:normAutofit fontScale="57500" lnSpcReduction="20000"/>
          </a:bodyPr>
          <a:lstStyle/>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验证内容与结果</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论文使用线性探测方法验证图像编码器提取的</a:t>
            </a:r>
            <a:r>
              <a:rPr lang="zh-CN" altLang="en-US" sz="2800" b="1"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视觉特征是否更适合下游任务</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冻结视觉编码器后，</a:t>
            </a: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的视觉特征仍然更容易被线性分类器利用。</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不仅改善了图文对齐，也改善了图像编码器本身的视觉表示，使其更容易迁移到下游分类任务。</a:t>
            </a: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Shape 11"/>
          <p:cNvSpPr/>
          <p:nvPr>
            <p:custDataLst>
              <p:tags r:id="rId4"/>
            </p:custDataLst>
          </p:nvPr>
        </p:nvSpPr>
        <p:spPr>
          <a:xfrm>
            <a:off x="6132195" y="1152525"/>
            <a:ext cx="5711825" cy="5074285"/>
          </a:xfrm>
          <a:prstGeom prst="roundRect">
            <a:avLst>
              <a:gd name="adj" fmla="val 1143"/>
            </a:avLst>
          </a:prstGeom>
          <a:solidFill>
            <a:srgbClr val="F4F6FA"/>
          </a:solidFill>
          <a:ln w="12700">
            <a:solidFill>
              <a:srgbClr val="D9DDE5"/>
            </a:solidFill>
            <a:prstDash val="solid"/>
          </a:ln>
        </p:spPr>
        <p:txBody>
          <a:bodyPr/>
          <a:lstStyle/>
          <a:p>
            <a:endParaRPr lang="zh-CN" altLang="en-US"/>
          </a:p>
        </p:txBody>
      </p:sp>
      <p:sp>
        <p:nvSpPr>
          <p:cNvPr id="10" name="Text 12"/>
          <p:cNvSpPr/>
          <p:nvPr>
            <p:custDataLst>
              <p:tags r:id="rId5"/>
            </p:custDataLst>
          </p:nvPr>
        </p:nvSpPr>
        <p:spPr>
          <a:xfrm>
            <a:off x="7662545" y="1343025"/>
            <a:ext cx="2651760" cy="357505"/>
          </a:xfrm>
          <a:prstGeom prst="rect">
            <a:avLst/>
          </a:prstGeom>
          <a:noFill/>
        </p:spPr>
        <p:txBody>
          <a:bodyPr wrap="square" lIns="0" tIns="0" rIns="0" bIns="0" rtlCol="0" anchor="ctr">
            <a:normAutofit/>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与已有鲁棒方法比较</a:t>
            </a:r>
          </a:p>
        </p:txBody>
      </p:sp>
      <p:sp>
        <p:nvSpPr>
          <p:cNvPr id="11" name="Text 13"/>
          <p:cNvSpPr/>
          <p:nvPr>
            <p:custDataLst>
              <p:tags r:id="rId6"/>
            </p:custDataLst>
          </p:nvPr>
        </p:nvSpPr>
        <p:spPr>
          <a:xfrm>
            <a:off x="6435725" y="1701165"/>
            <a:ext cx="4893945" cy="1968500"/>
          </a:xfrm>
          <a:prstGeom prst="rect">
            <a:avLst/>
          </a:prstGeom>
          <a:noFill/>
        </p:spPr>
        <p:txBody>
          <a:bodyPr wrap="square" lIns="0" tIns="0" rIns="0" bIns="0" rtlCol="0" anchor="ctr">
            <a:normAutofit fontScale="47500" lnSpcReduction="20000"/>
          </a:bodyPr>
          <a:lstStyle/>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验证内容</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zh-CN" altLang="en-US"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相比简单遗忘方法和已有鲁棒预训练方法，是否具有优势？</a:t>
            </a:r>
          </a:p>
          <a:p>
            <a:pPr marL="285750" indent="-285750" algn="just" fontAlgn="auto">
              <a:lnSpc>
                <a:spcPct val="100000"/>
              </a:lnSpc>
              <a:buFont typeface="Arial" panose="020B0604020202090204" pitchFamily="34" charset="0"/>
              <a:buChar char="•"/>
            </a:pP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原始 </a:t>
            </a: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CLIP；</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Gradient Ascent</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：直接在疑似噪声样本上进行梯度上升，遗忘方向模糊</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SoftCLIP</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：通过更柔性的对齐方式从头训练模型，计算成本高</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a:t>
            </a: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zh-CN" altLang="en-US" sz="3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结果</a:t>
            </a:r>
            <a:r>
              <a:rPr lang="zh-CN" sz="3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indent="0" algn="just" fontAlgn="auto">
              <a:lnSpc>
                <a:spcPct val="100000"/>
              </a:lnSpc>
              <a:buFont typeface="Arial" panose="020B0604020202090204" pitchFamily="34" charset="0"/>
              <a:buNone/>
            </a:pPr>
            <a:r>
              <a:rPr lang="en-US" altLang="zh-CN"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的优势来自</a:t>
            </a:r>
            <a:r>
              <a:rPr lang="zh-CN" altLang="en-US" sz="3000" b="1"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“有方向的联合遗忘”</a:t>
            </a:r>
            <a:r>
              <a:rPr lang="zh-CN" altLang="en-US"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，而不是简单地对噪声样本进行梯度上升或重新训练一个更鲁棒的模型。</a:t>
            </a:r>
          </a:p>
          <a:p>
            <a:pPr indent="0" algn="just" fontAlgn="auto">
              <a:lnSpc>
                <a:spcPct val="100000"/>
              </a:lnSpc>
              <a:buFont typeface="Arial" panose="020B0604020202090204" pitchFamily="34" charset="0"/>
              <a:buNone/>
            </a:pPr>
            <a:endParaRPr lang="zh-CN" altLang="en-US"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pic>
        <p:nvPicPr>
          <p:cNvPr id="2" name="图片 1"/>
          <p:cNvPicPr>
            <a:picLocks noChangeAspect="1"/>
          </p:cNvPicPr>
          <p:nvPr>
            <p:custDataLst>
              <p:tags r:id="rId7"/>
            </p:custDataLst>
          </p:nvPr>
        </p:nvPicPr>
        <p:blipFill>
          <a:blip r:embed="rId10"/>
          <a:stretch>
            <a:fillRect/>
          </a:stretch>
        </p:blipFill>
        <p:spPr>
          <a:xfrm>
            <a:off x="567055" y="3317240"/>
            <a:ext cx="4905375" cy="2809875"/>
          </a:xfrm>
          <a:prstGeom prst="rect">
            <a:avLst/>
          </a:prstGeom>
        </p:spPr>
      </p:pic>
      <p:pic>
        <p:nvPicPr>
          <p:cNvPr id="6" name="图片 5"/>
          <p:cNvPicPr>
            <a:picLocks noChangeAspect="1"/>
          </p:cNvPicPr>
          <p:nvPr>
            <p:custDataLst>
              <p:tags r:id="rId8"/>
            </p:custDataLst>
          </p:nvPr>
        </p:nvPicPr>
        <p:blipFill>
          <a:blip r:embed="rId11"/>
          <a:stretch>
            <a:fillRect/>
          </a:stretch>
        </p:blipFill>
        <p:spPr>
          <a:xfrm>
            <a:off x="6654800" y="3634740"/>
            <a:ext cx="3810635" cy="259207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 11"/>
          <p:cNvSpPr/>
          <p:nvPr>
            <p:custDataLst>
              <p:tags r:id="rId1"/>
            </p:custDataLst>
          </p:nvPr>
        </p:nvSpPr>
        <p:spPr>
          <a:xfrm>
            <a:off x="226695" y="1152525"/>
            <a:ext cx="5711825" cy="5074285"/>
          </a:xfrm>
          <a:prstGeom prst="roundRect">
            <a:avLst>
              <a:gd name="adj" fmla="val 1143"/>
            </a:avLst>
          </a:prstGeom>
          <a:solidFill>
            <a:srgbClr val="F4F6FA"/>
          </a:solidFill>
          <a:ln w="12700">
            <a:solidFill>
              <a:srgbClr val="D9DDE5"/>
            </a:solidFill>
            <a:prstDash val="solid"/>
          </a:ln>
        </p:spPr>
        <p:txBody>
          <a:bodyPr/>
          <a:lstStyle/>
          <a:p>
            <a:endParaRPr lang="zh-CN" altLang="en-US"/>
          </a:p>
        </p:txBody>
      </p:sp>
      <p:sp>
        <p:nvSpPr>
          <p:cNvPr id="3"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03 · EXPERIMENT</a:t>
            </a:r>
            <a:endParaRPr lang="en-US" sz="1000" dirty="0"/>
          </a:p>
        </p:txBody>
      </p:sp>
      <p:sp>
        <p:nvSpPr>
          <p:cNvPr id="4"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主要实验结果</a:t>
            </a:r>
          </a:p>
        </p:txBody>
      </p:sp>
      <p:sp>
        <p:nvSpPr>
          <p:cNvPr id="21" name="Text 12"/>
          <p:cNvSpPr/>
          <p:nvPr>
            <p:custDataLst>
              <p:tags r:id="rId2"/>
            </p:custDataLst>
          </p:nvPr>
        </p:nvSpPr>
        <p:spPr>
          <a:xfrm>
            <a:off x="1638935" y="1216025"/>
            <a:ext cx="2651760" cy="357505"/>
          </a:xfrm>
          <a:prstGeom prst="rect">
            <a:avLst/>
          </a:prstGeom>
          <a:noFill/>
        </p:spPr>
        <p:txBody>
          <a:bodyPr wrap="square" lIns="0" tIns="0" rIns="0" bIns="0" rtlCol="0" anchor="ctr">
            <a:normAutofit/>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消融实验</a:t>
            </a:r>
          </a:p>
        </p:txBody>
      </p:sp>
      <p:sp>
        <p:nvSpPr>
          <p:cNvPr id="8" name="Text 13"/>
          <p:cNvSpPr/>
          <p:nvPr>
            <p:custDataLst>
              <p:tags r:id="rId3"/>
            </p:custDataLst>
          </p:nvPr>
        </p:nvSpPr>
        <p:spPr>
          <a:xfrm>
            <a:off x="546100" y="1924685"/>
            <a:ext cx="4893945" cy="2327910"/>
          </a:xfrm>
          <a:prstGeom prst="rect">
            <a:avLst/>
          </a:prstGeom>
          <a:noFill/>
        </p:spPr>
        <p:txBody>
          <a:bodyPr wrap="square" lIns="0" tIns="0" rIns="0" bIns="0" rtlCol="0" anchor="ctr">
            <a:normAutofit fontScale="57500" lnSpcReduction="20000"/>
          </a:bodyPr>
          <a:lstStyle/>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验证内容</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zh-CN" altLang="en-US"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论文通过消融实验验证 </a:t>
            </a: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的</a:t>
            </a:r>
            <a:r>
              <a:rPr lang="zh-CN" altLang="en-US" sz="2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sym typeface="+mn-ea"/>
              </a:rPr>
              <a:t>关键组成部分是否有效</a:t>
            </a:r>
            <a:endPar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Hardest Negative Prompt；</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Text Relation Opposite；</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False Positive Unlearning；</a:t>
            </a: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False Negative Unlearning</a:t>
            </a:r>
            <a:r>
              <a:rPr lang="en-US" altLang="zh-CN"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结果</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32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285750" indent="-285750" algn="just" fontAlgn="auto">
              <a:lnSpc>
                <a:spcPct val="100000"/>
              </a:lnSpc>
              <a:buFont typeface="Arial" panose="020B0604020202090204" pitchFamily="34" charset="0"/>
              <a:buChar char="•"/>
            </a:pP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的性能提升不是由某一个单独组件造成的，而是由 </a:t>
            </a: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hardest negative、relation opposite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以及 </a:t>
            </a: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FP/FN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联合遗忘共同产生的。</a:t>
            </a: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Shape 11"/>
          <p:cNvSpPr/>
          <p:nvPr>
            <p:custDataLst>
              <p:tags r:id="rId4"/>
            </p:custDataLst>
          </p:nvPr>
        </p:nvSpPr>
        <p:spPr>
          <a:xfrm>
            <a:off x="6132195" y="1152525"/>
            <a:ext cx="5711825" cy="5074285"/>
          </a:xfrm>
          <a:prstGeom prst="roundRect">
            <a:avLst>
              <a:gd name="adj" fmla="val 1143"/>
            </a:avLst>
          </a:prstGeom>
          <a:solidFill>
            <a:srgbClr val="F4F6FA"/>
          </a:solidFill>
          <a:ln w="12700">
            <a:solidFill>
              <a:srgbClr val="D9DDE5"/>
            </a:solidFill>
            <a:prstDash val="solid"/>
          </a:ln>
        </p:spPr>
        <p:txBody>
          <a:bodyPr/>
          <a:lstStyle/>
          <a:p>
            <a:endParaRPr lang="zh-CN" altLang="en-US"/>
          </a:p>
        </p:txBody>
      </p:sp>
      <p:sp>
        <p:nvSpPr>
          <p:cNvPr id="10" name="Text 12"/>
          <p:cNvSpPr/>
          <p:nvPr>
            <p:custDataLst>
              <p:tags r:id="rId5"/>
            </p:custDataLst>
          </p:nvPr>
        </p:nvSpPr>
        <p:spPr>
          <a:xfrm>
            <a:off x="7662545" y="1343025"/>
            <a:ext cx="2651760" cy="357505"/>
          </a:xfrm>
          <a:prstGeom prst="rect">
            <a:avLst/>
          </a:prstGeom>
          <a:noFill/>
        </p:spPr>
        <p:txBody>
          <a:bodyPr wrap="square" lIns="0" tIns="0" rIns="0" bIns="0" rtlCol="0" anchor="ctr">
            <a:normAutofit/>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数据效率</a:t>
            </a:r>
          </a:p>
        </p:txBody>
      </p:sp>
      <p:sp>
        <p:nvSpPr>
          <p:cNvPr id="11" name="Text 13"/>
          <p:cNvSpPr/>
          <p:nvPr>
            <p:custDataLst>
              <p:tags r:id="rId6"/>
            </p:custDataLst>
          </p:nvPr>
        </p:nvSpPr>
        <p:spPr>
          <a:xfrm>
            <a:off x="6435725" y="1574165"/>
            <a:ext cx="4893945" cy="2095500"/>
          </a:xfrm>
          <a:prstGeom prst="rect">
            <a:avLst/>
          </a:prstGeom>
          <a:noFill/>
        </p:spPr>
        <p:txBody>
          <a:bodyPr wrap="square" lIns="0" tIns="0" rIns="0" bIns="0" rtlCol="0" anchor="ctr">
            <a:normAutofit fontScale="57500" lnSpcReduction="20000"/>
          </a:bodyPr>
          <a:lstStyle/>
          <a:p>
            <a:pPr indent="0" algn="just" fontAlgn="auto">
              <a:lnSpc>
                <a:spcPct val="100000"/>
              </a:lnSpc>
              <a:buFont typeface="Arial" panose="020B0604020202090204" pitchFamily="34" charset="0"/>
              <a:buNone/>
            </a:pPr>
            <a:r>
              <a:rPr lang="zh-CN" altLang="en-US"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验证内容</a:t>
            </a:r>
            <a:r>
              <a:rPr lang="zh-CN" sz="32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zh-CN" altLang="en-US"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285750" indent="-285750" algn="just" fontAlgn="auto">
              <a:lnSpc>
                <a:spcPct val="100000"/>
              </a:lnSpc>
              <a:buFont typeface="Arial" panose="020B0604020202090204" pitchFamily="34" charset="0"/>
              <a:buChar char="•"/>
            </a:pP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论文研究在只使用</a:t>
            </a:r>
            <a:r>
              <a:rPr lang="zh-CN" altLang="en-US" sz="28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sym typeface="+mn-ea"/>
              </a:rPr>
              <a:t>部分数据</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进行 </a:t>
            </a: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unlearning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的情况下，</a:t>
            </a:r>
            <a:r>
              <a:rPr lang="en-US" altLang="zh-CN"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是否仍然有效</a:t>
            </a:r>
          </a:p>
          <a:p>
            <a:pPr marL="285750" indent="-285750" algn="just" fontAlgn="auto">
              <a:lnSpc>
                <a:spcPct val="100000"/>
              </a:lnSpc>
              <a:buFont typeface="Arial" panose="020B0604020202090204" pitchFamily="34" charset="0"/>
              <a:buChar char="•"/>
            </a:pPr>
            <a:r>
              <a:rPr lang="zh-CN" altLang="en-US" sz="28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使用不同数量的图文数据进行遗忘</a:t>
            </a: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r>
              <a:rPr lang="zh-CN" altLang="en-US" sz="3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结果</a:t>
            </a:r>
            <a:r>
              <a:rPr lang="zh-CN" sz="3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altLang="en-US"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只使用约 0.5</a:t>
            </a:r>
            <a:r>
              <a:rPr lang="en-US" altLang="zh-CN"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M </a:t>
            </a:r>
            <a:r>
              <a:rPr lang="zh-CN" altLang="en-US"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数据，即低于 </a:t>
            </a:r>
            <a:r>
              <a:rPr lang="en-US" altLang="zh-CN"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CC3M </a:t>
            </a:r>
            <a:r>
              <a:rPr lang="zh-CN" altLang="en-US"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的 20%，仍然可以获得明显收益</a:t>
            </a:r>
            <a:r>
              <a:rPr lang="zh-CN" altLang="en-US" sz="3000"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en-US" altLang="zh-CN"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30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不需要完整访问原始预训练数据，也可以通过部分数据实现有效的噪声遗忘。</a:t>
            </a:r>
          </a:p>
        </p:txBody>
      </p:sp>
      <p:pic>
        <p:nvPicPr>
          <p:cNvPr id="5" name="图片 4"/>
          <p:cNvPicPr>
            <a:picLocks noChangeAspect="1"/>
          </p:cNvPicPr>
          <p:nvPr>
            <p:custDataLst>
              <p:tags r:id="rId7"/>
            </p:custDataLst>
          </p:nvPr>
        </p:nvPicPr>
        <p:blipFill>
          <a:blip r:embed="rId10"/>
          <a:stretch>
            <a:fillRect/>
          </a:stretch>
        </p:blipFill>
        <p:spPr>
          <a:xfrm>
            <a:off x="282575" y="4483735"/>
            <a:ext cx="4800600" cy="1533525"/>
          </a:xfrm>
          <a:prstGeom prst="rect">
            <a:avLst/>
          </a:prstGeom>
        </p:spPr>
      </p:pic>
      <p:pic>
        <p:nvPicPr>
          <p:cNvPr id="7" name="图片 6"/>
          <p:cNvPicPr>
            <a:picLocks noChangeAspect="1"/>
          </p:cNvPicPr>
          <p:nvPr>
            <p:custDataLst>
              <p:tags r:id="rId8"/>
            </p:custDataLst>
          </p:nvPr>
        </p:nvPicPr>
        <p:blipFill>
          <a:blip r:embed="rId11"/>
          <a:stretch>
            <a:fillRect/>
          </a:stretch>
        </p:blipFill>
        <p:spPr>
          <a:xfrm>
            <a:off x="6727825" y="3669665"/>
            <a:ext cx="4392930" cy="265303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 11"/>
          <p:cNvSpPr/>
          <p:nvPr>
            <p:custDataLst>
              <p:tags r:id="rId1"/>
            </p:custDataLst>
          </p:nvPr>
        </p:nvSpPr>
        <p:spPr>
          <a:xfrm>
            <a:off x="226695" y="1152525"/>
            <a:ext cx="5711825" cy="5074285"/>
          </a:xfrm>
          <a:prstGeom prst="roundRect">
            <a:avLst>
              <a:gd name="adj" fmla="val 1143"/>
            </a:avLst>
          </a:prstGeom>
          <a:solidFill>
            <a:srgbClr val="F4F6FA"/>
          </a:solidFill>
          <a:ln w="12700">
            <a:solidFill>
              <a:srgbClr val="D9DDE5"/>
            </a:solidFill>
            <a:prstDash val="solid"/>
          </a:ln>
        </p:spPr>
        <p:txBody>
          <a:bodyPr/>
          <a:lstStyle/>
          <a:p>
            <a:endParaRPr lang="zh-CN" altLang="en-US"/>
          </a:p>
        </p:txBody>
      </p:sp>
      <p:sp>
        <p:nvSpPr>
          <p:cNvPr id="3"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03 · EXPERIMENT</a:t>
            </a:r>
            <a:endParaRPr lang="en-US" sz="1000" dirty="0"/>
          </a:p>
        </p:txBody>
      </p:sp>
      <p:sp>
        <p:nvSpPr>
          <p:cNvPr id="4"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主要实验结果</a:t>
            </a:r>
          </a:p>
        </p:txBody>
      </p:sp>
      <p:sp>
        <p:nvSpPr>
          <p:cNvPr id="21" name="Text 12"/>
          <p:cNvSpPr/>
          <p:nvPr>
            <p:custDataLst>
              <p:tags r:id="rId2"/>
            </p:custDataLst>
          </p:nvPr>
        </p:nvSpPr>
        <p:spPr>
          <a:xfrm>
            <a:off x="1638935" y="1216025"/>
            <a:ext cx="2651760" cy="357505"/>
          </a:xfrm>
          <a:prstGeom prst="rect">
            <a:avLst/>
          </a:prstGeom>
          <a:noFill/>
        </p:spPr>
        <p:txBody>
          <a:bodyPr wrap="square" lIns="0" tIns="0" rIns="0" bIns="0" rtlCol="0" anchor="ctr">
            <a:normAutofit/>
          </a:bodyPr>
          <a:lstStyle/>
          <a:p>
            <a:pPr marL="0" indent="0" algn="ctr">
              <a:buNone/>
            </a:pPr>
            <a:r>
              <a:rPr lang="zh-CN" altLang="en-US" sz="19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0"/>
              </a:rPr>
              <a:t>可视化</a:t>
            </a:r>
          </a:p>
        </p:txBody>
      </p:sp>
      <p:sp>
        <p:nvSpPr>
          <p:cNvPr id="8" name="Text 13"/>
          <p:cNvSpPr/>
          <p:nvPr>
            <p:custDataLst>
              <p:tags r:id="rId3"/>
            </p:custDataLst>
          </p:nvPr>
        </p:nvSpPr>
        <p:spPr>
          <a:xfrm>
            <a:off x="546100" y="1924685"/>
            <a:ext cx="4893945" cy="3618230"/>
          </a:xfrm>
          <a:prstGeom prst="rect">
            <a:avLst/>
          </a:prstGeom>
          <a:noFill/>
        </p:spPr>
        <p:txBody>
          <a:bodyPr wrap="square" lIns="0" tIns="0" rIns="0" bIns="0" rtlCol="0" anchor="ctr">
            <a:normAutofit fontScale="47500" lnSpcReduction="20000"/>
          </a:bodyPr>
          <a:lstStyle/>
          <a:p>
            <a:pPr indent="0" algn="just" fontAlgn="auto">
              <a:lnSpc>
                <a:spcPct val="100000"/>
              </a:lnSpc>
              <a:buFont typeface="Arial" panose="020B0604020202090204" pitchFamily="34" charset="0"/>
              <a:buNone/>
            </a:pPr>
            <a:r>
              <a:rPr lang="zh-CN" altLang="en-US" sz="4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验证内容</a:t>
            </a:r>
            <a:r>
              <a:rPr lang="zh-CN" sz="4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zh-CN" altLang="en-US" sz="40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r>
              <a:rPr lang="zh-CN" altLang="en-US" sz="35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论文使用</a:t>
            </a:r>
            <a:r>
              <a:rPr lang="zh-CN" altLang="en-US" sz="3500" b="1"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相似度分布可视化比较</a:t>
            </a:r>
            <a:r>
              <a:rPr lang="zh-CN" altLang="en-US" sz="35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a:t>
            </a:r>
          </a:p>
          <a:p>
            <a:pPr marL="285750" indent="-285750" algn="just" fontAlgn="auto">
              <a:lnSpc>
                <a:spcPct val="100000"/>
              </a:lnSpc>
              <a:buFont typeface="Arial" panose="020B0604020202090204" pitchFamily="34" charset="0"/>
              <a:buChar char="•"/>
            </a:pPr>
            <a:r>
              <a:rPr lang="zh-CN" altLang="en-US" sz="35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原始 </a:t>
            </a:r>
            <a:r>
              <a:rPr lang="en-US" altLang="zh-CN" sz="35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CLIP；</a:t>
            </a:r>
          </a:p>
          <a:p>
            <a:pPr marL="285750" indent="-285750" algn="just" fontAlgn="auto">
              <a:lnSpc>
                <a:spcPct val="100000"/>
              </a:lnSpc>
              <a:buFont typeface="Arial" panose="020B0604020202090204" pitchFamily="34" charset="0"/>
              <a:buChar char="•"/>
            </a:pPr>
            <a:r>
              <a:rPr lang="en-US" altLang="zh-CN" sz="35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a:t>
            </a:r>
          </a:p>
          <a:p>
            <a:pPr indent="0" algn="just" fontAlgn="auto">
              <a:lnSpc>
                <a:spcPct val="100000"/>
              </a:lnSpc>
              <a:buFont typeface="Arial" panose="020B0604020202090204" pitchFamily="34" charset="0"/>
              <a:buNone/>
            </a:pPr>
            <a:r>
              <a:rPr lang="zh-CN" altLang="en-US" sz="35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主要观察：</a:t>
            </a:r>
          </a:p>
          <a:p>
            <a:pPr marL="285750" indent="-285750" algn="just" fontAlgn="auto">
              <a:lnSpc>
                <a:spcPct val="100000"/>
              </a:lnSpc>
              <a:buFont typeface="Arial" panose="020B0604020202090204" pitchFamily="34" charset="0"/>
              <a:buChar char="•"/>
            </a:pPr>
            <a:r>
              <a:rPr lang="zh-CN" altLang="en-US" sz="35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正样本对的相似度分数</a:t>
            </a:r>
          </a:p>
          <a:p>
            <a:pPr marL="285750" indent="-285750" algn="just" fontAlgn="auto">
              <a:lnSpc>
                <a:spcPct val="100000"/>
              </a:lnSpc>
              <a:buFont typeface="Arial" panose="020B0604020202090204" pitchFamily="34" charset="0"/>
              <a:buChar char="•"/>
            </a:pPr>
            <a:r>
              <a:rPr lang="zh-CN" altLang="en-US" sz="35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负样本对的平均相似度分数</a:t>
            </a:r>
          </a:p>
          <a:p>
            <a:pPr marL="285750" indent="-285750" algn="just" fontAlgn="auto">
              <a:lnSpc>
                <a:spcPct val="100000"/>
              </a:lnSpc>
              <a:buFont typeface="Arial" panose="020B0604020202090204" pitchFamily="34" charset="0"/>
              <a:buChar char="•"/>
            </a:pPr>
            <a:r>
              <a:rPr lang="zh-CN" altLang="en-US" sz="35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负样本对中最高相似度分数排名前 5% 的分布情况</a:t>
            </a:r>
            <a:endParaRPr lang="zh-CN" altLang="en-US" sz="35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endParaRPr lang="zh-CN" altLang="en-US" sz="28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indent="0" algn="just" fontAlgn="auto">
              <a:lnSpc>
                <a:spcPct val="100000"/>
              </a:lnSpc>
              <a:buFont typeface="Arial" panose="020B0604020202090204" pitchFamily="34" charset="0"/>
              <a:buNone/>
            </a:pPr>
            <a:r>
              <a:rPr lang="zh-CN" altLang="en-US" sz="4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结果</a:t>
            </a:r>
            <a:r>
              <a:rPr lang="zh-CN" sz="4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zh-CN" sz="4000"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a:p>
            <a:pPr marL="171450" indent="-171450" algn="just" fontAlgn="auto">
              <a:lnSpc>
                <a:spcPct val="100000"/>
              </a:lnSpc>
              <a:buFont typeface="Arial" panose="020B0604020202090204" pitchFamily="34" charset="0"/>
              <a:buChar char="•"/>
            </a:pPr>
            <a:r>
              <a:rPr lang="en-US" altLang="zh-CN"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生成的正样本相似度分数</a:t>
            </a:r>
            <a:r>
              <a:rPr lang="zh-CN" altLang="en-US" sz="3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sym typeface="+mn-ea"/>
              </a:rPr>
              <a:t>分布范围更广</a:t>
            </a:r>
            <a:r>
              <a:rPr lang="zh-CN" altLang="en-US"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，能够捕捉正样本对之间更细粒度的匹配程度</a:t>
            </a:r>
          </a:p>
          <a:p>
            <a:pPr marL="171450" indent="-171450" algn="just" fontAlgn="auto">
              <a:lnSpc>
                <a:spcPct val="100000"/>
              </a:lnSpc>
              <a:buFont typeface="Arial" panose="020B0604020202090204" pitchFamily="34" charset="0"/>
              <a:buChar char="•"/>
            </a:pPr>
            <a:r>
              <a:rPr lang="en-US" altLang="zh-CN"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增强了</a:t>
            </a:r>
            <a:r>
              <a:rPr lang="zh-CN" altLang="en-US" sz="3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sym typeface="+mn-ea"/>
              </a:rPr>
              <a:t>特征区分能力</a:t>
            </a:r>
            <a:r>
              <a:rPr lang="zh-CN" altLang="en-US"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，从而使得正样本对与负样本对之间呈现出更显著的分离度能够表达更细粒度的图文匹配程度；</a:t>
            </a:r>
          </a:p>
          <a:p>
            <a:pPr marL="171450" indent="-171450" algn="just" fontAlgn="auto">
              <a:lnSpc>
                <a:spcPct val="100000"/>
              </a:lnSpc>
              <a:buFont typeface="Arial" panose="020B0604020202090204" pitchFamily="34" charset="0"/>
              <a:buChar char="•"/>
            </a:pPr>
            <a:r>
              <a:rPr lang="en-US" altLang="zh-CN"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a:t>
            </a:r>
            <a:r>
              <a:rPr lang="zh-CN" altLang="en-US"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为困难负样本提供了</a:t>
            </a:r>
            <a:r>
              <a:rPr lang="zh-CN" altLang="en-US" sz="3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sym typeface="+mn-ea"/>
              </a:rPr>
              <a:t>更适宜的度量标准</a:t>
            </a:r>
            <a:r>
              <a:rPr lang="zh-CN" altLang="en-US" sz="32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，既能与正样本对保持区分，也能与其他负样本对保持区分</a:t>
            </a: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i="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just" fontAlgn="auto">
              <a:lnSpc>
                <a:spcPct val="100000"/>
              </a:lnSpc>
              <a:buFont typeface="Arial" panose="020B0604020202090204" pitchFamily="34" charset="0"/>
              <a:buNone/>
            </a:pPr>
            <a:endParaRPr lang="en-US" altLang="zh-CN" sz="2335"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5"/>
          <a:stretch>
            <a:fillRect/>
          </a:stretch>
        </p:blipFill>
        <p:spPr>
          <a:xfrm>
            <a:off x="6341745" y="2352675"/>
            <a:ext cx="5537200" cy="247078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66928" y="256032"/>
            <a:ext cx="10972800" cy="182880"/>
          </a:xfrm>
          <a:prstGeom prst="rect">
            <a:avLst/>
          </a:prstGeom>
          <a:noFill/>
        </p:spPr>
        <p:txBody>
          <a:bodyPr wrap="square" lIns="0" tIns="0" rIns="0" bIns="0" rtlCol="0" anchor="ctr">
            <a:normAutofit/>
          </a:bodyPr>
          <a:lstStyle/>
          <a:p>
            <a:pPr marL="0" indent="0" algn="l">
              <a:buNone/>
            </a:pPr>
            <a:r>
              <a:rPr lang="en-US" sz="1000" b="1" dirty="0">
                <a:solidFill>
                  <a:srgbClr val="315AA8"/>
                </a:solidFill>
                <a:latin typeface="微软雅黑" panose="020B0503020204020204" pitchFamily="34" charset="-122"/>
                <a:ea typeface="微软雅黑" panose="020B0503020204020204" pitchFamily="34" charset="-122"/>
                <a:cs typeface="微软雅黑" panose="020B0503020204020204" pitchFamily="34" charset="-120"/>
              </a:rPr>
              <a:t>04 · CONCLUSION</a:t>
            </a:r>
            <a:endParaRPr lang="en-US" sz="1000" dirty="0"/>
          </a:p>
        </p:txBody>
      </p:sp>
      <p:sp>
        <p:nvSpPr>
          <p:cNvPr id="4" name="Text 1"/>
          <p:cNvSpPr/>
          <p:nvPr/>
        </p:nvSpPr>
        <p:spPr>
          <a:xfrm>
            <a:off x="566928" y="566928"/>
            <a:ext cx="10972800" cy="457200"/>
          </a:xfrm>
          <a:prstGeom prst="rect">
            <a:avLst/>
          </a:prstGeom>
          <a:noFill/>
        </p:spPr>
        <p:txBody>
          <a:bodyPr wrap="square" lIns="0" tIns="0" rIns="0" bIns="0" rtlCol="0" anchor="ctr">
            <a:normAutofit/>
          </a:bodyPr>
          <a:lstStyle/>
          <a:p>
            <a:pPr marL="0" indent="0" algn="l">
              <a:buNone/>
            </a:pPr>
            <a:r>
              <a:rPr lang="zh-CN" altLang="en-US" sz="2600" b="1" dirty="0">
                <a:solidFill>
                  <a:srgbClr val="203A73"/>
                </a:solidFill>
                <a:latin typeface="微软雅黑" panose="020B0503020204020204" pitchFamily="34" charset="-122"/>
                <a:ea typeface="微软雅黑" panose="020B0503020204020204" pitchFamily="34" charset="-122"/>
                <a:cs typeface="微软雅黑" panose="020B0503020204020204" pitchFamily="34" charset="-120"/>
              </a:rPr>
              <a:t>结论</a:t>
            </a:r>
          </a:p>
        </p:txBody>
      </p:sp>
      <p:grpSp>
        <p:nvGrpSpPr>
          <p:cNvPr id="10" name="组合 9"/>
          <p:cNvGrpSpPr/>
          <p:nvPr/>
        </p:nvGrpSpPr>
        <p:grpSpPr>
          <a:xfrm>
            <a:off x="7452995" y="1152525"/>
            <a:ext cx="4447399" cy="5074285"/>
            <a:chOff x="9746" y="1815"/>
            <a:chExt cx="8995" cy="7991"/>
          </a:xfrm>
        </p:grpSpPr>
        <p:sp>
          <p:nvSpPr>
            <p:cNvPr id="6" name="Shape 11"/>
            <p:cNvSpPr/>
            <p:nvPr>
              <p:custDataLst>
                <p:tags r:id="rId3"/>
              </p:custDataLst>
            </p:nvPr>
          </p:nvSpPr>
          <p:spPr>
            <a:xfrm>
              <a:off x="9746" y="1815"/>
              <a:ext cx="8995" cy="7991"/>
            </a:xfrm>
            <a:prstGeom prst="roundRect">
              <a:avLst>
                <a:gd name="adj" fmla="val 1143"/>
              </a:avLst>
            </a:prstGeom>
            <a:solidFill>
              <a:srgbClr val="F4F6FA"/>
            </a:solidFill>
            <a:ln w="12700">
              <a:solidFill>
                <a:srgbClr val="D9DDE5"/>
              </a:solidFill>
              <a:prstDash val="solid"/>
            </a:ln>
          </p:spPr>
          <p:txBody>
            <a:bodyPr/>
            <a:lstStyle/>
            <a:p>
              <a:endParaRPr lang="zh-CN" altLang="en-US"/>
            </a:p>
          </p:txBody>
        </p:sp>
        <p:sp>
          <p:nvSpPr>
            <p:cNvPr id="11" name="Text 9"/>
            <p:cNvSpPr/>
            <p:nvPr/>
          </p:nvSpPr>
          <p:spPr>
            <a:xfrm>
              <a:off x="10804" y="3244"/>
              <a:ext cx="5184" cy="504"/>
            </a:xfrm>
            <a:prstGeom prst="rect">
              <a:avLst/>
            </a:prstGeom>
            <a:noFill/>
          </p:spPr>
          <p:txBody>
            <a:bodyPr wrap="square" lIns="0" tIns="0" rIns="0" bIns="0" rtlCol="0" anchor="ctr">
              <a:normAutofit/>
            </a:bodyPr>
            <a:lstStyle/>
            <a:p>
              <a:pPr marL="0" indent="0" algn="l">
                <a:buNone/>
              </a:pPr>
              <a:r>
                <a:rPr lang="en-US" sz="18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局限与展望</a:t>
              </a:r>
            </a:p>
          </p:txBody>
        </p:sp>
        <p:sp>
          <p:nvSpPr>
            <p:cNvPr id="12" name="Text 10"/>
            <p:cNvSpPr/>
            <p:nvPr/>
          </p:nvSpPr>
          <p:spPr>
            <a:xfrm>
              <a:off x="10708" y="4443"/>
              <a:ext cx="7669" cy="1728"/>
            </a:xfrm>
            <a:prstGeom prst="rect">
              <a:avLst/>
            </a:prstGeom>
            <a:noFill/>
          </p:spPr>
          <p:txBody>
            <a:bodyPr wrap="square" lIns="0" tIns="0" rIns="0" bIns="0" rtlCol="0" anchor="ctr">
              <a:normAutofit/>
            </a:bodyPr>
            <a:lstStyle/>
            <a:p>
              <a:pPr marL="0" indent="0" algn="l">
                <a:buNone/>
              </a:pPr>
              <a:r>
                <a:rPr lang="en-US" sz="17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 目前主要验证 CLIP</a:t>
              </a:r>
              <a:endParaRPr lang="en-US" sz="1700" dirty="0">
                <a:solidFill>
                  <a:schemeClr val="accent2"/>
                </a:solidFill>
              </a:endParaRPr>
            </a:p>
            <a:p>
              <a:pPr marL="0" indent="0" algn="l">
                <a:buNone/>
              </a:pPr>
              <a:r>
                <a:rPr lang="en-US" sz="17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 数据规模仍是百万级</a:t>
              </a:r>
              <a:endParaRPr lang="en-US" sz="1700" dirty="0">
                <a:solidFill>
                  <a:schemeClr val="accent2"/>
                </a:solidFill>
              </a:endParaRPr>
            </a:p>
            <a:p>
              <a:pPr marL="0" indent="0" algn="l">
                <a:buNone/>
              </a:pPr>
              <a:r>
                <a:rPr lang="en-US" sz="17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 需扩展到 BLIP-2、LVLM 等更大模型</a:t>
              </a:r>
            </a:p>
          </p:txBody>
        </p:sp>
      </p:grpSp>
      <p:grpSp>
        <p:nvGrpSpPr>
          <p:cNvPr id="17" name="组合 16"/>
          <p:cNvGrpSpPr/>
          <p:nvPr/>
        </p:nvGrpSpPr>
        <p:grpSpPr>
          <a:xfrm>
            <a:off x="567055" y="1152525"/>
            <a:ext cx="6445885" cy="5074285"/>
            <a:chOff x="357" y="1815"/>
            <a:chExt cx="10687" cy="7991"/>
          </a:xfrm>
        </p:grpSpPr>
        <p:sp>
          <p:nvSpPr>
            <p:cNvPr id="14" name="Shape 11"/>
            <p:cNvSpPr/>
            <p:nvPr>
              <p:custDataLst>
                <p:tags r:id="rId1"/>
              </p:custDataLst>
            </p:nvPr>
          </p:nvSpPr>
          <p:spPr>
            <a:xfrm>
              <a:off x="357" y="1815"/>
              <a:ext cx="10687" cy="7991"/>
            </a:xfrm>
            <a:prstGeom prst="roundRect">
              <a:avLst>
                <a:gd name="adj" fmla="val 1143"/>
              </a:avLst>
            </a:prstGeom>
            <a:solidFill>
              <a:srgbClr val="F4F6FA"/>
            </a:solidFill>
            <a:ln w="12700">
              <a:solidFill>
                <a:srgbClr val="D9DDE5"/>
              </a:solidFill>
              <a:prstDash val="solid"/>
            </a:ln>
          </p:spPr>
          <p:txBody>
            <a:bodyPr/>
            <a:lstStyle/>
            <a:p>
              <a:endParaRPr lang="zh-CN" altLang="en-US"/>
            </a:p>
          </p:txBody>
        </p:sp>
        <p:sp>
          <p:nvSpPr>
            <p:cNvPr id="15" name="Text 13"/>
            <p:cNvSpPr/>
            <p:nvPr>
              <p:custDataLst>
                <p:tags r:id="rId2"/>
              </p:custDataLst>
            </p:nvPr>
          </p:nvSpPr>
          <p:spPr>
            <a:xfrm>
              <a:off x="636" y="3146"/>
              <a:ext cx="9302" cy="2040"/>
            </a:xfrm>
            <a:prstGeom prst="rect">
              <a:avLst/>
            </a:prstGeom>
            <a:noFill/>
          </p:spPr>
          <p:txBody>
            <a:bodyPr wrap="square" lIns="0" tIns="0" rIns="0" bIns="0" rtlCol="0" anchor="ctr">
              <a:normAutofit/>
            </a:bodyPr>
            <a:lstStyle/>
            <a:p>
              <a:pPr marL="0" indent="0" algn="l">
                <a:buNone/>
              </a:pPr>
              <a:r>
                <a:rPr lang="en-US"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NCU 用最难负语义提供明确遗忘方向，</a:t>
              </a:r>
              <a:endParaRPr lang="en-US" dirty="0">
                <a:solidFill>
                  <a:schemeClr val="accent2"/>
                </a:solidFill>
              </a:endParaRPr>
            </a:p>
            <a:p>
              <a:pPr marL="0" indent="0" algn="l">
                <a:buNone/>
              </a:pPr>
              <a:r>
                <a:rPr lang="en-US"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在保留 CLIP 能力的同时削弱 FP/FN 噪声关系</a:t>
              </a:r>
              <a:r>
                <a:rPr 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rPr>
                <a:t>。</a:t>
              </a:r>
              <a:endParaRPr lang="en-US"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16" name="Text 7"/>
            <p:cNvSpPr/>
            <p:nvPr/>
          </p:nvSpPr>
          <p:spPr>
            <a:xfrm>
              <a:off x="636" y="6004"/>
              <a:ext cx="9962" cy="1512"/>
            </a:xfrm>
            <a:prstGeom prst="rect">
              <a:avLst/>
            </a:prstGeom>
            <a:noFill/>
          </p:spPr>
          <p:txBody>
            <a:bodyPr wrap="square" lIns="0" tIns="0" rIns="0" bIns="0" rtlCol="0" anchor="ctr">
              <a:normAutofit/>
            </a:bodyPr>
            <a:lstStyle/>
            <a:p>
              <a:pPr marL="0" indent="0" algn="l">
                <a:buNone/>
              </a:pPr>
              <a:r>
                <a:rPr lang="en-US" sz="16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 首次将 noisy correspondence unlearning 引入预训练 CLIP</a:t>
              </a:r>
              <a:endParaRPr lang="en-US" sz="1600" dirty="0">
                <a:solidFill>
                  <a:schemeClr val="accent2"/>
                </a:solidFill>
              </a:endParaRPr>
            </a:p>
            <a:p>
              <a:pPr marL="0" indent="0" algn="l">
                <a:buNone/>
              </a:pPr>
              <a:r>
                <a:rPr lang="en-US" sz="16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 一个</a:t>
              </a:r>
              <a:r>
                <a:rPr lang="zh-CN" altLang="en-US" sz="16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最优传输</a:t>
              </a:r>
              <a:r>
                <a:rPr lang="en-US" sz="16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目标统一处理 FP 与 FN</a:t>
              </a:r>
              <a:endParaRPr lang="en-US" sz="1600" dirty="0">
                <a:solidFill>
                  <a:schemeClr val="accent2"/>
                </a:solidFill>
              </a:endParaRPr>
            </a:p>
            <a:p>
              <a:pPr marL="0" indent="0" algn="l">
                <a:buNone/>
              </a:pPr>
              <a:r>
                <a:rPr lang="en-US" sz="1600"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0"/>
                </a:rPr>
                <a:t>• 低成本、部分数据即可提升下游鲁棒性</a:t>
              </a:r>
            </a:p>
          </p:txBody>
        </p:sp>
      </p:grpSp>
      <p:sp>
        <p:nvSpPr>
          <p:cNvPr id="18" name="Text 9"/>
          <p:cNvSpPr/>
          <p:nvPr/>
        </p:nvSpPr>
        <p:spPr>
          <a:xfrm>
            <a:off x="735197" y="1739900"/>
            <a:ext cx="2563126" cy="320040"/>
          </a:xfrm>
          <a:prstGeom prst="rect">
            <a:avLst/>
          </a:prstGeom>
          <a:noFill/>
        </p:spPr>
        <p:txBody>
          <a:bodyPr wrap="square" lIns="0" tIns="0" rIns="0" bIns="0" rtlCol="0" anchor="ctr">
            <a:normAutofit/>
          </a:bodyPr>
          <a:lstStyle/>
          <a:p>
            <a:pPr marL="0" indent="0" algn="l">
              <a:buNone/>
            </a:pPr>
            <a:r>
              <a:rPr lang="zh-CN" altLang="en-US" sz="18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结论</a:t>
            </a:r>
          </a:p>
        </p:txBody>
      </p:sp>
      <p:sp>
        <p:nvSpPr>
          <p:cNvPr id="19" name="Text 9"/>
          <p:cNvSpPr/>
          <p:nvPr/>
        </p:nvSpPr>
        <p:spPr>
          <a:xfrm>
            <a:off x="735197" y="3392805"/>
            <a:ext cx="2563126" cy="320040"/>
          </a:xfrm>
          <a:prstGeom prst="rect">
            <a:avLst/>
          </a:prstGeom>
          <a:noFill/>
        </p:spPr>
        <p:txBody>
          <a:bodyPr wrap="square" lIns="0" tIns="0" rIns="0" bIns="0" rtlCol="0" anchor="ctr">
            <a:normAutofit/>
          </a:bodyPr>
          <a:lstStyle/>
          <a:p>
            <a:pPr marL="0" indent="0" algn="l">
              <a:buNone/>
            </a:pPr>
            <a:r>
              <a:rPr lang="zh-CN" altLang="en-US" sz="18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0"/>
              </a:rPr>
              <a:t>贡献</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816352" cy="6858000"/>
          </a:xfrm>
          <a:prstGeom prst="rect">
            <a:avLst/>
          </a:prstGeom>
          <a:solidFill>
            <a:srgbClr val="213D7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ectangle 2"/>
          <p:cNvSpPr/>
          <p:nvPr/>
        </p:nvSpPr>
        <p:spPr>
          <a:xfrm>
            <a:off x="2816352" y="0"/>
            <a:ext cx="109728" cy="6858000"/>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Rectangle 3"/>
          <p:cNvSpPr/>
          <p:nvPr/>
        </p:nvSpPr>
        <p:spPr>
          <a:xfrm>
            <a:off x="338328" y="393192"/>
            <a:ext cx="2084831" cy="6044184"/>
          </a:xfrm>
          <a:prstGeom prst="rect">
            <a:avLst/>
          </a:prstGeom>
          <a:solidFill>
            <a:srgbClr val="213D72"/>
          </a:solidFill>
          <a:ln w="10160">
            <a:solidFill>
              <a:srgbClr val="4A63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66344" y="1225296"/>
            <a:ext cx="1865376" cy="1481328"/>
          </a:xfrm>
          <a:prstGeom prst="rect">
            <a:avLst/>
          </a:prstGeom>
          <a:noFill/>
        </p:spPr>
        <p:txBody>
          <a:bodyPr wrap="square" lIns="0" tIns="0" rIns="0" bIns="0">
            <a:spAutoFit/>
          </a:bodyPr>
          <a:lstStyle/>
          <a:p>
            <a:pPr algn="ctr">
              <a:lnSpc>
                <a:spcPct val="113000"/>
              </a:lnSpc>
              <a:spcBef>
                <a:spcPts val="0"/>
              </a:spcBef>
              <a:spcAft>
                <a:spcPts val="400"/>
              </a:spcAft>
            </a:pPr>
            <a:r>
              <a:rPr sz="8800" b="1">
                <a:solidFill>
                  <a:srgbClr val="FFFFFF"/>
                </a:solidFill>
                <a:latin typeface="微软雅黑" panose="020B0503020204020204" pitchFamily="34" charset="-122"/>
                <a:ea typeface="微软雅黑" panose="020B0503020204020204" pitchFamily="34" charset="-122"/>
              </a:rPr>
              <a:t>C³</a:t>
            </a:r>
          </a:p>
        </p:txBody>
      </p:sp>
      <p:cxnSp>
        <p:nvCxnSpPr>
          <p:cNvPr id="6" name="Connector 5"/>
          <p:cNvCxnSpPr/>
          <p:nvPr/>
        </p:nvCxnSpPr>
        <p:spPr>
          <a:xfrm>
            <a:off x="777240" y="2752344"/>
            <a:ext cx="1216152" cy="0"/>
          </a:xfrm>
          <a:prstGeom prst="line">
            <a:avLst/>
          </a:prstGeom>
          <a:ln w="16510">
            <a:solidFill>
              <a:srgbClr val="8EAADF"/>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3081528"/>
            <a:ext cx="1664208" cy="292608"/>
          </a:xfrm>
          <a:prstGeom prst="rect">
            <a:avLst/>
          </a:prstGeom>
          <a:noFill/>
        </p:spPr>
        <p:txBody>
          <a:bodyPr wrap="square" lIns="0" tIns="0" rIns="0" bIns="0">
            <a:spAutoFit/>
          </a:bodyPr>
          <a:lstStyle/>
          <a:p>
            <a:pPr algn="ctr">
              <a:lnSpc>
                <a:spcPct val="113000"/>
              </a:lnSpc>
              <a:spcBef>
                <a:spcPts val="0"/>
              </a:spcBef>
              <a:spcAft>
                <a:spcPts val="400"/>
              </a:spcAft>
            </a:pPr>
            <a:r>
              <a:rPr sz="1500" b="1">
                <a:solidFill>
                  <a:srgbClr val="DCE8FD"/>
                </a:solidFill>
                <a:latin typeface="微软雅黑" panose="020B0503020204020204" pitchFamily="34" charset="-122"/>
                <a:ea typeface="微软雅黑" panose="020B0503020204020204" pitchFamily="34" charset="-122"/>
              </a:rPr>
              <a:t>CONNECT</a:t>
            </a:r>
          </a:p>
        </p:txBody>
      </p:sp>
      <p:sp>
        <p:nvSpPr>
          <p:cNvPr id="8" name="TextBox 7"/>
          <p:cNvSpPr txBox="1"/>
          <p:nvPr/>
        </p:nvSpPr>
        <p:spPr>
          <a:xfrm>
            <a:off x="585216" y="3529584"/>
            <a:ext cx="1664208" cy="292608"/>
          </a:xfrm>
          <a:prstGeom prst="rect">
            <a:avLst/>
          </a:prstGeom>
          <a:noFill/>
        </p:spPr>
        <p:txBody>
          <a:bodyPr wrap="square" lIns="0" tIns="0" rIns="0" bIns="0">
            <a:spAutoFit/>
          </a:bodyPr>
          <a:lstStyle/>
          <a:p>
            <a:pPr algn="ctr">
              <a:lnSpc>
                <a:spcPct val="113000"/>
              </a:lnSpc>
              <a:spcBef>
                <a:spcPts val="0"/>
              </a:spcBef>
              <a:spcAft>
                <a:spcPts val="400"/>
              </a:spcAft>
            </a:pPr>
            <a:r>
              <a:rPr sz="1500" b="1">
                <a:solidFill>
                  <a:srgbClr val="DCE8FD"/>
                </a:solidFill>
                <a:latin typeface="微软雅黑" panose="020B0503020204020204" pitchFamily="34" charset="-122"/>
                <a:ea typeface="微软雅黑" panose="020B0503020204020204" pitchFamily="34" charset="-122"/>
              </a:rPr>
              <a:t>COLLAPSE</a:t>
            </a:r>
          </a:p>
        </p:txBody>
      </p:sp>
      <p:sp>
        <p:nvSpPr>
          <p:cNvPr id="9" name="TextBox 8"/>
          <p:cNvSpPr txBox="1"/>
          <p:nvPr/>
        </p:nvSpPr>
        <p:spPr>
          <a:xfrm>
            <a:off x="585216" y="3977639"/>
            <a:ext cx="1664208" cy="292608"/>
          </a:xfrm>
          <a:prstGeom prst="rect">
            <a:avLst/>
          </a:prstGeom>
          <a:noFill/>
        </p:spPr>
        <p:txBody>
          <a:bodyPr wrap="square" lIns="0" tIns="0" rIns="0" bIns="0">
            <a:spAutoFit/>
          </a:bodyPr>
          <a:lstStyle/>
          <a:p>
            <a:pPr algn="ctr">
              <a:lnSpc>
                <a:spcPct val="113000"/>
              </a:lnSpc>
              <a:spcBef>
                <a:spcPts val="0"/>
              </a:spcBef>
              <a:spcAft>
                <a:spcPts val="400"/>
              </a:spcAft>
            </a:pPr>
            <a:r>
              <a:rPr sz="1500" b="1">
                <a:solidFill>
                  <a:srgbClr val="DCE8FD"/>
                </a:solidFill>
                <a:latin typeface="微软雅黑" panose="020B0503020204020204" pitchFamily="34" charset="-122"/>
                <a:ea typeface="微软雅黑" panose="020B0503020204020204" pitchFamily="34" charset="-122"/>
              </a:rPr>
              <a:t>CORRUPT</a:t>
            </a:r>
          </a:p>
        </p:txBody>
      </p:sp>
      <p:sp>
        <p:nvSpPr>
          <p:cNvPr id="10" name="TextBox 9"/>
          <p:cNvSpPr txBox="1"/>
          <p:nvPr/>
        </p:nvSpPr>
        <p:spPr>
          <a:xfrm>
            <a:off x="566928" y="5888736"/>
            <a:ext cx="1691640" cy="283464"/>
          </a:xfrm>
          <a:prstGeom prst="rect">
            <a:avLst/>
          </a:prstGeom>
          <a:noFill/>
        </p:spPr>
        <p:txBody>
          <a:bodyPr wrap="square" lIns="0" tIns="0" rIns="0" bIns="0">
            <a:spAutoFit/>
          </a:bodyPr>
          <a:lstStyle/>
          <a:p>
            <a:pPr algn="ctr">
              <a:lnSpc>
                <a:spcPct val="113000"/>
              </a:lnSpc>
              <a:spcBef>
                <a:spcPts val="0"/>
              </a:spcBef>
              <a:spcAft>
                <a:spcPts val="400"/>
              </a:spcAft>
            </a:pPr>
            <a:r>
              <a:rPr sz="1300" b="1">
                <a:solidFill>
                  <a:srgbClr val="DCE8FD"/>
                </a:solidFill>
                <a:latin typeface="微软雅黑" panose="020B0503020204020204" pitchFamily="34" charset="-122"/>
                <a:ea typeface="微软雅黑" panose="020B0503020204020204" pitchFamily="34" charset="-122"/>
              </a:rPr>
              <a:t>ICLR 2024</a:t>
            </a:r>
          </a:p>
        </p:txBody>
      </p:sp>
      <p:sp>
        <p:nvSpPr>
          <p:cNvPr id="12" name="Rectangle 11"/>
          <p:cNvSpPr/>
          <p:nvPr/>
        </p:nvSpPr>
        <p:spPr>
          <a:xfrm>
            <a:off x="3566160" y="1243584"/>
            <a:ext cx="502920"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547872" y="1554480"/>
            <a:ext cx="7854696" cy="621792"/>
          </a:xfrm>
          <a:prstGeom prst="rect">
            <a:avLst/>
          </a:prstGeom>
          <a:noFill/>
        </p:spPr>
        <p:txBody>
          <a:bodyPr wrap="square" lIns="0" tIns="0" rIns="0" bIns="0">
            <a:spAutoFit/>
          </a:bodyPr>
          <a:lstStyle/>
          <a:p>
            <a:pPr>
              <a:lnSpc>
                <a:spcPct val="113000"/>
              </a:lnSpc>
              <a:spcBef>
                <a:spcPts val="0"/>
              </a:spcBef>
              <a:spcAft>
                <a:spcPts val="400"/>
              </a:spcAft>
            </a:pPr>
            <a:r>
              <a:rPr sz="3100" b="1">
                <a:solidFill>
                  <a:srgbClr val="213D72"/>
                </a:solidFill>
                <a:latin typeface="微软雅黑" panose="020B0503020204020204" pitchFamily="34" charset="-122"/>
                <a:ea typeface="微软雅黑" panose="020B0503020204020204" pitchFamily="34" charset="-122"/>
              </a:rPr>
              <a:t>Connect, Collapse, Corrupt</a:t>
            </a:r>
          </a:p>
        </p:txBody>
      </p:sp>
      <p:sp>
        <p:nvSpPr>
          <p:cNvPr id="14" name="TextBox 13"/>
          <p:cNvSpPr txBox="1"/>
          <p:nvPr/>
        </p:nvSpPr>
        <p:spPr>
          <a:xfrm>
            <a:off x="3566160" y="2395728"/>
            <a:ext cx="7735824" cy="1115568"/>
          </a:xfrm>
          <a:prstGeom prst="rect">
            <a:avLst/>
          </a:prstGeom>
          <a:noFill/>
        </p:spPr>
        <p:txBody>
          <a:bodyPr wrap="square" lIns="0" tIns="0" rIns="0" bIns="0">
            <a:spAutoFit/>
          </a:bodyPr>
          <a:lstStyle/>
          <a:p>
            <a:pPr>
              <a:lnSpc>
                <a:spcPct val="113000"/>
              </a:lnSpc>
              <a:spcBef>
                <a:spcPts val="0"/>
              </a:spcBef>
              <a:spcAft>
                <a:spcPts val="400"/>
              </a:spcAft>
            </a:pPr>
            <a:r>
              <a:rPr sz="2900" b="1">
                <a:solidFill>
                  <a:srgbClr val="213D72"/>
                </a:solidFill>
                <a:latin typeface="微软雅黑" panose="020B0503020204020204" pitchFamily="34" charset="-122"/>
                <a:ea typeface="微软雅黑" panose="020B0503020204020204" pitchFamily="34" charset="-122"/>
              </a:rPr>
              <a:t>Learning Cross-Modal Tasks</a:t>
            </a:r>
          </a:p>
          <a:p>
            <a:pPr>
              <a:lnSpc>
                <a:spcPct val="113000"/>
              </a:lnSpc>
              <a:spcBef>
                <a:spcPts val="0"/>
              </a:spcBef>
              <a:spcAft>
                <a:spcPts val="400"/>
              </a:spcAft>
            </a:pPr>
            <a:r>
              <a:rPr sz="2900" b="1">
                <a:solidFill>
                  <a:srgbClr val="213D72"/>
                </a:solidFill>
                <a:latin typeface="微软雅黑" panose="020B0503020204020204" pitchFamily="34" charset="-122"/>
                <a:ea typeface="微软雅黑" panose="020B0503020204020204" pitchFamily="34" charset="-122"/>
              </a:rPr>
              <a:t>with Uni-Modal Data</a:t>
            </a:r>
          </a:p>
        </p:txBody>
      </p:sp>
      <p:sp>
        <p:nvSpPr>
          <p:cNvPr id="15" name="TextBox 14"/>
          <p:cNvSpPr txBox="1"/>
          <p:nvPr/>
        </p:nvSpPr>
        <p:spPr>
          <a:xfrm>
            <a:off x="3575304" y="3813048"/>
            <a:ext cx="7662672" cy="530352"/>
          </a:xfrm>
          <a:prstGeom prst="rect">
            <a:avLst/>
          </a:prstGeom>
          <a:noFill/>
        </p:spPr>
        <p:txBody>
          <a:bodyPr wrap="square" lIns="0" tIns="0" rIns="0" bIns="0">
            <a:spAutoFit/>
          </a:bodyPr>
          <a:lstStyle/>
          <a:p>
            <a:pPr>
              <a:lnSpc>
                <a:spcPct val="113000"/>
              </a:lnSpc>
              <a:spcBef>
                <a:spcPts val="0"/>
              </a:spcBef>
              <a:spcAft>
                <a:spcPts val="400"/>
              </a:spcAft>
            </a:pPr>
            <a:r>
              <a:rPr sz="2500" b="1">
                <a:solidFill>
                  <a:srgbClr val="2853A3"/>
                </a:solidFill>
                <a:latin typeface="微软雅黑" panose="020B0503020204020204" pitchFamily="34" charset="-122"/>
                <a:ea typeface="微软雅黑" panose="020B0503020204020204" pitchFamily="34" charset="-122"/>
              </a:rPr>
              <a:t>用单模态数据学习跨模态任务</a:t>
            </a:r>
          </a:p>
        </p:txBody>
      </p:sp>
      <p:cxnSp>
        <p:nvCxnSpPr>
          <p:cNvPr id="16" name="Connector 15"/>
          <p:cNvCxnSpPr/>
          <p:nvPr/>
        </p:nvCxnSpPr>
        <p:spPr>
          <a:xfrm>
            <a:off x="3575304" y="4645152"/>
            <a:ext cx="7726680" cy="0"/>
          </a:xfrm>
          <a:prstGeom prst="line">
            <a:avLst/>
          </a:prstGeom>
          <a:ln w="1270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93592" y="4928616"/>
            <a:ext cx="7690104" cy="365760"/>
          </a:xfrm>
          <a:prstGeom prst="rect">
            <a:avLst/>
          </a:prstGeom>
          <a:noFill/>
        </p:spPr>
        <p:txBody>
          <a:bodyPr wrap="square" lIns="0" tIns="0" rIns="0" bIns="0">
            <a:spAutoFit/>
          </a:bodyPr>
          <a:lstStyle/>
          <a:p>
            <a:pPr>
              <a:lnSpc>
                <a:spcPct val="113000"/>
              </a:lnSpc>
              <a:spcBef>
                <a:spcPts val="0"/>
              </a:spcBef>
              <a:spcAft>
                <a:spcPts val="400"/>
              </a:spcAft>
            </a:pPr>
            <a:r>
              <a:rPr sz="1700" b="0">
                <a:solidFill>
                  <a:srgbClr val="26364C"/>
                </a:solidFill>
                <a:latin typeface="微软雅黑" panose="020B0503020204020204" pitchFamily="34" charset="-122"/>
                <a:ea typeface="微软雅黑" panose="020B0503020204020204" pitchFamily="34" charset="-122"/>
              </a:rPr>
              <a:t>Yuhui Zhang · Elaine Sui · Serena Yeung-Levy</a:t>
            </a:r>
          </a:p>
        </p:txBody>
      </p:sp>
      <p:sp>
        <p:nvSpPr>
          <p:cNvPr id="19" name="TextBox 18"/>
          <p:cNvSpPr txBox="1"/>
          <p:nvPr/>
        </p:nvSpPr>
        <p:spPr>
          <a:xfrm>
            <a:off x="3593592" y="6309360"/>
            <a:ext cx="7635240" cy="219456"/>
          </a:xfrm>
          <a:prstGeom prst="rect">
            <a:avLst/>
          </a:prstGeom>
          <a:noFill/>
        </p:spPr>
        <p:txBody>
          <a:bodyPr wrap="square" lIns="0" tIns="0" rIns="0" bIns="0">
            <a:spAutoFit/>
          </a:bodyPr>
          <a:lstStyle/>
          <a:p>
            <a:pPr>
              <a:lnSpc>
                <a:spcPct val="113000"/>
              </a:lnSpc>
              <a:spcBef>
                <a:spcPts val="0"/>
              </a:spcBef>
              <a:spcAft>
                <a:spcPts val="400"/>
              </a:spcAft>
            </a:pPr>
            <a:r>
              <a:rPr sz="1200" b="0">
                <a:solidFill>
                  <a:srgbClr val="637185"/>
                </a:solidFill>
                <a:latin typeface="微软雅黑" panose="020B0503020204020204" pitchFamily="34" charset="-122"/>
                <a:ea typeface="微软雅黑" panose="020B0503020204020204" pitchFamily="34" charset="-122"/>
              </a:rPr>
              <a:t>2026 年 9 月</a:t>
            </a:r>
          </a:p>
        </p:txBody>
      </p:sp>
      <p:sp>
        <p:nvSpPr>
          <p:cNvPr id="20" name="TextBox 19"/>
          <p:cNvSpPr txBox="1"/>
          <p:nvPr/>
        </p:nvSpPr>
        <p:spPr>
          <a:xfrm>
            <a:off x="3593592" y="5431536"/>
            <a:ext cx="7635240" cy="329184"/>
          </a:xfrm>
          <a:prstGeom prst="rect">
            <a:avLst/>
          </a:prstGeom>
          <a:noFill/>
        </p:spPr>
        <p:txBody>
          <a:bodyPr wrap="square" lIns="0" tIns="0" rIns="0" bIns="0">
            <a:spAutoFit/>
          </a:bodyPr>
          <a:lstStyle/>
          <a:p>
            <a:pPr>
              <a:lnSpc>
                <a:spcPct val="113000"/>
              </a:lnSpc>
              <a:spcBef>
                <a:spcPts val="0"/>
              </a:spcBef>
              <a:spcAft>
                <a:spcPts val="400"/>
              </a:spcAft>
            </a:pPr>
            <a:r>
              <a:rPr sz="1400" b="0">
                <a:solidFill>
                  <a:srgbClr val="637185"/>
                </a:solidFill>
                <a:latin typeface="微软雅黑" panose="020B0503020204020204" pitchFamily="34" charset="-122"/>
                <a:ea typeface="微软雅黑" panose="020B0503020204020204" pitchFamily="34" charset="-122"/>
              </a:rPr>
              <a:t>Stanford University  |  ICLR 2024      汇报人：黄鸾曦  学号：2612198</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Connect, Collapse, Corrupt：单模态数据如何学习跨模态任务？</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01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dirty="0">
                <a:solidFill>
                  <a:srgbClr val="637185"/>
                </a:solidFill>
                <a:latin typeface="微软雅黑" panose="020B0503020204020204" pitchFamily="34" charset="-122"/>
                <a:ea typeface="微软雅黑" panose="020B0503020204020204" pitchFamily="34" charset="-122"/>
              </a:rPr>
              <a:t>Zhang, Sui &amp; Yeung-Levy. ICLR 2024. PDF pp.1–2；原文 Figure 2。</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阅读主线：发现表征失配 → 解释几何来源 → 对应修复 → 用实验检验</a:t>
            </a:r>
          </a:p>
        </p:txBody>
      </p:sp>
      <p:sp>
        <p:nvSpPr>
          <p:cNvPr id="9" name="Rounded Rectangle 8"/>
          <p:cNvSpPr/>
          <p:nvPr/>
        </p:nvSpPr>
        <p:spPr>
          <a:xfrm>
            <a:off x="502920" y="1307592"/>
            <a:ext cx="6492240"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5586983"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论文问题｜能匹配，为什么还不能直接互换？</a:t>
            </a:r>
          </a:p>
        </p:txBody>
      </p:sp>
      <p:sp>
        <p:nvSpPr>
          <p:cNvPr id="13" name="TextBox 12"/>
          <p:cNvSpPr txBox="1"/>
          <p:nvPr/>
        </p:nvSpPr>
        <p:spPr>
          <a:xfrm>
            <a:off x="758952" y="2029968"/>
            <a:ext cx="5943600" cy="987552"/>
          </a:xfrm>
          <a:prstGeom prst="rect">
            <a:avLst/>
          </a:prstGeom>
          <a:noFill/>
        </p:spPr>
        <p:txBody>
          <a:bodyPr wrap="square" lIns="0" tIns="0" rIns="0" bIns="0">
            <a:spAutoFit/>
          </a:bodyPr>
          <a:lstStyle/>
          <a:p>
            <a:pPr>
              <a:lnSpc>
                <a:spcPct val="113000"/>
              </a:lnSpc>
              <a:spcBef>
                <a:spcPts val="0"/>
              </a:spcBef>
              <a:spcAft>
                <a:spcPts val="400"/>
              </a:spcAft>
            </a:pPr>
            <a:r>
              <a:rPr sz="2500" b="1">
                <a:solidFill>
                  <a:srgbClr val="213D72"/>
                </a:solidFill>
                <a:latin typeface="微软雅黑" panose="020B0503020204020204" pitchFamily="34" charset="-122"/>
                <a:ea typeface="微软雅黑" panose="020B0503020204020204" pitchFamily="34" charset="-122"/>
              </a:rPr>
              <a:t>Learning Cross-Modal Tasks</a:t>
            </a:r>
          </a:p>
          <a:p>
            <a:pPr>
              <a:lnSpc>
                <a:spcPct val="113000"/>
              </a:lnSpc>
              <a:spcBef>
                <a:spcPts val="0"/>
              </a:spcBef>
              <a:spcAft>
                <a:spcPts val="400"/>
              </a:spcAft>
            </a:pPr>
            <a:r>
              <a:rPr sz="2500" b="1">
                <a:solidFill>
                  <a:srgbClr val="213D72"/>
                </a:solidFill>
                <a:latin typeface="微软雅黑" panose="020B0503020204020204" pitchFamily="34" charset="-122"/>
                <a:ea typeface="微软雅黑" panose="020B0503020204020204" pitchFamily="34" charset="-122"/>
              </a:rPr>
              <a:t>with Uni-Modal Data</a:t>
            </a:r>
          </a:p>
        </p:txBody>
      </p:sp>
      <p:sp>
        <p:nvSpPr>
          <p:cNvPr id="14" name="TextBox 13"/>
          <p:cNvSpPr txBox="1"/>
          <p:nvPr/>
        </p:nvSpPr>
        <p:spPr>
          <a:xfrm>
            <a:off x="777240" y="3163824"/>
            <a:ext cx="5852160" cy="594360"/>
          </a:xfrm>
          <a:prstGeom prst="rect">
            <a:avLst/>
          </a:prstGeom>
          <a:noFill/>
        </p:spPr>
        <p:txBody>
          <a:bodyPr wrap="square" lIns="0" tIns="0" rIns="0" bIns="0">
            <a:spAutoFit/>
          </a:bodyPr>
          <a:lstStyle/>
          <a:p>
            <a:pPr>
              <a:lnSpc>
                <a:spcPct val="113000"/>
              </a:lnSpc>
              <a:spcBef>
                <a:spcPts val="0"/>
              </a:spcBef>
              <a:spcAft>
                <a:spcPts val="400"/>
              </a:spcAft>
            </a:pPr>
            <a:r>
              <a:rPr sz="1600" b="0">
                <a:solidFill>
                  <a:srgbClr val="637185"/>
                </a:solidFill>
                <a:latin typeface="微软雅黑" panose="020B0503020204020204" pitchFamily="34" charset="-122"/>
                <a:ea typeface="微软雅黑" panose="020B0503020204020204" pitchFamily="34" charset="-122"/>
              </a:rPr>
              <a:t>Yuhui Zhang · Elaine Sui · Serena Yeung-Levy</a:t>
            </a:r>
          </a:p>
          <a:p>
            <a:pPr>
              <a:lnSpc>
                <a:spcPct val="113000"/>
              </a:lnSpc>
              <a:spcBef>
                <a:spcPts val="0"/>
              </a:spcBef>
              <a:spcAft>
                <a:spcPts val="400"/>
              </a:spcAft>
            </a:pPr>
            <a:r>
              <a:rPr sz="1600" b="0">
                <a:solidFill>
                  <a:srgbClr val="637185"/>
                </a:solidFill>
                <a:latin typeface="微软雅黑" panose="020B0503020204020204" pitchFamily="34" charset="-122"/>
                <a:ea typeface="微软雅黑" panose="020B0503020204020204" pitchFamily="34" charset="-122"/>
              </a:rPr>
              <a:t>Stanford University  |  ICLR 2024</a:t>
            </a:r>
          </a:p>
        </p:txBody>
      </p:sp>
      <p:cxnSp>
        <p:nvCxnSpPr>
          <p:cNvPr id="15" name="Connector 14"/>
          <p:cNvCxnSpPr/>
          <p:nvPr/>
        </p:nvCxnSpPr>
        <p:spPr>
          <a:xfrm>
            <a:off x="758952" y="3913632"/>
            <a:ext cx="5961888"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8952" y="4160520"/>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822959" y="4187952"/>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切入点</a:t>
            </a:r>
          </a:p>
        </p:txBody>
      </p:sp>
      <p:sp>
        <p:nvSpPr>
          <p:cNvPr id="18" name="TextBox 17"/>
          <p:cNvSpPr txBox="1"/>
          <p:nvPr/>
        </p:nvSpPr>
        <p:spPr>
          <a:xfrm>
            <a:off x="1856231" y="4155948"/>
            <a:ext cx="4754880"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训练看文字，测试看图片</a:t>
            </a:r>
          </a:p>
        </p:txBody>
      </p:sp>
      <p:sp>
        <p:nvSpPr>
          <p:cNvPr id="19" name="TextBox 18"/>
          <p:cNvSpPr txBox="1"/>
          <p:nvPr/>
        </p:nvSpPr>
        <p:spPr>
          <a:xfrm>
            <a:off x="1856231" y="4553712"/>
            <a:ext cx="4754880" cy="429768"/>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同一个解码器，能否稳定理解两种模态的输入？</a:t>
            </a:r>
          </a:p>
        </p:txBody>
      </p:sp>
      <p:sp>
        <p:nvSpPr>
          <p:cNvPr id="20" name="Rounded Rectangle 19"/>
          <p:cNvSpPr/>
          <p:nvPr/>
        </p:nvSpPr>
        <p:spPr>
          <a:xfrm>
            <a:off x="758952" y="5029200"/>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822959" y="5056632"/>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关键词</a:t>
            </a:r>
          </a:p>
        </p:txBody>
      </p:sp>
      <p:sp>
        <p:nvSpPr>
          <p:cNvPr id="22" name="TextBox 21"/>
          <p:cNvSpPr txBox="1"/>
          <p:nvPr/>
        </p:nvSpPr>
        <p:spPr>
          <a:xfrm>
            <a:off x="1856231" y="5024628"/>
            <a:ext cx="4754880"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可互换性 · 模态间隙 · 噪声鲁棒性</a:t>
            </a:r>
          </a:p>
        </p:txBody>
      </p:sp>
      <p:sp>
        <p:nvSpPr>
          <p:cNvPr id="24" name="Rounded Rectangle 23"/>
          <p:cNvSpPr/>
          <p:nvPr/>
        </p:nvSpPr>
        <p:spPr>
          <a:xfrm>
            <a:off x="7187184" y="1307592"/>
            <a:ext cx="4507992"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Oval 24"/>
          <p:cNvSpPr/>
          <p:nvPr/>
        </p:nvSpPr>
        <p:spPr>
          <a:xfrm>
            <a:off x="7388352"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7388352"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7" name="TextBox 26"/>
          <p:cNvSpPr txBox="1"/>
          <p:nvPr/>
        </p:nvSpPr>
        <p:spPr>
          <a:xfrm>
            <a:off x="7854696" y="1504187"/>
            <a:ext cx="3602735"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本文核心视角</a:t>
            </a:r>
          </a:p>
        </p:txBody>
      </p:sp>
      <p:pic>
        <p:nvPicPr>
          <p:cNvPr id="28" name="Picture 27" descr="fig2_geometry.png"/>
          <p:cNvPicPr>
            <a:picLocks noChangeAspect="1"/>
          </p:cNvPicPr>
          <p:nvPr/>
        </p:nvPicPr>
        <p:blipFill>
          <a:blip r:embed="rId3"/>
          <a:stretch>
            <a:fillRect/>
          </a:stretch>
        </p:blipFill>
        <p:spPr>
          <a:xfrm>
            <a:off x="7434072" y="1996948"/>
            <a:ext cx="4005072" cy="2150872"/>
          </a:xfrm>
          <a:prstGeom prst="rect">
            <a:avLst/>
          </a:prstGeom>
        </p:spPr>
      </p:pic>
      <p:pic>
        <p:nvPicPr>
          <p:cNvPr id="29" name="Picture 28" descr="geom.png"/>
          <p:cNvPicPr>
            <a:picLocks noChangeAspect="1"/>
          </p:cNvPicPr>
          <p:nvPr/>
        </p:nvPicPr>
        <p:blipFill>
          <a:blip r:embed="rId4"/>
          <a:stretch>
            <a:fillRect/>
          </a:stretch>
        </p:blipFill>
        <p:spPr>
          <a:xfrm>
            <a:off x="7424927" y="4424588"/>
            <a:ext cx="4023360" cy="468559"/>
          </a:xfrm>
          <a:prstGeom prst="rect">
            <a:avLst/>
          </a:prstGeom>
        </p:spPr>
      </p:pic>
      <p:sp>
        <p:nvSpPr>
          <p:cNvPr id="32" name="TextBox 31"/>
          <p:cNvSpPr txBox="1"/>
          <p:nvPr/>
        </p:nvSpPr>
        <p:spPr>
          <a:xfrm>
            <a:off x="7452360" y="5056632"/>
            <a:ext cx="3931920" cy="704088"/>
          </a:xfrm>
          <a:prstGeom prst="rect">
            <a:avLst/>
          </a:prstGeom>
          <a:noFill/>
        </p:spPr>
        <p:txBody>
          <a:bodyPr wrap="square" lIns="0" tIns="0" rIns="0" bIns="0">
            <a:spAutoFit/>
          </a:bodyPr>
          <a:lstStyle/>
          <a:p>
            <a:pPr>
              <a:lnSpc>
                <a:spcPct val="113000"/>
              </a:lnSpc>
              <a:spcBef>
                <a:spcPts val="0"/>
              </a:spcBef>
              <a:spcAft>
                <a:spcPts val="400"/>
              </a:spcAft>
            </a:pPr>
            <a:r>
              <a:rPr sz="1800" b="1">
                <a:solidFill>
                  <a:srgbClr val="2853A3"/>
                </a:solidFill>
                <a:latin typeface="微软雅黑" panose="020B0503020204020204" pitchFamily="34" charset="-122"/>
                <a:ea typeface="微软雅黑" panose="020B0503020204020204" pitchFamily="34" charset="-122"/>
              </a:rPr>
              <a:t>共同偏移与样本残差</a:t>
            </a:r>
          </a:p>
          <a:p>
            <a:pPr>
              <a:lnSpc>
                <a:spcPct val="113000"/>
              </a:lnSpc>
              <a:spcBef>
                <a:spcPts val="0"/>
              </a:spcBef>
              <a:spcAft>
                <a:spcPts val="400"/>
              </a:spcAft>
            </a:pPr>
            <a:r>
              <a:rPr sz="1800" b="1">
                <a:solidFill>
                  <a:srgbClr val="2853A3"/>
                </a:solidFill>
                <a:latin typeface="微软雅黑" panose="020B0503020204020204" pitchFamily="34" charset="-122"/>
                <a:ea typeface="微软雅黑" panose="020B0503020204020204" pitchFamily="34" charset="-122"/>
              </a:rPr>
              <a:t>共同影响输入的可互换性。</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1 研究动机：利用单模态数据，完成跨模态生成</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02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§1–2，PDF pp.1–3；Algorithm 1，p.19；流程为本汇报重绘。</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关键前提：训练时的文字表征，必须能被测试时的图像表征有效替换</a:t>
            </a:r>
          </a:p>
        </p:txBody>
      </p:sp>
      <p:sp>
        <p:nvSpPr>
          <p:cNvPr id="9" name="Rounded Rectangle 8"/>
          <p:cNvSpPr/>
          <p:nvPr/>
        </p:nvSpPr>
        <p:spPr>
          <a:xfrm>
            <a:off x="502920" y="1307592"/>
            <a:ext cx="5138928"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4233672"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问题从哪里来？</a:t>
            </a:r>
          </a:p>
        </p:txBody>
      </p:sp>
      <p:sp>
        <p:nvSpPr>
          <p:cNvPr id="13" name="Rounded Rectangle 12"/>
          <p:cNvSpPr/>
          <p:nvPr/>
        </p:nvSpPr>
        <p:spPr>
          <a:xfrm>
            <a:off x="749808" y="2002536"/>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13815" y="2029967"/>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需求</a:t>
            </a:r>
          </a:p>
        </p:txBody>
      </p:sp>
      <p:sp>
        <p:nvSpPr>
          <p:cNvPr id="15" name="TextBox 14"/>
          <p:cNvSpPr txBox="1"/>
          <p:nvPr/>
        </p:nvSpPr>
        <p:spPr>
          <a:xfrm>
            <a:off x="1847088" y="1997964"/>
            <a:ext cx="3529583"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图像描述需要图文对应</a:t>
            </a:r>
          </a:p>
        </p:txBody>
      </p:sp>
      <p:sp>
        <p:nvSpPr>
          <p:cNvPr id="16" name="TextBox 15"/>
          <p:cNvSpPr txBox="1"/>
          <p:nvPr/>
        </p:nvSpPr>
        <p:spPr>
          <a:xfrm>
            <a:off x="1847088" y="2395728"/>
            <a:ext cx="3529583" cy="749808"/>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常规训练依赖“图片—描述”配对，收集与标注有成本。</a:t>
            </a:r>
          </a:p>
        </p:txBody>
      </p:sp>
      <p:sp>
        <p:nvSpPr>
          <p:cNvPr id="17" name="Rounded Rectangle 16"/>
          <p:cNvSpPr/>
          <p:nvPr/>
        </p:nvSpPr>
        <p:spPr>
          <a:xfrm>
            <a:off x="749808" y="3218688"/>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13815" y="3246120"/>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机会</a:t>
            </a:r>
          </a:p>
        </p:txBody>
      </p:sp>
      <p:sp>
        <p:nvSpPr>
          <p:cNvPr id="19" name="TextBox 18"/>
          <p:cNvSpPr txBox="1"/>
          <p:nvPr/>
        </p:nvSpPr>
        <p:spPr>
          <a:xfrm>
            <a:off x="1847088" y="3214116"/>
            <a:ext cx="3529583"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预训练空间已经连接语义</a:t>
            </a:r>
          </a:p>
        </p:txBody>
      </p:sp>
      <p:sp>
        <p:nvSpPr>
          <p:cNvPr id="20" name="TextBox 19"/>
          <p:cNvSpPr txBox="1"/>
          <p:nvPr/>
        </p:nvSpPr>
        <p:spPr>
          <a:xfrm>
            <a:off x="1847088" y="3611880"/>
            <a:ext cx="3529583" cy="749808"/>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CLIP / ImageBind 提供不同模态到共享空间的映射。</a:t>
            </a:r>
          </a:p>
        </p:txBody>
      </p:sp>
      <p:sp>
        <p:nvSpPr>
          <p:cNvPr id="21" name="Rounded Rectangle 20"/>
          <p:cNvSpPr/>
          <p:nvPr/>
        </p:nvSpPr>
        <p:spPr>
          <a:xfrm>
            <a:off x="749808" y="4453128"/>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813815" y="4480560"/>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设想</a:t>
            </a:r>
          </a:p>
        </p:txBody>
      </p:sp>
      <p:sp>
        <p:nvSpPr>
          <p:cNvPr id="23" name="TextBox 22"/>
          <p:cNvSpPr txBox="1"/>
          <p:nvPr/>
        </p:nvSpPr>
        <p:spPr>
          <a:xfrm>
            <a:off x="1847088" y="4448556"/>
            <a:ext cx="3529583"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先学会把文字表征解码</a:t>
            </a:r>
          </a:p>
        </p:txBody>
      </p:sp>
      <p:sp>
        <p:nvSpPr>
          <p:cNvPr id="24" name="TextBox 23"/>
          <p:cNvSpPr txBox="1"/>
          <p:nvPr/>
        </p:nvSpPr>
        <p:spPr>
          <a:xfrm>
            <a:off x="1847088" y="4846320"/>
            <a:ext cx="3529583" cy="612648"/>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下游只用文字做重建；推理时改为图片输入。</a:t>
            </a:r>
          </a:p>
        </p:txBody>
      </p:sp>
      <p:sp>
        <p:nvSpPr>
          <p:cNvPr id="25" name="Rounded Rectangle 24"/>
          <p:cNvSpPr/>
          <p:nvPr/>
        </p:nvSpPr>
        <p:spPr>
          <a:xfrm>
            <a:off x="5843016" y="1307592"/>
            <a:ext cx="5852160" cy="2907792"/>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Oval 25"/>
          <p:cNvSpPr/>
          <p:nvPr/>
        </p:nvSpPr>
        <p:spPr>
          <a:xfrm>
            <a:off x="6044183"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6044183"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8" name="TextBox 27"/>
          <p:cNvSpPr txBox="1"/>
          <p:nvPr/>
        </p:nvSpPr>
        <p:spPr>
          <a:xfrm>
            <a:off x="6510527" y="1504187"/>
            <a:ext cx="4946904"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训练与测试交换了哪一环？</a:t>
            </a:r>
          </a:p>
        </p:txBody>
      </p:sp>
      <p:sp>
        <p:nvSpPr>
          <p:cNvPr id="29" name="Rounded Rectangle 28"/>
          <p:cNvSpPr/>
          <p:nvPr/>
        </p:nvSpPr>
        <p:spPr>
          <a:xfrm>
            <a:off x="6117336" y="2020824"/>
            <a:ext cx="731520"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6181344" y="2048255"/>
            <a:ext cx="603504"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训练</a:t>
            </a:r>
          </a:p>
        </p:txBody>
      </p:sp>
      <p:pic>
        <p:nvPicPr>
          <p:cNvPr id="31" name="Picture 30" descr="trainplain.png"/>
          <p:cNvPicPr>
            <a:picLocks noChangeAspect="1"/>
          </p:cNvPicPr>
          <p:nvPr/>
        </p:nvPicPr>
        <p:blipFill>
          <a:blip r:embed="rId3"/>
          <a:stretch>
            <a:fillRect/>
          </a:stretch>
        </p:blipFill>
        <p:spPr>
          <a:xfrm>
            <a:off x="6922008" y="1998900"/>
            <a:ext cx="4434840" cy="555910"/>
          </a:xfrm>
          <a:prstGeom prst="rect">
            <a:avLst/>
          </a:prstGeom>
        </p:spPr>
      </p:pic>
      <p:sp>
        <p:nvSpPr>
          <p:cNvPr id="32" name="TextBox 31"/>
          <p:cNvSpPr txBox="1"/>
          <p:nvPr/>
        </p:nvSpPr>
        <p:spPr>
          <a:xfrm>
            <a:off x="6903720" y="2670048"/>
            <a:ext cx="4471416" cy="530352"/>
          </a:xfrm>
          <a:prstGeom prst="rect">
            <a:avLst/>
          </a:prstGeom>
          <a:noFill/>
        </p:spPr>
        <p:txBody>
          <a:bodyPr wrap="square" lIns="0" tIns="0" rIns="0" bIns="0">
            <a:spAutoFit/>
          </a:bodyPr>
          <a:lstStyle/>
          <a:p>
            <a:pPr>
              <a:lnSpc>
                <a:spcPct val="113000"/>
              </a:lnSpc>
              <a:spcBef>
                <a:spcPts val="0"/>
              </a:spcBef>
              <a:spcAft>
                <a:spcPts val="400"/>
              </a:spcAft>
            </a:pPr>
            <a:r>
              <a:rPr sz="1600" b="0">
                <a:solidFill>
                  <a:srgbClr val="637185"/>
                </a:solidFill>
                <a:latin typeface="微软雅黑" panose="020B0503020204020204" pitchFamily="34" charset="-122"/>
                <a:ea typeface="微软雅黑" panose="020B0503020204020204" pitchFamily="34" charset="-122"/>
              </a:rPr>
              <a:t>文字 → 文本编码器 → 解码器 → 原句</a:t>
            </a:r>
          </a:p>
        </p:txBody>
      </p:sp>
      <p:sp>
        <p:nvSpPr>
          <p:cNvPr id="33" name="Rounded Rectangle 32"/>
          <p:cNvSpPr/>
          <p:nvPr/>
        </p:nvSpPr>
        <p:spPr>
          <a:xfrm>
            <a:off x="6117336" y="3108960"/>
            <a:ext cx="731520"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181344" y="3136391"/>
            <a:ext cx="603504"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测试</a:t>
            </a:r>
          </a:p>
        </p:txBody>
      </p:sp>
      <p:pic>
        <p:nvPicPr>
          <p:cNvPr id="35" name="Picture 34" descr="testplain.png"/>
          <p:cNvPicPr>
            <a:picLocks noChangeAspect="1"/>
          </p:cNvPicPr>
          <p:nvPr/>
        </p:nvPicPr>
        <p:blipFill>
          <a:blip r:embed="rId4"/>
          <a:stretch>
            <a:fillRect/>
          </a:stretch>
        </p:blipFill>
        <p:spPr>
          <a:xfrm>
            <a:off x="6922008" y="3088072"/>
            <a:ext cx="4434840" cy="553838"/>
          </a:xfrm>
          <a:prstGeom prst="rect">
            <a:avLst/>
          </a:prstGeom>
        </p:spPr>
      </p:pic>
      <p:sp>
        <p:nvSpPr>
          <p:cNvPr id="36" name="TextBox 35"/>
          <p:cNvSpPr txBox="1"/>
          <p:nvPr/>
        </p:nvSpPr>
        <p:spPr>
          <a:xfrm>
            <a:off x="6903720" y="3739896"/>
            <a:ext cx="4480560" cy="530352"/>
          </a:xfrm>
          <a:prstGeom prst="rect">
            <a:avLst/>
          </a:prstGeom>
          <a:noFill/>
        </p:spPr>
        <p:txBody>
          <a:bodyPr wrap="square" lIns="0" tIns="0" rIns="0" bIns="0">
            <a:spAutoFit/>
          </a:bodyPr>
          <a:lstStyle/>
          <a:p>
            <a:pPr>
              <a:lnSpc>
                <a:spcPct val="113000"/>
              </a:lnSpc>
              <a:spcBef>
                <a:spcPts val="0"/>
              </a:spcBef>
              <a:spcAft>
                <a:spcPts val="400"/>
              </a:spcAft>
            </a:pPr>
            <a:r>
              <a:rPr sz="1600" b="0">
                <a:solidFill>
                  <a:srgbClr val="637185"/>
                </a:solidFill>
                <a:latin typeface="微软雅黑" panose="020B0503020204020204" pitchFamily="34" charset="-122"/>
                <a:ea typeface="微软雅黑" panose="020B0503020204020204" pitchFamily="34" charset="-122"/>
              </a:rPr>
              <a:t>图片 → 图像编码器 → 同一解码器 → 描述</a:t>
            </a:r>
          </a:p>
        </p:txBody>
      </p:sp>
      <p:sp>
        <p:nvSpPr>
          <p:cNvPr id="37" name="Rounded Rectangle 36"/>
          <p:cNvSpPr/>
          <p:nvPr/>
        </p:nvSpPr>
        <p:spPr>
          <a:xfrm>
            <a:off x="5843016" y="4398264"/>
            <a:ext cx="5852160" cy="1408176"/>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Oval 37"/>
          <p:cNvSpPr/>
          <p:nvPr/>
        </p:nvSpPr>
        <p:spPr>
          <a:xfrm>
            <a:off x="6044183" y="4581144"/>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6044183" y="4631436"/>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03</a:t>
            </a:r>
          </a:p>
        </p:txBody>
      </p:sp>
      <p:sp>
        <p:nvSpPr>
          <p:cNvPr id="42" name="TextBox 41"/>
          <p:cNvSpPr txBox="1"/>
          <p:nvPr/>
        </p:nvSpPr>
        <p:spPr>
          <a:xfrm>
            <a:off x="6510527" y="4594859"/>
            <a:ext cx="4946904"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下游“单模态训练”具体省掉了什么？</a:t>
            </a:r>
          </a:p>
        </p:txBody>
      </p:sp>
      <p:sp>
        <p:nvSpPr>
          <p:cNvPr id="43" name="TextBox 42"/>
          <p:cNvSpPr txBox="1"/>
          <p:nvPr/>
        </p:nvSpPr>
        <p:spPr>
          <a:xfrm>
            <a:off x="6126480" y="5001768"/>
            <a:ext cx="5294376" cy="640080"/>
          </a:xfrm>
          <a:prstGeom prst="rect">
            <a:avLst/>
          </a:prstGeom>
          <a:noFill/>
        </p:spPr>
        <p:txBody>
          <a:bodyPr wrap="square" lIns="0" tIns="0" rIns="0" bIns="0">
            <a:spAutoFit/>
          </a:bodyPr>
          <a:lstStyle/>
          <a:p>
            <a:pPr>
              <a:lnSpc>
                <a:spcPct val="113000"/>
              </a:lnSpc>
              <a:spcBef>
                <a:spcPts val="0"/>
              </a:spcBef>
              <a:spcAft>
                <a:spcPts val="400"/>
              </a:spcAft>
            </a:pPr>
            <a:r>
              <a:rPr sz="1700" b="0">
                <a:solidFill>
                  <a:srgbClr val="26364C"/>
                </a:solidFill>
                <a:latin typeface="微软雅黑" panose="020B0503020204020204" pitchFamily="34" charset="-122"/>
                <a:ea typeface="微软雅黑" panose="020B0503020204020204" pitchFamily="34" charset="-122"/>
              </a:rPr>
              <a:t>预训练：已有多模态数据；校准：两模态各自取样。</a:t>
            </a:r>
          </a:p>
          <a:p>
            <a:pPr>
              <a:lnSpc>
                <a:spcPct val="113000"/>
              </a:lnSpc>
              <a:spcBef>
                <a:spcPts val="0"/>
              </a:spcBef>
              <a:spcAft>
                <a:spcPts val="400"/>
              </a:spcAft>
            </a:pPr>
            <a:r>
              <a:rPr sz="1700" b="0">
                <a:solidFill>
                  <a:srgbClr val="26364C"/>
                </a:solidFill>
                <a:latin typeface="微软雅黑" panose="020B0503020204020204" pitchFamily="34" charset="-122"/>
                <a:ea typeface="微软雅黑" panose="020B0503020204020204" pitchFamily="34" charset="-122"/>
              </a:rPr>
              <a:t>解码器：用文字重建训练，减少下游配对需求。</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2 现有研究痛点：相似度排名正确，仍不保证输入可互换</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03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§1、§2、§6、Appendix A；PDF pp.1–3、9、14。</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研究缺口：不仅要知道“替换后会出错”，还要解释差异在哪里、怎样修复</a:t>
            </a:r>
          </a:p>
        </p:txBody>
      </p:sp>
      <p:sp>
        <p:nvSpPr>
          <p:cNvPr id="9" name="Rounded Rectangle 8"/>
          <p:cNvSpPr/>
          <p:nvPr/>
        </p:nvSpPr>
        <p:spPr>
          <a:xfrm>
            <a:off x="502920" y="1307592"/>
            <a:ext cx="5541264"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4636007"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对比学习与生成任务，要求并不相同</a:t>
            </a:r>
          </a:p>
        </p:txBody>
      </p:sp>
      <p:sp>
        <p:nvSpPr>
          <p:cNvPr id="13" name="TextBox 12"/>
          <p:cNvSpPr txBox="1"/>
          <p:nvPr/>
        </p:nvSpPr>
        <p:spPr>
          <a:xfrm>
            <a:off x="768096" y="1993392"/>
            <a:ext cx="5001768" cy="448056"/>
          </a:xfrm>
          <a:prstGeom prst="rect">
            <a:avLst/>
          </a:prstGeom>
          <a:noFill/>
        </p:spPr>
        <p:txBody>
          <a:bodyPr wrap="square" lIns="0" tIns="0" rIns="0" bIns="0">
            <a:spAutoFit/>
          </a:bodyPr>
          <a:lstStyle/>
          <a:p>
            <a:pPr>
              <a:lnSpc>
                <a:spcPct val="113000"/>
              </a:lnSpc>
              <a:spcBef>
                <a:spcPts val="0"/>
              </a:spcBef>
              <a:spcAft>
                <a:spcPts val="400"/>
              </a:spcAft>
            </a:pPr>
            <a:r>
              <a:rPr sz="1800" b="1">
                <a:solidFill>
                  <a:srgbClr val="26364C"/>
                </a:solidFill>
                <a:latin typeface="微软雅黑" panose="020B0503020204020204" pitchFamily="34" charset="-122"/>
                <a:ea typeface="微软雅黑" panose="020B0503020204020204" pitchFamily="34" charset="-122"/>
              </a:rPr>
              <a:t>对比目标：让正确图文对领先错误配对</a:t>
            </a:r>
          </a:p>
        </p:txBody>
      </p:sp>
      <p:pic>
        <p:nvPicPr>
          <p:cNvPr id="14" name="Picture 13" descr="contrast.png"/>
          <p:cNvPicPr>
            <a:picLocks noChangeAspect="1"/>
          </p:cNvPicPr>
          <p:nvPr/>
        </p:nvPicPr>
        <p:blipFill>
          <a:blip r:embed="rId3"/>
          <a:stretch>
            <a:fillRect/>
          </a:stretch>
        </p:blipFill>
        <p:spPr>
          <a:xfrm>
            <a:off x="2035304" y="2523744"/>
            <a:ext cx="2485638" cy="841248"/>
          </a:xfrm>
          <a:prstGeom prst="rect">
            <a:avLst/>
          </a:prstGeom>
        </p:spPr>
      </p:pic>
      <p:sp>
        <p:nvSpPr>
          <p:cNvPr id="15" name="TextBox 14"/>
          <p:cNvSpPr txBox="1"/>
          <p:nvPr/>
        </p:nvSpPr>
        <p:spPr>
          <a:xfrm>
            <a:off x="768096" y="3547872"/>
            <a:ext cx="5010912" cy="886968"/>
          </a:xfrm>
          <a:prstGeom prst="rect">
            <a:avLst/>
          </a:prstGeom>
          <a:noFill/>
        </p:spPr>
        <p:txBody>
          <a:bodyPr wrap="square" lIns="0" tIns="0" rIns="0" bIns="0">
            <a:spAutoFit/>
          </a:bodyPr>
          <a:lstStyle/>
          <a:p>
            <a:pPr>
              <a:lnSpc>
                <a:spcPct val="113000"/>
              </a:lnSpc>
              <a:spcBef>
                <a:spcPts val="0"/>
              </a:spcBef>
              <a:spcAft>
                <a:spcPts val="400"/>
              </a:spcAft>
            </a:pPr>
            <a:r>
              <a:rPr sz="1800" b="0">
                <a:solidFill>
                  <a:srgbClr val="26364C"/>
                </a:solidFill>
                <a:latin typeface="微软雅黑" panose="020B0503020204020204" pitchFamily="34" charset="-122"/>
                <a:ea typeface="微软雅黑" panose="020B0503020204020204" pitchFamily="34" charset="-122"/>
              </a:rPr>
              <a:t>相对相似度足够高，可以使损失很小；</a:t>
            </a:r>
          </a:p>
          <a:p>
            <a:pPr>
              <a:lnSpc>
                <a:spcPct val="113000"/>
              </a:lnSpc>
              <a:spcBef>
                <a:spcPts val="0"/>
              </a:spcBef>
              <a:spcAft>
                <a:spcPts val="400"/>
              </a:spcAft>
            </a:pPr>
            <a:r>
              <a:rPr sz="1800" b="0">
                <a:solidFill>
                  <a:srgbClr val="26364C"/>
                </a:solidFill>
                <a:latin typeface="微软雅黑" panose="020B0503020204020204" pitchFamily="34" charset="-122"/>
                <a:ea typeface="微软雅黑" panose="020B0503020204020204" pitchFamily="34" charset="-122"/>
              </a:rPr>
              <a:t>并不要求对应图文的向量</a:t>
            </a:r>
            <a:r>
              <a:rPr sz="1800" b="1">
                <a:solidFill>
                  <a:srgbClr val="2853A3"/>
                </a:solidFill>
                <a:latin typeface="微软雅黑" panose="020B0503020204020204" pitchFamily="34" charset="-122"/>
                <a:ea typeface="微软雅黑" panose="020B0503020204020204" pitchFamily="34" charset="-122"/>
              </a:rPr>
              <a:t>逐点重合</a:t>
            </a:r>
            <a:r>
              <a:rPr sz="1800" b="0">
                <a:solidFill>
                  <a:srgbClr val="26364C"/>
                </a:solidFill>
                <a:latin typeface="微软雅黑" panose="020B0503020204020204" pitchFamily="34" charset="-122"/>
                <a:ea typeface="微软雅黑" panose="020B0503020204020204" pitchFamily="34" charset="-122"/>
              </a:rPr>
              <a:t>。</a:t>
            </a:r>
          </a:p>
        </p:txBody>
      </p:sp>
      <p:cxnSp>
        <p:nvCxnSpPr>
          <p:cNvPr id="16" name="Connector 15"/>
          <p:cNvCxnSpPr/>
          <p:nvPr/>
        </p:nvCxnSpPr>
        <p:spPr>
          <a:xfrm>
            <a:off x="768096" y="4489704"/>
            <a:ext cx="4992624"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8096" y="4700016"/>
            <a:ext cx="4983480" cy="795528"/>
          </a:xfrm>
          <a:prstGeom prst="rect">
            <a:avLst/>
          </a:prstGeom>
          <a:noFill/>
        </p:spPr>
        <p:txBody>
          <a:bodyPr wrap="square" lIns="0" tIns="0" rIns="0" bIns="0">
            <a:spAutoFit/>
          </a:bodyPr>
          <a:lstStyle/>
          <a:p>
            <a:pPr>
              <a:lnSpc>
                <a:spcPct val="113000"/>
              </a:lnSpc>
              <a:spcBef>
                <a:spcPts val="0"/>
              </a:spcBef>
              <a:spcAft>
                <a:spcPts val="400"/>
              </a:spcAft>
            </a:pPr>
            <a:r>
              <a:rPr sz="1900" b="0">
                <a:solidFill>
                  <a:srgbClr val="26364C"/>
                </a:solidFill>
                <a:latin typeface="微软雅黑" panose="020B0503020204020204" pitchFamily="34" charset="-122"/>
                <a:ea typeface="微软雅黑" panose="020B0503020204020204" pitchFamily="34" charset="-122"/>
              </a:rPr>
              <a:t>生成器接收的是一个</a:t>
            </a:r>
            <a:r>
              <a:rPr sz="1900" b="1">
                <a:solidFill>
                  <a:srgbClr val="2853A3"/>
                </a:solidFill>
                <a:latin typeface="微软雅黑" panose="020B0503020204020204" pitchFamily="34" charset="-122"/>
                <a:ea typeface="微软雅黑" panose="020B0503020204020204" pitchFamily="34" charset="-122"/>
              </a:rPr>
              <a:t>具体向量</a:t>
            </a:r>
            <a:r>
              <a:rPr sz="1900" b="0">
                <a:solidFill>
                  <a:srgbClr val="26364C"/>
                </a:solidFill>
                <a:latin typeface="微软雅黑" panose="020B0503020204020204" pitchFamily="34" charset="-122"/>
                <a:ea typeface="微软雅黑" panose="020B0503020204020204" pitchFamily="34" charset="-122"/>
              </a:rPr>
              <a:t>。</a:t>
            </a:r>
          </a:p>
          <a:p>
            <a:pPr>
              <a:lnSpc>
                <a:spcPct val="113000"/>
              </a:lnSpc>
              <a:spcBef>
                <a:spcPts val="0"/>
              </a:spcBef>
              <a:spcAft>
                <a:spcPts val="400"/>
              </a:spcAft>
            </a:pPr>
            <a:r>
              <a:rPr sz="1900" b="0">
                <a:solidFill>
                  <a:srgbClr val="26364C"/>
                </a:solidFill>
                <a:latin typeface="微软雅黑" panose="020B0503020204020204" pitchFamily="34" charset="-122"/>
                <a:ea typeface="微软雅黑" panose="020B0503020204020204" pitchFamily="34" charset="-122"/>
              </a:rPr>
              <a:t>换模态后，输入可能偏离训练分布。</a:t>
            </a:r>
          </a:p>
        </p:txBody>
      </p:sp>
      <p:sp>
        <p:nvSpPr>
          <p:cNvPr id="18" name="Rounded Rectangle 17"/>
          <p:cNvSpPr/>
          <p:nvPr/>
        </p:nvSpPr>
        <p:spPr>
          <a:xfrm>
            <a:off x="6236208" y="1307592"/>
            <a:ext cx="5458968"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Oval 18"/>
          <p:cNvSpPr/>
          <p:nvPr/>
        </p:nvSpPr>
        <p:spPr>
          <a:xfrm>
            <a:off x="6437376"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6437376"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2" name="Rounded Rectangle 21"/>
          <p:cNvSpPr/>
          <p:nvPr/>
        </p:nvSpPr>
        <p:spPr>
          <a:xfrm>
            <a:off x="6483096" y="2011680"/>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6547104" y="2039112"/>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已有做法</a:t>
            </a:r>
          </a:p>
        </p:txBody>
      </p:sp>
      <p:sp>
        <p:nvSpPr>
          <p:cNvPr id="24" name="TextBox 23"/>
          <p:cNvSpPr txBox="1"/>
          <p:nvPr/>
        </p:nvSpPr>
        <p:spPr>
          <a:xfrm>
            <a:off x="7580375" y="2007108"/>
            <a:ext cx="3858768"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检索、改写、噪声、先验网络</a:t>
            </a:r>
          </a:p>
        </p:txBody>
      </p:sp>
      <p:sp>
        <p:nvSpPr>
          <p:cNvPr id="26" name="Rounded Rectangle 25"/>
          <p:cNvSpPr/>
          <p:nvPr/>
        </p:nvSpPr>
        <p:spPr>
          <a:xfrm>
            <a:off x="6483096" y="3227832"/>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7580375" y="3223260"/>
            <a:ext cx="3858768"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操作究竟修复哪一种差异？</a:t>
            </a:r>
          </a:p>
        </p:txBody>
      </p:sp>
      <p:sp>
        <p:nvSpPr>
          <p:cNvPr id="30" name="Rounded Rectangle 29"/>
          <p:cNvSpPr/>
          <p:nvPr/>
        </p:nvSpPr>
        <p:spPr>
          <a:xfrm>
            <a:off x="6483096" y="4471416"/>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6547104" y="4498848"/>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本文切入</a:t>
            </a:r>
          </a:p>
        </p:txBody>
      </p:sp>
      <p:sp>
        <p:nvSpPr>
          <p:cNvPr id="32" name="TextBox 31"/>
          <p:cNvSpPr txBox="1"/>
          <p:nvPr/>
        </p:nvSpPr>
        <p:spPr>
          <a:xfrm>
            <a:off x="7580375" y="4466844"/>
            <a:ext cx="3858768"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先分析多模态空间的几何</a:t>
            </a:r>
          </a:p>
        </p:txBody>
      </p:sp>
      <p:sp>
        <p:nvSpPr>
          <p:cNvPr id="34" name="TextBox 33"/>
          <p:cNvSpPr txBox="1"/>
          <p:nvPr/>
        </p:nvSpPr>
        <p:spPr>
          <a:xfrm>
            <a:off x="6903720" y="1504187"/>
            <a:ext cx="4553712"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从已有补救，到几何解释</a:t>
            </a:r>
          </a:p>
        </p:txBody>
      </p:sp>
      <p:sp>
        <p:nvSpPr>
          <p:cNvPr id="35" name="TextBox 34"/>
          <p:cNvSpPr txBox="1"/>
          <p:nvPr/>
        </p:nvSpPr>
        <p:spPr>
          <a:xfrm>
            <a:off x="7580375" y="2404872"/>
            <a:ext cx="3858768" cy="676656"/>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前作已能完成跨模态生成，也有噪声等有效操作。</a:t>
            </a:r>
          </a:p>
        </p:txBody>
      </p:sp>
      <p:sp>
        <p:nvSpPr>
          <p:cNvPr id="36" name="TextBox 35"/>
          <p:cNvSpPr txBox="1"/>
          <p:nvPr/>
        </p:nvSpPr>
        <p:spPr>
          <a:xfrm>
            <a:off x="6547104" y="3255263"/>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待解释</a:t>
            </a:r>
          </a:p>
        </p:txBody>
      </p:sp>
      <p:sp>
        <p:nvSpPr>
          <p:cNvPr id="37" name="TextBox 36"/>
          <p:cNvSpPr txBox="1"/>
          <p:nvPr/>
        </p:nvSpPr>
        <p:spPr>
          <a:xfrm>
            <a:off x="7580375" y="3621024"/>
            <a:ext cx="3858768" cy="676656"/>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主要差在中心偏移，还是逐对残差？</a:t>
            </a:r>
          </a:p>
        </p:txBody>
      </p:sp>
      <p:sp>
        <p:nvSpPr>
          <p:cNvPr id="38" name="TextBox 37"/>
          <p:cNvSpPr txBox="1"/>
          <p:nvPr/>
        </p:nvSpPr>
        <p:spPr>
          <a:xfrm>
            <a:off x="7580375" y="4864607"/>
            <a:ext cx="3858768" cy="621792"/>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先区分共同偏移与局部残差，再设计相应处理。</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3 本文发现：整体模态间隙 + 样本级对齐噪声</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04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§3、Table 1、Figure 2；PDF pp.2–6。统计为原文值；几何关系按近似模型解释。</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“图文语义相近”与“解码输入可互换”之间，还隔着整体偏移与残余误差</a:t>
            </a:r>
          </a:p>
        </p:txBody>
      </p:sp>
      <p:sp>
        <p:nvSpPr>
          <p:cNvPr id="9" name="Rounded Rectangle 8"/>
          <p:cNvSpPr/>
          <p:nvPr/>
        </p:nvSpPr>
        <p:spPr>
          <a:xfrm>
            <a:off x="502920" y="1307592"/>
            <a:ext cx="5084064"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4178807"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将差异分解成两个部分</a:t>
            </a:r>
          </a:p>
        </p:txBody>
      </p:sp>
      <p:pic>
        <p:nvPicPr>
          <p:cNvPr id="13" name="Picture 12" descr="geom.png"/>
          <p:cNvPicPr>
            <a:picLocks noChangeAspect="1"/>
          </p:cNvPicPr>
          <p:nvPr/>
        </p:nvPicPr>
        <p:blipFill>
          <a:blip r:embed="rId3"/>
          <a:stretch>
            <a:fillRect/>
          </a:stretch>
        </p:blipFill>
        <p:spPr>
          <a:xfrm>
            <a:off x="731520" y="2130346"/>
            <a:ext cx="4636008" cy="539907"/>
          </a:xfrm>
          <a:prstGeom prst="rect">
            <a:avLst/>
          </a:prstGeom>
        </p:spPr>
      </p:pic>
      <p:sp>
        <p:nvSpPr>
          <p:cNvPr id="14" name="Rounded Rectangle 13"/>
          <p:cNvSpPr/>
          <p:nvPr/>
        </p:nvSpPr>
        <p:spPr>
          <a:xfrm>
            <a:off x="749808" y="2898648"/>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813815" y="2926079"/>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固定项</a:t>
            </a:r>
          </a:p>
        </p:txBody>
      </p:sp>
      <p:sp>
        <p:nvSpPr>
          <p:cNvPr id="16" name="TextBox 15"/>
          <p:cNvSpPr txBox="1"/>
          <p:nvPr/>
        </p:nvSpPr>
        <p:spPr>
          <a:xfrm>
            <a:off x="1847088" y="2894076"/>
            <a:ext cx="3502152"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Modality gap：整体位置偏移</a:t>
            </a:r>
          </a:p>
        </p:txBody>
      </p:sp>
      <p:sp>
        <p:nvSpPr>
          <p:cNvPr id="17" name="TextBox 16"/>
          <p:cNvSpPr txBox="1"/>
          <p:nvPr/>
        </p:nvSpPr>
        <p:spPr>
          <a:xfrm>
            <a:off x="1847088" y="3291840"/>
            <a:ext cx="3502152" cy="585216"/>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近似稳定；可通过平移整个模态点云处理。</a:t>
            </a:r>
          </a:p>
        </p:txBody>
      </p:sp>
      <p:sp>
        <p:nvSpPr>
          <p:cNvPr id="18" name="Rounded Rectangle 17"/>
          <p:cNvSpPr/>
          <p:nvPr/>
        </p:nvSpPr>
        <p:spPr>
          <a:xfrm>
            <a:off x="749808" y="3977639"/>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813815" y="4005072"/>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残差项</a:t>
            </a:r>
          </a:p>
        </p:txBody>
      </p:sp>
      <p:sp>
        <p:nvSpPr>
          <p:cNvPr id="20" name="TextBox 19"/>
          <p:cNvSpPr txBox="1"/>
          <p:nvPr/>
        </p:nvSpPr>
        <p:spPr>
          <a:xfrm>
            <a:off x="1847088" y="3973068"/>
            <a:ext cx="3502152"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Alignment noise：逐样本误差</a:t>
            </a:r>
          </a:p>
        </p:txBody>
      </p:sp>
      <p:sp>
        <p:nvSpPr>
          <p:cNvPr id="21" name="TextBox 20"/>
          <p:cNvSpPr txBox="1"/>
          <p:nvPr/>
        </p:nvSpPr>
        <p:spPr>
          <a:xfrm>
            <a:off x="1847088" y="4370831"/>
            <a:ext cx="3502152" cy="566928"/>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中心对齐后，对应点仍未必完全重合。</a:t>
            </a:r>
          </a:p>
        </p:txBody>
      </p:sp>
      <p:pic>
        <p:nvPicPr>
          <p:cNvPr id="22" name="Picture 21" descr="ortho.png"/>
          <p:cNvPicPr>
            <a:picLocks noChangeAspect="1"/>
          </p:cNvPicPr>
          <p:nvPr/>
        </p:nvPicPr>
        <p:blipFill>
          <a:blip r:embed="rId4"/>
          <a:stretch>
            <a:fillRect/>
          </a:stretch>
        </p:blipFill>
        <p:spPr>
          <a:xfrm>
            <a:off x="2217716" y="5074920"/>
            <a:ext cx="1819062" cy="420624"/>
          </a:xfrm>
          <a:prstGeom prst="rect">
            <a:avLst/>
          </a:prstGeom>
        </p:spPr>
      </p:pic>
      <p:sp>
        <p:nvSpPr>
          <p:cNvPr id="24" name="Rounded Rectangle 23"/>
          <p:cNvSpPr/>
          <p:nvPr/>
        </p:nvSpPr>
        <p:spPr>
          <a:xfrm>
            <a:off x="5779008" y="1307592"/>
            <a:ext cx="5916168" cy="2843784"/>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Oval 24"/>
          <p:cNvSpPr/>
          <p:nvPr/>
        </p:nvSpPr>
        <p:spPr>
          <a:xfrm>
            <a:off x="5980176"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5980176"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7" name="TextBox 26"/>
          <p:cNvSpPr txBox="1"/>
          <p:nvPr/>
        </p:nvSpPr>
        <p:spPr>
          <a:xfrm>
            <a:off x="6446520" y="1504187"/>
            <a:ext cx="5010912"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Figure 2｜两种模态占据不同位置</a:t>
            </a:r>
          </a:p>
        </p:txBody>
      </p:sp>
      <p:pic>
        <p:nvPicPr>
          <p:cNvPr id="28" name="Picture 27" descr="fig2_geometry.png"/>
          <p:cNvPicPr>
            <a:picLocks noChangeAspect="1"/>
          </p:cNvPicPr>
          <p:nvPr/>
        </p:nvPicPr>
        <p:blipFill>
          <a:blip r:embed="rId5"/>
          <a:stretch>
            <a:fillRect/>
          </a:stretch>
        </p:blipFill>
        <p:spPr>
          <a:xfrm>
            <a:off x="6867459" y="1901952"/>
            <a:ext cx="3711833" cy="1993392"/>
          </a:xfrm>
          <a:prstGeom prst="rect">
            <a:avLst/>
          </a:prstGeom>
        </p:spPr>
      </p:pic>
      <p:sp>
        <p:nvSpPr>
          <p:cNvPr id="29" name="Rounded Rectangle 28"/>
          <p:cNvSpPr/>
          <p:nvPr/>
        </p:nvSpPr>
        <p:spPr>
          <a:xfrm>
            <a:off x="5779008" y="4343400"/>
            <a:ext cx="5916168" cy="1463040"/>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Oval 29"/>
          <p:cNvSpPr/>
          <p:nvPr/>
        </p:nvSpPr>
        <p:spPr>
          <a:xfrm>
            <a:off x="5980176" y="4526280"/>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5980176" y="4576572"/>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03</a:t>
            </a:r>
          </a:p>
        </p:txBody>
      </p:sp>
      <p:sp>
        <p:nvSpPr>
          <p:cNvPr id="32" name="TextBox 31"/>
          <p:cNvSpPr txBox="1"/>
          <p:nvPr/>
        </p:nvSpPr>
        <p:spPr>
          <a:xfrm>
            <a:off x="6446520" y="4539996"/>
            <a:ext cx="5010912"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Table 1｜经验统计支持这一解释</a:t>
            </a:r>
          </a:p>
        </p:txBody>
      </p:sp>
      <p:sp>
        <p:nvSpPr>
          <p:cNvPr id="33" name="TextBox 32"/>
          <p:cNvSpPr txBox="1"/>
          <p:nvPr/>
        </p:nvSpPr>
        <p:spPr>
          <a:xfrm>
            <a:off x="6053328" y="4965192"/>
            <a:ext cx="5349240" cy="685800"/>
          </a:xfrm>
          <a:prstGeom prst="rect">
            <a:avLst/>
          </a:prstGeom>
          <a:noFill/>
        </p:spPr>
        <p:txBody>
          <a:bodyPr wrap="square" lIns="0" tIns="0" rIns="0" bIns="0">
            <a:spAutoFit/>
          </a:bodyPr>
          <a:lstStyle/>
          <a:p>
            <a:pPr>
              <a:lnSpc>
                <a:spcPct val="113000"/>
              </a:lnSpc>
              <a:spcBef>
                <a:spcPts val="0"/>
              </a:spcBef>
              <a:spcAft>
                <a:spcPts val="400"/>
              </a:spcAft>
            </a:pPr>
            <a:r>
              <a:rPr sz="1700" b="0">
                <a:solidFill>
                  <a:srgbClr val="26364C"/>
                </a:solidFill>
                <a:latin typeface="微软雅黑" panose="020B0503020204020204" pitchFamily="34" charset="-122"/>
                <a:ea typeface="微软雅黑" panose="020B0503020204020204" pitchFamily="34" charset="-122"/>
              </a:rPr>
              <a:t>偏移长度约 </a:t>
            </a:r>
            <a:r>
              <a:rPr sz="1700" b="1">
                <a:solidFill>
                  <a:srgbClr val="2853A3"/>
                </a:solidFill>
                <a:latin typeface="微软雅黑" panose="020B0503020204020204" pitchFamily="34" charset="-122"/>
                <a:ea typeface="微软雅黑" panose="020B0503020204020204" pitchFamily="34" charset="-122"/>
              </a:rPr>
              <a:t>0.83</a:t>
            </a:r>
            <a:r>
              <a:rPr sz="1700" b="0">
                <a:solidFill>
                  <a:srgbClr val="26364C"/>
                </a:solidFill>
                <a:latin typeface="微软雅黑" panose="020B0503020204020204" pitchFamily="34" charset="-122"/>
                <a:ea typeface="微软雅黑" panose="020B0503020204020204" pitchFamily="34" charset="-122"/>
              </a:rPr>
              <a:t>；组间方向余弦约 </a:t>
            </a:r>
            <a:r>
              <a:rPr sz="1700" b="1">
                <a:solidFill>
                  <a:srgbClr val="2853A3"/>
                </a:solidFill>
                <a:latin typeface="微软雅黑" panose="020B0503020204020204" pitchFamily="34" charset="-122"/>
                <a:ea typeface="微软雅黑" panose="020B0503020204020204" pitchFamily="34" charset="-122"/>
              </a:rPr>
              <a:t>0.99</a:t>
            </a:r>
            <a:r>
              <a:rPr sz="1700" b="0">
                <a:solidFill>
                  <a:srgbClr val="26364C"/>
                </a:solidFill>
                <a:latin typeface="微软雅黑" panose="020B0503020204020204" pitchFamily="34" charset="-122"/>
                <a:ea typeface="微软雅黑" panose="020B0503020204020204" pitchFamily="34" charset="-122"/>
              </a:rPr>
              <a:t>。</a:t>
            </a:r>
          </a:p>
          <a:p>
            <a:pPr>
              <a:lnSpc>
                <a:spcPct val="113000"/>
              </a:lnSpc>
              <a:spcBef>
                <a:spcPts val="0"/>
              </a:spcBef>
              <a:spcAft>
                <a:spcPts val="400"/>
              </a:spcAft>
            </a:pPr>
            <a:r>
              <a:rPr sz="1700" b="0">
                <a:solidFill>
                  <a:srgbClr val="26364C"/>
                </a:solidFill>
                <a:latin typeface="微软雅黑" panose="020B0503020204020204" pitchFamily="34" charset="-122"/>
                <a:ea typeface="微软雅黑" panose="020B0503020204020204" pitchFamily="34" charset="-122"/>
              </a:rPr>
              <a:t>偏移与模态内部差向量余弦均值约 </a:t>
            </a:r>
            <a:r>
              <a:rPr sz="1700" b="1">
                <a:solidFill>
                  <a:srgbClr val="2853A3"/>
                </a:solidFill>
                <a:latin typeface="微软雅黑" panose="020B0503020204020204" pitchFamily="34" charset="-122"/>
                <a:ea typeface="微软雅黑" panose="020B0503020204020204" pitchFamily="34" charset="-122"/>
              </a:rPr>
              <a:t>0</a:t>
            </a:r>
            <a:r>
              <a:rPr sz="1700" b="0">
                <a:solidFill>
                  <a:srgbClr val="26364C"/>
                </a:solidFill>
                <a:latin typeface="微软雅黑" panose="020B0503020204020204" pitchFamily="34" charset="-122"/>
                <a:ea typeface="微软雅黑" panose="020B0503020204020204" pitchFamily="34" charset="-122"/>
              </a:rPr>
              <a:t>。</a:t>
            </a:r>
          </a:p>
        </p:txBody>
      </p:sp>
      <p:sp>
        <p:nvSpPr>
          <p:cNvPr id="34" name="TextBox 33"/>
          <p:cNvSpPr txBox="1"/>
          <p:nvPr/>
        </p:nvSpPr>
        <p:spPr>
          <a:xfrm>
            <a:off x="758952" y="5532120"/>
            <a:ext cx="4535424" cy="530352"/>
          </a:xfrm>
          <a:prstGeom prst="rect">
            <a:avLst/>
          </a:prstGeom>
          <a:noFill/>
        </p:spPr>
        <p:txBody>
          <a:bodyPr wrap="square" lIns="0" tIns="0" rIns="0" bIns="0">
            <a:spAutoFit/>
          </a:bodyPr>
          <a:lstStyle/>
          <a:p>
            <a:pPr>
              <a:lnSpc>
                <a:spcPct val="113000"/>
              </a:lnSpc>
              <a:spcBef>
                <a:spcPts val="0"/>
              </a:spcBef>
              <a:spcAft>
                <a:spcPts val="400"/>
              </a:spcAft>
            </a:pPr>
            <a:r>
              <a:rPr sz="1200" b="0">
                <a:solidFill>
                  <a:srgbClr val="637185"/>
                </a:solidFill>
                <a:latin typeface="微软雅黑" panose="020B0503020204020204" pitchFamily="34" charset="-122"/>
                <a:ea typeface="微软雅黑" panose="020B0503020204020204" pitchFamily="34" charset="-122"/>
              </a:rPr>
              <a:t>⊥：偏移与模态内部差向量近似正交。</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3 理论解释：为什么对比优化没有自动消除这些差异？</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05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§3.1–3.2，Lemmas 1–2，Figures 3、5；PDF pp.4–6；条件推导见 Appendix B。</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502920" y="1307592"/>
            <a:ext cx="5532120"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4626864"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模态间隙｜初始化与优化方向</a:t>
            </a:r>
          </a:p>
        </p:txBody>
      </p:sp>
      <p:pic>
        <p:nvPicPr>
          <p:cNvPr id="14" name="Picture 13" descr="gradient.png"/>
          <p:cNvPicPr>
            <a:picLocks noChangeAspect="1"/>
          </p:cNvPicPr>
          <p:nvPr/>
        </p:nvPicPr>
        <p:blipFill>
          <a:blip r:embed="rId3"/>
          <a:stretch>
            <a:fillRect/>
          </a:stretch>
        </p:blipFill>
        <p:spPr>
          <a:xfrm>
            <a:off x="2022801" y="2715768"/>
            <a:ext cx="2483213" cy="585216"/>
          </a:xfrm>
          <a:prstGeom prst="rect">
            <a:avLst/>
          </a:prstGeom>
        </p:spPr>
      </p:pic>
      <p:pic>
        <p:nvPicPr>
          <p:cNvPr id="15" name="Picture 14" descr="fig3_spectrum.png"/>
          <p:cNvPicPr>
            <a:picLocks noChangeAspect="1"/>
          </p:cNvPicPr>
          <p:nvPr/>
        </p:nvPicPr>
        <p:blipFill>
          <a:blip r:embed="rId4"/>
          <a:stretch>
            <a:fillRect/>
          </a:stretch>
        </p:blipFill>
        <p:spPr>
          <a:xfrm>
            <a:off x="1176661" y="3419856"/>
            <a:ext cx="4120629" cy="1673352"/>
          </a:xfrm>
          <a:prstGeom prst="rect">
            <a:avLst/>
          </a:prstGeom>
        </p:spPr>
      </p:pic>
      <p:sp>
        <p:nvSpPr>
          <p:cNvPr id="17" name="Rounded Rectangle 16"/>
          <p:cNvSpPr/>
          <p:nvPr/>
        </p:nvSpPr>
        <p:spPr>
          <a:xfrm>
            <a:off x="6236208" y="1307592"/>
            <a:ext cx="5458968"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Oval 17"/>
          <p:cNvSpPr/>
          <p:nvPr/>
        </p:nvSpPr>
        <p:spPr>
          <a:xfrm>
            <a:off x="6437376"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6437376"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0" name="TextBox 19"/>
          <p:cNvSpPr txBox="1"/>
          <p:nvPr/>
        </p:nvSpPr>
        <p:spPr>
          <a:xfrm>
            <a:off x="6903720" y="1504187"/>
            <a:ext cx="4553712"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对齐噪声｜足够好的排名即可低损失</a:t>
            </a:r>
          </a:p>
        </p:txBody>
      </p:sp>
      <p:pic>
        <p:nvPicPr>
          <p:cNvPr id="21" name="Picture 20" descr="margin.png"/>
          <p:cNvPicPr>
            <a:picLocks noChangeAspect="1"/>
          </p:cNvPicPr>
          <p:nvPr/>
        </p:nvPicPr>
        <p:blipFill>
          <a:blip r:embed="rId5"/>
          <a:stretch>
            <a:fillRect/>
          </a:stretch>
        </p:blipFill>
        <p:spPr>
          <a:xfrm>
            <a:off x="7834338" y="1993392"/>
            <a:ext cx="2244419" cy="512064"/>
          </a:xfrm>
          <a:prstGeom prst="rect">
            <a:avLst/>
          </a:prstGeom>
        </p:spPr>
      </p:pic>
      <p:pic>
        <p:nvPicPr>
          <p:cNvPr id="22" name="Picture 21" descr="marginbound.png"/>
          <p:cNvPicPr>
            <a:picLocks noChangeAspect="1"/>
          </p:cNvPicPr>
          <p:nvPr/>
        </p:nvPicPr>
        <p:blipFill>
          <a:blip r:embed="rId6"/>
          <a:stretch>
            <a:fillRect/>
          </a:stretch>
        </p:blipFill>
        <p:spPr>
          <a:xfrm>
            <a:off x="7117111" y="2660904"/>
            <a:ext cx="3660585" cy="585216"/>
          </a:xfrm>
          <a:prstGeom prst="rect">
            <a:avLst/>
          </a:prstGeom>
        </p:spPr>
      </p:pic>
      <p:pic>
        <p:nvPicPr>
          <p:cNvPr id="23" name="Picture 22" descr="fig5_stable_region.png"/>
          <p:cNvPicPr>
            <a:picLocks noChangeAspect="1"/>
          </p:cNvPicPr>
          <p:nvPr/>
        </p:nvPicPr>
        <p:blipFill>
          <a:blip r:embed="rId7"/>
          <a:stretch>
            <a:fillRect/>
          </a:stretch>
        </p:blipFill>
        <p:spPr>
          <a:xfrm>
            <a:off x="6819689" y="3465576"/>
            <a:ext cx="4246284" cy="1225296"/>
          </a:xfrm>
          <a:prstGeom prst="rect">
            <a:avLst/>
          </a:prstGeom>
        </p:spPr>
      </p:pic>
      <p:sp>
        <p:nvSpPr>
          <p:cNvPr id="24" name="TextBox 23"/>
          <p:cNvSpPr txBox="1"/>
          <p:nvPr/>
        </p:nvSpPr>
        <p:spPr>
          <a:xfrm>
            <a:off x="6510528" y="4901184"/>
            <a:ext cx="4864608" cy="722376"/>
          </a:xfrm>
          <a:prstGeom prst="rect">
            <a:avLst/>
          </a:prstGeom>
          <a:noFill/>
        </p:spPr>
        <p:txBody>
          <a:bodyPr wrap="square" lIns="0" tIns="0" rIns="0" bIns="0">
            <a:spAutoFit/>
          </a:bodyPr>
          <a:lstStyle/>
          <a:p>
            <a:pPr>
              <a:lnSpc>
                <a:spcPct val="113000"/>
              </a:lnSpc>
              <a:spcBef>
                <a:spcPts val="0"/>
              </a:spcBef>
              <a:spcAft>
                <a:spcPts val="400"/>
              </a:spcAft>
            </a:pPr>
            <a:r>
              <a:rPr sz="1600" b="0">
                <a:solidFill>
                  <a:srgbClr val="26364C"/>
                </a:solidFill>
                <a:latin typeface="微软雅黑" panose="020B0503020204020204" pitchFamily="34" charset="-122"/>
                <a:ea typeface="微软雅黑" panose="020B0503020204020204" pitchFamily="34" charset="-122"/>
              </a:rPr>
              <a:t>Fig. 5：低损失对应一个区域，而非唯一点。</a:t>
            </a:r>
          </a:p>
          <a:p>
            <a:pPr>
              <a:lnSpc>
                <a:spcPct val="113000"/>
              </a:lnSpc>
              <a:spcBef>
                <a:spcPts val="0"/>
              </a:spcBef>
              <a:spcAft>
                <a:spcPts val="400"/>
              </a:spcAft>
            </a:pPr>
            <a:r>
              <a:rPr sz="1600" b="1">
                <a:solidFill>
                  <a:srgbClr val="2853A3"/>
                </a:solidFill>
                <a:latin typeface="微软雅黑" panose="020B0503020204020204" pitchFamily="34" charset="-122"/>
                <a:ea typeface="微软雅黑" panose="020B0503020204020204" pitchFamily="34" charset="-122"/>
              </a:rPr>
              <a:t>温度</a:t>
            </a:r>
            <a:r>
              <a:rPr sz="1600" b="0">
                <a:solidFill>
                  <a:srgbClr val="26364C"/>
                </a:solidFill>
                <a:latin typeface="微软雅黑" panose="020B0503020204020204" pitchFamily="34" charset="-122"/>
                <a:ea typeface="微软雅黑" panose="020B0503020204020204" pitchFamily="34" charset="-122"/>
              </a:rPr>
              <a:t>影响稳定区域；“近零”不等于严格为零。</a:t>
            </a:r>
          </a:p>
        </p:txBody>
      </p:sp>
      <p:sp>
        <p:nvSpPr>
          <p:cNvPr id="25" name="TextBox 24"/>
          <p:cNvSpPr txBox="1"/>
          <p:nvPr/>
        </p:nvSpPr>
        <p:spPr>
          <a:xfrm>
            <a:off x="768096" y="1965960"/>
            <a:ext cx="5001768" cy="630936"/>
          </a:xfrm>
          <a:prstGeom prst="rect">
            <a:avLst/>
          </a:prstGeom>
          <a:noFill/>
        </p:spPr>
        <p:txBody>
          <a:bodyPr wrap="square" lIns="0" tIns="0" rIns="0" bIns="0">
            <a:spAutoFit/>
          </a:bodyPr>
          <a:lstStyle/>
          <a:p>
            <a:pPr>
              <a:lnSpc>
                <a:spcPct val="113000"/>
              </a:lnSpc>
              <a:spcBef>
                <a:spcPts val="0"/>
              </a:spcBef>
              <a:spcAft>
                <a:spcPts val="400"/>
              </a:spcAft>
            </a:pPr>
            <a:r>
              <a:rPr sz="1500" b="0">
                <a:solidFill>
                  <a:srgbClr val="26364C"/>
                </a:solidFill>
                <a:latin typeface="微软雅黑" panose="020B0503020204020204" pitchFamily="34" charset="-122"/>
                <a:ea typeface="微软雅黑" panose="020B0503020204020204" pitchFamily="34" charset="-122"/>
              </a:rPr>
              <a:t>初始化时，部分方向的输出变化小，图文中心不同。</a:t>
            </a:r>
          </a:p>
          <a:p>
            <a:pPr>
              <a:lnSpc>
                <a:spcPct val="113000"/>
              </a:lnSpc>
              <a:spcBef>
                <a:spcPts val="0"/>
              </a:spcBef>
              <a:spcAft>
                <a:spcPts val="400"/>
              </a:spcAft>
            </a:pPr>
            <a:r>
              <a:rPr sz="1500" b="0">
                <a:solidFill>
                  <a:srgbClr val="26364C"/>
                </a:solidFill>
                <a:latin typeface="微软雅黑" panose="020B0503020204020204" pitchFamily="34" charset="-122"/>
                <a:ea typeface="微软雅黑" panose="020B0503020204020204" pitchFamily="34" charset="-122"/>
              </a:rPr>
              <a:t>条件分析：表征梯度由另一模态的差向量组合。</a:t>
            </a:r>
          </a:p>
        </p:txBody>
      </p:sp>
      <p:sp>
        <p:nvSpPr>
          <p:cNvPr id="26" name="TextBox 25"/>
          <p:cNvSpPr txBox="1"/>
          <p:nvPr/>
        </p:nvSpPr>
        <p:spPr>
          <a:xfrm>
            <a:off x="777240" y="5276088"/>
            <a:ext cx="4974336" cy="530352"/>
          </a:xfrm>
          <a:prstGeom prst="rect">
            <a:avLst/>
          </a:prstGeom>
          <a:noFill/>
        </p:spPr>
        <p:txBody>
          <a:bodyPr wrap="square" lIns="0" tIns="0" rIns="0" bIns="0">
            <a:spAutoFit/>
          </a:bodyPr>
          <a:lstStyle/>
          <a:p>
            <a:pPr>
              <a:lnSpc>
                <a:spcPct val="113000"/>
              </a:lnSpc>
              <a:spcBef>
                <a:spcPts val="0"/>
              </a:spcBef>
              <a:spcAft>
                <a:spcPts val="400"/>
              </a:spcAft>
            </a:pPr>
            <a:r>
              <a:rPr sz="1250" b="0">
                <a:solidFill>
                  <a:srgbClr val="637185"/>
                </a:solidFill>
                <a:latin typeface="微软雅黑" panose="020B0503020204020204" pitchFamily="34" charset="-122"/>
                <a:ea typeface="微软雅黑" panose="020B0503020204020204" pitchFamily="34" charset="-122"/>
              </a:rPr>
              <a:t>Fig. 3：随机初始化的 CLIP；有效维数低于512。</a:t>
            </a:r>
          </a:p>
          <a:p>
            <a:pPr>
              <a:lnSpc>
                <a:spcPct val="113000"/>
              </a:lnSpc>
              <a:spcBef>
                <a:spcPts val="0"/>
              </a:spcBef>
              <a:spcAft>
                <a:spcPts val="400"/>
              </a:spcAft>
            </a:pPr>
            <a:r>
              <a:rPr sz="1250" b="0">
                <a:solidFill>
                  <a:srgbClr val="637185"/>
                </a:solidFill>
                <a:latin typeface="微软雅黑" panose="020B0503020204020204" pitchFamily="34" charset="-122"/>
                <a:ea typeface="微软雅黑" panose="020B0503020204020204" pitchFamily="34" charset="-122"/>
              </a:rPr>
              <a:t>表征层的条件解释，不等同于任意网络参数更新。</a:t>
            </a:r>
          </a:p>
        </p:txBody>
      </p:sp>
      <p:sp>
        <p:nvSpPr>
          <p:cNvPr id="27" name="TextBox 26"/>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条件解释：初始化可能留下共同偏移；低对比损失仍容许逐样本残差</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06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§4，PDF pp.6–7；Algorithm 1，p.19。方法概览为重绘。</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502920" y="1389888"/>
            <a:ext cx="3602736" cy="3154680"/>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572768"/>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623060"/>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86484"/>
            <a:ext cx="2697480"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Connect</a:t>
            </a:r>
          </a:p>
        </p:txBody>
      </p:sp>
      <p:sp>
        <p:nvSpPr>
          <p:cNvPr id="13" name="TextBox 12"/>
          <p:cNvSpPr txBox="1"/>
          <p:nvPr/>
        </p:nvSpPr>
        <p:spPr>
          <a:xfrm>
            <a:off x="722376" y="2212848"/>
            <a:ext cx="3172968" cy="969264"/>
          </a:xfrm>
          <a:prstGeom prst="rect">
            <a:avLst/>
          </a:prstGeom>
          <a:noFill/>
        </p:spPr>
        <p:txBody>
          <a:bodyPr wrap="square" lIns="0" tIns="0" rIns="0" bIns="0">
            <a:spAutoFit/>
          </a:bodyPr>
          <a:lstStyle/>
          <a:p>
            <a:pPr>
              <a:lnSpc>
                <a:spcPct val="113000"/>
              </a:lnSpc>
              <a:spcBef>
                <a:spcPts val="0"/>
              </a:spcBef>
              <a:spcAft>
                <a:spcPts val="400"/>
              </a:spcAft>
            </a:pPr>
            <a:r>
              <a:rPr sz="1800" b="0">
                <a:solidFill>
                  <a:srgbClr val="26364C"/>
                </a:solidFill>
                <a:latin typeface="微软雅黑" panose="020B0503020204020204" pitchFamily="34" charset="-122"/>
                <a:ea typeface="微软雅黑" panose="020B0503020204020204" pitchFamily="34" charset="-122"/>
              </a:rPr>
              <a:t>复用预训练编码器</a:t>
            </a:r>
          </a:p>
          <a:p>
            <a:pPr>
              <a:lnSpc>
                <a:spcPct val="113000"/>
              </a:lnSpc>
              <a:spcBef>
                <a:spcPts val="0"/>
              </a:spcBef>
              <a:spcAft>
                <a:spcPts val="400"/>
              </a:spcAft>
            </a:pPr>
            <a:r>
              <a:rPr sz="1800" b="0">
                <a:solidFill>
                  <a:srgbClr val="26364C"/>
                </a:solidFill>
                <a:latin typeface="微软雅黑" panose="020B0503020204020204" pitchFamily="34" charset="-122"/>
                <a:ea typeface="微软雅黑" panose="020B0503020204020204" pitchFamily="34" charset="-122"/>
              </a:rPr>
              <a:t>保留已有跨模态语义联系</a:t>
            </a:r>
          </a:p>
        </p:txBody>
      </p:sp>
      <p:pic>
        <p:nvPicPr>
          <p:cNvPr id="14" name="Picture 13" descr="trainplain.png"/>
          <p:cNvPicPr>
            <a:picLocks noChangeAspect="1"/>
          </p:cNvPicPr>
          <p:nvPr/>
        </p:nvPicPr>
        <p:blipFill>
          <a:blip r:embed="rId3"/>
          <a:stretch>
            <a:fillRect/>
          </a:stretch>
        </p:blipFill>
        <p:spPr>
          <a:xfrm>
            <a:off x="667512" y="3484432"/>
            <a:ext cx="3273552" cy="410342"/>
          </a:xfrm>
          <a:prstGeom prst="rect">
            <a:avLst/>
          </a:prstGeom>
        </p:spPr>
      </p:pic>
      <p:sp>
        <p:nvSpPr>
          <p:cNvPr id="15" name="Rounded Rectangle 14"/>
          <p:cNvSpPr/>
          <p:nvPr/>
        </p:nvSpPr>
        <p:spPr>
          <a:xfrm>
            <a:off x="4297680" y="1389888"/>
            <a:ext cx="3602736" cy="3154680"/>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Oval 15"/>
          <p:cNvSpPr/>
          <p:nvPr/>
        </p:nvSpPr>
        <p:spPr>
          <a:xfrm>
            <a:off x="4498848" y="1572768"/>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498848" y="1623060"/>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18" name="TextBox 17"/>
          <p:cNvSpPr txBox="1"/>
          <p:nvPr/>
        </p:nvSpPr>
        <p:spPr>
          <a:xfrm>
            <a:off x="4965192" y="1586484"/>
            <a:ext cx="2697480"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Collapse</a:t>
            </a:r>
          </a:p>
        </p:txBody>
      </p:sp>
      <p:sp>
        <p:nvSpPr>
          <p:cNvPr id="19" name="TextBox 18"/>
          <p:cNvSpPr txBox="1"/>
          <p:nvPr/>
        </p:nvSpPr>
        <p:spPr>
          <a:xfrm>
            <a:off x="4517136" y="2212848"/>
            <a:ext cx="3172968" cy="969264"/>
          </a:xfrm>
          <a:prstGeom prst="rect">
            <a:avLst/>
          </a:prstGeom>
          <a:noFill/>
        </p:spPr>
        <p:txBody>
          <a:bodyPr wrap="square" lIns="0" tIns="0" rIns="0" bIns="0">
            <a:spAutoFit/>
          </a:bodyPr>
          <a:lstStyle/>
          <a:p>
            <a:pPr>
              <a:lnSpc>
                <a:spcPct val="113000"/>
              </a:lnSpc>
              <a:spcBef>
                <a:spcPts val="0"/>
              </a:spcBef>
              <a:spcAft>
                <a:spcPts val="400"/>
              </a:spcAft>
            </a:pPr>
            <a:r>
              <a:rPr sz="1800" b="0">
                <a:solidFill>
                  <a:srgbClr val="26364C"/>
                </a:solidFill>
                <a:latin typeface="微软雅黑" panose="020B0503020204020204" pitchFamily="34" charset="-122"/>
                <a:ea typeface="微软雅黑" panose="020B0503020204020204" pitchFamily="34" charset="-122"/>
              </a:rPr>
              <a:t>分别减去模态均值</a:t>
            </a:r>
          </a:p>
          <a:p>
            <a:pPr>
              <a:lnSpc>
                <a:spcPct val="113000"/>
              </a:lnSpc>
              <a:spcBef>
                <a:spcPts val="0"/>
              </a:spcBef>
              <a:spcAft>
                <a:spcPts val="400"/>
              </a:spcAft>
            </a:pPr>
            <a:r>
              <a:rPr sz="1800" b="0">
                <a:solidFill>
                  <a:srgbClr val="26364C"/>
                </a:solidFill>
                <a:latin typeface="微软雅黑" panose="020B0503020204020204" pitchFamily="34" charset="-122"/>
                <a:ea typeface="微软雅黑" panose="020B0503020204020204" pitchFamily="34" charset="-122"/>
              </a:rPr>
              <a:t>降低整体位置差异</a:t>
            </a:r>
          </a:p>
        </p:txBody>
      </p:sp>
      <p:pic>
        <p:nvPicPr>
          <p:cNvPr id="20" name="Picture 19" descr="center.png"/>
          <p:cNvPicPr>
            <a:picLocks noChangeAspect="1"/>
          </p:cNvPicPr>
          <p:nvPr/>
        </p:nvPicPr>
        <p:blipFill>
          <a:blip r:embed="rId4"/>
          <a:stretch>
            <a:fillRect/>
          </a:stretch>
        </p:blipFill>
        <p:spPr>
          <a:xfrm>
            <a:off x="4462272" y="3482106"/>
            <a:ext cx="3273551" cy="414995"/>
          </a:xfrm>
          <a:prstGeom prst="rect">
            <a:avLst/>
          </a:prstGeom>
        </p:spPr>
      </p:pic>
      <p:sp>
        <p:nvSpPr>
          <p:cNvPr id="21" name="Rounded Rectangle 20"/>
          <p:cNvSpPr/>
          <p:nvPr/>
        </p:nvSpPr>
        <p:spPr>
          <a:xfrm>
            <a:off x="8092440" y="1389888"/>
            <a:ext cx="3602736" cy="3154680"/>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Oval 21"/>
          <p:cNvSpPr/>
          <p:nvPr/>
        </p:nvSpPr>
        <p:spPr>
          <a:xfrm>
            <a:off x="8293608" y="1572768"/>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8293608" y="1623060"/>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03</a:t>
            </a:r>
          </a:p>
        </p:txBody>
      </p:sp>
      <p:sp>
        <p:nvSpPr>
          <p:cNvPr id="24" name="TextBox 23"/>
          <p:cNvSpPr txBox="1"/>
          <p:nvPr/>
        </p:nvSpPr>
        <p:spPr>
          <a:xfrm>
            <a:off x="8759952" y="1586484"/>
            <a:ext cx="2697480"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Corrupt</a:t>
            </a:r>
          </a:p>
        </p:txBody>
      </p:sp>
      <p:sp>
        <p:nvSpPr>
          <p:cNvPr id="25" name="TextBox 24"/>
          <p:cNvSpPr txBox="1"/>
          <p:nvPr/>
        </p:nvSpPr>
        <p:spPr>
          <a:xfrm>
            <a:off x="8311896" y="2212848"/>
            <a:ext cx="3172968" cy="969264"/>
          </a:xfrm>
          <a:prstGeom prst="rect">
            <a:avLst/>
          </a:prstGeom>
          <a:noFill/>
        </p:spPr>
        <p:txBody>
          <a:bodyPr wrap="square" lIns="0" tIns="0" rIns="0" bIns="0">
            <a:spAutoFit/>
          </a:bodyPr>
          <a:lstStyle/>
          <a:p>
            <a:pPr>
              <a:lnSpc>
                <a:spcPct val="113000"/>
              </a:lnSpc>
              <a:spcBef>
                <a:spcPts val="0"/>
              </a:spcBef>
              <a:spcAft>
                <a:spcPts val="400"/>
              </a:spcAft>
            </a:pPr>
            <a:r>
              <a:rPr sz="1800" b="0">
                <a:solidFill>
                  <a:srgbClr val="26364C"/>
                </a:solidFill>
                <a:latin typeface="微软雅黑" panose="020B0503020204020204" pitchFamily="34" charset="-122"/>
                <a:ea typeface="微软雅黑" panose="020B0503020204020204" pitchFamily="34" charset="-122"/>
              </a:rPr>
              <a:t>训练表征加入随机扰动</a:t>
            </a:r>
          </a:p>
          <a:p>
            <a:pPr>
              <a:lnSpc>
                <a:spcPct val="113000"/>
              </a:lnSpc>
              <a:spcBef>
                <a:spcPts val="0"/>
              </a:spcBef>
              <a:spcAft>
                <a:spcPts val="400"/>
              </a:spcAft>
            </a:pPr>
            <a:r>
              <a:rPr sz="1800" b="0">
                <a:solidFill>
                  <a:srgbClr val="26364C"/>
                </a:solidFill>
                <a:latin typeface="微软雅黑" panose="020B0503020204020204" pitchFamily="34" charset="-122"/>
                <a:ea typeface="微软雅黑" panose="020B0503020204020204" pitchFamily="34" charset="-122"/>
              </a:rPr>
              <a:t>使解码器适应邻近输入</a:t>
            </a:r>
          </a:p>
        </p:txBody>
      </p:sp>
      <p:sp>
        <p:nvSpPr>
          <p:cNvPr id="27" name="Rounded Rectangle 26"/>
          <p:cNvSpPr/>
          <p:nvPr/>
        </p:nvSpPr>
        <p:spPr>
          <a:xfrm>
            <a:off x="502920" y="4745736"/>
            <a:ext cx="11192256" cy="1060704"/>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Oval 27"/>
          <p:cNvSpPr/>
          <p:nvPr/>
        </p:nvSpPr>
        <p:spPr>
          <a:xfrm>
            <a:off x="704088" y="4928616"/>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704088" y="4978908"/>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04</a:t>
            </a:r>
          </a:p>
        </p:txBody>
      </p:sp>
      <p:sp>
        <p:nvSpPr>
          <p:cNvPr id="30" name="TextBox 29"/>
          <p:cNvSpPr txBox="1"/>
          <p:nvPr/>
        </p:nvSpPr>
        <p:spPr>
          <a:xfrm>
            <a:off x="1170432" y="4942332"/>
            <a:ext cx="10287000"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改变发生在哪里？</a:t>
            </a:r>
          </a:p>
        </p:txBody>
      </p:sp>
      <p:sp>
        <p:nvSpPr>
          <p:cNvPr id="31" name="TextBox 30"/>
          <p:cNvSpPr txBox="1"/>
          <p:nvPr/>
        </p:nvSpPr>
        <p:spPr>
          <a:xfrm>
            <a:off x="777240" y="5404104"/>
            <a:ext cx="10607040" cy="301752"/>
          </a:xfrm>
          <a:prstGeom prst="rect">
            <a:avLst/>
          </a:prstGeom>
          <a:noFill/>
        </p:spPr>
        <p:txBody>
          <a:bodyPr wrap="square" lIns="0" tIns="0" rIns="0" bIns="0">
            <a:spAutoFit/>
          </a:bodyPr>
          <a:lstStyle/>
          <a:p>
            <a:pPr>
              <a:lnSpc>
                <a:spcPct val="113000"/>
              </a:lnSpc>
              <a:spcBef>
                <a:spcPts val="0"/>
              </a:spcBef>
              <a:spcAft>
                <a:spcPts val="400"/>
              </a:spcAft>
            </a:pPr>
            <a:r>
              <a:rPr sz="1800" b="0">
                <a:solidFill>
                  <a:srgbClr val="26364C"/>
                </a:solidFill>
                <a:latin typeface="微软雅黑" panose="020B0503020204020204" pitchFamily="34" charset="-122"/>
                <a:ea typeface="微软雅黑" panose="020B0503020204020204" pitchFamily="34" charset="-122"/>
              </a:rPr>
              <a:t>CLIP / ImageBind 编码器冻结；在表征输入侧做校准与扰动，训练下游解码器。</a:t>
            </a:r>
          </a:p>
        </p:txBody>
      </p:sp>
      <p:sp>
        <p:nvSpPr>
          <p:cNvPr id="32" name="TextBox 31"/>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4 解决方案总览：三步如何改善表征的可互换性？</a:t>
            </a:r>
          </a:p>
        </p:txBody>
      </p:sp>
      <p:sp>
        <p:nvSpPr>
          <p:cNvPr id="33" name="TextBox 32"/>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Connect 复用语义联系；Collapse 校准中心；Corrupt 训练解码鲁棒性</a:t>
            </a:r>
          </a:p>
        </p:txBody>
      </p:sp>
      <p:pic>
        <p:nvPicPr>
          <p:cNvPr id="34" name="Picture 33" descr="noise_eta.png"/>
          <p:cNvPicPr>
            <a:picLocks noChangeAspect="1"/>
          </p:cNvPicPr>
          <p:nvPr/>
        </p:nvPicPr>
        <p:blipFill>
          <a:blip r:embed="rId5"/>
          <a:stretch>
            <a:fillRect/>
          </a:stretch>
        </p:blipFill>
        <p:spPr>
          <a:xfrm>
            <a:off x="8257031" y="3546490"/>
            <a:ext cx="3273552" cy="286225"/>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4 Collapse：分别去均值，为何能抵消整体模态偏移？</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07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§4 Collapse，PDF p.6；Algorithm 1，p.19。三维数值为教学示例，未归一化，非论文实测数据。</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去均值只处理中心偏移；它不会自动使逐样本表征或整个分布完全一致</a:t>
            </a:r>
          </a:p>
        </p:txBody>
      </p:sp>
      <p:sp>
        <p:nvSpPr>
          <p:cNvPr id="9" name="Rounded Rectangle 8"/>
          <p:cNvSpPr/>
          <p:nvPr/>
        </p:nvSpPr>
        <p:spPr>
          <a:xfrm>
            <a:off x="502920" y="1307592"/>
            <a:ext cx="6007608"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5102352"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从统计量到校准操作</a:t>
            </a:r>
          </a:p>
        </p:txBody>
      </p:sp>
      <p:sp>
        <p:nvSpPr>
          <p:cNvPr id="13" name="TextBox 12"/>
          <p:cNvSpPr txBox="1"/>
          <p:nvPr/>
        </p:nvSpPr>
        <p:spPr>
          <a:xfrm>
            <a:off x="777240" y="1947672"/>
            <a:ext cx="5458968" cy="384048"/>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先分别估计两个模态的中心：</a:t>
            </a:r>
          </a:p>
        </p:txBody>
      </p:sp>
      <p:pic>
        <p:nvPicPr>
          <p:cNvPr id="14" name="Picture 13" descr="means.png"/>
          <p:cNvPicPr>
            <a:picLocks noChangeAspect="1"/>
          </p:cNvPicPr>
          <p:nvPr/>
        </p:nvPicPr>
        <p:blipFill>
          <a:blip r:embed="rId3"/>
          <a:stretch>
            <a:fillRect/>
          </a:stretch>
        </p:blipFill>
        <p:spPr>
          <a:xfrm>
            <a:off x="1505626" y="2404872"/>
            <a:ext cx="4011338" cy="685800"/>
          </a:xfrm>
          <a:prstGeom prst="rect">
            <a:avLst/>
          </a:prstGeom>
        </p:spPr>
      </p:pic>
      <p:sp>
        <p:nvSpPr>
          <p:cNvPr id="15" name="TextBox 14"/>
          <p:cNvSpPr txBox="1"/>
          <p:nvPr/>
        </p:nvSpPr>
        <p:spPr>
          <a:xfrm>
            <a:off x="777240" y="3319272"/>
            <a:ext cx="5458968" cy="384048"/>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对每个输入，减去所属模态的均值：</a:t>
            </a:r>
          </a:p>
        </p:txBody>
      </p:sp>
      <p:pic>
        <p:nvPicPr>
          <p:cNvPr id="16" name="Picture 15" descr="center.png"/>
          <p:cNvPicPr>
            <a:picLocks noChangeAspect="1"/>
          </p:cNvPicPr>
          <p:nvPr/>
        </p:nvPicPr>
        <p:blipFill>
          <a:blip r:embed="rId4"/>
          <a:stretch>
            <a:fillRect/>
          </a:stretch>
        </p:blipFill>
        <p:spPr>
          <a:xfrm>
            <a:off x="1414973" y="3758184"/>
            <a:ext cx="4183500" cy="530352"/>
          </a:xfrm>
          <a:prstGeom prst="rect">
            <a:avLst/>
          </a:prstGeom>
        </p:spPr>
      </p:pic>
      <p:cxnSp>
        <p:nvCxnSpPr>
          <p:cNvPr id="17" name="Connector 16"/>
          <p:cNvCxnSpPr/>
          <p:nvPr/>
        </p:nvCxnSpPr>
        <p:spPr>
          <a:xfrm>
            <a:off x="768096" y="4535424"/>
            <a:ext cx="5440680"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pic>
        <p:nvPicPr>
          <p:cNvPr id="18" name="Picture 17" descr="cancel.png"/>
          <p:cNvPicPr>
            <a:picLocks noChangeAspect="1"/>
          </p:cNvPicPr>
          <p:nvPr/>
        </p:nvPicPr>
        <p:blipFill>
          <a:blip r:embed="rId5"/>
          <a:stretch>
            <a:fillRect/>
          </a:stretch>
        </p:blipFill>
        <p:spPr>
          <a:xfrm>
            <a:off x="777240" y="4680072"/>
            <a:ext cx="5449823" cy="597671"/>
          </a:xfrm>
          <a:prstGeom prst="rect">
            <a:avLst/>
          </a:prstGeom>
        </p:spPr>
      </p:pic>
      <p:sp>
        <p:nvSpPr>
          <p:cNvPr id="19" name="TextBox 18"/>
          <p:cNvSpPr txBox="1"/>
          <p:nvPr/>
        </p:nvSpPr>
        <p:spPr>
          <a:xfrm>
            <a:off x="786384" y="5440680"/>
            <a:ext cx="5431536" cy="530352"/>
          </a:xfrm>
          <a:prstGeom prst="rect">
            <a:avLst/>
          </a:prstGeom>
          <a:noFill/>
        </p:spPr>
        <p:txBody>
          <a:bodyPr wrap="square" lIns="0" tIns="0" rIns="0" bIns="0">
            <a:spAutoFit/>
          </a:bodyPr>
          <a:lstStyle/>
          <a:p>
            <a:pPr>
              <a:lnSpc>
                <a:spcPct val="113000"/>
              </a:lnSpc>
              <a:spcBef>
                <a:spcPts val="0"/>
              </a:spcBef>
              <a:spcAft>
                <a:spcPts val="400"/>
              </a:spcAft>
            </a:pPr>
            <a:r>
              <a:rPr sz="1300" b="0">
                <a:solidFill>
                  <a:srgbClr val="637185"/>
                </a:solidFill>
                <a:latin typeface="微软雅黑" panose="020B0503020204020204" pitchFamily="34" charset="-122"/>
                <a:ea typeface="微软雅黑" panose="020B0503020204020204" pitchFamily="34" charset="-122"/>
              </a:rPr>
              <a:t>条件：总体语义分布相容，残差均值近零。</a:t>
            </a:r>
          </a:p>
        </p:txBody>
      </p:sp>
      <p:sp>
        <p:nvSpPr>
          <p:cNvPr id="20" name="Rounded Rectangle 19"/>
          <p:cNvSpPr/>
          <p:nvPr/>
        </p:nvSpPr>
        <p:spPr>
          <a:xfrm>
            <a:off x="6711696" y="1307592"/>
            <a:ext cx="4983480" cy="2459736"/>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Oval 20"/>
          <p:cNvSpPr/>
          <p:nvPr/>
        </p:nvSpPr>
        <p:spPr>
          <a:xfrm>
            <a:off x="6912864"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6912864"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3" name="TextBox 22"/>
          <p:cNvSpPr txBox="1"/>
          <p:nvPr/>
        </p:nvSpPr>
        <p:spPr>
          <a:xfrm>
            <a:off x="7379208" y="1504187"/>
            <a:ext cx="4078224"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用一个三维例子看清变化</a:t>
            </a:r>
          </a:p>
        </p:txBody>
      </p:sp>
      <p:graphicFrame>
        <p:nvGraphicFramePr>
          <p:cNvPr id="24" name="Table 23"/>
          <p:cNvGraphicFramePr>
            <a:graphicFrameLocks noGrp="1"/>
          </p:cNvGraphicFramePr>
          <p:nvPr/>
        </p:nvGraphicFramePr>
        <p:xfrm>
          <a:off x="6949440" y="1984248"/>
          <a:ext cx="4489704" cy="14630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975104">
                  <a:extLst>
                    <a:ext uri="{9D8B030D-6E8A-4147-A177-3AD203B41FA5}">
                      <a16:colId xmlns:a16="http://schemas.microsoft.com/office/drawing/2014/main" val="20002"/>
                    </a:ext>
                  </a:extLst>
                </a:gridCol>
              </a:tblGrid>
              <a:tr h="365760">
                <a:tc>
                  <a:txBody>
                    <a:bodyPr/>
                    <a:lstStyle/>
                    <a:p>
                      <a:pPr algn="l">
                        <a:spcAft>
                          <a:spcPts val="0"/>
                        </a:spcAft>
                      </a:pPr>
                      <a:r>
                        <a:rPr sz="1350" b="1">
                          <a:solidFill>
                            <a:srgbClr val="2853A3"/>
                          </a:solidFill>
                          <a:latin typeface="微软雅黑" panose="020B0503020204020204" pitchFamily="34" charset="-122"/>
                        </a:rPr>
                        <a:t>表征</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350" b="1">
                          <a:solidFill>
                            <a:srgbClr val="2853A3"/>
                          </a:solidFill>
                          <a:latin typeface="微软雅黑" panose="020B0503020204020204" pitchFamily="34" charset="-122"/>
                        </a:rPr>
                        <a:t>文字</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350" b="1">
                          <a:solidFill>
                            <a:srgbClr val="2853A3"/>
                          </a:solidFill>
                          <a:latin typeface="微软雅黑" panose="020B0503020204020204" pitchFamily="34" charset="-122"/>
                        </a:rPr>
                        <a:t>图像</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extLst>
                  <a:ext uri="{0D108BD9-81ED-4DB2-BD59-A6C34878D82A}">
                    <a16:rowId xmlns:a16="http://schemas.microsoft.com/office/drawing/2014/main" val="10000"/>
                  </a:ext>
                </a:extLst>
              </a:tr>
              <a:tr h="365760">
                <a:tc>
                  <a:txBody>
                    <a:bodyPr/>
                    <a:lstStyle/>
                    <a:p>
                      <a:pPr algn="l">
                        <a:spcAft>
                          <a:spcPts val="0"/>
                        </a:spcAft>
                      </a:pPr>
                      <a:r>
                        <a:rPr sz="1350" b="0">
                          <a:solidFill>
                            <a:srgbClr val="26364C"/>
                          </a:solidFill>
                          <a:latin typeface="微软雅黑" panose="020B0503020204020204" pitchFamily="34" charset="-122"/>
                        </a:rPr>
                        <a:t>原始</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350" b="0">
                          <a:solidFill>
                            <a:srgbClr val="26364C"/>
                          </a:solidFill>
                          <a:latin typeface="微软雅黑" panose="020B0503020204020204" pitchFamily="34" charset="-122"/>
                        </a:rPr>
                        <a:t>(2,1,0)</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350" b="0">
                          <a:solidFill>
                            <a:srgbClr val="26364C"/>
                          </a:solidFill>
                          <a:latin typeface="微软雅黑" panose="020B0503020204020204" pitchFamily="34" charset="-122"/>
                        </a:rPr>
                        <a:t>(2.1,0.9,3)</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1"/>
                  </a:ext>
                </a:extLst>
              </a:tr>
              <a:tr h="365760">
                <a:tc>
                  <a:txBody>
                    <a:bodyPr/>
                    <a:lstStyle/>
                    <a:p>
                      <a:pPr algn="l">
                        <a:spcAft>
                          <a:spcPts val="0"/>
                        </a:spcAft>
                      </a:pPr>
                      <a:r>
                        <a:rPr sz="1350" b="0">
                          <a:solidFill>
                            <a:srgbClr val="26364C"/>
                          </a:solidFill>
                          <a:latin typeface="微软雅黑" panose="020B0503020204020204" pitchFamily="34" charset="-122"/>
                        </a:rPr>
                        <a:t>均值</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350" b="0">
                          <a:solidFill>
                            <a:srgbClr val="26364C"/>
                          </a:solidFill>
                          <a:latin typeface="微软雅黑" panose="020B0503020204020204" pitchFamily="34" charset="-122"/>
                        </a:rPr>
                        <a:t>(1,1,0)</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350" b="0">
                          <a:solidFill>
                            <a:srgbClr val="26364C"/>
                          </a:solidFill>
                          <a:latin typeface="微软雅黑" panose="020B0503020204020204" pitchFamily="34" charset="-122"/>
                        </a:rPr>
                        <a:t>(1,1,3)</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2"/>
                  </a:ext>
                </a:extLst>
              </a:tr>
              <a:tr h="365760">
                <a:tc>
                  <a:txBody>
                    <a:bodyPr/>
                    <a:lstStyle/>
                    <a:p>
                      <a:pPr algn="l">
                        <a:spcAft>
                          <a:spcPts val="0"/>
                        </a:spcAft>
                      </a:pPr>
                      <a:r>
                        <a:rPr sz="1350" b="1">
                          <a:solidFill>
                            <a:srgbClr val="2853A3"/>
                          </a:solidFill>
                          <a:latin typeface="微软雅黑" panose="020B0503020204020204" pitchFamily="34" charset="-122"/>
                        </a:rPr>
                        <a:t>校准后</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350" b="1">
                          <a:solidFill>
                            <a:srgbClr val="2853A3"/>
                          </a:solidFill>
                          <a:latin typeface="微软雅黑" panose="020B0503020204020204" pitchFamily="34" charset="-122"/>
                        </a:rPr>
                        <a:t>(1,0,0)</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350" b="1">
                          <a:solidFill>
                            <a:srgbClr val="2853A3"/>
                          </a:solidFill>
                          <a:latin typeface="微软雅黑" panose="020B0503020204020204" pitchFamily="34" charset="-122"/>
                        </a:rPr>
                        <a:t>(1.1,−0.1,0)</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extLst>
                  <a:ext uri="{0D108BD9-81ED-4DB2-BD59-A6C34878D82A}">
                    <a16:rowId xmlns:a16="http://schemas.microsoft.com/office/drawing/2014/main" val="10003"/>
                  </a:ext>
                </a:extLst>
              </a:tr>
            </a:tbl>
          </a:graphicData>
        </a:graphic>
      </p:graphicFrame>
      <p:sp>
        <p:nvSpPr>
          <p:cNvPr id="25" name="Rounded Rectangle 24"/>
          <p:cNvSpPr/>
          <p:nvPr/>
        </p:nvSpPr>
        <p:spPr>
          <a:xfrm>
            <a:off x="6711696" y="3950208"/>
            <a:ext cx="4983480" cy="1856231"/>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Oval 25"/>
          <p:cNvSpPr/>
          <p:nvPr/>
        </p:nvSpPr>
        <p:spPr>
          <a:xfrm>
            <a:off x="6912864" y="4133088"/>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6912864" y="4183380"/>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03</a:t>
            </a:r>
          </a:p>
        </p:txBody>
      </p:sp>
      <p:sp>
        <p:nvSpPr>
          <p:cNvPr id="28" name="TextBox 27"/>
          <p:cNvSpPr txBox="1"/>
          <p:nvPr/>
        </p:nvSpPr>
        <p:spPr>
          <a:xfrm>
            <a:off x="7379208" y="4146804"/>
            <a:ext cx="4078224"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能解决什么，不能解决什么？</a:t>
            </a:r>
          </a:p>
        </p:txBody>
      </p:sp>
      <p:sp>
        <p:nvSpPr>
          <p:cNvPr id="30" name="TextBox 29"/>
          <p:cNvSpPr txBox="1"/>
          <p:nvPr/>
        </p:nvSpPr>
        <p:spPr>
          <a:xfrm>
            <a:off x="6976872" y="4572000"/>
            <a:ext cx="4425696" cy="1005840"/>
          </a:xfrm>
          <a:prstGeom prst="rect">
            <a:avLst/>
          </a:prstGeom>
          <a:noFill/>
        </p:spPr>
        <p:txBody>
          <a:bodyPr wrap="square" lIns="0" tIns="0" rIns="0" bIns="0">
            <a:spAutoFit/>
          </a:bodyPr>
          <a:lstStyle/>
          <a:p>
            <a:pPr>
              <a:lnSpc>
                <a:spcPct val="113000"/>
              </a:lnSpc>
              <a:spcBef>
                <a:spcPts val="0"/>
              </a:spcBef>
              <a:spcAft>
                <a:spcPts val="400"/>
              </a:spcAft>
            </a:pPr>
            <a:r>
              <a:rPr sz="1650" b="0">
                <a:solidFill>
                  <a:srgbClr val="26364C"/>
                </a:solidFill>
                <a:latin typeface="微软雅黑" panose="020B0503020204020204" pitchFamily="34" charset="-122"/>
                <a:ea typeface="微软雅黑" panose="020B0503020204020204" pitchFamily="34" charset="-122"/>
              </a:rPr>
              <a:t>同模态各点整体平移，</a:t>
            </a:r>
            <a:r>
              <a:rPr sz="1650" b="1">
                <a:solidFill>
                  <a:srgbClr val="2853A3"/>
                </a:solidFill>
                <a:latin typeface="微软雅黑" panose="020B0503020204020204" pitchFamily="34" charset="-122"/>
                <a:ea typeface="微软雅黑" panose="020B0503020204020204" pitchFamily="34" charset="-122"/>
              </a:rPr>
              <a:t>内部差向量不变</a:t>
            </a:r>
            <a:r>
              <a:rPr sz="1650" b="0">
                <a:solidFill>
                  <a:srgbClr val="26364C"/>
                </a:solidFill>
                <a:latin typeface="微软雅黑" panose="020B0503020204020204" pitchFamily="34" charset="-122"/>
                <a:ea typeface="微软雅黑" panose="020B0503020204020204" pitchFamily="34" charset="-122"/>
              </a:rPr>
              <a:t>。</a:t>
            </a:r>
          </a:p>
          <a:p>
            <a:pPr>
              <a:lnSpc>
                <a:spcPct val="113000"/>
              </a:lnSpc>
              <a:spcBef>
                <a:spcPts val="0"/>
              </a:spcBef>
              <a:spcAft>
                <a:spcPts val="400"/>
              </a:spcAft>
            </a:pPr>
            <a:r>
              <a:rPr sz="1650" b="0">
                <a:solidFill>
                  <a:srgbClr val="26364C"/>
                </a:solidFill>
                <a:latin typeface="微软雅黑" panose="020B0503020204020204" pitchFamily="34" charset="-122"/>
                <a:ea typeface="微软雅黑" panose="020B0503020204020204" pitchFamily="34" charset="-122"/>
              </a:rPr>
              <a:t>例子中第三维偏移消失；逐对误差、分布形状差异仍可能存在。</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4 Corrupt：输入加噪声，为什么反而有利于正确生成？</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08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§4 Corrupt；Algorithm 1，p.19；Appendix H，p.24。右侧二维图为教学示意，非实测分布或决策边界。</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输入受扰动，目标保持原句 → 解码器学习容忍偏差；测试时只去均值</a:t>
            </a:r>
          </a:p>
        </p:txBody>
      </p:sp>
      <p:sp>
        <p:nvSpPr>
          <p:cNvPr id="9" name="Rounded Rectangle 8"/>
          <p:cNvSpPr/>
          <p:nvPr/>
        </p:nvSpPr>
        <p:spPr>
          <a:xfrm>
            <a:off x="502920" y="1307592"/>
            <a:ext cx="5596128"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4690872"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训练目标：邻近输入，仍重建同一句话</a:t>
            </a:r>
          </a:p>
        </p:txBody>
      </p:sp>
      <p:pic>
        <p:nvPicPr>
          <p:cNvPr id="13" name="Picture 12" descr="noise_eta.png"/>
          <p:cNvPicPr>
            <a:picLocks noChangeAspect="1"/>
          </p:cNvPicPr>
          <p:nvPr/>
        </p:nvPicPr>
        <p:blipFill>
          <a:blip r:embed="rId3"/>
          <a:stretch>
            <a:fillRect/>
          </a:stretch>
        </p:blipFill>
        <p:spPr>
          <a:xfrm>
            <a:off x="731520" y="2023961"/>
            <a:ext cx="5157216" cy="450924"/>
          </a:xfrm>
          <a:prstGeom prst="rect">
            <a:avLst/>
          </a:prstGeom>
        </p:spPr>
      </p:pic>
      <p:pic>
        <p:nvPicPr>
          <p:cNvPr id="14" name="Picture 13" descr="objective_eta.png"/>
          <p:cNvPicPr>
            <a:picLocks noChangeAspect="1"/>
          </p:cNvPicPr>
          <p:nvPr/>
        </p:nvPicPr>
        <p:blipFill>
          <a:blip r:embed="rId4"/>
          <a:stretch>
            <a:fillRect/>
          </a:stretch>
        </p:blipFill>
        <p:spPr>
          <a:xfrm>
            <a:off x="1704454" y="2679192"/>
            <a:ext cx="3202203" cy="512064"/>
          </a:xfrm>
          <a:prstGeom prst="rect">
            <a:avLst/>
          </a:prstGeom>
        </p:spPr>
      </p:pic>
      <p:sp>
        <p:nvSpPr>
          <p:cNvPr id="15" name="Rounded Rectangle 14"/>
          <p:cNvSpPr/>
          <p:nvPr/>
        </p:nvSpPr>
        <p:spPr>
          <a:xfrm>
            <a:off x="758952" y="3547872"/>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22959" y="3575303"/>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训练</a:t>
            </a:r>
          </a:p>
        </p:txBody>
      </p:sp>
      <p:sp>
        <p:nvSpPr>
          <p:cNvPr id="17" name="TextBox 16"/>
          <p:cNvSpPr txBox="1"/>
          <p:nvPr/>
        </p:nvSpPr>
        <p:spPr>
          <a:xfrm>
            <a:off x="1856231" y="3543300"/>
            <a:ext cx="3959352"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文字表征 + 随机扰动 η</a:t>
            </a:r>
          </a:p>
        </p:txBody>
      </p:sp>
      <p:sp>
        <p:nvSpPr>
          <p:cNvPr id="18" name="TextBox 17"/>
          <p:cNvSpPr txBox="1"/>
          <p:nvPr/>
        </p:nvSpPr>
        <p:spPr>
          <a:xfrm>
            <a:off x="1856231" y="3941063"/>
            <a:ext cx="3959352" cy="539496"/>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每次输入略有不同，目标句子仍是原句。</a:t>
            </a:r>
          </a:p>
        </p:txBody>
      </p:sp>
      <p:sp>
        <p:nvSpPr>
          <p:cNvPr id="19" name="Rounded Rectangle 18"/>
          <p:cNvSpPr/>
          <p:nvPr/>
        </p:nvSpPr>
        <p:spPr>
          <a:xfrm>
            <a:off x="758952" y="4617720"/>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822959" y="4645152"/>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测试</a:t>
            </a:r>
          </a:p>
        </p:txBody>
      </p:sp>
      <p:sp>
        <p:nvSpPr>
          <p:cNvPr id="21" name="TextBox 20"/>
          <p:cNvSpPr txBox="1"/>
          <p:nvPr/>
        </p:nvSpPr>
        <p:spPr>
          <a:xfrm>
            <a:off x="1856231" y="4613148"/>
            <a:ext cx="3959352"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图像表征减均值后直接解码</a:t>
            </a:r>
          </a:p>
        </p:txBody>
      </p:sp>
      <p:sp>
        <p:nvSpPr>
          <p:cNvPr id="22" name="TextBox 21"/>
          <p:cNvSpPr txBox="1"/>
          <p:nvPr/>
        </p:nvSpPr>
        <p:spPr>
          <a:xfrm>
            <a:off x="1856231" y="5010912"/>
            <a:ext cx="3959352" cy="557784"/>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真实残差 ε 未知；训练学习对偏差的容忍。</a:t>
            </a:r>
          </a:p>
        </p:txBody>
      </p:sp>
      <p:sp>
        <p:nvSpPr>
          <p:cNvPr id="23" name="Rounded Rectangle 22"/>
          <p:cNvSpPr/>
          <p:nvPr/>
        </p:nvSpPr>
        <p:spPr>
          <a:xfrm>
            <a:off x="6300216" y="1307592"/>
            <a:ext cx="5394960" cy="3273552"/>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Oval 23"/>
          <p:cNvSpPr/>
          <p:nvPr/>
        </p:nvSpPr>
        <p:spPr>
          <a:xfrm>
            <a:off x="6501383"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6501383"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6" name="TextBox 25"/>
          <p:cNvSpPr txBox="1"/>
          <p:nvPr/>
        </p:nvSpPr>
        <p:spPr>
          <a:xfrm>
            <a:off x="6967727" y="1504187"/>
            <a:ext cx="4489704"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用一个局部邻域理解训练</a:t>
            </a:r>
          </a:p>
        </p:txBody>
      </p:sp>
      <p:cxnSp>
        <p:nvCxnSpPr>
          <p:cNvPr id="27" name="Connector 26"/>
          <p:cNvCxnSpPr/>
          <p:nvPr/>
        </p:nvCxnSpPr>
        <p:spPr>
          <a:xfrm>
            <a:off x="6638544" y="4206240"/>
            <a:ext cx="3547872" cy="0"/>
          </a:xfrm>
          <a:prstGeom prst="line">
            <a:avLst/>
          </a:prstGeom>
          <a:ln w="12700">
            <a:solidFill>
              <a:srgbClr val="DBE2ED"/>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638544" y="2084831"/>
            <a:ext cx="0" cy="2121409"/>
          </a:xfrm>
          <a:prstGeom prst="line">
            <a:avLst/>
          </a:prstGeom>
          <a:ln w="1270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766560" y="1993392"/>
            <a:ext cx="4343400" cy="347472"/>
          </a:xfrm>
          <a:prstGeom prst="rect">
            <a:avLst/>
          </a:prstGeom>
          <a:noFill/>
        </p:spPr>
        <p:txBody>
          <a:bodyPr wrap="square" lIns="0" tIns="0" rIns="0" bIns="0">
            <a:spAutoFit/>
          </a:bodyPr>
          <a:lstStyle/>
          <a:p>
            <a:pPr>
              <a:lnSpc>
                <a:spcPct val="113000"/>
              </a:lnSpc>
              <a:spcBef>
                <a:spcPts val="0"/>
              </a:spcBef>
              <a:spcAft>
                <a:spcPts val="400"/>
              </a:spcAft>
            </a:pPr>
            <a:r>
              <a:rPr sz="1300" b="0">
                <a:solidFill>
                  <a:srgbClr val="637185"/>
                </a:solidFill>
                <a:latin typeface="微软雅黑" panose="020B0503020204020204" pitchFamily="34" charset="-122"/>
                <a:ea typeface="微软雅黑" panose="020B0503020204020204" pitchFamily="34" charset="-122"/>
              </a:rPr>
              <a:t>示意：去均值后的表征空间</a:t>
            </a:r>
          </a:p>
        </p:txBody>
      </p:sp>
      <p:sp>
        <p:nvSpPr>
          <p:cNvPr id="30" name="Oval 29"/>
          <p:cNvSpPr/>
          <p:nvPr/>
        </p:nvSpPr>
        <p:spPr>
          <a:xfrm>
            <a:off x="7392924" y="3342132"/>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Oval 30"/>
          <p:cNvSpPr/>
          <p:nvPr/>
        </p:nvSpPr>
        <p:spPr>
          <a:xfrm>
            <a:off x="7539228" y="2811780"/>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Oval 31"/>
          <p:cNvSpPr/>
          <p:nvPr/>
        </p:nvSpPr>
        <p:spPr>
          <a:xfrm>
            <a:off x="7722108" y="3717036"/>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Oval 32"/>
          <p:cNvSpPr/>
          <p:nvPr/>
        </p:nvSpPr>
        <p:spPr>
          <a:xfrm>
            <a:off x="7822692" y="3040380"/>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Oval 33"/>
          <p:cNvSpPr/>
          <p:nvPr/>
        </p:nvSpPr>
        <p:spPr>
          <a:xfrm>
            <a:off x="8051292" y="2665476"/>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Oval 34"/>
          <p:cNvSpPr/>
          <p:nvPr/>
        </p:nvSpPr>
        <p:spPr>
          <a:xfrm>
            <a:off x="8289036" y="2948940"/>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Oval 35"/>
          <p:cNvSpPr/>
          <p:nvPr/>
        </p:nvSpPr>
        <p:spPr>
          <a:xfrm>
            <a:off x="8508492" y="2583180"/>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Oval 36"/>
          <p:cNvSpPr/>
          <p:nvPr/>
        </p:nvSpPr>
        <p:spPr>
          <a:xfrm>
            <a:off x="8618220" y="3250692"/>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Oval 37"/>
          <p:cNvSpPr/>
          <p:nvPr/>
        </p:nvSpPr>
        <p:spPr>
          <a:xfrm>
            <a:off x="8727948" y="3698748"/>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Oval 38"/>
          <p:cNvSpPr/>
          <p:nvPr/>
        </p:nvSpPr>
        <p:spPr>
          <a:xfrm>
            <a:off x="8956548" y="2948940"/>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Oval 39"/>
          <p:cNvSpPr/>
          <p:nvPr/>
        </p:nvSpPr>
        <p:spPr>
          <a:xfrm>
            <a:off x="9038844" y="3406140"/>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Oval 40"/>
          <p:cNvSpPr/>
          <p:nvPr/>
        </p:nvSpPr>
        <p:spPr>
          <a:xfrm>
            <a:off x="8197596" y="3653028"/>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Oval 41"/>
          <p:cNvSpPr/>
          <p:nvPr/>
        </p:nvSpPr>
        <p:spPr>
          <a:xfrm>
            <a:off x="7804404" y="2491740"/>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Oval 42"/>
          <p:cNvSpPr/>
          <p:nvPr/>
        </p:nvSpPr>
        <p:spPr>
          <a:xfrm>
            <a:off x="7383780" y="3744468"/>
            <a:ext cx="82296" cy="82296"/>
          </a:xfrm>
          <a:prstGeom prst="ellipse">
            <a:avLst/>
          </a:prstGeom>
          <a:solidFill>
            <a:srgbClr val="B7CC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Oval 43"/>
          <p:cNvSpPr/>
          <p:nvPr/>
        </p:nvSpPr>
        <p:spPr>
          <a:xfrm>
            <a:off x="8133588" y="3140964"/>
            <a:ext cx="155448" cy="155448"/>
          </a:xfrm>
          <a:prstGeom prst="ellipse">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5" name="TextBox 44"/>
          <p:cNvSpPr txBox="1"/>
          <p:nvPr/>
        </p:nvSpPr>
        <p:spPr>
          <a:xfrm>
            <a:off x="8339327" y="3035808"/>
            <a:ext cx="1645920" cy="310896"/>
          </a:xfrm>
          <a:prstGeom prst="rect">
            <a:avLst/>
          </a:prstGeom>
          <a:noFill/>
        </p:spPr>
        <p:txBody>
          <a:bodyPr wrap="square" lIns="0" tIns="0" rIns="0" bIns="0">
            <a:spAutoFit/>
          </a:bodyPr>
          <a:lstStyle/>
          <a:p>
            <a:pPr>
              <a:lnSpc>
                <a:spcPct val="113000"/>
              </a:lnSpc>
              <a:spcBef>
                <a:spcPts val="0"/>
              </a:spcBef>
              <a:spcAft>
                <a:spcPts val="400"/>
              </a:spcAft>
            </a:pPr>
            <a:r>
              <a:rPr sz="1300" b="1">
                <a:solidFill>
                  <a:srgbClr val="2853A3"/>
                </a:solidFill>
                <a:latin typeface="微软雅黑" panose="020B0503020204020204" pitchFamily="34" charset="-122"/>
                <a:ea typeface="微软雅黑" panose="020B0503020204020204" pitchFamily="34" charset="-122"/>
              </a:rPr>
              <a:t>文字表征</a:t>
            </a:r>
          </a:p>
        </p:txBody>
      </p:sp>
      <p:sp>
        <p:nvSpPr>
          <p:cNvPr id="46" name="Diamond 45"/>
          <p:cNvSpPr/>
          <p:nvPr/>
        </p:nvSpPr>
        <p:spPr>
          <a:xfrm>
            <a:off x="7854696" y="3474720"/>
            <a:ext cx="155448" cy="155448"/>
          </a:xfrm>
          <a:prstGeom prst="diamond">
            <a:avLst/>
          </a:prstGeom>
          <a:solidFill>
            <a:srgbClr val="C177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6793992" y="3703320"/>
            <a:ext cx="2148840" cy="292608"/>
          </a:xfrm>
          <a:prstGeom prst="rect">
            <a:avLst/>
          </a:prstGeom>
          <a:noFill/>
        </p:spPr>
        <p:txBody>
          <a:bodyPr wrap="square" lIns="0" tIns="0" rIns="0" bIns="0">
            <a:spAutoFit/>
          </a:bodyPr>
          <a:lstStyle/>
          <a:p>
            <a:pPr>
              <a:lnSpc>
                <a:spcPct val="113000"/>
              </a:lnSpc>
              <a:spcBef>
                <a:spcPts val="0"/>
              </a:spcBef>
              <a:spcAft>
                <a:spcPts val="400"/>
              </a:spcAft>
            </a:pPr>
            <a:r>
              <a:rPr sz="1300" b="1">
                <a:solidFill>
                  <a:srgbClr val="A85D22"/>
                </a:solidFill>
                <a:latin typeface="微软雅黑" panose="020B0503020204020204" pitchFamily="34" charset="-122"/>
                <a:ea typeface="微软雅黑" panose="020B0503020204020204" pitchFamily="34" charset="-122"/>
              </a:rPr>
              <a:t>图像表征（测试）</a:t>
            </a:r>
          </a:p>
        </p:txBody>
      </p:sp>
      <p:sp>
        <p:nvSpPr>
          <p:cNvPr id="48" name="TextBox 47"/>
          <p:cNvSpPr txBox="1"/>
          <p:nvPr/>
        </p:nvSpPr>
        <p:spPr>
          <a:xfrm>
            <a:off x="9829800" y="2587752"/>
            <a:ext cx="1481328" cy="758952"/>
          </a:xfrm>
          <a:prstGeom prst="rect">
            <a:avLst/>
          </a:prstGeom>
          <a:noFill/>
        </p:spPr>
        <p:txBody>
          <a:bodyPr wrap="square" lIns="0" tIns="0" rIns="0" bIns="0">
            <a:spAutoFit/>
          </a:bodyPr>
          <a:lstStyle/>
          <a:p>
            <a:pPr>
              <a:lnSpc>
                <a:spcPct val="113000"/>
              </a:lnSpc>
              <a:spcBef>
                <a:spcPts val="0"/>
              </a:spcBef>
              <a:spcAft>
                <a:spcPts val="400"/>
              </a:spcAft>
            </a:pPr>
            <a:r>
              <a:rPr sz="1300" b="0">
                <a:solidFill>
                  <a:srgbClr val="637185"/>
                </a:solidFill>
                <a:latin typeface="微软雅黑" panose="020B0503020204020204" pitchFamily="34" charset="-122"/>
                <a:ea typeface="微软雅黑" panose="020B0503020204020204" pitchFamily="34" charset="-122"/>
              </a:rPr>
              <a:t>浅蓝点：</a:t>
            </a:r>
          </a:p>
          <a:p>
            <a:pPr>
              <a:lnSpc>
                <a:spcPct val="113000"/>
              </a:lnSpc>
              <a:spcBef>
                <a:spcPts val="0"/>
              </a:spcBef>
              <a:spcAft>
                <a:spcPts val="400"/>
              </a:spcAft>
            </a:pPr>
            <a:r>
              <a:rPr sz="1300" b="0">
                <a:solidFill>
                  <a:srgbClr val="637185"/>
                </a:solidFill>
                <a:latin typeface="微软雅黑" panose="020B0503020204020204" pitchFamily="34" charset="-122"/>
                <a:ea typeface="微软雅黑" panose="020B0503020204020204" pitchFamily="34" charset="-122"/>
              </a:rPr>
              <a:t>训练扰动</a:t>
            </a:r>
          </a:p>
        </p:txBody>
      </p:sp>
      <p:sp>
        <p:nvSpPr>
          <p:cNvPr id="49" name="TextBox 48"/>
          <p:cNvSpPr txBox="1"/>
          <p:nvPr/>
        </p:nvSpPr>
        <p:spPr>
          <a:xfrm>
            <a:off x="9729216" y="3566160"/>
            <a:ext cx="1627632" cy="685800"/>
          </a:xfrm>
          <a:prstGeom prst="rect">
            <a:avLst/>
          </a:prstGeom>
          <a:noFill/>
        </p:spPr>
        <p:txBody>
          <a:bodyPr wrap="square" lIns="0" tIns="0" rIns="0" bIns="0">
            <a:spAutoFit/>
          </a:bodyPr>
          <a:lstStyle/>
          <a:p>
            <a:pPr>
              <a:lnSpc>
                <a:spcPct val="113000"/>
              </a:lnSpc>
              <a:spcBef>
                <a:spcPts val="0"/>
              </a:spcBef>
              <a:spcAft>
                <a:spcPts val="400"/>
              </a:spcAft>
            </a:pPr>
            <a:r>
              <a:rPr sz="1350" b="1">
                <a:solidFill>
                  <a:srgbClr val="2853A3"/>
                </a:solidFill>
                <a:latin typeface="微软雅黑" panose="020B0503020204020204" pitchFamily="34" charset="-122"/>
                <a:ea typeface="微软雅黑" panose="020B0503020204020204" pitchFamily="34" charset="-122"/>
              </a:rPr>
              <a:t>目标保持：</a:t>
            </a:r>
          </a:p>
          <a:p>
            <a:pPr>
              <a:lnSpc>
                <a:spcPct val="113000"/>
              </a:lnSpc>
              <a:spcBef>
                <a:spcPts val="0"/>
              </a:spcBef>
              <a:spcAft>
                <a:spcPts val="400"/>
              </a:spcAft>
            </a:pPr>
            <a:r>
              <a:rPr sz="1350" b="1">
                <a:solidFill>
                  <a:srgbClr val="2853A3"/>
                </a:solidFill>
                <a:latin typeface="微软雅黑" panose="020B0503020204020204" pitchFamily="34" charset="-122"/>
                <a:ea typeface="微软雅黑" panose="020B0503020204020204" pitchFamily="34" charset="-122"/>
              </a:rPr>
              <a:t>“一只狗在跑”</a:t>
            </a:r>
          </a:p>
        </p:txBody>
      </p:sp>
      <p:sp>
        <p:nvSpPr>
          <p:cNvPr id="50" name="Rounded Rectangle 49"/>
          <p:cNvSpPr/>
          <p:nvPr/>
        </p:nvSpPr>
        <p:spPr>
          <a:xfrm>
            <a:off x="6300216" y="4764024"/>
            <a:ext cx="5394960" cy="1042415"/>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1" name="Oval 50"/>
          <p:cNvSpPr/>
          <p:nvPr/>
        </p:nvSpPr>
        <p:spPr>
          <a:xfrm>
            <a:off x="6501383" y="4946904"/>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6501383" y="4997196"/>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03</a:t>
            </a:r>
          </a:p>
        </p:txBody>
      </p:sp>
      <p:sp>
        <p:nvSpPr>
          <p:cNvPr id="53" name="TextBox 52"/>
          <p:cNvSpPr txBox="1"/>
          <p:nvPr/>
        </p:nvSpPr>
        <p:spPr>
          <a:xfrm>
            <a:off x="6967727" y="4960620"/>
            <a:ext cx="4489704"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噪声的尺度与作用范围</a:t>
            </a:r>
          </a:p>
        </p:txBody>
      </p:sp>
      <p:sp>
        <p:nvSpPr>
          <p:cNvPr id="54" name="TextBox 53"/>
          <p:cNvSpPr txBox="1"/>
          <p:nvPr/>
        </p:nvSpPr>
        <p:spPr>
          <a:xfrm>
            <a:off x="6574536" y="5376672"/>
            <a:ext cx="4855464" cy="347472"/>
          </a:xfrm>
          <a:prstGeom prst="rect">
            <a:avLst/>
          </a:prstGeom>
          <a:noFill/>
        </p:spPr>
        <p:txBody>
          <a:bodyPr wrap="square" lIns="0" tIns="0" rIns="0" bIns="0">
            <a:spAutoFit/>
          </a:bodyPr>
          <a:lstStyle/>
          <a:p>
            <a:pPr>
              <a:lnSpc>
                <a:spcPct val="113000"/>
              </a:lnSpc>
              <a:spcBef>
                <a:spcPts val="0"/>
              </a:spcBef>
              <a:spcAft>
                <a:spcPts val="400"/>
              </a:spcAft>
            </a:pPr>
            <a:r>
              <a:rPr sz="1450" b="0">
                <a:solidFill>
                  <a:srgbClr val="26364C"/>
                </a:solidFill>
                <a:latin typeface="微软雅黑" panose="020B0503020204020204" pitchFamily="34" charset="-122"/>
                <a:ea typeface="微软雅黑" panose="020B0503020204020204" pitchFamily="34" charset="-122"/>
              </a:rPr>
              <a:t>太小覆盖不足，太大可能损害语义；也能缓解 gap。</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09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§5.1；Appendix D–F，PDF pp.7、19–22。流程按图像描述任务重绘；生成图像使用另一套 GAN 目标。</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冻结预训练语义连接，训练 MLP 与 GPT-2；测试时不输入真实答案</a:t>
            </a:r>
          </a:p>
        </p:txBody>
      </p:sp>
      <p:sp>
        <p:nvSpPr>
          <p:cNvPr id="9" name="Rounded Rectangle 8"/>
          <p:cNvSpPr/>
          <p:nvPr/>
        </p:nvSpPr>
        <p:spPr>
          <a:xfrm>
            <a:off x="502920" y="1307592"/>
            <a:ext cx="6748272"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5843016"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图像描述：输入、校准、生成、更新</a:t>
            </a:r>
          </a:p>
        </p:txBody>
      </p:sp>
      <p:sp>
        <p:nvSpPr>
          <p:cNvPr id="13" name="Rounded Rectangle 12"/>
          <p:cNvSpPr/>
          <p:nvPr/>
        </p:nvSpPr>
        <p:spPr>
          <a:xfrm>
            <a:off x="768096" y="2057400"/>
            <a:ext cx="950976"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32103" y="2084831"/>
            <a:ext cx="822960"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训练</a:t>
            </a:r>
          </a:p>
        </p:txBody>
      </p:sp>
      <p:sp>
        <p:nvSpPr>
          <p:cNvPr id="15" name="Rounded Rectangle 14"/>
          <p:cNvSpPr/>
          <p:nvPr/>
        </p:nvSpPr>
        <p:spPr>
          <a:xfrm>
            <a:off x="758952" y="2496312"/>
            <a:ext cx="1188720" cy="740664"/>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795528" y="2670048"/>
            <a:ext cx="1115568" cy="548640"/>
          </a:xfrm>
          <a:prstGeom prst="rect">
            <a:avLst/>
          </a:prstGeom>
          <a:noFill/>
        </p:spPr>
        <p:txBody>
          <a:bodyPr wrap="square" lIns="0" tIns="0" rIns="0" bIns="0">
            <a:spAutoFit/>
          </a:bodyPr>
          <a:lstStyle/>
          <a:p>
            <a:pPr algn="ctr">
              <a:lnSpc>
                <a:spcPct val="113000"/>
              </a:lnSpc>
              <a:spcBef>
                <a:spcPts val="0"/>
              </a:spcBef>
              <a:spcAft>
                <a:spcPts val="400"/>
              </a:spcAft>
            </a:pPr>
            <a:r>
              <a:rPr sz="1450" b="1">
                <a:solidFill>
                  <a:srgbClr val="2853A3"/>
                </a:solidFill>
                <a:latin typeface="微软雅黑" panose="020B0503020204020204" pitchFamily="34" charset="-122"/>
                <a:ea typeface="微软雅黑" panose="020B0503020204020204" pitchFamily="34" charset="-122"/>
              </a:rPr>
              <a:t>文字 y</a:t>
            </a:r>
          </a:p>
        </p:txBody>
      </p:sp>
      <p:sp>
        <p:nvSpPr>
          <p:cNvPr id="17" name="Rounded Rectangle 16"/>
          <p:cNvSpPr/>
          <p:nvPr/>
        </p:nvSpPr>
        <p:spPr>
          <a:xfrm>
            <a:off x="2221992" y="2496312"/>
            <a:ext cx="1389888" cy="740664"/>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2258568" y="2670048"/>
            <a:ext cx="1316736" cy="548640"/>
          </a:xfrm>
          <a:prstGeom prst="rect">
            <a:avLst/>
          </a:prstGeom>
          <a:noFill/>
        </p:spPr>
        <p:txBody>
          <a:bodyPr wrap="square" lIns="0" tIns="0" rIns="0" bIns="0">
            <a:spAutoFit/>
          </a:bodyPr>
          <a:lstStyle/>
          <a:p>
            <a:pPr algn="ctr">
              <a:lnSpc>
                <a:spcPct val="113000"/>
              </a:lnSpc>
              <a:spcBef>
                <a:spcPts val="0"/>
              </a:spcBef>
              <a:spcAft>
                <a:spcPts val="400"/>
              </a:spcAft>
            </a:pPr>
            <a:r>
              <a:rPr sz="1450" b="1">
                <a:solidFill>
                  <a:srgbClr val="2853A3"/>
                </a:solidFill>
                <a:latin typeface="微软雅黑" panose="020B0503020204020204" pitchFamily="34" charset="-122"/>
                <a:ea typeface="微软雅黑" panose="020B0503020204020204" pitchFamily="34" charset="-122"/>
              </a:rPr>
              <a:t>文本编码器</a:t>
            </a:r>
          </a:p>
        </p:txBody>
      </p:sp>
      <p:sp>
        <p:nvSpPr>
          <p:cNvPr id="19" name="Rounded Rectangle 18"/>
          <p:cNvSpPr/>
          <p:nvPr/>
        </p:nvSpPr>
        <p:spPr>
          <a:xfrm>
            <a:off x="3886200" y="2496312"/>
            <a:ext cx="1572768" cy="740664"/>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3922776" y="2670048"/>
            <a:ext cx="1499616" cy="548640"/>
          </a:xfrm>
          <a:prstGeom prst="rect">
            <a:avLst/>
          </a:prstGeom>
          <a:noFill/>
        </p:spPr>
        <p:txBody>
          <a:bodyPr wrap="square" lIns="0" tIns="0" rIns="0" bIns="0">
            <a:spAutoFit/>
          </a:bodyPr>
          <a:lstStyle/>
          <a:p>
            <a:pPr algn="ctr">
              <a:lnSpc>
                <a:spcPct val="113000"/>
              </a:lnSpc>
              <a:spcBef>
                <a:spcPts val="0"/>
              </a:spcBef>
              <a:spcAft>
                <a:spcPts val="400"/>
              </a:spcAft>
            </a:pPr>
            <a:r>
              <a:rPr sz="1450" b="1">
                <a:solidFill>
                  <a:srgbClr val="2853A3"/>
                </a:solidFill>
                <a:latin typeface="微软雅黑" panose="020B0503020204020204" pitchFamily="34" charset="-122"/>
                <a:ea typeface="微软雅黑" panose="020B0503020204020204" pitchFamily="34" charset="-122"/>
              </a:rPr>
              <a:t>去均值 + 噪声</a:t>
            </a:r>
          </a:p>
        </p:txBody>
      </p:sp>
      <p:sp>
        <p:nvSpPr>
          <p:cNvPr id="21" name="Rounded Rectangle 20"/>
          <p:cNvSpPr/>
          <p:nvPr/>
        </p:nvSpPr>
        <p:spPr>
          <a:xfrm>
            <a:off x="5733288" y="2496312"/>
            <a:ext cx="1225296" cy="740664"/>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5769864" y="2670048"/>
            <a:ext cx="1152144" cy="548640"/>
          </a:xfrm>
          <a:prstGeom prst="rect">
            <a:avLst/>
          </a:prstGeom>
          <a:noFill/>
        </p:spPr>
        <p:txBody>
          <a:bodyPr wrap="square" lIns="0" tIns="0" rIns="0" bIns="0">
            <a:spAutoFit/>
          </a:bodyPr>
          <a:lstStyle/>
          <a:p>
            <a:pPr algn="ctr">
              <a:lnSpc>
                <a:spcPct val="113000"/>
              </a:lnSpc>
              <a:spcBef>
                <a:spcPts val="0"/>
              </a:spcBef>
              <a:spcAft>
                <a:spcPts val="400"/>
              </a:spcAft>
            </a:pPr>
            <a:r>
              <a:rPr sz="1450" b="1">
                <a:solidFill>
                  <a:srgbClr val="2853A3"/>
                </a:solidFill>
                <a:latin typeface="微软雅黑" panose="020B0503020204020204" pitchFamily="34" charset="-122"/>
                <a:ea typeface="微软雅黑" panose="020B0503020204020204" pitchFamily="34" charset="-122"/>
              </a:rPr>
              <a:t>MLP +</a:t>
            </a:r>
          </a:p>
          <a:p>
            <a:pPr algn="ctr">
              <a:lnSpc>
                <a:spcPct val="113000"/>
              </a:lnSpc>
              <a:spcBef>
                <a:spcPts val="0"/>
              </a:spcBef>
              <a:spcAft>
                <a:spcPts val="400"/>
              </a:spcAft>
            </a:pPr>
            <a:r>
              <a:rPr sz="1450" b="1">
                <a:solidFill>
                  <a:srgbClr val="2853A3"/>
                </a:solidFill>
                <a:latin typeface="微软雅黑" panose="020B0503020204020204" pitchFamily="34" charset="-122"/>
                <a:ea typeface="微软雅黑" panose="020B0503020204020204" pitchFamily="34" charset="-122"/>
              </a:rPr>
              <a:t>GPT-2</a:t>
            </a:r>
          </a:p>
        </p:txBody>
      </p:sp>
      <p:sp>
        <p:nvSpPr>
          <p:cNvPr id="23" name="Right Arrow 22"/>
          <p:cNvSpPr/>
          <p:nvPr/>
        </p:nvSpPr>
        <p:spPr>
          <a:xfrm>
            <a:off x="1984248" y="2788920"/>
            <a:ext cx="192024" cy="146304"/>
          </a:xfrm>
          <a:prstGeom prst="rightArrow">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Right Arrow 23"/>
          <p:cNvSpPr/>
          <p:nvPr/>
        </p:nvSpPr>
        <p:spPr>
          <a:xfrm>
            <a:off x="3648456" y="2788920"/>
            <a:ext cx="192024" cy="146304"/>
          </a:xfrm>
          <a:prstGeom prst="rightArrow">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Right Arrow 24"/>
          <p:cNvSpPr/>
          <p:nvPr/>
        </p:nvSpPr>
        <p:spPr>
          <a:xfrm>
            <a:off x="5486400" y="2788920"/>
            <a:ext cx="192024" cy="146304"/>
          </a:xfrm>
          <a:prstGeom prst="rightArrow">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Rounded Rectangle 25"/>
          <p:cNvSpPr/>
          <p:nvPr/>
        </p:nvSpPr>
        <p:spPr>
          <a:xfrm>
            <a:off x="768096" y="4069080"/>
            <a:ext cx="950976"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832103" y="4096512"/>
            <a:ext cx="822960"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测试</a:t>
            </a:r>
          </a:p>
        </p:txBody>
      </p:sp>
      <p:sp>
        <p:nvSpPr>
          <p:cNvPr id="28" name="Rounded Rectangle 27"/>
          <p:cNvSpPr/>
          <p:nvPr/>
        </p:nvSpPr>
        <p:spPr>
          <a:xfrm>
            <a:off x="758952" y="4507992"/>
            <a:ext cx="1188720" cy="740664"/>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795528" y="4681728"/>
            <a:ext cx="1115568" cy="548640"/>
          </a:xfrm>
          <a:prstGeom prst="rect">
            <a:avLst/>
          </a:prstGeom>
          <a:noFill/>
        </p:spPr>
        <p:txBody>
          <a:bodyPr wrap="square" lIns="0" tIns="0" rIns="0" bIns="0">
            <a:spAutoFit/>
          </a:bodyPr>
          <a:lstStyle/>
          <a:p>
            <a:pPr algn="ctr">
              <a:lnSpc>
                <a:spcPct val="113000"/>
              </a:lnSpc>
              <a:spcBef>
                <a:spcPts val="0"/>
              </a:spcBef>
              <a:spcAft>
                <a:spcPts val="400"/>
              </a:spcAft>
            </a:pPr>
            <a:r>
              <a:rPr sz="1450" b="1">
                <a:solidFill>
                  <a:srgbClr val="B94366"/>
                </a:solidFill>
                <a:latin typeface="微软雅黑" panose="020B0503020204020204" pitchFamily="34" charset="-122"/>
                <a:ea typeface="微软雅黑" panose="020B0503020204020204" pitchFamily="34" charset="-122"/>
              </a:rPr>
              <a:t>图片 x</a:t>
            </a:r>
          </a:p>
        </p:txBody>
      </p:sp>
      <p:sp>
        <p:nvSpPr>
          <p:cNvPr id="30" name="Rounded Rectangle 29"/>
          <p:cNvSpPr/>
          <p:nvPr/>
        </p:nvSpPr>
        <p:spPr>
          <a:xfrm>
            <a:off x="2221992" y="4507992"/>
            <a:ext cx="1389888" cy="740664"/>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2258568" y="4681728"/>
            <a:ext cx="1316736" cy="548640"/>
          </a:xfrm>
          <a:prstGeom prst="rect">
            <a:avLst/>
          </a:prstGeom>
          <a:noFill/>
        </p:spPr>
        <p:txBody>
          <a:bodyPr wrap="square" lIns="0" tIns="0" rIns="0" bIns="0">
            <a:spAutoFit/>
          </a:bodyPr>
          <a:lstStyle/>
          <a:p>
            <a:pPr algn="ctr">
              <a:lnSpc>
                <a:spcPct val="113000"/>
              </a:lnSpc>
              <a:spcBef>
                <a:spcPts val="0"/>
              </a:spcBef>
              <a:spcAft>
                <a:spcPts val="400"/>
              </a:spcAft>
            </a:pPr>
            <a:r>
              <a:rPr sz="1450" b="1">
                <a:solidFill>
                  <a:srgbClr val="B94366"/>
                </a:solidFill>
                <a:latin typeface="微软雅黑" panose="020B0503020204020204" pitchFamily="34" charset="-122"/>
                <a:ea typeface="微软雅黑" panose="020B0503020204020204" pitchFamily="34" charset="-122"/>
              </a:rPr>
              <a:t>图像编码器</a:t>
            </a:r>
          </a:p>
        </p:txBody>
      </p:sp>
      <p:sp>
        <p:nvSpPr>
          <p:cNvPr id="32" name="Rounded Rectangle 31"/>
          <p:cNvSpPr/>
          <p:nvPr/>
        </p:nvSpPr>
        <p:spPr>
          <a:xfrm>
            <a:off x="3886200" y="4507992"/>
            <a:ext cx="1572768" cy="740664"/>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3922776" y="4681728"/>
            <a:ext cx="1499616" cy="548640"/>
          </a:xfrm>
          <a:prstGeom prst="rect">
            <a:avLst/>
          </a:prstGeom>
          <a:noFill/>
        </p:spPr>
        <p:txBody>
          <a:bodyPr wrap="square" lIns="0" tIns="0" rIns="0" bIns="0">
            <a:spAutoFit/>
          </a:bodyPr>
          <a:lstStyle/>
          <a:p>
            <a:pPr algn="ctr">
              <a:lnSpc>
                <a:spcPct val="113000"/>
              </a:lnSpc>
              <a:spcBef>
                <a:spcPts val="0"/>
              </a:spcBef>
              <a:spcAft>
                <a:spcPts val="400"/>
              </a:spcAft>
            </a:pPr>
            <a:r>
              <a:rPr sz="1450" b="1">
                <a:solidFill>
                  <a:srgbClr val="B94366"/>
                </a:solidFill>
                <a:latin typeface="微软雅黑" panose="020B0503020204020204" pitchFamily="34" charset="-122"/>
                <a:ea typeface="微软雅黑" panose="020B0503020204020204" pitchFamily="34" charset="-122"/>
              </a:rPr>
              <a:t>去均值</a:t>
            </a:r>
          </a:p>
        </p:txBody>
      </p:sp>
      <p:sp>
        <p:nvSpPr>
          <p:cNvPr id="34" name="Rounded Rectangle 33"/>
          <p:cNvSpPr/>
          <p:nvPr/>
        </p:nvSpPr>
        <p:spPr>
          <a:xfrm>
            <a:off x="5733288" y="4507992"/>
            <a:ext cx="1225296" cy="740664"/>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769864" y="4681728"/>
            <a:ext cx="1152144" cy="548640"/>
          </a:xfrm>
          <a:prstGeom prst="rect">
            <a:avLst/>
          </a:prstGeom>
          <a:noFill/>
        </p:spPr>
        <p:txBody>
          <a:bodyPr wrap="square" lIns="0" tIns="0" rIns="0" bIns="0">
            <a:spAutoFit/>
          </a:bodyPr>
          <a:lstStyle/>
          <a:p>
            <a:pPr algn="ctr">
              <a:lnSpc>
                <a:spcPct val="113000"/>
              </a:lnSpc>
              <a:spcBef>
                <a:spcPts val="0"/>
              </a:spcBef>
              <a:spcAft>
                <a:spcPts val="400"/>
              </a:spcAft>
            </a:pPr>
            <a:r>
              <a:rPr sz="1450" b="1">
                <a:solidFill>
                  <a:srgbClr val="B94366"/>
                </a:solidFill>
                <a:latin typeface="微软雅黑" panose="020B0503020204020204" pitchFamily="34" charset="-122"/>
                <a:ea typeface="微软雅黑" panose="020B0503020204020204" pitchFamily="34" charset="-122"/>
              </a:rPr>
              <a:t>MLP +</a:t>
            </a:r>
          </a:p>
          <a:p>
            <a:pPr algn="ctr">
              <a:lnSpc>
                <a:spcPct val="113000"/>
              </a:lnSpc>
              <a:spcBef>
                <a:spcPts val="0"/>
              </a:spcBef>
              <a:spcAft>
                <a:spcPts val="400"/>
              </a:spcAft>
            </a:pPr>
            <a:r>
              <a:rPr sz="1450" b="1">
                <a:solidFill>
                  <a:srgbClr val="B94366"/>
                </a:solidFill>
                <a:latin typeface="微软雅黑" panose="020B0503020204020204" pitchFamily="34" charset="-122"/>
                <a:ea typeface="微软雅黑" panose="020B0503020204020204" pitchFamily="34" charset="-122"/>
              </a:rPr>
              <a:t>GPT-2</a:t>
            </a:r>
          </a:p>
        </p:txBody>
      </p:sp>
      <p:sp>
        <p:nvSpPr>
          <p:cNvPr id="36" name="Right Arrow 35"/>
          <p:cNvSpPr/>
          <p:nvPr/>
        </p:nvSpPr>
        <p:spPr>
          <a:xfrm>
            <a:off x="1984248" y="4800600"/>
            <a:ext cx="192024" cy="146304"/>
          </a:xfrm>
          <a:prstGeom prst="rightArrow">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Right Arrow 36"/>
          <p:cNvSpPr/>
          <p:nvPr/>
        </p:nvSpPr>
        <p:spPr>
          <a:xfrm>
            <a:off x="3648456" y="4800600"/>
            <a:ext cx="192024" cy="146304"/>
          </a:xfrm>
          <a:prstGeom prst="rightArrow">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Right Arrow 37"/>
          <p:cNvSpPr/>
          <p:nvPr/>
        </p:nvSpPr>
        <p:spPr>
          <a:xfrm>
            <a:off x="5486400" y="4800600"/>
            <a:ext cx="192024" cy="146304"/>
          </a:xfrm>
          <a:prstGeom prst="rightArrow">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795528" y="3419856"/>
            <a:ext cx="6126480" cy="448056"/>
          </a:xfrm>
          <a:prstGeom prst="rect">
            <a:avLst/>
          </a:prstGeom>
          <a:noFill/>
        </p:spPr>
        <p:txBody>
          <a:bodyPr wrap="square" lIns="0" tIns="0" rIns="0" bIns="0">
            <a:spAutoFit/>
          </a:bodyPr>
          <a:lstStyle/>
          <a:p>
            <a:pPr>
              <a:lnSpc>
                <a:spcPct val="113000"/>
              </a:lnSpc>
              <a:spcBef>
                <a:spcPts val="0"/>
              </a:spcBef>
              <a:spcAft>
                <a:spcPts val="400"/>
              </a:spcAft>
            </a:pPr>
            <a:r>
              <a:rPr sz="1700" b="0">
                <a:solidFill>
                  <a:srgbClr val="26364C"/>
                </a:solidFill>
                <a:latin typeface="微软雅黑" panose="020B0503020204020204" pitchFamily="34" charset="-122"/>
                <a:ea typeface="微软雅黑" panose="020B0503020204020204" pitchFamily="34" charset="-122"/>
              </a:rPr>
              <a:t>编码器：</a:t>
            </a:r>
            <a:r>
              <a:rPr sz="1700" b="1">
                <a:solidFill>
                  <a:srgbClr val="2853A3"/>
                </a:solidFill>
                <a:latin typeface="微软雅黑" panose="020B0503020204020204" pitchFamily="34" charset="-122"/>
                <a:ea typeface="微软雅黑" panose="020B0503020204020204" pitchFamily="34" charset="-122"/>
              </a:rPr>
              <a:t>冻结</a:t>
            </a:r>
            <a:r>
              <a:rPr sz="1700" b="0">
                <a:solidFill>
                  <a:srgbClr val="26364C"/>
                </a:solidFill>
                <a:latin typeface="微软雅黑" panose="020B0503020204020204" pitchFamily="34" charset="-122"/>
                <a:ea typeface="微软雅黑" panose="020B0503020204020204" pitchFamily="34" charset="-122"/>
              </a:rPr>
              <a:t>　　　　　　　　解码器：</a:t>
            </a:r>
            <a:r>
              <a:rPr sz="1700" b="1">
                <a:solidFill>
                  <a:srgbClr val="2853A3"/>
                </a:solidFill>
                <a:latin typeface="微软雅黑" panose="020B0503020204020204" pitchFamily="34" charset="-122"/>
                <a:ea typeface="微软雅黑" panose="020B0503020204020204" pitchFamily="34" charset="-122"/>
              </a:rPr>
              <a:t>可训练</a:t>
            </a:r>
          </a:p>
        </p:txBody>
      </p:sp>
      <p:sp>
        <p:nvSpPr>
          <p:cNvPr id="40" name="Rounded Rectangle 39"/>
          <p:cNvSpPr/>
          <p:nvPr/>
        </p:nvSpPr>
        <p:spPr>
          <a:xfrm>
            <a:off x="7461504" y="1307592"/>
            <a:ext cx="4233672" cy="2862072"/>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Oval 40"/>
          <p:cNvSpPr/>
          <p:nvPr/>
        </p:nvSpPr>
        <p:spPr>
          <a:xfrm>
            <a:off x="7662672"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7662672"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43" name="TextBox 42"/>
          <p:cNvSpPr txBox="1"/>
          <p:nvPr/>
        </p:nvSpPr>
        <p:spPr>
          <a:xfrm>
            <a:off x="8129016" y="1504187"/>
            <a:ext cx="3328415"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训练损失与 token 预测</a:t>
            </a:r>
          </a:p>
        </p:txBody>
      </p:sp>
      <p:pic>
        <p:nvPicPr>
          <p:cNvPr id="44" name="Picture 43" descr="ce.png"/>
          <p:cNvPicPr>
            <a:picLocks noChangeAspect="1"/>
          </p:cNvPicPr>
          <p:nvPr/>
        </p:nvPicPr>
        <p:blipFill>
          <a:blip r:embed="rId3"/>
          <a:stretch>
            <a:fillRect/>
          </a:stretch>
        </p:blipFill>
        <p:spPr>
          <a:xfrm>
            <a:off x="7662672" y="2076784"/>
            <a:ext cx="3822191" cy="601310"/>
          </a:xfrm>
          <a:prstGeom prst="rect">
            <a:avLst/>
          </a:prstGeom>
        </p:spPr>
      </p:pic>
      <p:sp>
        <p:nvSpPr>
          <p:cNvPr id="46" name="Rounded Rectangle 45"/>
          <p:cNvSpPr/>
          <p:nvPr/>
        </p:nvSpPr>
        <p:spPr>
          <a:xfrm>
            <a:off x="7461504" y="4361688"/>
            <a:ext cx="4233672" cy="1444752"/>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Oval 46"/>
          <p:cNvSpPr/>
          <p:nvPr/>
        </p:nvSpPr>
        <p:spPr>
          <a:xfrm>
            <a:off x="7662672" y="4544568"/>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7662672" y="4594859"/>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03</a:t>
            </a:r>
          </a:p>
        </p:txBody>
      </p:sp>
      <p:sp>
        <p:nvSpPr>
          <p:cNvPr id="49" name="TextBox 48"/>
          <p:cNvSpPr txBox="1"/>
          <p:nvPr/>
        </p:nvSpPr>
        <p:spPr>
          <a:xfrm>
            <a:off x="8129016" y="4558283"/>
            <a:ext cx="3328415"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参数与维度</a:t>
            </a:r>
          </a:p>
        </p:txBody>
      </p:sp>
      <p:sp>
        <p:nvSpPr>
          <p:cNvPr id="51" name="TextBox 50"/>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4 完整流程：训练更新哪些参数，测试替换哪一环？</a:t>
            </a:r>
          </a:p>
        </p:txBody>
      </p:sp>
      <p:sp>
        <p:nvSpPr>
          <p:cNvPr id="52" name="TextBox 51"/>
          <p:cNvSpPr txBox="1"/>
          <p:nvPr/>
        </p:nvSpPr>
        <p:spPr>
          <a:xfrm>
            <a:off x="7735824" y="2953512"/>
            <a:ext cx="3666744" cy="905256"/>
          </a:xfrm>
          <a:prstGeom prst="rect">
            <a:avLst/>
          </a:prstGeom>
          <a:noFill/>
        </p:spPr>
        <p:txBody>
          <a:bodyPr wrap="square" lIns="0" tIns="0" rIns="0" bIns="0">
            <a:spAutoFit/>
          </a:bodyPr>
          <a:lstStyle/>
          <a:p>
            <a:pPr>
              <a:lnSpc>
                <a:spcPct val="113000"/>
              </a:lnSpc>
              <a:spcBef>
                <a:spcPts val="0"/>
              </a:spcBef>
              <a:spcAft>
                <a:spcPts val="400"/>
              </a:spcAft>
            </a:pPr>
            <a:r>
              <a:rPr sz="1600" b="0">
                <a:solidFill>
                  <a:srgbClr val="26364C"/>
                </a:solidFill>
                <a:latin typeface="微软雅黑" panose="020B0503020204020204" pitchFamily="34" charset="-122"/>
                <a:ea typeface="微软雅黑" panose="020B0503020204020204" pitchFamily="34" charset="-122"/>
              </a:rPr>
              <a:t>训练：真实前文 → 预测下个 token。</a:t>
            </a:r>
          </a:p>
          <a:p>
            <a:pPr>
              <a:lnSpc>
                <a:spcPct val="113000"/>
              </a:lnSpc>
              <a:spcBef>
                <a:spcPts val="0"/>
              </a:spcBef>
              <a:spcAft>
                <a:spcPts val="400"/>
              </a:spcAft>
            </a:pPr>
            <a:r>
              <a:rPr sz="1600" b="0">
                <a:solidFill>
                  <a:srgbClr val="26364C"/>
                </a:solidFill>
                <a:latin typeface="微软雅黑" panose="020B0503020204020204" pitchFamily="34" charset="-122"/>
                <a:ea typeface="微软雅黑" panose="020B0503020204020204" pitchFamily="34" charset="-122"/>
              </a:rPr>
              <a:t>测试：已生成前文 → 继续预测。</a:t>
            </a:r>
          </a:p>
        </p:txBody>
      </p:sp>
      <p:sp>
        <p:nvSpPr>
          <p:cNvPr id="53" name="TextBox 52"/>
          <p:cNvSpPr txBox="1"/>
          <p:nvPr/>
        </p:nvSpPr>
        <p:spPr>
          <a:xfrm>
            <a:off x="7708392" y="4956048"/>
            <a:ext cx="3739896" cy="676656"/>
          </a:xfrm>
          <a:prstGeom prst="rect">
            <a:avLst/>
          </a:prstGeom>
          <a:noFill/>
        </p:spPr>
        <p:txBody>
          <a:bodyPr wrap="square" lIns="0" tIns="0" rIns="0" bIns="0">
            <a:spAutoFit/>
          </a:bodyPr>
          <a:lstStyle/>
          <a:p>
            <a:pPr>
              <a:lnSpc>
                <a:spcPct val="113000"/>
              </a:lnSpc>
              <a:spcBef>
                <a:spcPts val="0"/>
              </a:spcBef>
              <a:spcAft>
                <a:spcPts val="400"/>
              </a:spcAft>
            </a:pPr>
            <a:r>
              <a:rPr sz="1450" b="0">
                <a:solidFill>
                  <a:srgbClr val="26364C"/>
                </a:solidFill>
                <a:latin typeface="微软雅黑" panose="020B0503020204020204" pitchFamily="34" charset="-122"/>
                <a:ea typeface="微软雅黑" panose="020B0503020204020204" pitchFamily="34" charset="-122"/>
              </a:rPr>
              <a:t>512维 CLIP 向量 → MLP → 前缀序列</a:t>
            </a:r>
          </a:p>
          <a:p>
            <a:pPr>
              <a:lnSpc>
                <a:spcPct val="113000"/>
              </a:lnSpc>
              <a:spcBef>
                <a:spcPts val="0"/>
              </a:spcBef>
              <a:spcAft>
                <a:spcPts val="400"/>
              </a:spcAft>
            </a:pPr>
            <a:r>
              <a:rPr sz="1450" b="0">
                <a:solidFill>
                  <a:srgbClr val="26364C"/>
                </a:solidFill>
                <a:latin typeface="微软雅黑" panose="020B0503020204020204" pitchFamily="34" charset="-122"/>
                <a:ea typeface="微软雅黑" panose="020B0503020204020204" pitchFamily="34" charset="-122"/>
              </a:rPr>
              <a:t>每个前缀位置为768维，送入 GPT-2。</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5 核心创新：把“可互换”的假设变成可分析、可改进的问题</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10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§1 contributions；§3–5；PDF pp.2–9。去均值与噪声操作有前作基础；跨任务结果为适用性证据。</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核心增量：解释失配结构，并据此组合校准与鲁棒训练，检验跨任务适用性</a:t>
            </a:r>
          </a:p>
        </p:txBody>
      </p:sp>
      <p:sp>
        <p:nvSpPr>
          <p:cNvPr id="9" name="Rounded Rectangle 8"/>
          <p:cNvSpPr/>
          <p:nvPr/>
        </p:nvSpPr>
        <p:spPr>
          <a:xfrm>
            <a:off x="502920" y="1307592"/>
            <a:ext cx="5760720"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4855464"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贡献：认识、设计与适用性</a:t>
            </a:r>
          </a:p>
        </p:txBody>
      </p:sp>
      <p:sp>
        <p:nvSpPr>
          <p:cNvPr id="13" name="Rounded Rectangle 12"/>
          <p:cNvSpPr/>
          <p:nvPr/>
        </p:nvSpPr>
        <p:spPr>
          <a:xfrm>
            <a:off x="768096" y="2002536"/>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32103" y="2029967"/>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理论</a:t>
            </a:r>
          </a:p>
        </p:txBody>
      </p:sp>
      <p:sp>
        <p:nvSpPr>
          <p:cNvPr id="15" name="TextBox 14"/>
          <p:cNvSpPr txBox="1"/>
          <p:nvPr/>
        </p:nvSpPr>
        <p:spPr>
          <a:xfrm>
            <a:off x="1865376" y="1997964"/>
            <a:ext cx="4133087"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解释共享空间为何仍不互换</a:t>
            </a:r>
          </a:p>
        </p:txBody>
      </p:sp>
      <p:sp>
        <p:nvSpPr>
          <p:cNvPr id="16" name="TextBox 15"/>
          <p:cNvSpPr txBox="1"/>
          <p:nvPr/>
        </p:nvSpPr>
        <p:spPr>
          <a:xfrm>
            <a:off x="1865376" y="2395728"/>
            <a:ext cx="4133087" cy="667512"/>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共同偏移与样本残差；给出条件分析与经验支持。</a:t>
            </a:r>
          </a:p>
        </p:txBody>
      </p:sp>
      <p:sp>
        <p:nvSpPr>
          <p:cNvPr id="17" name="Rounded Rectangle 16"/>
          <p:cNvSpPr/>
          <p:nvPr/>
        </p:nvSpPr>
        <p:spPr>
          <a:xfrm>
            <a:off x="768096" y="3218688"/>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32103" y="3246120"/>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方法</a:t>
            </a:r>
          </a:p>
        </p:txBody>
      </p:sp>
      <p:sp>
        <p:nvSpPr>
          <p:cNvPr id="19" name="TextBox 18"/>
          <p:cNvSpPr txBox="1"/>
          <p:nvPr/>
        </p:nvSpPr>
        <p:spPr>
          <a:xfrm>
            <a:off x="1865376" y="3214116"/>
            <a:ext cx="4133087"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输入校准 + 解码器鲁棒训练</a:t>
            </a:r>
          </a:p>
        </p:txBody>
      </p:sp>
      <p:sp>
        <p:nvSpPr>
          <p:cNvPr id="20" name="TextBox 19"/>
          <p:cNvSpPr txBox="1"/>
          <p:nvPr/>
        </p:nvSpPr>
        <p:spPr>
          <a:xfrm>
            <a:off x="1865376" y="3611880"/>
            <a:ext cx="4133087" cy="667512"/>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去均值移动中心；扰动训练提高偏差容忍度。</a:t>
            </a:r>
          </a:p>
        </p:txBody>
      </p:sp>
      <p:sp>
        <p:nvSpPr>
          <p:cNvPr id="21" name="Rounded Rectangle 20"/>
          <p:cNvSpPr/>
          <p:nvPr/>
        </p:nvSpPr>
        <p:spPr>
          <a:xfrm>
            <a:off x="768096" y="4434840"/>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832103" y="4462272"/>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应用</a:t>
            </a:r>
          </a:p>
        </p:txBody>
      </p:sp>
      <p:sp>
        <p:nvSpPr>
          <p:cNvPr id="23" name="TextBox 22"/>
          <p:cNvSpPr txBox="1"/>
          <p:nvPr/>
        </p:nvSpPr>
        <p:spPr>
          <a:xfrm>
            <a:off x="1865376" y="4430268"/>
            <a:ext cx="4133087"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在多个跨模态任务中检验</a:t>
            </a:r>
          </a:p>
        </p:txBody>
      </p:sp>
      <p:sp>
        <p:nvSpPr>
          <p:cNvPr id="24" name="TextBox 23"/>
          <p:cNvSpPr txBox="1"/>
          <p:nvPr/>
        </p:nvSpPr>
        <p:spPr>
          <a:xfrm>
            <a:off x="1865376" y="4828031"/>
            <a:ext cx="4133087" cy="676656"/>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图像／音频／视频描述，以及文字生成图像。</a:t>
            </a:r>
          </a:p>
        </p:txBody>
      </p:sp>
      <p:sp>
        <p:nvSpPr>
          <p:cNvPr id="25" name="Rounded Rectangle 24"/>
          <p:cNvSpPr/>
          <p:nvPr/>
        </p:nvSpPr>
        <p:spPr>
          <a:xfrm>
            <a:off x="6464808" y="1307592"/>
            <a:ext cx="5230368"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Oval 25"/>
          <p:cNvSpPr/>
          <p:nvPr/>
        </p:nvSpPr>
        <p:spPr>
          <a:xfrm>
            <a:off x="6665976"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6665976"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8" name="TextBox 27"/>
          <p:cNvSpPr txBox="1"/>
          <p:nvPr/>
        </p:nvSpPr>
        <p:spPr>
          <a:xfrm>
            <a:off x="7132320" y="1504187"/>
            <a:ext cx="4325112"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为什么值得学习？</a:t>
            </a:r>
          </a:p>
        </p:txBody>
      </p:sp>
      <p:sp>
        <p:nvSpPr>
          <p:cNvPr id="29" name="Oval 28"/>
          <p:cNvSpPr/>
          <p:nvPr/>
        </p:nvSpPr>
        <p:spPr>
          <a:xfrm>
            <a:off x="6748272" y="1965960"/>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6748272" y="2016252"/>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1</a:t>
            </a:r>
          </a:p>
        </p:txBody>
      </p:sp>
      <p:sp>
        <p:nvSpPr>
          <p:cNvPr id="31" name="TextBox 30"/>
          <p:cNvSpPr txBox="1"/>
          <p:nvPr/>
        </p:nvSpPr>
        <p:spPr>
          <a:xfrm>
            <a:off x="7223760" y="1956816"/>
            <a:ext cx="4087368" cy="374904"/>
          </a:xfrm>
          <a:prstGeom prst="rect">
            <a:avLst/>
          </a:prstGeom>
          <a:noFill/>
        </p:spPr>
        <p:txBody>
          <a:bodyPr wrap="square" lIns="0" tIns="0" rIns="0" bIns="0">
            <a:spAutoFit/>
          </a:bodyPr>
          <a:lstStyle/>
          <a:p>
            <a:pPr>
              <a:lnSpc>
                <a:spcPct val="113000"/>
              </a:lnSpc>
              <a:spcBef>
                <a:spcPts val="0"/>
              </a:spcBef>
              <a:spcAft>
                <a:spcPts val="400"/>
              </a:spcAft>
            </a:pPr>
            <a:r>
              <a:rPr sz="1800" b="1">
                <a:solidFill>
                  <a:srgbClr val="26364C"/>
                </a:solidFill>
                <a:latin typeface="微软雅黑" panose="020B0503020204020204" pitchFamily="34" charset="-122"/>
                <a:ea typeface="微软雅黑" panose="020B0503020204020204" pitchFamily="34" charset="-122"/>
              </a:rPr>
              <a:t>抓住未经充分检验的假设</a:t>
            </a:r>
          </a:p>
        </p:txBody>
      </p:sp>
      <p:sp>
        <p:nvSpPr>
          <p:cNvPr id="32" name="TextBox 31"/>
          <p:cNvSpPr txBox="1"/>
          <p:nvPr/>
        </p:nvSpPr>
        <p:spPr>
          <a:xfrm>
            <a:off x="7232904" y="2423160"/>
            <a:ext cx="4050791" cy="557784"/>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相似度匹配好，生成输入就能互换吗？</a:t>
            </a:r>
          </a:p>
        </p:txBody>
      </p:sp>
      <p:sp>
        <p:nvSpPr>
          <p:cNvPr id="33" name="Oval 32"/>
          <p:cNvSpPr/>
          <p:nvPr/>
        </p:nvSpPr>
        <p:spPr>
          <a:xfrm>
            <a:off x="6748272" y="3063240"/>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748272" y="3113532"/>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2</a:t>
            </a:r>
          </a:p>
        </p:txBody>
      </p:sp>
      <p:sp>
        <p:nvSpPr>
          <p:cNvPr id="35" name="TextBox 34"/>
          <p:cNvSpPr txBox="1"/>
          <p:nvPr/>
        </p:nvSpPr>
        <p:spPr>
          <a:xfrm>
            <a:off x="7223760" y="3054096"/>
            <a:ext cx="4087368" cy="374904"/>
          </a:xfrm>
          <a:prstGeom prst="rect">
            <a:avLst/>
          </a:prstGeom>
          <a:noFill/>
        </p:spPr>
        <p:txBody>
          <a:bodyPr wrap="square" lIns="0" tIns="0" rIns="0" bIns="0">
            <a:spAutoFit/>
          </a:bodyPr>
          <a:lstStyle/>
          <a:p>
            <a:pPr>
              <a:lnSpc>
                <a:spcPct val="113000"/>
              </a:lnSpc>
              <a:spcBef>
                <a:spcPts val="0"/>
              </a:spcBef>
              <a:spcAft>
                <a:spcPts val="400"/>
              </a:spcAft>
            </a:pPr>
            <a:r>
              <a:rPr sz="1800" b="1">
                <a:solidFill>
                  <a:srgbClr val="26364C"/>
                </a:solidFill>
                <a:latin typeface="微软雅黑" panose="020B0503020204020204" pitchFamily="34" charset="-122"/>
                <a:ea typeface="微软雅黑" panose="020B0503020204020204" pitchFamily="34" charset="-122"/>
              </a:rPr>
              <a:t>让每个设计有问题依据</a:t>
            </a:r>
          </a:p>
        </p:txBody>
      </p:sp>
      <p:sp>
        <p:nvSpPr>
          <p:cNvPr id="36" name="TextBox 35"/>
          <p:cNvSpPr txBox="1"/>
          <p:nvPr/>
        </p:nvSpPr>
        <p:spPr>
          <a:xfrm>
            <a:off x="7232904" y="3520440"/>
            <a:ext cx="4050791" cy="557784"/>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先定位中心偏移与残差，再决定改哪一环。</a:t>
            </a:r>
          </a:p>
        </p:txBody>
      </p:sp>
      <p:sp>
        <p:nvSpPr>
          <p:cNvPr id="37" name="Oval 36"/>
          <p:cNvSpPr/>
          <p:nvPr/>
        </p:nvSpPr>
        <p:spPr>
          <a:xfrm>
            <a:off x="6748272" y="4160520"/>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6748272" y="4210812"/>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3</a:t>
            </a:r>
          </a:p>
        </p:txBody>
      </p:sp>
      <p:sp>
        <p:nvSpPr>
          <p:cNvPr id="39" name="TextBox 38"/>
          <p:cNvSpPr txBox="1"/>
          <p:nvPr/>
        </p:nvSpPr>
        <p:spPr>
          <a:xfrm>
            <a:off x="7223760" y="4151376"/>
            <a:ext cx="4087368" cy="374904"/>
          </a:xfrm>
          <a:prstGeom prst="rect">
            <a:avLst/>
          </a:prstGeom>
          <a:noFill/>
        </p:spPr>
        <p:txBody>
          <a:bodyPr wrap="square" lIns="0" tIns="0" rIns="0" bIns="0">
            <a:spAutoFit/>
          </a:bodyPr>
          <a:lstStyle/>
          <a:p>
            <a:pPr>
              <a:lnSpc>
                <a:spcPct val="113000"/>
              </a:lnSpc>
              <a:spcBef>
                <a:spcPts val="0"/>
              </a:spcBef>
              <a:spcAft>
                <a:spcPts val="400"/>
              </a:spcAft>
            </a:pPr>
            <a:r>
              <a:rPr sz="1800" b="1">
                <a:solidFill>
                  <a:srgbClr val="26364C"/>
                </a:solidFill>
                <a:latin typeface="微软雅黑" panose="020B0503020204020204" pitchFamily="34" charset="-122"/>
                <a:ea typeface="微软雅黑" panose="020B0503020204020204" pitchFamily="34" charset="-122"/>
              </a:rPr>
              <a:t>用不同对照支撑不同主张</a:t>
            </a:r>
          </a:p>
        </p:txBody>
      </p:sp>
      <p:sp>
        <p:nvSpPr>
          <p:cNvPr id="40" name="TextBox 39"/>
          <p:cNvSpPr txBox="1"/>
          <p:nvPr/>
        </p:nvSpPr>
        <p:spPr>
          <a:xfrm>
            <a:off x="7232904" y="4617720"/>
            <a:ext cx="4050791" cy="557784"/>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主效果、组件、机制和适用范围分别检验。</a:t>
            </a:r>
          </a:p>
        </p:txBody>
      </p:sp>
      <p:sp>
        <p:nvSpPr>
          <p:cNvPr id="41" name="TextBox 40"/>
          <p:cNvSpPr txBox="1"/>
          <p:nvPr/>
        </p:nvSpPr>
        <p:spPr>
          <a:xfrm>
            <a:off x="6748272" y="5413248"/>
            <a:ext cx="4663440" cy="274320"/>
          </a:xfrm>
          <a:prstGeom prst="rect">
            <a:avLst/>
          </a:prstGeom>
          <a:noFill/>
        </p:spPr>
        <p:txBody>
          <a:bodyPr wrap="square" lIns="0" tIns="0" rIns="0" bIns="0">
            <a:spAutoFit/>
          </a:bodyPr>
          <a:lstStyle/>
          <a:p>
            <a:pPr>
              <a:lnSpc>
                <a:spcPct val="113000"/>
              </a:lnSpc>
              <a:spcBef>
                <a:spcPts val="0"/>
              </a:spcBef>
              <a:spcAft>
                <a:spcPts val="400"/>
              </a:spcAft>
            </a:pPr>
            <a:r>
              <a:rPr sz="1280" b="0">
                <a:solidFill>
                  <a:srgbClr val="637185"/>
                </a:solidFill>
                <a:latin typeface="微软雅黑" panose="020B0503020204020204" pitchFamily="34" charset="-122"/>
                <a:ea typeface="微软雅黑" panose="020B0503020204020204" pitchFamily="34" charset="-122"/>
              </a:rPr>
              <a:t>操作有前作基础；贡献在几何解释及据此形成的方法。</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11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Table 1–7；Figures 3–6、10–11；Appendix C、G–I。验证维度为汇报归纳。</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502920" y="1307592"/>
            <a:ext cx="11192256"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10287000"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从“论文主张”到“可检查的证据”</a:t>
            </a:r>
          </a:p>
        </p:txBody>
      </p:sp>
      <p:sp>
        <p:nvSpPr>
          <p:cNvPr id="15" name="TextBox 14"/>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6 实验逻辑：围绕五个问题组织证据</a:t>
            </a:r>
          </a:p>
        </p:txBody>
      </p:sp>
      <p:sp>
        <p:nvSpPr>
          <p:cNvPr id="16" name="TextBox 15"/>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验证五类主张：几何现象、整体效果、组件贡献、适用范围与机制解释</a:t>
            </a:r>
          </a:p>
        </p:txBody>
      </p:sp>
      <p:sp>
        <p:nvSpPr>
          <p:cNvPr id="17" name="TextBox 16"/>
          <p:cNvSpPr txBox="1"/>
          <p:nvPr/>
        </p:nvSpPr>
        <p:spPr>
          <a:xfrm>
            <a:off x="813816" y="5294376"/>
            <a:ext cx="10424160" cy="329184"/>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853A3"/>
                </a:solidFill>
                <a:latin typeface="微软雅黑" panose="020B0503020204020204" pitchFamily="34" charset="-122"/>
                <a:ea typeface="微软雅黑" panose="020B0503020204020204" pitchFamily="34" charset="-122"/>
              </a:rPr>
              <a:t>主表回答效果；组件与机制实验解释原因；扩展实验检查适用范围。</a:t>
            </a:r>
          </a:p>
        </p:txBody>
      </p:sp>
      <p:graphicFrame>
        <p:nvGraphicFramePr>
          <p:cNvPr id="18" name="Table 17"/>
          <p:cNvGraphicFramePr>
            <a:graphicFrameLocks noGrp="1"/>
          </p:cNvGraphicFramePr>
          <p:nvPr/>
        </p:nvGraphicFramePr>
        <p:xfrm>
          <a:off x="758952" y="1993392"/>
          <a:ext cx="10671048" cy="3072384"/>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175504">
                  <a:extLst>
                    <a:ext uri="{9D8B030D-6E8A-4147-A177-3AD203B41FA5}">
                      <a16:colId xmlns:a16="http://schemas.microsoft.com/office/drawing/2014/main" val="20001"/>
                    </a:ext>
                  </a:extLst>
                </a:gridCol>
                <a:gridCol w="2752344">
                  <a:extLst>
                    <a:ext uri="{9D8B030D-6E8A-4147-A177-3AD203B41FA5}">
                      <a16:colId xmlns:a16="http://schemas.microsoft.com/office/drawing/2014/main" val="20002"/>
                    </a:ext>
                  </a:extLst>
                </a:gridCol>
              </a:tblGrid>
              <a:tr h="512064">
                <a:tc>
                  <a:txBody>
                    <a:bodyPr/>
                    <a:lstStyle/>
                    <a:p>
                      <a:pPr algn="l">
                        <a:spcAft>
                          <a:spcPts val="0"/>
                        </a:spcAft>
                      </a:pPr>
                      <a:r>
                        <a:rPr sz="1550" b="1">
                          <a:solidFill>
                            <a:srgbClr val="2853A3"/>
                          </a:solidFill>
                          <a:latin typeface="微软雅黑" panose="020B0503020204020204" pitchFamily="34" charset="-122"/>
                        </a:rPr>
                        <a:t>要回答的问题</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550" b="1">
                          <a:solidFill>
                            <a:srgbClr val="2853A3"/>
                          </a:solidFill>
                          <a:latin typeface="微软雅黑" panose="020B0503020204020204" pitchFamily="34" charset="-122"/>
                        </a:rPr>
                        <a:t>作者如何检验</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550" b="1">
                          <a:solidFill>
                            <a:srgbClr val="2853A3"/>
                          </a:solidFill>
                          <a:latin typeface="微软雅黑" panose="020B0503020204020204" pitchFamily="34" charset="-122"/>
                        </a:rPr>
                        <a:t>对应证据</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extLst>
                  <a:ext uri="{0D108BD9-81ED-4DB2-BD59-A6C34878D82A}">
                    <a16:rowId xmlns:a16="http://schemas.microsoft.com/office/drawing/2014/main" val="10000"/>
                  </a:ext>
                </a:extLst>
              </a:tr>
              <a:tr h="512064">
                <a:tc>
                  <a:txBody>
                    <a:bodyPr/>
                    <a:lstStyle/>
                    <a:p>
                      <a:pPr algn="l">
                        <a:spcAft>
                          <a:spcPts val="0"/>
                        </a:spcAft>
                      </a:pPr>
                      <a:r>
                        <a:rPr sz="1550" b="0">
                          <a:solidFill>
                            <a:srgbClr val="26364C"/>
                          </a:solidFill>
                          <a:latin typeface="微软雅黑" panose="020B0503020204020204" pitchFamily="34" charset="-122"/>
                        </a:rPr>
                        <a:t>几何现象是否存在？</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偏移长度／方向／正交性／残差统计</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Table 1；Fig. 3–5</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1"/>
                  </a:ext>
                </a:extLst>
              </a:tr>
              <a:tr h="512064">
                <a:tc>
                  <a:txBody>
                    <a:bodyPr/>
                    <a:lstStyle/>
                    <a:p>
                      <a:pPr algn="l">
                        <a:spcAft>
                          <a:spcPts val="0"/>
                        </a:spcAft>
                      </a:pPr>
                      <a:r>
                        <a:rPr sz="1550" b="0">
                          <a:solidFill>
                            <a:srgbClr val="26364C"/>
                          </a:solidFill>
                          <a:latin typeface="微软雅黑" panose="020B0503020204020204" pitchFamily="34" charset="-122"/>
                        </a:rPr>
                        <a:t>方法能否改善任务？</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图像描述与文字生成图像</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Table 2–3</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2"/>
                  </a:ext>
                </a:extLst>
              </a:tr>
              <a:tr h="512064">
                <a:tc>
                  <a:txBody>
                    <a:bodyPr/>
                    <a:lstStyle/>
                    <a:p>
                      <a:pPr algn="l">
                        <a:spcAft>
                          <a:spcPts val="0"/>
                        </a:spcAft>
                      </a:pPr>
                      <a:r>
                        <a:rPr sz="1550" b="0">
                          <a:solidFill>
                            <a:srgbClr val="26364C"/>
                          </a:solidFill>
                          <a:latin typeface="微软雅黑" panose="020B0503020204020204" pitchFamily="34" charset="-122"/>
                        </a:rPr>
                        <a:t>组件贡献是什么？</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固定 Connect；开关去均值与加噪</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Table 2–3 消融</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3"/>
                  </a:ext>
                </a:extLst>
              </a:tr>
              <a:tr h="512064">
                <a:tc>
                  <a:txBody>
                    <a:bodyPr/>
                    <a:lstStyle/>
                    <a:p>
                      <a:pPr algn="l">
                        <a:spcAft>
                          <a:spcPts val="0"/>
                        </a:spcAft>
                      </a:pPr>
                      <a:r>
                        <a:rPr sz="1550" b="0">
                          <a:solidFill>
                            <a:srgbClr val="26364C"/>
                          </a:solidFill>
                          <a:latin typeface="微软雅黑" panose="020B0503020204020204" pitchFamily="34" charset="-122"/>
                        </a:rPr>
                        <a:t>适用范围有多大？</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配对数据量；ImageBind 图像／音频／视频</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Fig. 6；Table 4–5</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4"/>
                  </a:ext>
                </a:extLst>
              </a:tr>
              <a:tr h="512064">
                <a:tc>
                  <a:txBody>
                    <a:bodyPr/>
                    <a:lstStyle/>
                    <a:p>
                      <a:pPr algn="l">
                        <a:spcAft>
                          <a:spcPts val="0"/>
                        </a:spcAft>
                      </a:pPr>
                      <a:r>
                        <a:rPr sz="1550" b="0">
                          <a:solidFill>
                            <a:srgbClr val="26364C"/>
                          </a:solidFill>
                          <a:latin typeface="微软雅黑" panose="020B0503020204020204" pitchFamily="34" charset="-122"/>
                        </a:rPr>
                        <a:t>机制解释是否合理？</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人为平移；移除噪声的 gap 方向；案例</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550" b="0">
                          <a:solidFill>
                            <a:srgbClr val="26364C"/>
                          </a:solidFill>
                          <a:latin typeface="微软雅黑" panose="020B0503020204020204" pitchFamily="34" charset="-122"/>
                        </a:rPr>
                        <a:t>Table 6–7；Fig. 10–11</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6 主要结果：四种并列配置与结论边界</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12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Table 2–3、Figure 6，PDF p.8；Table 5，p.20。CIDEr对应描述任务，FID对应文生图；均为原文结果。</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该设置中加噪贡献很大，完整组合更好；效果仍需限定任务、指标与数据条件</a:t>
            </a:r>
          </a:p>
        </p:txBody>
      </p:sp>
      <p:sp>
        <p:nvSpPr>
          <p:cNvPr id="9" name="Rounded Rectangle 8"/>
          <p:cNvSpPr/>
          <p:nvPr/>
        </p:nvSpPr>
        <p:spPr>
          <a:xfrm>
            <a:off x="502920" y="1307592"/>
            <a:ext cx="5650992"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4745736"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组件消融｜固定 Connect，分别开关</a:t>
            </a:r>
          </a:p>
        </p:txBody>
      </p:sp>
      <p:graphicFrame>
        <p:nvGraphicFramePr>
          <p:cNvPr id="13" name="Table 12"/>
          <p:cNvGraphicFramePr>
            <a:graphicFrameLocks noGrp="1"/>
          </p:cNvGraphicFramePr>
          <p:nvPr/>
        </p:nvGraphicFramePr>
        <p:xfrm>
          <a:off x="749808" y="1993392"/>
          <a:ext cx="5138927" cy="228600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932688">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152144">
                  <a:extLst>
                    <a:ext uri="{9D8B030D-6E8A-4147-A177-3AD203B41FA5}">
                      <a16:colId xmlns:a16="http://schemas.microsoft.com/office/drawing/2014/main" val="20003"/>
                    </a:ext>
                  </a:extLst>
                </a:gridCol>
                <a:gridCol w="1042415">
                  <a:extLst>
                    <a:ext uri="{9D8B030D-6E8A-4147-A177-3AD203B41FA5}">
                      <a16:colId xmlns:a16="http://schemas.microsoft.com/office/drawing/2014/main" val="20004"/>
                    </a:ext>
                  </a:extLst>
                </a:gridCol>
              </a:tblGrid>
              <a:tr h="457200">
                <a:tc>
                  <a:txBody>
                    <a:bodyPr/>
                    <a:lstStyle/>
                    <a:p>
                      <a:pPr algn="l">
                        <a:spcAft>
                          <a:spcPts val="0"/>
                        </a:spcAft>
                      </a:pPr>
                      <a:r>
                        <a:rPr sz="1450" b="1">
                          <a:solidFill>
                            <a:srgbClr val="2853A3"/>
                          </a:solidFill>
                          <a:latin typeface="微软雅黑" panose="020B0503020204020204" pitchFamily="34" charset="-122"/>
                        </a:rPr>
                        <a:t>配置</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450" b="1">
                          <a:solidFill>
                            <a:srgbClr val="2853A3"/>
                          </a:solidFill>
                          <a:latin typeface="微软雅黑" panose="020B0503020204020204" pitchFamily="34" charset="-122"/>
                        </a:rPr>
                        <a:t>去均值</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450" b="1">
                          <a:solidFill>
                            <a:srgbClr val="2853A3"/>
                          </a:solidFill>
                          <a:latin typeface="微软雅黑" panose="020B0503020204020204" pitchFamily="34" charset="-122"/>
                        </a:rPr>
                        <a:t>加噪</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450" b="1">
                          <a:solidFill>
                            <a:srgbClr val="2853A3"/>
                          </a:solidFill>
                          <a:latin typeface="微软雅黑" panose="020B0503020204020204" pitchFamily="34" charset="-122"/>
                        </a:rPr>
                        <a:t>CIDEr ↑</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450" b="1">
                          <a:solidFill>
                            <a:srgbClr val="2853A3"/>
                          </a:solidFill>
                          <a:latin typeface="微软雅黑" panose="020B0503020204020204" pitchFamily="34" charset="-122"/>
                        </a:rPr>
                        <a:t>FID ↓</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extLst>
                  <a:ext uri="{0D108BD9-81ED-4DB2-BD59-A6C34878D82A}">
                    <a16:rowId xmlns:a16="http://schemas.microsoft.com/office/drawing/2014/main" val="10000"/>
                  </a:ext>
                </a:extLst>
              </a:tr>
              <a:tr h="457200">
                <a:tc>
                  <a:txBody>
                    <a:bodyPr/>
                    <a:lstStyle/>
                    <a:p>
                      <a:pPr algn="l">
                        <a:spcAft>
                          <a:spcPts val="0"/>
                        </a:spcAft>
                      </a:pPr>
                      <a:r>
                        <a:rPr sz="1450" b="0">
                          <a:solidFill>
                            <a:srgbClr val="26364C"/>
                          </a:solidFill>
                          <a:latin typeface="微软雅黑" panose="020B0503020204020204" pitchFamily="34" charset="-122"/>
                        </a:rPr>
                        <a:t>Connect</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否</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否</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13.0</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29.8</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450" b="0">
                          <a:solidFill>
                            <a:srgbClr val="26364C"/>
                          </a:solidFill>
                          <a:latin typeface="微软雅黑" panose="020B0503020204020204" pitchFamily="34" charset="-122"/>
                        </a:rPr>
                        <a:t>C²₁</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是</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否</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25.2</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21.7</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450" b="0">
                          <a:solidFill>
                            <a:srgbClr val="26364C"/>
                          </a:solidFill>
                          <a:latin typeface="微软雅黑" panose="020B0503020204020204" pitchFamily="34" charset="-122"/>
                        </a:rPr>
                        <a:t>C²₂</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否</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是</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87.6</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tc>
                  <a:txBody>
                    <a:bodyPr/>
                    <a:lstStyle/>
                    <a:p>
                      <a:pPr algn="ctr">
                        <a:spcAft>
                          <a:spcPts val="0"/>
                        </a:spcAft>
                      </a:pPr>
                      <a:r>
                        <a:rPr sz="1450" b="0">
                          <a:solidFill>
                            <a:srgbClr val="26364C"/>
                          </a:solidFill>
                          <a:latin typeface="微软雅黑" panose="020B0503020204020204" pitchFamily="34" charset="-122"/>
                        </a:rPr>
                        <a:t>19.8</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450" b="1">
                          <a:solidFill>
                            <a:srgbClr val="2853A3"/>
                          </a:solidFill>
                          <a:latin typeface="微软雅黑" panose="020B0503020204020204" pitchFamily="34" charset="-122"/>
                        </a:rPr>
                        <a:t>C³</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450" b="1">
                          <a:solidFill>
                            <a:srgbClr val="2853A3"/>
                          </a:solidFill>
                          <a:latin typeface="微软雅黑" panose="020B0503020204020204" pitchFamily="34" charset="-122"/>
                        </a:rPr>
                        <a:t>是</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450" b="1">
                          <a:solidFill>
                            <a:srgbClr val="2853A3"/>
                          </a:solidFill>
                          <a:latin typeface="微软雅黑" panose="020B0503020204020204" pitchFamily="34" charset="-122"/>
                        </a:rPr>
                        <a:t>是</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450" b="1">
                          <a:solidFill>
                            <a:srgbClr val="2853A3"/>
                          </a:solidFill>
                          <a:latin typeface="微软雅黑" panose="020B0503020204020204" pitchFamily="34" charset="-122"/>
                        </a:rPr>
                        <a:t>93.3</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tc>
                  <a:txBody>
                    <a:bodyPr/>
                    <a:lstStyle/>
                    <a:p>
                      <a:pPr algn="ctr">
                        <a:spcAft>
                          <a:spcPts val="0"/>
                        </a:spcAft>
                      </a:pPr>
                      <a:r>
                        <a:rPr sz="1450" b="1">
                          <a:solidFill>
                            <a:srgbClr val="2853A3"/>
                          </a:solidFill>
                          <a:latin typeface="微软雅黑" panose="020B0503020204020204" pitchFamily="34" charset="-122"/>
                        </a:rPr>
                        <a:t>19.6</a:t>
                      </a:r>
                    </a:p>
                  </a:txBody>
                  <a:tcPr marL="82296" marR="64008" marT="64008" marB="27432" anchor="ctr">
                    <a:lnL w="5000">
                      <a:solidFill>
                        <a:srgbClr val="DBE2ED"/>
                      </a:solidFill>
                    </a:lnL>
                    <a:lnR w="5000">
                      <a:solidFill>
                        <a:srgbClr val="DBE2ED"/>
                      </a:solidFill>
                    </a:lnR>
                    <a:lnT w="5000">
                      <a:solidFill>
                        <a:srgbClr val="DBE2ED"/>
                      </a:solidFill>
                    </a:lnT>
                    <a:lnB w="5000">
                      <a:solidFill>
                        <a:srgbClr val="DBE2ED"/>
                      </a:solidFill>
                    </a:lnB>
                    <a:solidFill>
                      <a:srgbClr val="EFF4FC"/>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777240" y="4425696"/>
            <a:ext cx="5074920" cy="356616"/>
          </a:xfrm>
          <a:prstGeom prst="rect">
            <a:avLst/>
          </a:prstGeom>
          <a:noFill/>
        </p:spPr>
        <p:txBody>
          <a:bodyPr wrap="square" lIns="0" tIns="0" rIns="0" bIns="0">
            <a:spAutoFit/>
          </a:bodyPr>
          <a:lstStyle/>
          <a:p>
            <a:pPr>
              <a:lnSpc>
                <a:spcPct val="113000"/>
              </a:lnSpc>
              <a:spcBef>
                <a:spcPts val="0"/>
              </a:spcBef>
              <a:spcAft>
                <a:spcPts val="400"/>
              </a:spcAft>
            </a:pPr>
            <a:r>
              <a:rPr sz="1600" b="0">
                <a:solidFill>
                  <a:srgbClr val="26364C"/>
                </a:solidFill>
                <a:latin typeface="微软雅黑" panose="020B0503020204020204" pitchFamily="34" charset="-122"/>
                <a:ea typeface="微软雅黑" panose="020B0503020204020204" pitchFamily="34" charset="-122"/>
              </a:rPr>
              <a:t>四行均有 Connect；C²₂ </a:t>
            </a:r>
            <a:r>
              <a:rPr sz="1600" b="1">
                <a:solidFill>
                  <a:srgbClr val="2853A3"/>
                </a:solidFill>
                <a:latin typeface="微软雅黑" panose="020B0503020204020204" pitchFamily="34" charset="-122"/>
                <a:ea typeface="微软雅黑" panose="020B0503020204020204" pitchFamily="34" charset="-122"/>
              </a:rPr>
              <a:t>没有去均值</a:t>
            </a:r>
            <a:r>
              <a:rPr sz="1600" b="0">
                <a:solidFill>
                  <a:srgbClr val="26364C"/>
                </a:solidFill>
                <a:latin typeface="微软雅黑" panose="020B0503020204020204" pitchFamily="34" charset="-122"/>
                <a:ea typeface="微软雅黑" panose="020B0503020204020204" pitchFamily="34" charset="-122"/>
              </a:rPr>
              <a:t>。</a:t>
            </a:r>
          </a:p>
        </p:txBody>
      </p:sp>
      <p:sp>
        <p:nvSpPr>
          <p:cNvPr id="15" name="TextBox 14"/>
          <p:cNvSpPr txBox="1"/>
          <p:nvPr/>
        </p:nvSpPr>
        <p:spPr>
          <a:xfrm>
            <a:off x="777240" y="4910328"/>
            <a:ext cx="5056632" cy="685800"/>
          </a:xfrm>
          <a:prstGeom prst="rect">
            <a:avLst/>
          </a:prstGeom>
          <a:noFill/>
        </p:spPr>
        <p:txBody>
          <a:bodyPr wrap="square" lIns="0" tIns="0" rIns="0" bIns="0">
            <a:spAutoFit/>
          </a:bodyPr>
          <a:lstStyle/>
          <a:p>
            <a:pPr>
              <a:lnSpc>
                <a:spcPct val="113000"/>
              </a:lnSpc>
              <a:spcBef>
                <a:spcPts val="0"/>
              </a:spcBef>
              <a:spcAft>
                <a:spcPts val="400"/>
              </a:spcAft>
            </a:pPr>
            <a:r>
              <a:rPr sz="1520" b="0">
                <a:solidFill>
                  <a:srgbClr val="26364C"/>
                </a:solidFill>
                <a:latin typeface="微软雅黑" panose="020B0503020204020204" pitchFamily="34" charset="-122"/>
                <a:ea typeface="微软雅黑" panose="020B0503020204020204" pitchFamily="34" charset="-122"/>
              </a:rPr>
              <a:t>C³ 描述 CIDEr：</a:t>
            </a:r>
            <a:r>
              <a:rPr sz="1520" b="1">
                <a:solidFill>
                  <a:srgbClr val="2853A3"/>
                </a:solidFill>
                <a:latin typeface="微软雅黑" panose="020B0503020204020204" pitchFamily="34" charset="-122"/>
                <a:ea typeface="微软雅黑" panose="020B0503020204020204" pitchFamily="34" charset="-122"/>
              </a:rPr>
              <a:t>93.3±0.3</a:t>
            </a:r>
            <a:r>
              <a:rPr sz="1520" b="0">
                <a:solidFill>
                  <a:srgbClr val="26364C"/>
                </a:solidFill>
                <a:latin typeface="微软雅黑" panose="020B0503020204020204" pitchFamily="34" charset="-122"/>
                <a:ea typeface="微软雅黑" panose="020B0503020204020204" pitchFamily="34" charset="-122"/>
              </a:rPr>
              <a:t>，不是准确率。</a:t>
            </a:r>
          </a:p>
          <a:p>
            <a:pPr>
              <a:lnSpc>
                <a:spcPct val="113000"/>
              </a:lnSpc>
              <a:spcBef>
                <a:spcPts val="0"/>
              </a:spcBef>
              <a:spcAft>
                <a:spcPts val="400"/>
              </a:spcAft>
            </a:pPr>
            <a:r>
              <a:rPr sz="1520" b="0">
                <a:solidFill>
                  <a:srgbClr val="26364C"/>
                </a:solidFill>
                <a:latin typeface="微软雅黑" panose="020B0503020204020204" pitchFamily="34" charset="-122"/>
                <a:ea typeface="微软雅黑" panose="020B0503020204020204" pitchFamily="34" charset="-122"/>
              </a:rPr>
              <a:t>文生图 FID 改善0.2，不能据此判断显著性。</a:t>
            </a:r>
          </a:p>
        </p:txBody>
      </p:sp>
      <p:sp>
        <p:nvSpPr>
          <p:cNvPr id="16" name="Rounded Rectangle 15"/>
          <p:cNvSpPr/>
          <p:nvPr/>
        </p:nvSpPr>
        <p:spPr>
          <a:xfrm>
            <a:off x="6355080" y="1307592"/>
            <a:ext cx="5340096" cy="2862072"/>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Oval 16"/>
          <p:cNvSpPr/>
          <p:nvPr/>
        </p:nvSpPr>
        <p:spPr>
          <a:xfrm>
            <a:off x="655624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55624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19" name="TextBox 18"/>
          <p:cNvSpPr txBox="1"/>
          <p:nvPr/>
        </p:nvSpPr>
        <p:spPr>
          <a:xfrm>
            <a:off x="7022592" y="1504187"/>
            <a:ext cx="4434840"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Figure 6｜加入配对数据后的微调</a:t>
            </a:r>
          </a:p>
        </p:txBody>
      </p:sp>
      <p:pic>
        <p:nvPicPr>
          <p:cNvPr id="20" name="Picture 19" descr="image.png"/>
          <p:cNvPicPr>
            <a:picLocks noChangeAspect="1"/>
          </p:cNvPicPr>
          <p:nvPr/>
        </p:nvPicPr>
        <p:blipFill>
          <a:blip r:embed="rId3"/>
          <a:stretch>
            <a:fillRect/>
          </a:stretch>
        </p:blipFill>
        <p:spPr>
          <a:xfrm>
            <a:off x="7650226" y="1956816"/>
            <a:ext cx="2740660" cy="1517904"/>
          </a:xfrm>
          <a:prstGeom prst="rect">
            <a:avLst/>
          </a:prstGeom>
        </p:spPr>
      </p:pic>
      <p:sp>
        <p:nvSpPr>
          <p:cNvPr id="21" name="TextBox 20"/>
          <p:cNvSpPr txBox="1"/>
          <p:nvPr/>
        </p:nvSpPr>
        <p:spPr>
          <a:xfrm>
            <a:off x="6601968" y="3529584"/>
            <a:ext cx="4809744" cy="585216"/>
          </a:xfrm>
          <a:prstGeom prst="rect">
            <a:avLst/>
          </a:prstGeom>
          <a:noFill/>
        </p:spPr>
        <p:txBody>
          <a:bodyPr wrap="square" lIns="0" tIns="0" rIns="0" bIns="0">
            <a:spAutoFit/>
          </a:bodyPr>
          <a:lstStyle/>
          <a:p>
            <a:pPr>
              <a:lnSpc>
                <a:spcPct val="113000"/>
              </a:lnSpc>
              <a:spcBef>
                <a:spcPts val="0"/>
              </a:spcBef>
              <a:spcAft>
                <a:spcPts val="400"/>
              </a:spcAft>
            </a:pPr>
            <a:r>
              <a:rPr sz="1450" b="0">
                <a:solidFill>
                  <a:srgbClr val="26364C"/>
                </a:solidFill>
                <a:latin typeface="微软雅黑" panose="020B0503020204020204" pitchFamily="34" charset="-122"/>
                <a:ea typeface="微软雅黑" panose="020B0503020204020204" pitchFamily="34" charset="-122"/>
              </a:rPr>
              <a:t>1% 配对微调：C³ </a:t>
            </a:r>
            <a:r>
              <a:rPr sz="1450" b="1">
                <a:solidFill>
                  <a:srgbClr val="2853A3"/>
                </a:solidFill>
                <a:latin typeface="微软雅黑" panose="020B0503020204020204" pitchFamily="34" charset="-122"/>
                <a:ea typeface="微软雅黑" panose="020B0503020204020204" pitchFamily="34" charset="-122"/>
              </a:rPr>
              <a:t>96.4</a:t>
            </a:r>
            <a:r>
              <a:rPr sz="1450" b="0">
                <a:solidFill>
                  <a:srgbClr val="26364C"/>
                </a:solidFill>
                <a:latin typeface="微软雅黑" panose="020B0503020204020204" pitchFamily="34" charset="-122"/>
                <a:ea typeface="微软雅黑" panose="020B0503020204020204" pitchFamily="34" charset="-122"/>
              </a:rPr>
              <a:t>，ClipCap </a:t>
            </a:r>
            <a:r>
              <a:rPr sz="1450" b="1">
                <a:solidFill>
                  <a:srgbClr val="2853A3"/>
                </a:solidFill>
                <a:latin typeface="微软雅黑" panose="020B0503020204020204" pitchFamily="34" charset="-122"/>
                <a:ea typeface="微软雅黑" panose="020B0503020204020204" pitchFamily="34" charset="-122"/>
              </a:rPr>
              <a:t>71.1</a:t>
            </a:r>
            <a:r>
              <a:rPr sz="1450" b="0">
                <a:solidFill>
                  <a:srgbClr val="26364C"/>
                </a:solidFill>
                <a:latin typeface="微软雅黑" panose="020B0503020204020204" pitchFamily="34" charset="-122"/>
                <a:ea typeface="微软雅黑" panose="020B0503020204020204" pitchFamily="34" charset="-122"/>
              </a:rPr>
              <a:t>。</a:t>
            </a:r>
          </a:p>
          <a:p>
            <a:pPr>
              <a:lnSpc>
                <a:spcPct val="113000"/>
              </a:lnSpc>
              <a:spcBef>
                <a:spcPts val="0"/>
              </a:spcBef>
              <a:spcAft>
                <a:spcPts val="400"/>
              </a:spcAft>
            </a:pPr>
            <a:r>
              <a:rPr sz="1450" b="0">
                <a:solidFill>
                  <a:srgbClr val="26364C"/>
                </a:solidFill>
                <a:latin typeface="微软雅黑" panose="020B0503020204020204" pitchFamily="34" charset="-122"/>
                <a:ea typeface="微软雅黑" panose="020B0503020204020204" pitchFamily="34" charset="-122"/>
              </a:rPr>
              <a:t>与左表零配对优化是不同协议。</a:t>
            </a:r>
          </a:p>
        </p:txBody>
      </p:sp>
      <p:sp>
        <p:nvSpPr>
          <p:cNvPr id="22" name="Rounded Rectangle 21"/>
          <p:cNvSpPr/>
          <p:nvPr/>
        </p:nvSpPr>
        <p:spPr>
          <a:xfrm>
            <a:off x="6355080" y="4361688"/>
            <a:ext cx="5340096" cy="1444752"/>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Oval 22"/>
          <p:cNvSpPr/>
          <p:nvPr/>
        </p:nvSpPr>
        <p:spPr>
          <a:xfrm>
            <a:off x="6556248" y="4544568"/>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6556248" y="4594859"/>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03</a:t>
            </a:r>
          </a:p>
        </p:txBody>
      </p:sp>
      <p:sp>
        <p:nvSpPr>
          <p:cNvPr id="25" name="TextBox 24"/>
          <p:cNvSpPr txBox="1"/>
          <p:nvPr/>
        </p:nvSpPr>
        <p:spPr>
          <a:xfrm>
            <a:off x="7022592" y="4558283"/>
            <a:ext cx="4434840"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适用条件也约束结论</a:t>
            </a:r>
          </a:p>
        </p:txBody>
      </p:sp>
      <p:sp>
        <p:nvSpPr>
          <p:cNvPr id="26" name="TextBox 25"/>
          <p:cNvSpPr txBox="1"/>
          <p:nvPr/>
        </p:nvSpPr>
        <p:spPr>
          <a:xfrm>
            <a:off x="6611112" y="4965192"/>
            <a:ext cx="4837176" cy="685800"/>
          </a:xfrm>
          <a:prstGeom prst="rect">
            <a:avLst/>
          </a:prstGeom>
          <a:noFill/>
        </p:spPr>
        <p:txBody>
          <a:bodyPr wrap="square" lIns="0" tIns="0" rIns="0" bIns="0">
            <a:spAutoFit/>
          </a:bodyPr>
          <a:lstStyle/>
          <a:p>
            <a:pPr>
              <a:lnSpc>
                <a:spcPct val="113000"/>
              </a:lnSpc>
              <a:spcBef>
                <a:spcPts val="0"/>
              </a:spcBef>
              <a:spcAft>
                <a:spcPts val="400"/>
              </a:spcAft>
            </a:pPr>
            <a:r>
              <a:rPr sz="1600" b="0">
                <a:solidFill>
                  <a:srgbClr val="26364C"/>
                </a:solidFill>
                <a:latin typeface="微软雅黑" panose="020B0503020204020204" pitchFamily="34" charset="-122"/>
                <a:ea typeface="微软雅黑" panose="020B0503020204020204" pitchFamily="34" charset="-122"/>
              </a:rPr>
              <a:t>100% 配对微调：C¹ </a:t>
            </a:r>
            <a:r>
              <a:rPr sz="1600" b="1">
                <a:solidFill>
                  <a:srgbClr val="2853A3"/>
                </a:solidFill>
                <a:latin typeface="微软雅黑" panose="020B0503020204020204" pitchFamily="34" charset="-122"/>
                <a:ea typeface="微软雅黑" panose="020B0503020204020204" pitchFamily="34" charset="-122"/>
              </a:rPr>
              <a:t>109.7</a:t>
            </a:r>
            <a:r>
              <a:rPr sz="1600" b="0">
                <a:solidFill>
                  <a:srgbClr val="26364C"/>
                </a:solidFill>
                <a:latin typeface="微软雅黑" panose="020B0503020204020204" pitchFamily="34" charset="-122"/>
                <a:ea typeface="微软雅黑" panose="020B0503020204020204" pitchFamily="34" charset="-122"/>
              </a:rPr>
              <a:t> &gt; C³ </a:t>
            </a:r>
            <a:r>
              <a:rPr sz="1600" b="1">
                <a:solidFill>
                  <a:srgbClr val="2853A3"/>
                </a:solidFill>
                <a:latin typeface="微软雅黑" panose="020B0503020204020204" pitchFamily="34" charset="-122"/>
                <a:ea typeface="微软雅黑" panose="020B0503020204020204" pitchFamily="34" charset="-122"/>
              </a:rPr>
              <a:t>108.9</a:t>
            </a:r>
            <a:r>
              <a:rPr sz="1600" b="0">
                <a:solidFill>
                  <a:srgbClr val="26364C"/>
                </a:solidFill>
                <a:latin typeface="微软雅黑" panose="020B0503020204020204" pitchFamily="34" charset="-122"/>
                <a:ea typeface="微软雅黑" panose="020B0503020204020204" pitchFamily="34" charset="-122"/>
              </a:rPr>
              <a:t>。</a:t>
            </a:r>
          </a:p>
          <a:p>
            <a:pPr>
              <a:lnSpc>
                <a:spcPct val="113000"/>
              </a:lnSpc>
              <a:spcBef>
                <a:spcPts val="0"/>
              </a:spcBef>
              <a:spcAft>
                <a:spcPts val="400"/>
              </a:spcAft>
            </a:pPr>
            <a:r>
              <a:rPr sz="1600" b="0">
                <a:solidFill>
                  <a:srgbClr val="26364C"/>
                </a:solidFill>
                <a:latin typeface="微软雅黑" panose="020B0503020204020204" pitchFamily="34" charset="-122"/>
                <a:ea typeface="微软雅黑" panose="020B0503020204020204" pitchFamily="34" charset="-122"/>
              </a:rPr>
              <a:t>Table 2 的 METEOR 也不是 C³ 最高。</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6 结果边界：明确支持了什么，也明确还没有验证什么</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13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Algorithm 1；Table 1–7；Appendix E–F。右栏为对原文证据范围的判断。</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把结论限定在证据覆盖的范围，才能据此提出可靠的新研究问题</a:t>
            </a:r>
          </a:p>
        </p:txBody>
      </p:sp>
      <p:sp>
        <p:nvSpPr>
          <p:cNvPr id="9" name="Rounded Rectangle 8"/>
          <p:cNvSpPr/>
          <p:nvPr/>
        </p:nvSpPr>
        <p:spPr>
          <a:xfrm>
            <a:off x="502920" y="1307592"/>
            <a:ext cx="5559552"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4654296"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资源与协议｜“单模态”的含义</a:t>
            </a:r>
          </a:p>
        </p:txBody>
      </p:sp>
      <p:sp>
        <p:nvSpPr>
          <p:cNvPr id="13" name="Rounded Rectangle 12"/>
          <p:cNvSpPr/>
          <p:nvPr/>
        </p:nvSpPr>
        <p:spPr>
          <a:xfrm>
            <a:off x="768096" y="2002536"/>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32103" y="2029967"/>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预训练</a:t>
            </a:r>
          </a:p>
        </p:txBody>
      </p:sp>
      <p:sp>
        <p:nvSpPr>
          <p:cNvPr id="15" name="TextBox 14"/>
          <p:cNvSpPr txBox="1"/>
          <p:nvPr/>
        </p:nvSpPr>
        <p:spPr>
          <a:xfrm>
            <a:off x="1865376" y="1997964"/>
            <a:ext cx="3931920"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已借用多模态数据建立语义联系</a:t>
            </a:r>
          </a:p>
        </p:txBody>
      </p:sp>
      <p:sp>
        <p:nvSpPr>
          <p:cNvPr id="16" name="TextBox 15"/>
          <p:cNvSpPr txBox="1"/>
          <p:nvPr/>
        </p:nvSpPr>
        <p:spPr>
          <a:xfrm>
            <a:off x="1865376" y="2395728"/>
            <a:ext cx="3931920" cy="667512"/>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Connect 依赖现成 CLIP / ImageBind，不是从零训练。</a:t>
            </a:r>
          </a:p>
        </p:txBody>
      </p:sp>
      <p:sp>
        <p:nvSpPr>
          <p:cNvPr id="17" name="Rounded Rectangle 16"/>
          <p:cNvSpPr/>
          <p:nvPr/>
        </p:nvSpPr>
        <p:spPr>
          <a:xfrm>
            <a:off x="768096" y="3218688"/>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32103" y="3246120"/>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校准</a:t>
            </a:r>
          </a:p>
        </p:txBody>
      </p:sp>
      <p:sp>
        <p:nvSpPr>
          <p:cNvPr id="19" name="TextBox 18"/>
          <p:cNvSpPr txBox="1"/>
          <p:nvPr/>
        </p:nvSpPr>
        <p:spPr>
          <a:xfrm>
            <a:off x="1865376" y="3214116"/>
            <a:ext cx="3931920"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两模态集合分别估计均值</a:t>
            </a:r>
          </a:p>
        </p:txBody>
      </p:sp>
      <p:sp>
        <p:nvSpPr>
          <p:cNvPr id="20" name="TextBox 19"/>
          <p:cNvSpPr txBox="1"/>
          <p:nvPr/>
        </p:nvSpPr>
        <p:spPr>
          <a:xfrm>
            <a:off x="1865376" y="3611880"/>
            <a:ext cx="3931920" cy="667512"/>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不需逐对对应，但需要说明集合来源与数据划分。</a:t>
            </a:r>
          </a:p>
        </p:txBody>
      </p:sp>
      <p:sp>
        <p:nvSpPr>
          <p:cNvPr id="21" name="Rounded Rectangle 20"/>
          <p:cNvSpPr/>
          <p:nvPr/>
        </p:nvSpPr>
        <p:spPr>
          <a:xfrm>
            <a:off x="768096" y="4434840"/>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832103" y="4462272"/>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下游训练</a:t>
            </a:r>
          </a:p>
        </p:txBody>
      </p:sp>
      <p:sp>
        <p:nvSpPr>
          <p:cNvPr id="23" name="TextBox 22"/>
          <p:cNvSpPr txBox="1"/>
          <p:nvPr/>
        </p:nvSpPr>
        <p:spPr>
          <a:xfrm>
            <a:off x="1865376" y="4430268"/>
            <a:ext cx="3931920"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图像描述阶段使用文字重建</a:t>
            </a:r>
          </a:p>
        </p:txBody>
      </p:sp>
      <p:sp>
        <p:nvSpPr>
          <p:cNvPr id="24" name="TextBox 23"/>
          <p:cNvSpPr txBox="1"/>
          <p:nvPr/>
        </p:nvSpPr>
        <p:spPr>
          <a:xfrm>
            <a:off x="1865376" y="4828031"/>
            <a:ext cx="3931920" cy="685800"/>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验证、测试和少量配对微调应另行记录，不能混为一种协议。</a:t>
            </a:r>
          </a:p>
        </p:txBody>
      </p:sp>
      <p:sp>
        <p:nvSpPr>
          <p:cNvPr id="25" name="Rounded Rectangle 24"/>
          <p:cNvSpPr/>
          <p:nvPr/>
        </p:nvSpPr>
        <p:spPr>
          <a:xfrm>
            <a:off x="6254496" y="1307592"/>
            <a:ext cx="5440680"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Oval 25"/>
          <p:cNvSpPr/>
          <p:nvPr/>
        </p:nvSpPr>
        <p:spPr>
          <a:xfrm>
            <a:off x="6455664"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6455664"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8" name="TextBox 27"/>
          <p:cNvSpPr txBox="1"/>
          <p:nvPr/>
        </p:nvSpPr>
        <p:spPr>
          <a:xfrm>
            <a:off x="6922007" y="1504187"/>
            <a:ext cx="4535424"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证据范围｜不能自动推广的结论</a:t>
            </a:r>
          </a:p>
        </p:txBody>
      </p:sp>
      <p:sp>
        <p:nvSpPr>
          <p:cNvPr id="29" name="Rounded Rectangle 28"/>
          <p:cNvSpPr/>
          <p:nvPr/>
        </p:nvSpPr>
        <p:spPr>
          <a:xfrm>
            <a:off x="6519672" y="2002536"/>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6583680" y="2029967"/>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理论</a:t>
            </a:r>
          </a:p>
        </p:txBody>
      </p:sp>
      <p:sp>
        <p:nvSpPr>
          <p:cNvPr id="31" name="TextBox 30"/>
          <p:cNvSpPr txBox="1"/>
          <p:nvPr/>
        </p:nvSpPr>
        <p:spPr>
          <a:xfrm>
            <a:off x="7616952" y="1997964"/>
            <a:ext cx="3794759"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统计支持近似，不是普适精确分布</a:t>
            </a:r>
          </a:p>
        </p:txBody>
      </p:sp>
      <p:sp>
        <p:nvSpPr>
          <p:cNvPr id="32" name="TextBox 31"/>
          <p:cNvSpPr txBox="1"/>
          <p:nvPr/>
        </p:nvSpPr>
        <p:spPr>
          <a:xfrm>
            <a:off x="7616952" y="2395728"/>
            <a:ext cx="3794759" cy="667512"/>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还不能证明任意领域的残差均为各向同性高斯。</a:t>
            </a:r>
          </a:p>
        </p:txBody>
      </p:sp>
      <p:sp>
        <p:nvSpPr>
          <p:cNvPr id="33" name="Rounded Rectangle 32"/>
          <p:cNvSpPr/>
          <p:nvPr/>
        </p:nvSpPr>
        <p:spPr>
          <a:xfrm>
            <a:off x="6519672" y="3218688"/>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583680" y="3246120"/>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评测</a:t>
            </a:r>
          </a:p>
        </p:txBody>
      </p:sp>
      <p:sp>
        <p:nvSpPr>
          <p:cNvPr id="35" name="TextBox 34"/>
          <p:cNvSpPr txBox="1"/>
          <p:nvPr/>
        </p:nvSpPr>
        <p:spPr>
          <a:xfrm>
            <a:off x="7616952" y="3214116"/>
            <a:ext cx="3794759"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生成分数改善，不等于全部语义正确</a:t>
            </a:r>
          </a:p>
        </p:txBody>
      </p:sp>
      <p:sp>
        <p:nvSpPr>
          <p:cNvPr id="36" name="TextBox 35"/>
          <p:cNvSpPr txBox="1"/>
          <p:nvPr/>
        </p:nvSpPr>
        <p:spPr>
          <a:xfrm>
            <a:off x="7616952" y="3611880"/>
            <a:ext cx="3794759" cy="667512"/>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CIDEr / FID 和少量案例不完整衡量幻觉与文本遵循。</a:t>
            </a:r>
          </a:p>
        </p:txBody>
      </p:sp>
      <p:sp>
        <p:nvSpPr>
          <p:cNvPr id="37" name="Rounded Rectangle 36"/>
          <p:cNvSpPr/>
          <p:nvPr/>
        </p:nvSpPr>
        <p:spPr>
          <a:xfrm>
            <a:off x="6519672" y="4434840"/>
            <a:ext cx="969264" cy="292608"/>
          </a:xfrm>
          <a:prstGeom prst="roundRect">
            <a:avLst>
              <a:gd name="adj" fmla="val 7000"/>
            </a:avLst>
          </a:prstGeom>
          <a:solidFill>
            <a:srgbClr val="EFF4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6583680" y="4462272"/>
            <a:ext cx="841248" cy="237744"/>
          </a:xfrm>
          <a:prstGeom prst="rect">
            <a:avLst/>
          </a:prstGeom>
          <a:noFill/>
        </p:spPr>
        <p:txBody>
          <a:bodyPr wrap="square" lIns="0" tIns="0" rIns="0" bIns="0">
            <a:spAutoFit/>
          </a:bodyPr>
          <a:lstStyle/>
          <a:p>
            <a:pPr>
              <a:lnSpc>
                <a:spcPct val="113000"/>
              </a:lnSpc>
              <a:spcBef>
                <a:spcPts val="0"/>
              </a:spcBef>
              <a:spcAft>
                <a:spcPts val="400"/>
              </a:spcAft>
            </a:pPr>
            <a:r>
              <a:rPr sz="1200" b="1">
                <a:solidFill>
                  <a:srgbClr val="2853A3"/>
                </a:solidFill>
                <a:latin typeface="微软雅黑" panose="020B0503020204020204" pitchFamily="34" charset="-122"/>
                <a:ea typeface="微软雅黑" panose="020B0503020204020204" pitchFamily="34" charset="-122"/>
              </a:rPr>
              <a:t>持续学习</a:t>
            </a:r>
          </a:p>
        </p:txBody>
      </p:sp>
      <p:sp>
        <p:nvSpPr>
          <p:cNvPr id="39" name="TextBox 38"/>
          <p:cNvSpPr txBox="1"/>
          <p:nvPr/>
        </p:nvSpPr>
        <p:spPr>
          <a:xfrm>
            <a:off x="7616952" y="4430268"/>
            <a:ext cx="3794759" cy="402336"/>
          </a:xfrm>
          <a:prstGeom prst="rect">
            <a:avLst/>
          </a:prstGeom>
          <a:noFill/>
        </p:spPr>
        <p:txBody>
          <a:bodyPr wrap="square" lIns="0" tIns="0" rIns="0" bIns="0">
            <a:spAutoFit/>
          </a:bodyPr>
          <a:lstStyle/>
          <a:p>
            <a:pPr>
              <a:lnSpc>
                <a:spcPct val="113000"/>
              </a:lnSpc>
              <a:spcBef>
                <a:spcPts val="0"/>
              </a:spcBef>
              <a:spcAft>
                <a:spcPts val="400"/>
              </a:spcAft>
            </a:pPr>
            <a:r>
              <a:rPr sz="1700" b="1">
                <a:solidFill>
                  <a:srgbClr val="26364C"/>
                </a:solidFill>
                <a:latin typeface="微软雅黑" panose="020B0503020204020204" pitchFamily="34" charset="-122"/>
                <a:ea typeface="微软雅黑" panose="020B0503020204020204" pitchFamily="34" charset="-122"/>
              </a:rPr>
              <a:t>本文没有任务序列与遗忘验证</a:t>
            </a:r>
          </a:p>
        </p:txBody>
      </p:sp>
      <p:sp>
        <p:nvSpPr>
          <p:cNvPr id="40" name="TextBox 39"/>
          <p:cNvSpPr txBox="1"/>
          <p:nvPr/>
        </p:nvSpPr>
        <p:spPr>
          <a:xfrm>
            <a:off x="7616952" y="4828031"/>
            <a:ext cx="3794759" cy="685800"/>
          </a:xfrm>
          <a:prstGeom prst="rect">
            <a:avLst/>
          </a:prstGeom>
          <a:noFill/>
        </p:spPr>
        <p:txBody>
          <a:bodyPr wrap="square" lIns="0" tIns="0" rIns="0" bIns="0">
            <a:spAutoFit/>
          </a:bodyPr>
          <a:lstStyle/>
          <a:p>
            <a:pPr>
              <a:lnSpc>
                <a:spcPct val="113000"/>
              </a:lnSpc>
              <a:spcBef>
                <a:spcPts val="0"/>
              </a:spcBef>
              <a:spcAft>
                <a:spcPts val="400"/>
              </a:spcAft>
            </a:pPr>
            <a:r>
              <a:rPr sz="1550" b="0">
                <a:solidFill>
                  <a:srgbClr val="637185"/>
                </a:solidFill>
                <a:latin typeface="微软雅黑" panose="020B0503020204020204" pitchFamily="34" charset="-122"/>
                <a:ea typeface="微软雅黑" panose="020B0503020204020204" pitchFamily="34" charset="-122"/>
              </a:rPr>
              <a:t>将它用于旧知识保持，需要重新定义协议并取得证据。</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064" y="283464"/>
            <a:ext cx="420624" cy="50292"/>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493776"/>
            <a:ext cx="10378440" cy="548640"/>
          </a:xfrm>
          <a:prstGeom prst="rect">
            <a:avLst/>
          </a:prstGeom>
          <a:noFill/>
        </p:spPr>
        <p:txBody>
          <a:bodyPr wrap="square" lIns="0" tIns="0" rIns="0" bIns="0">
            <a:spAutoFit/>
          </a:bodyPr>
          <a:lstStyle/>
          <a:p>
            <a:pPr>
              <a:lnSpc>
                <a:spcPct val="113000"/>
              </a:lnSpc>
              <a:spcBef>
                <a:spcPts val="0"/>
              </a:spcBef>
              <a:spcAft>
                <a:spcPts val="400"/>
              </a:spcAft>
            </a:pPr>
            <a:r>
              <a:rPr sz="2700" b="1">
                <a:solidFill>
                  <a:srgbClr val="213D72"/>
                </a:solidFill>
                <a:latin typeface="微软雅黑" panose="020B0503020204020204" pitchFamily="34" charset="-122"/>
                <a:ea typeface="微软雅黑" panose="020B0503020204020204" pitchFamily="34" charset="-122"/>
              </a:rPr>
              <a:t>7 论文总结与研究演进：后续文献如何承接 C³？</a:t>
            </a:r>
          </a:p>
        </p:txBody>
      </p:sp>
      <p:sp>
        <p:nvSpPr>
          <p:cNvPr id="4" name="TextBox 3"/>
          <p:cNvSpPr txBox="1"/>
          <p:nvPr/>
        </p:nvSpPr>
        <p:spPr>
          <a:xfrm>
            <a:off x="11018520" y="502920"/>
            <a:ext cx="667512" cy="365760"/>
          </a:xfrm>
          <a:prstGeom prst="rect">
            <a:avLst/>
          </a:prstGeom>
          <a:noFill/>
        </p:spPr>
        <p:txBody>
          <a:bodyPr wrap="square" lIns="0" tIns="0" rIns="0" bIns="0">
            <a:spAutoFit/>
          </a:bodyPr>
          <a:lstStyle/>
          <a:p>
            <a:pPr algn="r">
              <a:lnSpc>
                <a:spcPct val="113000"/>
              </a:lnSpc>
              <a:spcBef>
                <a:spcPts val="0"/>
              </a:spcBef>
              <a:spcAft>
                <a:spcPts val="400"/>
              </a:spcAft>
            </a:pPr>
            <a:r>
              <a:rPr sz="1100" b="0">
                <a:solidFill>
                  <a:srgbClr val="637185"/>
                </a:solidFill>
                <a:latin typeface="微软雅黑" panose="020B0503020204020204" pitchFamily="34" charset="-122"/>
                <a:ea typeface="微软雅黑" panose="020B0503020204020204" pitchFamily="34" charset="-122"/>
              </a:rPr>
              <a:t>14 / 14</a:t>
            </a:r>
          </a:p>
        </p:txBody>
      </p:sp>
      <p:cxnSp>
        <p:nvCxnSpPr>
          <p:cNvPr id="5" name="Connector 4"/>
          <p:cNvCxnSpPr/>
          <p:nvPr/>
        </p:nvCxnSpPr>
        <p:spPr>
          <a:xfrm>
            <a:off x="502920" y="1115568"/>
            <a:ext cx="11183112" cy="0"/>
          </a:xfrm>
          <a:prstGeom prst="line">
            <a:avLst/>
          </a:prstGeom>
          <a:ln w="1016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74536"/>
            <a:ext cx="11064240" cy="182880"/>
          </a:xfrm>
          <a:prstGeom prst="rect">
            <a:avLst/>
          </a:prstGeom>
          <a:noFill/>
        </p:spPr>
        <p:txBody>
          <a:bodyPr wrap="square" lIns="0" tIns="0" rIns="0" bIns="0">
            <a:spAutoFit/>
          </a:bodyPr>
          <a:lstStyle/>
          <a:p>
            <a:pPr>
              <a:lnSpc>
                <a:spcPct val="113000"/>
              </a:lnSpc>
              <a:spcBef>
                <a:spcPts val="0"/>
              </a:spcBef>
              <a:spcAft>
                <a:spcPts val="400"/>
              </a:spcAft>
            </a:pPr>
            <a:r>
              <a:rPr sz="850" b="0">
                <a:solidFill>
                  <a:srgbClr val="637185"/>
                </a:solidFill>
                <a:latin typeface="微软雅黑" panose="020B0503020204020204" pitchFamily="34" charset="-122"/>
                <a:ea typeface="微软雅黑" panose="020B0503020204020204" pitchFamily="34" charset="-122"/>
              </a:rPr>
              <a:t>[1] Diffusion Bridge, CVPR 2025, §3  [2] Diffusion-Link, arXiv:2510.11330v1, §1–2  [3] ReAlign/ReVision, arXiv:2602.07026v1, §2–5</a:t>
            </a:r>
          </a:p>
        </p:txBody>
      </p:sp>
      <p:sp>
        <p:nvSpPr>
          <p:cNvPr id="7" name="Rounded Rectangle 6"/>
          <p:cNvSpPr/>
          <p:nvPr/>
        </p:nvSpPr>
        <p:spPr>
          <a:xfrm>
            <a:off x="484632" y="6044184"/>
            <a:ext cx="11219688" cy="438912"/>
          </a:xfrm>
          <a:prstGeom prst="roundRect">
            <a:avLst>
              <a:gd name="adj" fmla="val 7000"/>
            </a:avLst>
          </a:prstGeom>
          <a:solidFill>
            <a:srgbClr val="2853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94944" y="6130137"/>
            <a:ext cx="10789920" cy="310896"/>
          </a:xfrm>
          <a:prstGeom prst="rect">
            <a:avLst/>
          </a:prstGeom>
          <a:noFill/>
        </p:spPr>
        <p:txBody>
          <a:bodyPr wrap="square" lIns="0" tIns="0" rIns="0" bIns="0">
            <a:spAutoFit/>
          </a:bodyPr>
          <a:lstStyle/>
          <a:p>
            <a:pPr algn="ctr">
              <a:lnSpc>
                <a:spcPct val="113000"/>
              </a:lnSpc>
              <a:spcBef>
                <a:spcPts val="0"/>
              </a:spcBef>
              <a:spcAft>
                <a:spcPts val="400"/>
              </a:spcAft>
            </a:pPr>
            <a:r>
              <a:rPr sz="1700" b="1">
                <a:solidFill>
                  <a:srgbClr val="FFFFFF"/>
                </a:solidFill>
                <a:latin typeface="微软雅黑" panose="020B0503020204020204" pitchFamily="34" charset="-122"/>
                <a:ea typeface="微软雅黑" panose="020B0503020204020204" pitchFamily="34" charset="-122"/>
              </a:rPr>
              <a:t>研究启发：顺着前作的解释，继续检验假设、改进对齐方式，并扩展适用任务</a:t>
            </a:r>
          </a:p>
        </p:txBody>
      </p:sp>
      <p:sp>
        <p:nvSpPr>
          <p:cNvPr id="9" name="Rounded Rectangle 8"/>
          <p:cNvSpPr/>
          <p:nvPr/>
        </p:nvSpPr>
        <p:spPr>
          <a:xfrm>
            <a:off x="502920" y="1307592"/>
            <a:ext cx="4133087"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Oval 9"/>
          <p:cNvSpPr/>
          <p:nvPr/>
        </p:nvSpPr>
        <p:spPr>
          <a:xfrm>
            <a:off x="704088"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01</a:t>
            </a:r>
          </a:p>
        </p:txBody>
      </p:sp>
      <p:sp>
        <p:nvSpPr>
          <p:cNvPr id="12" name="TextBox 11"/>
          <p:cNvSpPr txBox="1"/>
          <p:nvPr/>
        </p:nvSpPr>
        <p:spPr>
          <a:xfrm>
            <a:off x="1170432" y="1504187"/>
            <a:ext cx="3227831"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C³ 留下了什么？</a:t>
            </a:r>
          </a:p>
        </p:txBody>
      </p:sp>
      <p:sp>
        <p:nvSpPr>
          <p:cNvPr id="13" name="Oval 12"/>
          <p:cNvSpPr/>
          <p:nvPr/>
        </p:nvSpPr>
        <p:spPr>
          <a:xfrm>
            <a:off x="749808" y="203911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49808" y="2089404"/>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1</a:t>
            </a:r>
          </a:p>
        </p:txBody>
      </p:sp>
      <p:sp>
        <p:nvSpPr>
          <p:cNvPr id="15" name="TextBox 14"/>
          <p:cNvSpPr txBox="1"/>
          <p:nvPr/>
        </p:nvSpPr>
        <p:spPr>
          <a:xfrm>
            <a:off x="1225296" y="2043684"/>
            <a:ext cx="3163824" cy="310896"/>
          </a:xfrm>
          <a:prstGeom prst="rect">
            <a:avLst/>
          </a:prstGeom>
          <a:noFill/>
        </p:spPr>
        <p:txBody>
          <a:bodyPr wrap="square" lIns="0" tIns="0" rIns="0" bIns="0">
            <a:spAutoFit/>
          </a:bodyPr>
          <a:lstStyle/>
          <a:p>
            <a:pPr>
              <a:lnSpc>
                <a:spcPct val="113000"/>
              </a:lnSpc>
              <a:spcBef>
                <a:spcPts val="0"/>
              </a:spcBef>
              <a:spcAft>
                <a:spcPts val="400"/>
              </a:spcAft>
            </a:pPr>
            <a:r>
              <a:rPr sz="1800" b="1">
                <a:solidFill>
                  <a:srgbClr val="2853A3"/>
                </a:solidFill>
                <a:latin typeface="微软雅黑" panose="020B0503020204020204" pitchFamily="34" charset="-122"/>
                <a:ea typeface="微软雅黑" panose="020B0503020204020204" pitchFamily="34" charset="-122"/>
              </a:rPr>
              <a:t>把问题拆开</a:t>
            </a:r>
          </a:p>
        </p:txBody>
      </p:sp>
      <p:sp>
        <p:nvSpPr>
          <p:cNvPr id="16" name="TextBox 15"/>
          <p:cNvSpPr txBox="1"/>
          <p:nvPr/>
        </p:nvSpPr>
        <p:spPr>
          <a:xfrm>
            <a:off x="777240" y="2478024"/>
            <a:ext cx="3602736" cy="649224"/>
          </a:xfrm>
          <a:prstGeom prst="rect">
            <a:avLst/>
          </a:prstGeom>
          <a:noFill/>
        </p:spPr>
        <p:txBody>
          <a:bodyPr wrap="square" lIns="0" tIns="0" rIns="0" bIns="0">
            <a:spAutoFit/>
          </a:bodyPr>
          <a:lstStyle/>
          <a:p>
            <a:pPr>
              <a:lnSpc>
                <a:spcPct val="113000"/>
              </a:lnSpc>
              <a:spcBef>
                <a:spcPts val="0"/>
              </a:spcBef>
              <a:spcAft>
                <a:spcPts val="400"/>
              </a:spcAft>
            </a:pPr>
            <a:r>
              <a:rPr sz="1530" b="0">
                <a:solidFill>
                  <a:srgbClr val="26364C"/>
                </a:solidFill>
                <a:latin typeface="微软雅黑" panose="020B0503020204020204" pitchFamily="34" charset="-122"/>
                <a:ea typeface="微软雅黑" panose="020B0503020204020204" pitchFamily="34" charset="-122"/>
              </a:rPr>
              <a:t>图文能匹配，不代表输入可互换。</a:t>
            </a:r>
          </a:p>
          <a:p>
            <a:pPr>
              <a:lnSpc>
                <a:spcPct val="113000"/>
              </a:lnSpc>
              <a:spcBef>
                <a:spcPts val="0"/>
              </a:spcBef>
              <a:spcAft>
                <a:spcPts val="400"/>
              </a:spcAft>
            </a:pPr>
            <a:r>
              <a:rPr sz="1530" b="0">
                <a:solidFill>
                  <a:srgbClr val="26364C"/>
                </a:solidFill>
                <a:latin typeface="微软雅黑" panose="020B0503020204020204" pitchFamily="34" charset="-122"/>
                <a:ea typeface="微软雅黑" panose="020B0503020204020204" pitchFamily="34" charset="-122"/>
              </a:rPr>
              <a:t>整体偏移与样本残差需要区分。</a:t>
            </a:r>
          </a:p>
        </p:txBody>
      </p:sp>
      <p:sp>
        <p:nvSpPr>
          <p:cNvPr id="17" name="Oval 16"/>
          <p:cNvSpPr/>
          <p:nvPr/>
        </p:nvSpPr>
        <p:spPr>
          <a:xfrm>
            <a:off x="749808" y="3218688"/>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49808" y="3268980"/>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2</a:t>
            </a:r>
          </a:p>
        </p:txBody>
      </p:sp>
      <p:sp>
        <p:nvSpPr>
          <p:cNvPr id="19" name="TextBox 18"/>
          <p:cNvSpPr txBox="1"/>
          <p:nvPr/>
        </p:nvSpPr>
        <p:spPr>
          <a:xfrm>
            <a:off x="1225296" y="3223260"/>
            <a:ext cx="3163824" cy="310896"/>
          </a:xfrm>
          <a:prstGeom prst="rect">
            <a:avLst/>
          </a:prstGeom>
          <a:noFill/>
        </p:spPr>
        <p:txBody>
          <a:bodyPr wrap="square" lIns="0" tIns="0" rIns="0" bIns="0">
            <a:spAutoFit/>
          </a:bodyPr>
          <a:lstStyle/>
          <a:p>
            <a:pPr>
              <a:lnSpc>
                <a:spcPct val="113000"/>
              </a:lnSpc>
              <a:spcBef>
                <a:spcPts val="0"/>
              </a:spcBef>
              <a:spcAft>
                <a:spcPts val="400"/>
              </a:spcAft>
            </a:pPr>
            <a:r>
              <a:rPr sz="1800" b="1">
                <a:solidFill>
                  <a:srgbClr val="2853A3"/>
                </a:solidFill>
                <a:latin typeface="微软雅黑" panose="020B0503020204020204" pitchFamily="34" charset="-122"/>
                <a:ea typeface="微软雅黑" panose="020B0503020204020204" pitchFamily="34" charset="-122"/>
              </a:rPr>
              <a:t>让操作对应解释</a:t>
            </a:r>
          </a:p>
        </p:txBody>
      </p:sp>
      <p:sp>
        <p:nvSpPr>
          <p:cNvPr id="20" name="TextBox 19"/>
          <p:cNvSpPr txBox="1"/>
          <p:nvPr/>
        </p:nvSpPr>
        <p:spPr>
          <a:xfrm>
            <a:off x="777240" y="3657600"/>
            <a:ext cx="3602736" cy="649224"/>
          </a:xfrm>
          <a:prstGeom prst="rect">
            <a:avLst/>
          </a:prstGeom>
          <a:noFill/>
        </p:spPr>
        <p:txBody>
          <a:bodyPr wrap="square" lIns="0" tIns="0" rIns="0" bIns="0">
            <a:spAutoFit/>
          </a:bodyPr>
          <a:lstStyle/>
          <a:p>
            <a:pPr>
              <a:lnSpc>
                <a:spcPct val="113000"/>
              </a:lnSpc>
              <a:spcBef>
                <a:spcPts val="0"/>
              </a:spcBef>
              <a:spcAft>
                <a:spcPts val="400"/>
              </a:spcAft>
            </a:pPr>
            <a:r>
              <a:rPr sz="1530" b="0">
                <a:solidFill>
                  <a:srgbClr val="26364C"/>
                </a:solidFill>
                <a:latin typeface="微软雅黑" panose="020B0503020204020204" pitchFamily="34" charset="-122"/>
                <a:ea typeface="微软雅黑" panose="020B0503020204020204" pitchFamily="34" charset="-122"/>
              </a:rPr>
              <a:t>去均值处理整体偏移；加噪声</a:t>
            </a:r>
          </a:p>
          <a:p>
            <a:pPr>
              <a:lnSpc>
                <a:spcPct val="113000"/>
              </a:lnSpc>
              <a:spcBef>
                <a:spcPts val="0"/>
              </a:spcBef>
              <a:spcAft>
                <a:spcPts val="400"/>
              </a:spcAft>
            </a:pPr>
            <a:r>
              <a:rPr sz="1530" b="0">
                <a:solidFill>
                  <a:srgbClr val="26364C"/>
                </a:solidFill>
                <a:latin typeface="微软雅黑" panose="020B0503020204020204" pitchFamily="34" charset="-122"/>
                <a:ea typeface="微软雅黑" panose="020B0503020204020204" pitchFamily="34" charset="-122"/>
              </a:rPr>
              <a:t>训练提高解码器对扰动的容忍。</a:t>
            </a:r>
          </a:p>
        </p:txBody>
      </p:sp>
      <p:sp>
        <p:nvSpPr>
          <p:cNvPr id="21" name="Oval 20"/>
          <p:cNvSpPr/>
          <p:nvPr/>
        </p:nvSpPr>
        <p:spPr>
          <a:xfrm>
            <a:off x="749808" y="4398264"/>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749808" y="4448555"/>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3</a:t>
            </a:r>
          </a:p>
        </p:txBody>
      </p:sp>
      <p:sp>
        <p:nvSpPr>
          <p:cNvPr id="23" name="TextBox 22"/>
          <p:cNvSpPr txBox="1"/>
          <p:nvPr/>
        </p:nvSpPr>
        <p:spPr>
          <a:xfrm>
            <a:off x="1225296" y="4402836"/>
            <a:ext cx="3163824" cy="310896"/>
          </a:xfrm>
          <a:prstGeom prst="rect">
            <a:avLst/>
          </a:prstGeom>
          <a:noFill/>
        </p:spPr>
        <p:txBody>
          <a:bodyPr wrap="square" lIns="0" tIns="0" rIns="0" bIns="0">
            <a:spAutoFit/>
          </a:bodyPr>
          <a:lstStyle/>
          <a:p>
            <a:pPr>
              <a:lnSpc>
                <a:spcPct val="113000"/>
              </a:lnSpc>
              <a:spcBef>
                <a:spcPts val="0"/>
              </a:spcBef>
              <a:spcAft>
                <a:spcPts val="400"/>
              </a:spcAft>
            </a:pPr>
            <a:r>
              <a:rPr sz="1800" b="1">
                <a:solidFill>
                  <a:srgbClr val="2853A3"/>
                </a:solidFill>
                <a:latin typeface="微软雅黑" panose="020B0503020204020204" pitchFamily="34" charset="-122"/>
                <a:ea typeface="微软雅黑" panose="020B0503020204020204" pitchFamily="34" charset="-122"/>
              </a:rPr>
              <a:t>留下可继续追问的假设</a:t>
            </a:r>
          </a:p>
        </p:txBody>
      </p:sp>
      <p:sp>
        <p:nvSpPr>
          <p:cNvPr id="24" name="TextBox 23"/>
          <p:cNvSpPr txBox="1"/>
          <p:nvPr/>
        </p:nvSpPr>
        <p:spPr>
          <a:xfrm>
            <a:off x="777240" y="4837175"/>
            <a:ext cx="3602736" cy="649224"/>
          </a:xfrm>
          <a:prstGeom prst="rect">
            <a:avLst/>
          </a:prstGeom>
          <a:noFill/>
        </p:spPr>
        <p:txBody>
          <a:bodyPr wrap="square" lIns="0" tIns="0" rIns="0" bIns="0">
            <a:spAutoFit/>
          </a:bodyPr>
          <a:lstStyle/>
          <a:p>
            <a:pPr>
              <a:lnSpc>
                <a:spcPct val="113000"/>
              </a:lnSpc>
              <a:spcBef>
                <a:spcPts val="0"/>
              </a:spcBef>
              <a:spcAft>
                <a:spcPts val="400"/>
              </a:spcAft>
            </a:pPr>
            <a:r>
              <a:rPr sz="1530" b="0">
                <a:solidFill>
                  <a:srgbClr val="26364C"/>
                </a:solidFill>
                <a:latin typeface="微软雅黑" panose="020B0503020204020204" pitchFamily="34" charset="-122"/>
                <a:ea typeface="微软雅黑" panose="020B0503020204020204" pitchFamily="34" charset="-122"/>
              </a:rPr>
              <a:t>残差该怎样建模？能否学习映射？</a:t>
            </a:r>
          </a:p>
          <a:p>
            <a:pPr>
              <a:lnSpc>
                <a:spcPct val="113000"/>
              </a:lnSpc>
              <a:spcBef>
                <a:spcPts val="0"/>
              </a:spcBef>
              <a:spcAft>
                <a:spcPts val="400"/>
              </a:spcAft>
            </a:pPr>
            <a:r>
              <a:rPr sz="1530" b="0">
                <a:solidFill>
                  <a:srgbClr val="26364C"/>
                </a:solidFill>
                <a:latin typeface="微软雅黑" panose="020B0503020204020204" pitchFamily="34" charset="-122"/>
                <a:ea typeface="微软雅黑" panose="020B0503020204020204" pitchFamily="34" charset="-122"/>
              </a:rPr>
              <a:t>其他模态和大模型能否受益？</a:t>
            </a:r>
          </a:p>
        </p:txBody>
      </p:sp>
      <p:sp>
        <p:nvSpPr>
          <p:cNvPr id="25" name="Rounded Rectangle 24"/>
          <p:cNvSpPr/>
          <p:nvPr/>
        </p:nvSpPr>
        <p:spPr>
          <a:xfrm>
            <a:off x="4818888" y="1307592"/>
            <a:ext cx="6876288" cy="4498848"/>
          </a:xfrm>
          <a:prstGeom prst="roundRect">
            <a:avLst>
              <a:gd name="adj" fmla="val 7000"/>
            </a:avLst>
          </a:prstGeom>
          <a:solidFill>
            <a:srgbClr val="FFFFFF"/>
          </a:solidFill>
          <a:ln w="10160">
            <a:solidFill>
              <a:srgbClr val="DBE2E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Oval 25"/>
          <p:cNvSpPr/>
          <p:nvPr/>
        </p:nvSpPr>
        <p:spPr>
          <a:xfrm>
            <a:off x="5020055" y="1490472"/>
            <a:ext cx="347472" cy="347472"/>
          </a:xfrm>
          <a:prstGeom prst="ellipse">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5020055" y="1540763"/>
            <a:ext cx="347472" cy="228600"/>
          </a:xfrm>
          <a:prstGeom prst="rect">
            <a:avLst/>
          </a:prstGeom>
          <a:noFill/>
        </p:spPr>
        <p:txBody>
          <a:bodyPr wrap="square" lIns="0" tIns="0" rIns="0" bIns="0">
            <a:spAutoFit/>
          </a:bodyPr>
          <a:lstStyle/>
          <a:p>
            <a:pPr algn="ctr">
              <a:lnSpc>
                <a:spcPct val="113000"/>
              </a:lnSpc>
              <a:spcBef>
                <a:spcPts val="0"/>
              </a:spcBef>
              <a:spcAft>
                <a:spcPts val="400"/>
              </a:spcAft>
            </a:pPr>
            <a:r>
              <a:rPr sz="1100" b="1">
                <a:solidFill>
                  <a:srgbClr val="FFFFFF"/>
                </a:solidFill>
                <a:latin typeface="微软雅黑" panose="020B0503020204020204" pitchFamily="34" charset="-122"/>
                <a:ea typeface="微软雅黑" panose="020B0503020204020204" pitchFamily="34" charset="-122"/>
              </a:rPr>
              <a:t>02</a:t>
            </a:r>
          </a:p>
        </p:txBody>
      </p:sp>
      <p:sp>
        <p:nvSpPr>
          <p:cNvPr id="28" name="TextBox 27"/>
          <p:cNvSpPr txBox="1"/>
          <p:nvPr/>
        </p:nvSpPr>
        <p:spPr>
          <a:xfrm>
            <a:off x="5486399" y="1504187"/>
            <a:ext cx="5971031" cy="438912"/>
          </a:xfrm>
          <a:prstGeom prst="rect">
            <a:avLst/>
          </a:prstGeom>
          <a:noFill/>
        </p:spPr>
        <p:txBody>
          <a:bodyPr wrap="square" lIns="0" tIns="0" rIns="0" bIns="0">
            <a:spAutoFit/>
          </a:bodyPr>
          <a:lstStyle/>
          <a:p>
            <a:pPr>
              <a:lnSpc>
                <a:spcPct val="113000"/>
              </a:lnSpc>
              <a:spcBef>
                <a:spcPts val="0"/>
              </a:spcBef>
              <a:spcAft>
                <a:spcPts val="400"/>
              </a:spcAft>
            </a:pPr>
            <a:r>
              <a:rPr sz="2000" b="1">
                <a:solidFill>
                  <a:srgbClr val="2853A3"/>
                </a:solidFill>
                <a:latin typeface="微软雅黑" panose="020B0503020204020204" pitchFamily="34" charset="-122"/>
                <a:ea typeface="微软雅黑" panose="020B0503020204020204" pitchFamily="34" charset="-122"/>
              </a:rPr>
              <a:t>后续文献｜承接点与推进</a:t>
            </a:r>
          </a:p>
        </p:txBody>
      </p:sp>
      <p:sp>
        <p:nvSpPr>
          <p:cNvPr id="29" name="Rounded Rectangle 28"/>
          <p:cNvSpPr/>
          <p:nvPr/>
        </p:nvSpPr>
        <p:spPr>
          <a:xfrm>
            <a:off x="5056632" y="1975104"/>
            <a:ext cx="6400800" cy="1115568"/>
          </a:xfrm>
          <a:prstGeom prst="roundRect">
            <a:avLst>
              <a:gd name="adj" fmla="val 7000"/>
            </a:avLst>
          </a:prstGeom>
          <a:solidFill>
            <a:srgbClr val="FCEE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0" name="Connector 29"/>
          <p:cNvCxnSpPr/>
          <p:nvPr/>
        </p:nvCxnSpPr>
        <p:spPr>
          <a:xfrm>
            <a:off x="6684264" y="2093976"/>
            <a:ext cx="0" cy="886968"/>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1" name="TextBox 30">
            <a:hlinkClick r:id="rId3"/>
          </p:cNvPr>
          <p:cNvSpPr txBox="1"/>
          <p:nvPr/>
        </p:nvSpPr>
        <p:spPr>
          <a:xfrm>
            <a:off x="5138928" y="2084832"/>
            <a:ext cx="1453896" cy="530352"/>
          </a:xfrm>
          <a:prstGeom prst="rect">
            <a:avLst/>
          </a:prstGeom>
          <a:noFill/>
        </p:spPr>
        <p:txBody>
          <a:bodyPr wrap="square" lIns="0" tIns="0" rIns="0" bIns="0">
            <a:spAutoFit/>
          </a:bodyPr>
          <a:lstStyle/>
          <a:p>
            <a:pPr algn="ctr">
              <a:lnSpc>
                <a:spcPct val="113000"/>
              </a:lnSpc>
              <a:spcBef>
                <a:spcPts val="0"/>
              </a:spcBef>
              <a:spcAft>
                <a:spcPts val="0"/>
              </a:spcAft>
            </a:pPr>
            <a:r>
              <a:rPr sz="1600" b="1">
                <a:solidFill>
                  <a:srgbClr val="A83561"/>
                </a:solidFill>
                <a:latin typeface="微软雅黑" panose="020B0503020204020204" pitchFamily="34" charset="-122"/>
                <a:ea typeface="微软雅黑" panose="020B0503020204020204" pitchFamily="34" charset="-122"/>
              </a:rPr>
              <a:t>Diffusion</a:t>
            </a:r>
          </a:p>
          <a:p>
            <a:pPr algn="ctr">
              <a:lnSpc>
                <a:spcPct val="113000"/>
              </a:lnSpc>
              <a:spcBef>
                <a:spcPts val="0"/>
              </a:spcBef>
              <a:spcAft>
                <a:spcPts val="0"/>
              </a:spcAft>
            </a:pPr>
            <a:r>
              <a:rPr sz="1600" b="1">
                <a:solidFill>
                  <a:srgbClr val="A83561"/>
                </a:solidFill>
                <a:latin typeface="微软雅黑" panose="020B0503020204020204" pitchFamily="34" charset="-122"/>
                <a:ea typeface="微软雅黑" panose="020B0503020204020204" pitchFamily="34" charset="-122"/>
              </a:rPr>
              <a:t>Bridge</a:t>
            </a:r>
          </a:p>
        </p:txBody>
      </p:sp>
      <p:sp>
        <p:nvSpPr>
          <p:cNvPr id="32" name="TextBox 31"/>
          <p:cNvSpPr txBox="1"/>
          <p:nvPr/>
        </p:nvSpPr>
        <p:spPr>
          <a:xfrm>
            <a:off x="5111496" y="2679192"/>
            <a:ext cx="1517904" cy="201168"/>
          </a:xfrm>
          <a:prstGeom prst="rect">
            <a:avLst/>
          </a:prstGeom>
          <a:noFill/>
        </p:spPr>
        <p:txBody>
          <a:bodyPr wrap="square" lIns="0" tIns="0" rIns="0" bIns="0">
            <a:spAutoFit/>
          </a:bodyPr>
          <a:lstStyle/>
          <a:p>
            <a:pPr algn="ctr">
              <a:lnSpc>
                <a:spcPct val="113000"/>
              </a:lnSpc>
              <a:spcBef>
                <a:spcPts val="0"/>
              </a:spcBef>
              <a:spcAft>
                <a:spcPts val="400"/>
              </a:spcAft>
            </a:pPr>
            <a:r>
              <a:rPr sz="1050" b="0">
                <a:solidFill>
                  <a:srgbClr val="A83561"/>
                </a:solidFill>
                <a:latin typeface="微软雅黑" panose="020B0503020204020204" pitchFamily="34" charset="-122"/>
                <a:ea typeface="微软雅黑" panose="020B0503020204020204" pitchFamily="34" charset="-122"/>
              </a:rPr>
              <a:t>CVPR 2025</a:t>
            </a:r>
          </a:p>
        </p:txBody>
      </p:sp>
      <p:sp>
        <p:nvSpPr>
          <p:cNvPr id="33" name="TextBox 32"/>
          <p:cNvSpPr txBox="1"/>
          <p:nvPr/>
        </p:nvSpPr>
        <p:spPr>
          <a:xfrm>
            <a:off x="5102352" y="2880360"/>
            <a:ext cx="1536192" cy="182880"/>
          </a:xfrm>
          <a:prstGeom prst="rect">
            <a:avLst/>
          </a:prstGeom>
          <a:noFill/>
        </p:spPr>
        <p:txBody>
          <a:bodyPr wrap="square" lIns="0" tIns="0" rIns="0" bIns="0">
            <a:spAutoFit/>
          </a:bodyPr>
          <a:lstStyle/>
          <a:p>
            <a:pPr algn="ctr">
              <a:lnSpc>
                <a:spcPct val="113000"/>
              </a:lnSpc>
              <a:spcBef>
                <a:spcPts val="0"/>
              </a:spcBef>
              <a:spcAft>
                <a:spcPts val="400"/>
              </a:spcAft>
            </a:pPr>
            <a:r>
              <a:rPr sz="960" b="1">
                <a:solidFill>
                  <a:srgbClr val="A83561"/>
                </a:solidFill>
                <a:latin typeface="微软雅黑" panose="020B0503020204020204" pitchFamily="34" charset="-122"/>
                <a:ea typeface="微软雅黑" panose="020B0503020204020204" pitchFamily="34" charset="-122"/>
              </a:rPr>
              <a:t>直接承接 C³</a:t>
            </a:r>
          </a:p>
        </p:txBody>
      </p:sp>
      <p:sp>
        <p:nvSpPr>
          <p:cNvPr id="34" name="TextBox 33"/>
          <p:cNvSpPr txBox="1"/>
          <p:nvPr/>
        </p:nvSpPr>
        <p:spPr>
          <a:xfrm>
            <a:off x="6839712" y="2057400"/>
            <a:ext cx="4453128" cy="292608"/>
          </a:xfrm>
          <a:prstGeom prst="rect">
            <a:avLst/>
          </a:prstGeom>
          <a:noFill/>
        </p:spPr>
        <p:txBody>
          <a:bodyPr wrap="square" lIns="0" tIns="0" rIns="0" bIns="0">
            <a:spAutoFit/>
          </a:bodyPr>
          <a:lstStyle/>
          <a:p>
            <a:pPr>
              <a:lnSpc>
                <a:spcPct val="113000"/>
              </a:lnSpc>
              <a:spcBef>
                <a:spcPts val="0"/>
              </a:spcBef>
              <a:spcAft>
                <a:spcPts val="400"/>
              </a:spcAft>
            </a:pPr>
            <a:r>
              <a:rPr sz="1500" b="1">
                <a:solidFill>
                  <a:srgbClr val="A83561"/>
                </a:solidFill>
                <a:latin typeface="微软雅黑" panose="020B0503020204020204" pitchFamily="34" charset="-122"/>
                <a:ea typeface="微软雅黑" panose="020B0503020204020204" pitchFamily="34" charset="-122"/>
              </a:rPr>
              <a:t>从“适应残差”到“学习去噪映射”</a:t>
            </a:r>
          </a:p>
        </p:txBody>
      </p:sp>
      <p:sp>
        <p:nvSpPr>
          <p:cNvPr id="35" name="TextBox 34"/>
          <p:cNvSpPr txBox="1"/>
          <p:nvPr/>
        </p:nvSpPr>
        <p:spPr>
          <a:xfrm>
            <a:off x="6839712" y="2368296"/>
            <a:ext cx="4453128" cy="502920"/>
          </a:xfrm>
          <a:prstGeom prst="rect">
            <a:avLst/>
          </a:prstGeom>
          <a:noFill/>
        </p:spPr>
        <p:txBody>
          <a:bodyPr wrap="square" lIns="0" tIns="0" rIns="0" bIns="0">
            <a:spAutoFit/>
          </a:bodyPr>
          <a:lstStyle/>
          <a:p>
            <a:pPr>
              <a:lnSpc>
                <a:spcPct val="113000"/>
              </a:lnSpc>
              <a:spcBef>
                <a:spcPts val="0"/>
              </a:spcBef>
              <a:spcAft>
                <a:spcPts val="400"/>
              </a:spcAft>
            </a:pPr>
            <a:r>
              <a:rPr sz="1330" b="0">
                <a:solidFill>
                  <a:srgbClr val="26364C"/>
                </a:solidFill>
                <a:latin typeface="微软雅黑" panose="020B0503020204020204" pitchFamily="34" charset="-122"/>
                <a:ea typeface="微软雅黑" panose="020B0503020204020204" pitchFamily="34" charset="-122"/>
              </a:rPr>
              <a:t>沿用残差分析，学习文本表征的扩散去噪；</a:t>
            </a:r>
          </a:p>
          <a:p>
            <a:pPr>
              <a:lnSpc>
                <a:spcPct val="113000"/>
              </a:lnSpc>
              <a:spcBef>
                <a:spcPts val="0"/>
              </a:spcBef>
              <a:spcAft>
                <a:spcPts val="400"/>
              </a:spcAft>
            </a:pPr>
            <a:r>
              <a:rPr sz="1330" b="0">
                <a:solidFill>
                  <a:srgbClr val="26364C"/>
                </a:solidFill>
                <a:latin typeface="微软雅黑" panose="020B0503020204020204" pitchFamily="34" charset="-122"/>
                <a:ea typeface="微软雅黑" panose="020B0503020204020204" pitchFamily="34" charset="-122"/>
              </a:rPr>
              <a:t>推理时将图像表征转为类文本表征。</a:t>
            </a:r>
          </a:p>
        </p:txBody>
      </p:sp>
      <p:sp>
        <p:nvSpPr>
          <p:cNvPr id="36" name="TextBox 35"/>
          <p:cNvSpPr txBox="1"/>
          <p:nvPr/>
        </p:nvSpPr>
        <p:spPr>
          <a:xfrm>
            <a:off x="6839712" y="2889504"/>
            <a:ext cx="4453128" cy="192024"/>
          </a:xfrm>
          <a:prstGeom prst="rect">
            <a:avLst/>
          </a:prstGeom>
          <a:noFill/>
        </p:spPr>
        <p:txBody>
          <a:bodyPr wrap="square" lIns="0" tIns="0" rIns="0" bIns="0">
            <a:spAutoFit/>
          </a:bodyPr>
          <a:lstStyle/>
          <a:p>
            <a:pPr>
              <a:lnSpc>
                <a:spcPct val="113000"/>
              </a:lnSpc>
              <a:spcBef>
                <a:spcPts val="0"/>
              </a:spcBef>
              <a:spcAft>
                <a:spcPts val="400"/>
              </a:spcAft>
            </a:pPr>
            <a:r>
              <a:rPr sz="1050" b="0">
                <a:solidFill>
                  <a:srgbClr val="637185"/>
                </a:solidFill>
                <a:latin typeface="微软雅黑" panose="020B0503020204020204" pitchFamily="34" charset="-122"/>
                <a:ea typeface="微软雅黑" panose="020B0503020204020204" pitchFamily="34" charset="-122"/>
              </a:rPr>
              <a:t>承接 C³ 的几何分析与去均值处理。</a:t>
            </a:r>
          </a:p>
        </p:txBody>
      </p:sp>
      <p:sp>
        <p:nvSpPr>
          <p:cNvPr id="37" name="Rounded Rectangle 36"/>
          <p:cNvSpPr/>
          <p:nvPr/>
        </p:nvSpPr>
        <p:spPr>
          <a:xfrm>
            <a:off x="5056632" y="3182112"/>
            <a:ext cx="6400800" cy="1115568"/>
          </a:xfrm>
          <a:prstGeom prst="roundRect">
            <a:avLst>
              <a:gd name="adj" fmla="val 7000"/>
            </a:avLst>
          </a:prstGeom>
          <a:solidFill>
            <a:srgbClr val="EAF3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a:off x="6684264" y="3300984"/>
            <a:ext cx="0" cy="886968"/>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TextBox 38">
            <a:hlinkClick r:id="rId4"/>
          </p:cNvPr>
          <p:cNvSpPr txBox="1"/>
          <p:nvPr/>
        </p:nvSpPr>
        <p:spPr>
          <a:xfrm>
            <a:off x="5138928" y="3291840"/>
            <a:ext cx="1453896" cy="530352"/>
          </a:xfrm>
          <a:prstGeom prst="rect">
            <a:avLst/>
          </a:prstGeom>
          <a:noFill/>
        </p:spPr>
        <p:txBody>
          <a:bodyPr wrap="square" lIns="0" tIns="0" rIns="0" bIns="0">
            <a:spAutoFit/>
          </a:bodyPr>
          <a:lstStyle/>
          <a:p>
            <a:pPr algn="ctr">
              <a:lnSpc>
                <a:spcPct val="113000"/>
              </a:lnSpc>
              <a:spcBef>
                <a:spcPts val="0"/>
              </a:spcBef>
              <a:spcAft>
                <a:spcPts val="0"/>
              </a:spcAft>
            </a:pPr>
            <a:r>
              <a:rPr sz="1600" b="1">
                <a:solidFill>
                  <a:srgbClr val="265A93"/>
                </a:solidFill>
                <a:latin typeface="微软雅黑" panose="020B0503020204020204" pitchFamily="34" charset="-122"/>
                <a:ea typeface="微软雅黑" panose="020B0503020204020204" pitchFamily="34" charset="-122"/>
              </a:rPr>
              <a:t>Diffusion-Link</a:t>
            </a:r>
          </a:p>
        </p:txBody>
      </p:sp>
      <p:sp>
        <p:nvSpPr>
          <p:cNvPr id="40" name="TextBox 39"/>
          <p:cNvSpPr txBox="1"/>
          <p:nvPr/>
        </p:nvSpPr>
        <p:spPr>
          <a:xfrm>
            <a:off x="5111496" y="3886200"/>
            <a:ext cx="1517904" cy="201168"/>
          </a:xfrm>
          <a:prstGeom prst="rect">
            <a:avLst/>
          </a:prstGeom>
          <a:noFill/>
        </p:spPr>
        <p:txBody>
          <a:bodyPr wrap="square" lIns="0" tIns="0" rIns="0" bIns="0">
            <a:spAutoFit/>
          </a:bodyPr>
          <a:lstStyle/>
          <a:p>
            <a:pPr algn="ctr">
              <a:lnSpc>
                <a:spcPct val="113000"/>
              </a:lnSpc>
              <a:spcBef>
                <a:spcPts val="0"/>
              </a:spcBef>
              <a:spcAft>
                <a:spcPts val="400"/>
              </a:spcAft>
            </a:pPr>
            <a:r>
              <a:rPr sz="1050" b="0">
                <a:solidFill>
                  <a:srgbClr val="265A93"/>
                </a:solidFill>
                <a:latin typeface="微软雅黑" panose="020B0503020204020204" pitchFamily="34" charset="-122"/>
                <a:ea typeface="微软雅黑" panose="020B0503020204020204" pitchFamily="34" charset="-122"/>
              </a:rPr>
              <a:t>arXiv 2025 · v1</a:t>
            </a:r>
          </a:p>
        </p:txBody>
      </p:sp>
      <p:sp>
        <p:nvSpPr>
          <p:cNvPr id="41" name="TextBox 40"/>
          <p:cNvSpPr txBox="1"/>
          <p:nvPr/>
        </p:nvSpPr>
        <p:spPr>
          <a:xfrm>
            <a:off x="5102352" y="4087368"/>
            <a:ext cx="1536192" cy="182880"/>
          </a:xfrm>
          <a:prstGeom prst="rect">
            <a:avLst/>
          </a:prstGeom>
          <a:noFill/>
        </p:spPr>
        <p:txBody>
          <a:bodyPr wrap="square" lIns="0" tIns="0" rIns="0" bIns="0">
            <a:spAutoFit/>
          </a:bodyPr>
          <a:lstStyle/>
          <a:p>
            <a:pPr algn="ctr">
              <a:lnSpc>
                <a:spcPct val="113000"/>
              </a:lnSpc>
              <a:spcBef>
                <a:spcPts val="0"/>
              </a:spcBef>
              <a:spcAft>
                <a:spcPts val="400"/>
              </a:spcAft>
            </a:pPr>
            <a:r>
              <a:rPr sz="960" b="1">
                <a:solidFill>
                  <a:srgbClr val="265A93"/>
                </a:solidFill>
                <a:latin typeface="微软雅黑" panose="020B0503020204020204" pitchFamily="34" charset="-122"/>
                <a:ea typeface="微软雅黑" panose="020B0503020204020204" pitchFamily="34" charset="-122"/>
              </a:rPr>
              <a:t>沿扩散桥接扩展</a:t>
            </a:r>
          </a:p>
        </p:txBody>
      </p:sp>
      <p:sp>
        <p:nvSpPr>
          <p:cNvPr id="42" name="TextBox 41"/>
          <p:cNvSpPr txBox="1"/>
          <p:nvPr/>
        </p:nvSpPr>
        <p:spPr>
          <a:xfrm>
            <a:off x="6839712" y="3264408"/>
            <a:ext cx="4453128" cy="292608"/>
          </a:xfrm>
          <a:prstGeom prst="rect">
            <a:avLst/>
          </a:prstGeom>
          <a:noFill/>
        </p:spPr>
        <p:txBody>
          <a:bodyPr wrap="square" lIns="0" tIns="0" rIns="0" bIns="0">
            <a:spAutoFit/>
          </a:bodyPr>
          <a:lstStyle/>
          <a:p>
            <a:pPr>
              <a:lnSpc>
                <a:spcPct val="113000"/>
              </a:lnSpc>
              <a:spcBef>
                <a:spcPts val="0"/>
              </a:spcBef>
              <a:spcAft>
                <a:spcPts val="400"/>
              </a:spcAft>
            </a:pPr>
            <a:r>
              <a:rPr sz="1500" b="1">
                <a:solidFill>
                  <a:srgbClr val="265A93"/>
                </a:solidFill>
                <a:latin typeface="微软雅黑" panose="020B0503020204020204" pitchFamily="34" charset="-122"/>
                <a:ea typeface="微软雅黑" panose="020B0503020204020204" pitchFamily="34" charset="-122"/>
              </a:rPr>
              <a:t>从图像—文本桥接到音频—文本桥接</a:t>
            </a:r>
          </a:p>
        </p:txBody>
      </p:sp>
      <p:sp>
        <p:nvSpPr>
          <p:cNvPr id="43" name="TextBox 42"/>
          <p:cNvSpPr txBox="1"/>
          <p:nvPr/>
        </p:nvSpPr>
        <p:spPr>
          <a:xfrm>
            <a:off x="6839712" y="3575304"/>
            <a:ext cx="4453128" cy="502920"/>
          </a:xfrm>
          <a:prstGeom prst="rect">
            <a:avLst/>
          </a:prstGeom>
          <a:noFill/>
        </p:spPr>
        <p:txBody>
          <a:bodyPr wrap="square" lIns="0" tIns="0" rIns="0" bIns="0">
            <a:spAutoFit/>
          </a:bodyPr>
          <a:lstStyle/>
          <a:p>
            <a:pPr>
              <a:lnSpc>
                <a:spcPct val="113000"/>
              </a:lnSpc>
              <a:spcBef>
                <a:spcPts val="0"/>
              </a:spcBef>
              <a:spcAft>
                <a:spcPts val="400"/>
              </a:spcAft>
            </a:pPr>
            <a:r>
              <a:rPr sz="1330" b="0">
                <a:solidFill>
                  <a:srgbClr val="26364C"/>
                </a:solidFill>
                <a:latin typeface="微软雅黑" panose="020B0503020204020204" pitchFamily="34" charset="-122"/>
                <a:ea typeface="微软雅黑" panose="020B0503020204020204" pitchFamily="34" charset="-122"/>
              </a:rPr>
              <a:t>接续 Diffusion Bridge，将音频映射到文本分布，</a:t>
            </a:r>
          </a:p>
          <a:p>
            <a:pPr>
              <a:lnSpc>
                <a:spcPct val="113000"/>
              </a:lnSpc>
              <a:spcBef>
                <a:spcPts val="0"/>
              </a:spcBef>
              <a:spcAft>
                <a:spcPts val="400"/>
              </a:spcAft>
            </a:pPr>
            <a:r>
              <a:rPr sz="1330" b="0">
                <a:solidFill>
                  <a:srgbClr val="26364C"/>
                </a:solidFill>
                <a:latin typeface="微软雅黑" panose="020B0503020204020204" pitchFamily="34" charset="-122"/>
                <a:ea typeface="微软雅黑" panose="020B0503020204020204" pitchFamily="34" charset="-122"/>
              </a:rPr>
              <a:t>增加拓扑约束，并用于音频描述。</a:t>
            </a:r>
          </a:p>
        </p:txBody>
      </p:sp>
      <p:sp>
        <p:nvSpPr>
          <p:cNvPr id="44" name="TextBox 43"/>
          <p:cNvSpPr txBox="1"/>
          <p:nvPr/>
        </p:nvSpPr>
        <p:spPr>
          <a:xfrm>
            <a:off x="6839712" y="4096512"/>
            <a:ext cx="4453128" cy="192024"/>
          </a:xfrm>
          <a:prstGeom prst="rect">
            <a:avLst/>
          </a:prstGeom>
          <a:noFill/>
        </p:spPr>
        <p:txBody>
          <a:bodyPr wrap="square" lIns="0" tIns="0" rIns="0" bIns="0">
            <a:spAutoFit/>
          </a:bodyPr>
          <a:lstStyle/>
          <a:p>
            <a:pPr>
              <a:lnSpc>
                <a:spcPct val="113000"/>
              </a:lnSpc>
              <a:spcBef>
                <a:spcPts val="0"/>
              </a:spcBef>
              <a:spcAft>
                <a:spcPts val="400"/>
              </a:spcAft>
            </a:pPr>
            <a:r>
              <a:rPr sz="1050" b="0">
                <a:solidFill>
                  <a:srgbClr val="637185"/>
                </a:solidFill>
                <a:latin typeface="微软雅黑" panose="020B0503020204020204" pitchFamily="34" charset="-122"/>
                <a:ea typeface="微软雅黑" panose="020B0503020204020204" pitchFamily="34" charset="-122"/>
              </a:rPr>
              <a:t>条件变化：桥接模块训练使用配对音频—文本。</a:t>
            </a:r>
          </a:p>
        </p:txBody>
      </p:sp>
      <p:sp>
        <p:nvSpPr>
          <p:cNvPr id="45" name="Rounded Rectangle 44"/>
          <p:cNvSpPr/>
          <p:nvPr/>
        </p:nvSpPr>
        <p:spPr>
          <a:xfrm>
            <a:off x="5056632" y="4389120"/>
            <a:ext cx="6400800" cy="1115568"/>
          </a:xfrm>
          <a:prstGeom prst="roundRect">
            <a:avLst>
              <a:gd name="adj" fmla="val 7000"/>
            </a:avLst>
          </a:prstGeom>
          <a:solidFill>
            <a:srgbClr val="F0EC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6" name="Connector 45"/>
          <p:cNvCxnSpPr/>
          <p:nvPr/>
        </p:nvCxnSpPr>
        <p:spPr>
          <a:xfrm>
            <a:off x="6684264" y="4507992"/>
            <a:ext cx="0" cy="886968"/>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7" name="TextBox 46">
            <a:hlinkClick r:id="rId5"/>
          </p:cNvPr>
          <p:cNvSpPr txBox="1"/>
          <p:nvPr/>
        </p:nvSpPr>
        <p:spPr>
          <a:xfrm>
            <a:off x="5138928" y="4498848"/>
            <a:ext cx="1453896" cy="530352"/>
          </a:xfrm>
          <a:prstGeom prst="rect">
            <a:avLst/>
          </a:prstGeom>
          <a:noFill/>
        </p:spPr>
        <p:txBody>
          <a:bodyPr wrap="square" lIns="0" tIns="0" rIns="0" bIns="0">
            <a:spAutoFit/>
          </a:bodyPr>
          <a:lstStyle/>
          <a:p>
            <a:pPr algn="ctr">
              <a:lnSpc>
                <a:spcPct val="113000"/>
              </a:lnSpc>
              <a:spcBef>
                <a:spcPts val="0"/>
              </a:spcBef>
              <a:spcAft>
                <a:spcPts val="0"/>
              </a:spcAft>
            </a:pPr>
            <a:r>
              <a:rPr sz="1600" b="1">
                <a:solidFill>
                  <a:srgbClr val="664B96"/>
                </a:solidFill>
                <a:latin typeface="微软雅黑" panose="020B0503020204020204" pitchFamily="34" charset="-122"/>
                <a:ea typeface="微软雅黑" panose="020B0503020204020204" pitchFamily="34" charset="-122"/>
              </a:rPr>
              <a:t>ReAlign /</a:t>
            </a:r>
          </a:p>
          <a:p>
            <a:pPr algn="ctr">
              <a:lnSpc>
                <a:spcPct val="113000"/>
              </a:lnSpc>
              <a:spcBef>
                <a:spcPts val="0"/>
              </a:spcBef>
              <a:spcAft>
                <a:spcPts val="0"/>
              </a:spcAft>
            </a:pPr>
            <a:r>
              <a:rPr sz="1600" b="1">
                <a:solidFill>
                  <a:srgbClr val="664B96"/>
                </a:solidFill>
                <a:latin typeface="微软雅黑" panose="020B0503020204020204" pitchFamily="34" charset="-122"/>
                <a:ea typeface="微软雅黑" panose="020B0503020204020204" pitchFamily="34" charset="-122"/>
              </a:rPr>
              <a:t>ReVision</a:t>
            </a:r>
          </a:p>
        </p:txBody>
      </p:sp>
      <p:sp>
        <p:nvSpPr>
          <p:cNvPr id="48" name="TextBox 47"/>
          <p:cNvSpPr txBox="1"/>
          <p:nvPr/>
        </p:nvSpPr>
        <p:spPr>
          <a:xfrm>
            <a:off x="5111496" y="5093208"/>
            <a:ext cx="1517904" cy="201168"/>
          </a:xfrm>
          <a:prstGeom prst="rect">
            <a:avLst/>
          </a:prstGeom>
          <a:noFill/>
        </p:spPr>
        <p:txBody>
          <a:bodyPr wrap="square" lIns="0" tIns="0" rIns="0" bIns="0">
            <a:spAutoFit/>
          </a:bodyPr>
          <a:lstStyle/>
          <a:p>
            <a:pPr algn="ctr">
              <a:lnSpc>
                <a:spcPct val="113000"/>
              </a:lnSpc>
              <a:spcBef>
                <a:spcPts val="0"/>
              </a:spcBef>
              <a:spcAft>
                <a:spcPts val="400"/>
              </a:spcAft>
            </a:pPr>
            <a:r>
              <a:rPr sz="1050" b="0">
                <a:solidFill>
                  <a:srgbClr val="664B96"/>
                </a:solidFill>
                <a:latin typeface="微软雅黑" panose="020B0503020204020204" pitchFamily="34" charset="-122"/>
                <a:ea typeface="微软雅黑" panose="020B0503020204020204" pitchFamily="34" charset="-122"/>
              </a:rPr>
              <a:t>arXiv 2026 · v1</a:t>
            </a:r>
          </a:p>
        </p:txBody>
      </p:sp>
      <p:sp>
        <p:nvSpPr>
          <p:cNvPr id="49" name="TextBox 48"/>
          <p:cNvSpPr txBox="1"/>
          <p:nvPr/>
        </p:nvSpPr>
        <p:spPr>
          <a:xfrm>
            <a:off x="5102352" y="5294376"/>
            <a:ext cx="1536192" cy="182880"/>
          </a:xfrm>
          <a:prstGeom prst="rect">
            <a:avLst/>
          </a:prstGeom>
          <a:noFill/>
        </p:spPr>
        <p:txBody>
          <a:bodyPr wrap="square" lIns="0" tIns="0" rIns="0" bIns="0">
            <a:spAutoFit/>
          </a:bodyPr>
          <a:lstStyle/>
          <a:p>
            <a:pPr algn="ctr">
              <a:lnSpc>
                <a:spcPct val="113000"/>
              </a:lnSpc>
              <a:spcBef>
                <a:spcPts val="0"/>
              </a:spcBef>
              <a:spcAft>
                <a:spcPts val="400"/>
              </a:spcAft>
            </a:pPr>
            <a:r>
              <a:rPr sz="960" b="1">
                <a:solidFill>
                  <a:srgbClr val="664B96"/>
                </a:solidFill>
                <a:latin typeface="微软雅黑" panose="020B0503020204020204" pitchFamily="34" charset="-122"/>
                <a:ea typeface="微软雅黑" panose="020B0503020204020204" pitchFamily="34" charset="-122"/>
              </a:rPr>
              <a:t>重新审视 C³ 假设</a:t>
            </a:r>
          </a:p>
        </p:txBody>
      </p:sp>
      <p:sp>
        <p:nvSpPr>
          <p:cNvPr id="50" name="TextBox 49"/>
          <p:cNvSpPr txBox="1"/>
          <p:nvPr/>
        </p:nvSpPr>
        <p:spPr>
          <a:xfrm>
            <a:off x="6839712" y="4471416"/>
            <a:ext cx="4453128" cy="292608"/>
          </a:xfrm>
          <a:prstGeom prst="rect">
            <a:avLst/>
          </a:prstGeom>
          <a:noFill/>
        </p:spPr>
        <p:txBody>
          <a:bodyPr wrap="square" lIns="0" tIns="0" rIns="0" bIns="0">
            <a:spAutoFit/>
          </a:bodyPr>
          <a:lstStyle/>
          <a:p>
            <a:pPr>
              <a:lnSpc>
                <a:spcPct val="113000"/>
              </a:lnSpc>
              <a:spcBef>
                <a:spcPts val="0"/>
              </a:spcBef>
              <a:spcAft>
                <a:spcPts val="400"/>
              </a:spcAft>
            </a:pPr>
            <a:r>
              <a:rPr sz="1500" b="1">
                <a:solidFill>
                  <a:srgbClr val="664B96"/>
                </a:solidFill>
                <a:latin typeface="微软雅黑" panose="020B0503020204020204" pitchFamily="34" charset="-122"/>
                <a:ea typeface="微软雅黑" panose="020B0503020204020204" pitchFamily="34" charset="-122"/>
              </a:rPr>
              <a:t>从各向同性近似到方向相关残差分析</a:t>
            </a:r>
          </a:p>
        </p:txBody>
      </p:sp>
      <p:sp>
        <p:nvSpPr>
          <p:cNvPr id="51" name="TextBox 50"/>
          <p:cNvSpPr txBox="1"/>
          <p:nvPr/>
        </p:nvSpPr>
        <p:spPr>
          <a:xfrm>
            <a:off x="6839712" y="4782312"/>
            <a:ext cx="4453128" cy="502920"/>
          </a:xfrm>
          <a:prstGeom prst="rect">
            <a:avLst/>
          </a:prstGeom>
          <a:noFill/>
        </p:spPr>
        <p:txBody>
          <a:bodyPr wrap="square" lIns="0" tIns="0" rIns="0" bIns="0">
            <a:spAutoFit/>
          </a:bodyPr>
          <a:lstStyle/>
          <a:p>
            <a:pPr>
              <a:lnSpc>
                <a:spcPct val="113000"/>
              </a:lnSpc>
              <a:spcBef>
                <a:spcPts val="0"/>
              </a:spcBef>
              <a:spcAft>
                <a:spcPts val="400"/>
              </a:spcAft>
            </a:pPr>
            <a:r>
              <a:rPr sz="1330" b="0">
                <a:solidFill>
                  <a:srgbClr val="26364C"/>
                </a:solidFill>
                <a:latin typeface="微软雅黑" panose="020B0503020204020204" pitchFamily="34" charset="-122"/>
                <a:ea typeface="微软雅黑" panose="020B0503020204020204" pitchFamily="34" charset="-122"/>
              </a:rPr>
              <a:t>提出统计对齐，并用于文字替代视觉预训练；</a:t>
            </a:r>
          </a:p>
          <a:p>
            <a:pPr>
              <a:lnSpc>
                <a:spcPct val="113000"/>
              </a:lnSpc>
              <a:spcBef>
                <a:spcPts val="0"/>
              </a:spcBef>
              <a:spcAft>
                <a:spcPts val="400"/>
              </a:spcAft>
            </a:pPr>
            <a:r>
              <a:rPr sz="1330" b="0">
                <a:solidFill>
                  <a:srgbClr val="26364C"/>
                </a:solidFill>
                <a:latin typeface="微软雅黑" panose="020B0503020204020204" pitchFamily="34" charset="-122"/>
                <a:ea typeface="微软雅黑" panose="020B0503020204020204" pitchFamily="34" charset="-122"/>
              </a:rPr>
              <a:t>将模态间隙问题带入多模态大模型训练。</a:t>
            </a:r>
          </a:p>
        </p:txBody>
      </p:sp>
      <p:sp>
        <p:nvSpPr>
          <p:cNvPr id="52" name="TextBox 51"/>
          <p:cNvSpPr txBox="1"/>
          <p:nvPr/>
        </p:nvSpPr>
        <p:spPr>
          <a:xfrm>
            <a:off x="6839712" y="5303520"/>
            <a:ext cx="4453128" cy="192024"/>
          </a:xfrm>
          <a:prstGeom prst="rect">
            <a:avLst/>
          </a:prstGeom>
          <a:noFill/>
        </p:spPr>
        <p:txBody>
          <a:bodyPr wrap="square" lIns="0" tIns="0" rIns="0" bIns="0">
            <a:spAutoFit/>
          </a:bodyPr>
          <a:lstStyle/>
          <a:p>
            <a:pPr>
              <a:lnSpc>
                <a:spcPct val="113000"/>
              </a:lnSpc>
              <a:spcBef>
                <a:spcPts val="0"/>
              </a:spcBef>
              <a:spcAft>
                <a:spcPts val="400"/>
              </a:spcAft>
            </a:pPr>
            <a:r>
              <a:rPr sz="1050" b="0">
                <a:solidFill>
                  <a:srgbClr val="637185"/>
                </a:solidFill>
                <a:latin typeface="微软雅黑" panose="020B0503020204020204" pitchFamily="34" charset="-122"/>
                <a:ea typeface="微软雅黑" panose="020B0503020204020204" pitchFamily="34" charset="-122"/>
              </a:rPr>
              <a:t>条件变化：第二阶段仍使用真实图像做指令微调。</a:t>
            </a:r>
          </a:p>
        </p:txBody>
      </p:sp>
      <p:sp>
        <p:nvSpPr>
          <p:cNvPr id="53" name="TextBox 52"/>
          <p:cNvSpPr txBox="1"/>
          <p:nvPr/>
        </p:nvSpPr>
        <p:spPr>
          <a:xfrm>
            <a:off x="5093208" y="5605272"/>
            <a:ext cx="6318504" cy="164592"/>
          </a:xfrm>
          <a:prstGeom prst="rect">
            <a:avLst/>
          </a:prstGeom>
          <a:noFill/>
        </p:spPr>
        <p:txBody>
          <a:bodyPr wrap="square" lIns="0" tIns="0" rIns="0" bIns="0">
            <a:spAutoFit/>
          </a:bodyPr>
          <a:lstStyle/>
          <a:p>
            <a:pPr>
              <a:lnSpc>
                <a:spcPct val="113000"/>
              </a:lnSpc>
              <a:spcBef>
                <a:spcPts val="0"/>
              </a:spcBef>
              <a:spcAft>
                <a:spcPts val="400"/>
              </a:spcAft>
            </a:pPr>
            <a:r>
              <a:rPr sz="940" b="0">
                <a:solidFill>
                  <a:srgbClr val="637185"/>
                </a:solidFill>
                <a:latin typeface="微软雅黑" panose="020B0503020204020204" pitchFamily="34" charset="-122"/>
                <a:ea typeface="微软雅黑" panose="020B0503020204020204" pitchFamily="34" charset="-122"/>
              </a:rPr>
              <a:t>右栏为后续论文的工作；两篇 arXiv 文献按所读预印本版本标注。</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816352" cy="6858000"/>
          </a:xfrm>
          <a:prstGeom prst="rect">
            <a:avLst/>
          </a:prstGeom>
          <a:solidFill>
            <a:srgbClr val="213D7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Rectangle 2"/>
          <p:cNvSpPr/>
          <p:nvPr/>
        </p:nvSpPr>
        <p:spPr>
          <a:xfrm>
            <a:off x="2816352" y="0"/>
            <a:ext cx="109728" cy="6858000"/>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Rectangle 3"/>
          <p:cNvSpPr/>
          <p:nvPr/>
        </p:nvSpPr>
        <p:spPr>
          <a:xfrm>
            <a:off x="338328" y="393192"/>
            <a:ext cx="2084831" cy="6044184"/>
          </a:xfrm>
          <a:prstGeom prst="rect">
            <a:avLst/>
          </a:prstGeom>
          <a:solidFill>
            <a:srgbClr val="213D72"/>
          </a:solidFill>
          <a:ln w="10160">
            <a:solidFill>
              <a:srgbClr val="4A63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TextBox 4"/>
          <p:cNvSpPr txBox="1"/>
          <p:nvPr/>
        </p:nvSpPr>
        <p:spPr>
          <a:xfrm>
            <a:off x="466344" y="1225296"/>
            <a:ext cx="1865376" cy="1481328"/>
          </a:xfrm>
          <a:prstGeom prst="rect">
            <a:avLst/>
          </a:prstGeom>
          <a:noFill/>
        </p:spPr>
        <p:txBody>
          <a:bodyPr wrap="square" lIns="0" tIns="0" rIns="0" bIns="0">
            <a:spAutoFit/>
          </a:bodyPr>
          <a:lstStyle/>
          <a:p>
            <a:pPr algn="ctr">
              <a:lnSpc>
                <a:spcPct val="113000"/>
              </a:lnSpc>
              <a:spcBef>
                <a:spcPts val="0"/>
              </a:spcBef>
              <a:spcAft>
                <a:spcPts val="400"/>
              </a:spcAft>
            </a:pPr>
            <a:r>
              <a:rPr sz="8800" b="1">
                <a:solidFill>
                  <a:srgbClr val="FFFFFF"/>
                </a:solidFill>
                <a:latin typeface="微软雅黑" panose="020B0503020204020204" pitchFamily="34" charset="-122"/>
                <a:ea typeface="微软雅黑" panose="020B0503020204020204" pitchFamily="34" charset="-122"/>
              </a:rPr>
              <a:t>C³</a:t>
            </a:r>
          </a:p>
        </p:txBody>
      </p:sp>
      <p:cxnSp>
        <p:nvCxnSpPr>
          <p:cNvPr id="6" name="Connector 5"/>
          <p:cNvCxnSpPr/>
          <p:nvPr/>
        </p:nvCxnSpPr>
        <p:spPr>
          <a:xfrm>
            <a:off x="777240" y="2752344"/>
            <a:ext cx="1216152" cy="0"/>
          </a:xfrm>
          <a:prstGeom prst="line">
            <a:avLst/>
          </a:prstGeom>
          <a:ln w="16510">
            <a:solidFill>
              <a:srgbClr val="8EAADF"/>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3081528"/>
            <a:ext cx="1664208" cy="292608"/>
          </a:xfrm>
          <a:prstGeom prst="rect">
            <a:avLst/>
          </a:prstGeom>
          <a:noFill/>
        </p:spPr>
        <p:txBody>
          <a:bodyPr wrap="square" lIns="0" tIns="0" rIns="0" bIns="0">
            <a:spAutoFit/>
          </a:bodyPr>
          <a:lstStyle/>
          <a:p>
            <a:pPr algn="ctr">
              <a:lnSpc>
                <a:spcPct val="113000"/>
              </a:lnSpc>
              <a:spcBef>
                <a:spcPts val="0"/>
              </a:spcBef>
              <a:spcAft>
                <a:spcPts val="400"/>
              </a:spcAft>
            </a:pPr>
            <a:r>
              <a:rPr sz="1500" b="1">
                <a:solidFill>
                  <a:srgbClr val="DCE8FD"/>
                </a:solidFill>
                <a:latin typeface="微软雅黑" panose="020B0503020204020204" pitchFamily="34" charset="-122"/>
                <a:ea typeface="微软雅黑" panose="020B0503020204020204" pitchFamily="34" charset="-122"/>
              </a:rPr>
              <a:t>CONNECT</a:t>
            </a:r>
          </a:p>
        </p:txBody>
      </p:sp>
      <p:sp>
        <p:nvSpPr>
          <p:cNvPr id="8" name="TextBox 7"/>
          <p:cNvSpPr txBox="1"/>
          <p:nvPr/>
        </p:nvSpPr>
        <p:spPr>
          <a:xfrm>
            <a:off x="585216" y="3529584"/>
            <a:ext cx="1664208" cy="292608"/>
          </a:xfrm>
          <a:prstGeom prst="rect">
            <a:avLst/>
          </a:prstGeom>
          <a:noFill/>
        </p:spPr>
        <p:txBody>
          <a:bodyPr wrap="square" lIns="0" tIns="0" rIns="0" bIns="0">
            <a:spAutoFit/>
          </a:bodyPr>
          <a:lstStyle/>
          <a:p>
            <a:pPr algn="ctr">
              <a:lnSpc>
                <a:spcPct val="113000"/>
              </a:lnSpc>
              <a:spcBef>
                <a:spcPts val="0"/>
              </a:spcBef>
              <a:spcAft>
                <a:spcPts val="400"/>
              </a:spcAft>
            </a:pPr>
            <a:r>
              <a:rPr sz="1500" b="1">
                <a:solidFill>
                  <a:srgbClr val="DCE8FD"/>
                </a:solidFill>
                <a:latin typeface="微软雅黑" panose="020B0503020204020204" pitchFamily="34" charset="-122"/>
                <a:ea typeface="微软雅黑" panose="020B0503020204020204" pitchFamily="34" charset="-122"/>
              </a:rPr>
              <a:t>COLLAPSE</a:t>
            </a:r>
          </a:p>
        </p:txBody>
      </p:sp>
      <p:sp>
        <p:nvSpPr>
          <p:cNvPr id="9" name="TextBox 8"/>
          <p:cNvSpPr txBox="1"/>
          <p:nvPr/>
        </p:nvSpPr>
        <p:spPr>
          <a:xfrm>
            <a:off x="585216" y="3977639"/>
            <a:ext cx="1664208" cy="292608"/>
          </a:xfrm>
          <a:prstGeom prst="rect">
            <a:avLst/>
          </a:prstGeom>
          <a:noFill/>
        </p:spPr>
        <p:txBody>
          <a:bodyPr wrap="square" lIns="0" tIns="0" rIns="0" bIns="0">
            <a:spAutoFit/>
          </a:bodyPr>
          <a:lstStyle/>
          <a:p>
            <a:pPr algn="ctr">
              <a:lnSpc>
                <a:spcPct val="113000"/>
              </a:lnSpc>
              <a:spcBef>
                <a:spcPts val="0"/>
              </a:spcBef>
              <a:spcAft>
                <a:spcPts val="400"/>
              </a:spcAft>
            </a:pPr>
            <a:r>
              <a:rPr sz="1500" b="1">
                <a:solidFill>
                  <a:srgbClr val="DCE8FD"/>
                </a:solidFill>
                <a:latin typeface="微软雅黑" panose="020B0503020204020204" pitchFamily="34" charset="-122"/>
                <a:ea typeface="微软雅黑" panose="020B0503020204020204" pitchFamily="34" charset="-122"/>
              </a:rPr>
              <a:t>CORRUPT</a:t>
            </a:r>
          </a:p>
        </p:txBody>
      </p:sp>
      <p:sp>
        <p:nvSpPr>
          <p:cNvPr id="10" name="TextBox 9"/>
          <p:cNvSpPr txBox="1"/>
          <p:nvPr/>
        </p:nvSpPr>
        <p:spPr>
          <a:xfrm>
            <a:off x="566928" y="5888736"/>
            <a:ext cx="1691640" cy="283464"/>
          </a:xfrm>
          <a:prstGeom prst="rect">
            <a:avLst/>
          </a:prstGeom>
          <a:noFill/>
        </p:spPr>
        <p:txBody>
          <a:bodyPr wrap="square" lIns="0" tIns="0" rIns="0" bIns="0">
            <a:spAutoFit/>
          </a:bodyPr>
          <a:lstStyle/>
          <a:p>
            <a:pPr algn="ctr">
              <a:lnSpc>
                <a:spcPct val="113000"/>
              </a:lnSpc>
              <a:spcBef>
                <a:spcPts val="0"/>
              </a:spcBef>
              <a:spcAft>
                <a:spcPts val="400"/>
              </a:spcAft>
            </a:pPr>
            <a:r>
              <a:rPr sz="1300" b="1">
                <a:solidFill>
                  <a:srgbClr val="DCE8FD"/>
                </a:solidFill>
                <a:latin typeface="微软雅黑" panose="020B0503020204020204" pitchFamily="34" charset="-122"/>
                <a:ea typeface="微软雅黑" panose="020B0503020204020204" pitchFamily="34" charset="-122"/>
              </a:rPr>
              <a:t>ICLR 2024</a:t>
            </a:r>
          </a:p>
        </p:txBody>
      </p:sp>
      <p:sp>
        <p:nvSpPr>
          <p:cNvPr id="12" name="Rectangle 11"/>
          <p:cNvSpPr/>
          <p:nvPr/>
        </p:nvSpPr>
        <p:spPr>
          <a:xfrm>
            <a:off x="6858000" y="1847088"/>
            <a:ext cx="1078992" cy="54864"/>
          </a:xfrm>
          <a:prstGeom prst="rect">
            <a:avLst/>
          </a:prstGeom>
          <a:solidFill>
            <a:srgbClr val="397A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520440" y="2414016"/>
            <a:ext cx="7763256" cy="960120"/>
          </a:xfrm>
          <a:prstGeom prst="rect">
            <a:avLst/>
          </a:prstGeom>
          <a:noFill/>
        </p:spPr>
        <p:txBody>
          <a:bodyPr wrap="square" lIns="0" tIns="0" rIns="0" bIns="0">
            <a:spAutoFit/>
          </a:bodyPr>
          <a:lstStyle/>
          <a:p>
            <a:pPr algn="ctr">
              <a:lnSpc>
                <a:spcPct val="113000"/>
              </a:lnSpc>
              <a:spcBef>
                <a:spcPts val="0"/>
              </a:spcBef>
              <a:spcAft>
                <a:spcPts val="400"/>
              </a:spcAft>
            </a:pPr>
            <a:r>
              <a:rPr sz="4900" b="1">
                <a:solidFill>
                  <a:srgbClr val="213D72"/>
                </a:solidFill>
                <a:latin typeface="微软雅黑" panose="020B0503020204020204" pitchFamily="34" charset="-122"/>
                <a:ea typeface="微软雅黑" panose="020B0503020204020204" pitchFamily="34" charset="-122"/>
              </a:rPr>
              <a:t>感谢聆听</a:t>
            </a:r>
          </a:p>
        </p:txBody>
      </p:sp>
      <p:sp>
        <p:nvSpPr>
          <p:cNvPr id="14" name="TextBox 13"/>
          <p:cNvSpPr txBox="1"/>
          <p:nvPr/>
        </p:nvSpPr>
        <p:spPr>
          <a:xfrm>
            <a:off x="3520440" y="3703320"/>
            <a:ext cx="7763256" cy="548640"/>
          </a:xfrm>
          <a:prstGeom prst="rect">
            <a:avLst/>
          </a:prstGeom>
          <a:noFill/>
        </p:spPr>
        <p:txBody>
          <a:bodyPr wrap="square" lIns="0" tIns="0" rIns="0" bIns="0">
            <a:spAutoFit/>
          </a:bodyPr>
          <a:lstStyle/>
          <a:p>
            <a:pPr algn="ctr">
              <a:lnSpc>
                <a:spcPct val="113000"/>
              </a:lnSpc>
              <a:spcBef>
                <a:spcPts val="0"/>
              </a:spcBef>
              <a:spcAft>
                <a:spcPts val="400"/>
              </a:spcAft>
            </a:pPr>
            <a:r>
              <a:rPr sz="2400" b="0">
                <a:solidFill>
                  <a:srgbClr val="2853A3"/>
                </a:solidFill>
                <a:latin typeface="微软雅黑" panose="020B0503020204020204" pitchFamily="34" charset="-122"/>
                <a:ea typeface="微软雅黑" panose="020B0503020204020204" pitchFamily="34" charset="-122"/>
              </a:rPr>
              <a:t>欢迎批评指正与交流</a:t>
            </a:r>
          </a:p>
        </p:txBody>
      </p:sp>
      <p:cxnSp>
        <p:nvCxnSpPr>
          <p:cNvPr id="15" name="Connector 14"/>
          <p:cNvCxnSpPr/>
          <p:nvPr/>
        </p:nvCxnSpPr>
        <p:spPr>
          <a:xfrm>
            <a:off x="4334256" y="4983480"/>
            <a:ext cx="6190488" cy="0"/>
          </a:xfrm>
          <a:prstGeom prst="line">
            <a:avLst/>
          </a:prstGeom>
          <a:ln w="12700">
            <a:solidFill>
              <a:srgbClr val="DBE2ED"/>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538728" y="5358384"/>
            <a:ext cx="7763256" cy="329184"/>
          </a:xfrm>
          <a:prstGeom prst="rect">
            <a:avLst/>
          </a:prstGeom>
          <a:noFill/>
        </p:spPr>
        <p:txBody>
          <a:bodyPr wrap="square" lIns="0" tIns="0" rIns="0" bIns="0">
            <a:spAutoFit/>
          </a:bodyPr>
          <a:lstStyle/>
          <a:p>
            <a:pPr algn="ctr">
              <a:lnSpc>
                <a:spcPct val="113000"/>
              </a:lnSpc>
              <a:spcBef>
                <a:spcPts val="0"/>
              </a:spcBef>
              <a:spcAft>
                <a:spcPts val="400"/>
              </a:spcAft>
            </a:pPr>
            <a:r>
              <a:rPr sz="1800" b="1">
                <a:solidFill>
                  <a:srgbClr val="213D72"/>
                </a:solidFill>
                <a:latin typeface="微软雅黑" panose="020B0503020204020204" pitchFamily="34" charset="-122"/>
                <a:ea typeface="微软雅黑" panose="020B0503020204020204" pitchFamily="34" charset="-122"/>
              </a:rPr>
              <a:t>Connect, Collapse, Corrupt</a:t>
            </a:r>
          </a:p>
        </p:txBody>
      </p:sp>
      <p:sp>
        <p:nvSpPr>
          <p:cNvPr id="17" name="TextBox 16"/>
          <p:cNvSpPr txBox="1"/>
          <p:nvPr/>
        </p:nvSpPr>
        <p:spPr>
          <a:xfrm>
            <a:off x="3538728" y="5815584"/>
            <a:ext cx="7763256" cy="265176"/>
          </a:xfrm>
          <a:prstGeom prst="rect">
            <a:avLst/>
          </a:prstGeom>
          <a:noFill/>
        </p:spPr>
        <p:txBody>
          <a:bodyPr wrap="square" lIns="0" tIns="0" rIns="0" bIns="0">
            <a:spAutoFit/>
          </a:bodyPr>
          <a:lstStyle/>
          <a:p>
            <a:pPr algn="ctr">
              <a:lnSpc>
                <a:spcPct val="113000"/>
              </a:lnSpc>
              <a:spcBef>
                <a:spcPts val="0"/>
              </a:spcBef>
              <a:spcAft>
                <a:spcPts val="400"/>
              </a:spcAft>
            </a:pPr>
            <a:r>
              <a:rPr sz="1300" b="0">
                <a:solidFill>
                  <a:srgbClr val="637185"/>
                </a:solidFill>
                <a:latin typeface="微软雅黑" panose="020B0503020204020204" pitchFamily="34" charset="-122"/>
                <a:ea typeface="微软雅黑" panose="020B0503020204020204" pitchFamily="34" charset="-122"/>
              </a:rPr>
              <a:t>Learning Cross-Modal Tasks with Uni-Modal Data</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模态间隙：缺陷，还是特性？"/>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模态间隙：缺陷，还是特性？</a:t>
            </a:r>
          </a:p>
        </p:txBody>
      </p:sp>
      <p:sp>
        <p:nvSpPr>
          <p:cNvPr id="4" name="01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01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标题与摘要"/>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来源：论文标题、摘要、图1b</a:t>
            </a:r>
          </a:p>
        </p:txBody>
      </p:sp>
      <p:sp>
        <p:nvSpPr>
          <p:cNvPr id="7" name="Is the Modality Gap a Bug or a"/>
          <p:cNvSpPr>
            <a:spLocks noGrp="1"/>
          </p:cNvSpPr>
          <p:nvPr/>
        </p:nvSpPr>
        <p:spPr>
          <a:xfrm>
            <a:off x="495300" y="2133600"/>
            <a:ext cx="7029450" cy="1257300"/>
          </a:xfrm>
          <a:prstGeom prst="rect">
            <a:avLst/>
          </a:prstGeom>
          <a:noFill/>
          <a:ln w="0">
            <a:noFill/>
          </a:ln>
        </p:spPr>
        <p:txBody>
          <a:bodyPr lIns="0" tIns="0" rIns="0" bIns="0" anchor="t">
            <a:noAutofit/>
          </a:bodyPr>
          <a:lstStyle/>
          <a:p>
            <a:pPr>
              <a:buNone/>
              <a:defRPr sz="2775" b="1">
                <a:solidFill>
                  <a:srgbClr val="202020"/>
                </a:solidFill>
                <a:latin typeface="微软雅黑"/>
                <a:ea typeface="微软雅黑"/>
                <a:cs typeface="微软雅黑"/>
              </a:defRPr>
            </a:pPr>
            <a:r>
              <a:rPr sz="2775" b="1">
                <a:solidFill>
                  <a:srgbClr val="202020"/>
                </a:solidFill>
                <a:latin typeface="微软雅黑"/>
                <a:ea typeface="微软雅黑"/>
                <a:cs typeface="微软雅黑"/>
              </a:rPr>
              <a:t>Is the Modality Gap a Bug or a Feature?</a:t>
            </a:r>
          </a:p>
          <a:p>
            <a:pPr>
              <a:buNone/>
              <a:defRPr sz="2775" b="1">
                <a:solidFill>
                  <a:srgbClr val="202020"/>
                </a:solidFill>
                <a:latin typeface="微软雅黑"/>
                <a:ea typeface="微软雅黑"/>
                <a:cs typeface="微软雅黑"/>
              </a:defRPr>
            </a:pPr>
            <a:r>
              <a:rPr sz="2775" b="1">
                <a:solidFill>
                  <a:srgbClr val="202020"/>
                </a:solidFill>
                <a:latin typeface="微软雅黑"/>
                <a:ea typeface="微软雅黑"/>
                <a:cs typeface="微软雅黑"/>
              </a:rPr>
              <a:t>A Robustness Perspective</a:t>
            </a:r>
          </a:p>
        </p:txBody>
      </p:sp>
      <p:sp>
        <p:nvSpPr>
          <p:cNvPr id="8" name="Rhea Chowers 等&#10;CVPR 2026"/>
          <p:cNvSpPr>
            <a:spLocks noGrp="1"/>
          </p:cNvSpPr>
          <p:nvPr/>
        </p:nvSpPr>
        <p:spPr>
          <a:xfrm>
            <a:off x="495300" y="3781425"/>
            <a:ext cx="6953250" cy="400050"/>
          </a:xfrm>
          <a:prstGeom prst="rect">
            <a:avLst/>
          </a:prstGeom>
          <a:noFill/>
          <a:ln w="0">
            <a:noFill/>
          </a:ln>
        </p:spPr>
        <p:txBody>
          <a:bodyPr lIns="0" tIns="0" rIns="0" bIns="0" anchor="t">
            <a:noAutofit/>
          </a:bodyPr>
          <a:lstStyle/>
          <a:p>
            <a:pPr>
              <a:buNone/>
              <a:defRPr sz="1875" b="0">
                <a:solidFill>
                  <a:srgbClr val="666666"/>
                </a:solidFill>
                <a:latin typeface="微软雅黑"/>
                <a:ea typeface="微软雅黑"/>
                <a:cs typeface="微软雅黑"/>
              </a:defRPr>
            </a:pPr>
            <a:r>
              <a:rPr sz="1875" b="0">
                <a:solidFill>
                  <a:srgbClr val="666666"/>
                </a:solidFill>
                <a:latin typeface="微软雅黑"/>
                <a:ea typeface="微软雅黑"/>
                <a:cs typeface="微软雅黑"/>
              </a:rPr>
              <a:t>Rhea Chowers 等 · CVPR 2026</a:t>
            </a:r>
          </a:p>
        </p:txBody>
      </p:sp>
      <p:sp>
        <p:nvSpPr>
          <p:cNvPr id="9" name="核心问题：图文之间的距离，如何影响预测的稳定性？"/>
          <p:cNvSpPr>
            <a:spLocks noGrp="1"/>
          </p:cNvSpPr>
          <p:nvPr/>
        </p:nvSpPr>
        <p:spPr>
          <a:xfrm>
            <a:off x="495300" y="5391150"/>
            <a:ext cx="7334250" cy="628650"/>
          </a:xfrm>
          <a:prstGeom prst="rect">
            <a:avLst/>
          </a:prstGeom>
          <a:noFill/>
          <a:ln w="0">
            <a:noFill/>
          </a:ln>
        </p:spPr>
        <p:txBody>
          <a:bodyPr lIns="0" tIns="0" rIns="0" bIns="0" anchor="t">
            <a:noAutofit/>
          </a:bodyPr>
          <a:lstStyle/>
          <a:p>
            <a:pPr>
              <a:buNone/>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同一张图片，文字换个说法，为什么模型可能改口？</a:t>
            </a:r>
          </a:p>
        </p:txBody>
      </p:sp>
      <p:pic>
        <p:nvPicPr>
          <p:cNvPr id="19" name="图片 18"/>
          <p:cNvPicPr>
            <a:picLocks noChangeAspect="1"/>
          </p:cNvPicPr>
          <p:nvPr/>
        </p:nvPicPr>
        <p:blipFill>
          <a:blip r:embed="rId3"/>
          <a:stretch>
            <a:fillRect/>
          </a:stretch>
        </p:blipFill>
        <p:spPr>
          <a:xfrm>
            <a:off x="8248650" y="1750590"/>
            <a:ext cx="3124200" cy="4042621"/>
          </a:xfrm>
          <a:prstGeom prst="rect">
            <a:avLst/>
          </a:prstGeom>
        </p:spPr>
      </p:pic>
      <p:sp>
        <p:nvSpPr>
          <p:cNvPr id="11" name="汇报人：王郅杰 · 2631762&#10;电子与信息工程学院"/>
          <p:cNvSpPr>
            <a:spLocks noGrp="1"/>
          </p:cNvSpPr>
          <p:nvPr/>
        </p:nvSpPr>
        <p:spPr>
          <a:xfrm>
            <a:off x="495300" y="4295775"/>
            <a:ext cx="7219950" cy="762000"/>
          </a:xfrm>
          <a:prstGeom prst="rect">
            <a:avLst/>
          </a:prstGeom>
          <a:noFill/>
          <a:ln w="0">
            <a:noFill/>
          </a:ln>
        </p:spPr>
        <p:txBody>
          <a:bodyPr lIns="0" tIns="0" rIns="0" bIns="0">
            <a:noAutofit/>
          </a:bodyPr>
          <a:lstStyle/>
          <a:p>
            <a:pPr>
              <a:defRPr sz="1950" b="0">
                <a:solidFill>
                  <a:srgbClr val="202020"/>
                </a:solidFill>
                <a:latin typeface="微软雅黑"/>
                <a:ea typeface="微软雅黑"/>
                <a:cs typeface="微软雅黑"/>
              </a:defRPr>
            </a:pPr>
            <a:r>
              <a:rPr sz="1950" b="0">
                <a:solidFill>
                  <a:srgbClr val="202020"/>
                </a:solidFill>
                <a:latin typeface="微软雅黑"/>
                <a:ea typeface="微软雅黑"/>
                <a:cs typeface="微软雅黑"/>
              </a:rPr>
              <a:t>汇报人：王郅杰 · 2631762</a:t>
            </a:r>
          </a:p>
          <a:p>
            <a:pPr>
              <a:defRPr sz="1950" b="0">
                <a:solidFill>
                  <a:srgbClr val="202020"/>
                </a:solidFill>
                <a:latin typeface="微软雅黑"/>
                <a:ea typeface="微软雅黑"/>
                <a:cs typeface="微软雅黑"/>
              </a:defRPr>
            </a:pPr>
            <a:r>
              <a:rPr sz="1950" b="0">
                <a:solidFill>
                  <a:srgbClr val="202020"/>
                </a:solidFill>
                <a:latin typeface="微软雅黑"/>
                <a:ea typeface="微软雅黑"/>
                <a:cs typeface="微软雅黑"/>
              </a:rPr>
              <a:t>电子与信息工程学院</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研究背景：能匹配，仍然有间隙"/>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先看模型怎样判断一张图片</a:t>
            </a:r>
          </a:p>
        </p:txBody>
      </p:sp>
      <p:sp>
        <p:nvSpPr>
          <p:cNvPr id="4" name="02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02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图1a、§3.1"/>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来源：论文§1、§3.1；图片取自图1b</a:t>
            </a:r>
          </a:p>
        </p:txBody>
      </p:sp>
      <p:pic>
        <p:nvPicPr>
          <p:cNvPr id="19" name="图片 18"/>
          <p:cNvPicPr>
            <a:picLocks noChangeAspect="1"/>
          </p:cNvPicPr>
          <p:nvPr/>
        </p:nvPicPr>
        <p:blipFill>
          <a:blip r:embed="rId3"/>
          <a:stretch>
            <a:fillRect/>
          </a:stretch>
        </p:blipFill>
        <p:spPr>
          <a:xfrm>
            <a:off x="682073" y="1838325"/>
            <a:ext cx="3779354" cy="3714750"/>
          </a:xfrm>
          <a:prstGeom prst="rect">
            <a:avLst/>
          </a:prstGeom>
        </p:spPr>
      </p:pic>
      <p:sp>
        <p:nvSpPr>
          <p:cNvPr id="8" name="候选描述：“狗的照片”“青蛙的照片”"/>
          <p:cNvSpPr>
            <a:spLocks noGrp="1"/>
          </p:cNvSpPr>
          <p:nvPr/>
        </p:nvSpPr>
        <p:spPr>
          <a:xfrm>
            <a:off x="495300" y="5648325"/>
            <a:ext cx="4410075" cy="419100"/>
          </a:xfrm>
          <a:prstGeom prst="rect">
            <a:avLst/>
          </a:prstGeom>
          <a:noFill/>
          <a:ln w="0">
            <a:noFill/>
          </a:ln>
        </p:spPr>
        <p:txBody>
          <a:bodyPr lIns="0" tIns="0" rIns="0" bIns="0">
            <a:noAutofit/>
          </a:bodyPr>
          <a:lstStyle/>
          <a:p>
            <a:pPr>
              <a:defRPr sz="1650" b="0">
                <a:solidFill>
                  <a:srgbClr val="666666"/>
                </a:solidFill>
                <a:latin typeface="微软雅黑"/>
                <a:ea typeface="微软雅黑"/>
                <a:cs typeface="微软雅黑"/>
              </a:defRPr>
            </a:pPr>
            <a:r>
              <a:rPr sz="1650" b="0">
                <a:solidFill>
                  <a:srgbClr val="666666"/>
                </a:solidFill>
                <a:latin typeface="微软雅黑"/>
                <a:ea typeface="微软雅黑"/>
                <a:cs typeface="微软雅黑"/>
              </a:rPr>
              <a:t>候选描述：“狗的照片”“青蛙的照片”</a:t>
            </a:r>
          </a:p>
        </p:txBody>
      </p:sp>
      <p:sp>
        <p:nvSpPr>
          <p:cNvPr id="9" name="1  图片和文字，各自变成一串数字"/>
          <p:cNvSpPr>
            <a:spLocks noGrp="1"/>
          </p:cNvSpPr>
          <p:nvPr/>
        </p:nvSpPr>
        <p:spPr>
          <a:xfrm>
            <a:off x="5191125" y="1752600"/>
            <a:ext cx="64389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1  图片和文字，各自变成一串数字</a:t>
            </a:r>
          </a:p>
        </p:txBody>
      </p:sp>
      <p:sp>
        <p:nvSpPr>
          <p:cNvPr id="10" name="这串数字叫“向量”，也称“嵌入”&#10;可以把它想成空间里一个点的坐标"/>
          <p:cNvSpPr>
            <a:spLocks noGrp="1"/>
          </p:cNvSpPr>
          <p:nvPr/>
        </p:nvSpPr>
        <p:spPr>
          <a:xfrm>
            <a:off x="5191125" y="2181225"/>
            <a:ext cx="6438900"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这串数字叫“向量”，也称“嵌入”</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可以把它想成空间里一个点的坐标</a:t>
            </a:r>
          </a:p>
        </p:txBody>
      </p:sp>
      <p:sp>
        <p:nvSpPr>
          <p:cNvPr id="11" name="2  放在同一个空间里比较"/>
          <p:cNvSpPr>
            <a:spLocks noGrp="1"/>
          </p:cNvSpPr>
          <p:nvPr/>
        </p:nvSpPr>
        <p:spPr>
          <a:xfrm>
            <a:off x="5191125" y="3114675"/>
            <a:ext cx="64389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2  放在同一个空间里比较</a:t>
            </a:r>
          </a:p>
        </p:txBody>
      </p:sp>
      <p:sp>
        <p:nvSpPr>
          <p:cNvPr id="12" name="图片是一个点，每句候选文字也是一个点&#10;在这里，用点之间的距离表示匹配程度"/>
          <p:cNvSpPr>
            <a:spLocks noGrp="1"/>
          </p:cNvSpPr>
          <p:nvPr/>
        </p:nvSpPr>
        <p:spPr>
          <a:xfrm>
            <a:off x="5191125" y="3543300"/>
            <a:ext cx="6438900"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图片是一个点，每句候选文字也是一个点</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在这里，用点之间的距离表示匹配程度</a:t>
            </a:r>
          </a:p>
        </p:txBody>
      </p:sp>
      <p:sp>
        <p:nvSpPr>
          <p:cNvPr id="13" name="3  选择离图片最近的文字"/>
          <p:cNvSpPr>
            <a:spLocks noGrp="1"/>
          </p:cNvSpPr>
          <p:nvPr/>
        </p:nvSpPr>
        <p:spPr>
          <a:xfrm>
            <a:off x="5191125" y="4476750"/>
            <a:ext cx="64389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3  选择离图片最近的文字</a:t>
            </a:r>
          </a:p>
        </p:txBody>
      </p:sp>
      <p:sp>
        <p:nvSpPr>
          <p:cNvPr id="14" name="这叫“最近邻匹配”&#10;我们要研究：稍有变化，选择会不会改变？"/>
          <p:cNvSpPr>
            <a:spLocks noGrp="1"/>
          </p:cNvSpPr>
          <p:nvPr/>
        </p:nvSpPr>
        <p:spPr>
          <a:xfrm>
            <a:off x="5191125" y="4905375"/>
            <a:ext cx="6438900"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这叫“最近邻匹配”</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我们要研究：稍有变化，选择会不会改变？</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研究动机：准确率不足以判断间隙好坏"/>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研究动机：能匹配，为什么还要关心间隙？</a:t>
            </a:r>
          </a:p>
        </p:txBody>
      </p:sp>
      <p:sp>
        <p:nvSpPr>
          <p:cNvPr id="4" name="03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03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图1b、图2、§1"/>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来源：论文图1a、图2、§1</a:t>
            </a:r>
          </a:p>
        </p:txBody>
      </p:sp>
      <p:pic>
        <p:nvPicPr>
          <p:cNvPr id="19" name="图片 18"/>
          <p:cNvPicPr>
            <a:picLocks noChangeAspect="1"/>
          </p:cNvPicPr>
          <p:nvPr/>
        </p:nvPicPr>
        <p:blipFill>
          <a:blip r:embed="rId3"/>
          <a:stretch>
            <a:fillRect/>
          </a:stretch>
        </p:blipFill>
        <p:spPr>
          <a:xfrm>
            <a:off x="989117" y="1933575"/>
            <a:ext cx="3565317" cy="3371850"/>
          </a:xfrm>
          <a:prstGeom prst="rect">
            <a:avLst/>
          </a:prstGeom>
        </p:spPr>
      </p:pic>
      <p:sp>
        <p:nvSpPr>
          <p:cNvPr id="8" name="什么叫模态间隙？"/>
          <p:cNvSpPr>
            <a:spLocks noGrp="1"/>
          </p:cNvSpPr>
          <p:nvPr/>
        </p:nvSpPr>
        <p:spPr>
          <a:xfrm>
            <a:off x="5581650" y="1809750"/>
            <a:ext cx="5953125"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什么叫模态间隙？</a:t>
            </a:r>
          </a:p>
        </p:txBody>
      </p:sp>
      <p:sp>
        <p:nvSpPr>
          <p:cNvPr id="9" name="模态就是数据形式，这里指图片和文字&#10;间隙是两团点的平均位置之差"/>
          <p:cNvSpPr>
            <a:spLocks noGrp="1"/>
          </p:cNvSpPr>
          <p:nvPr/>
        </p:nvSpPr>
        <p:spPr>
          <a:xfrm>
            <a:off x="5581650" y="2238375"/>
            <a:ext cx="5953125"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模态就是数据形式，这里指图片和文字</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间隙是两团点的平均位置之差</a:t>
            </a:r>
          </a:p>
        </p:txBody>
      </p:sp>
      <p:sp>
        <p:nvSpPr>
          <p:cNvPr id="10" name="配对成功，只需要“比其他候选更近”"/>
          <p:cNvSpPr>
            <a:spLocks noGrp="1"/>
          </p:cNvSpPr>
          <p:nvPr/>
        </p:nvSpPr>
        <p:spPr>
          <a:xfrm>
            <a:off x="5581650" y="3152775"/>
            <a:ext cx="5953125"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配对成功，只需要“比其他候选更近”</a:t>
            </a:r>
          </a:p>
        </p:txBody>
      </p:sp>
      <p:sp>
        <p:nvSpPr>
          <p:cNvPr id="11" name="正确文字不必和图片点完全重合&#10;所以：匹配正确，仍可以有间隙"/>
          <p:cNvSpPr>
            <a:spLocks noGrp="1"/>
          </p:cNvSpPr>
          <p:nvPr/>
        </p:nvSpPr>
        <p:spPr>
          <a:xfrm>
            <a:off x="5581650" y="3581400"/>
            <a:ext cx="5953125"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正确文字不必和图片点完全重合</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所以：匹配正确，仍可以有间隙</a:t>
            </a:r>
          </a:p>
        </p:txBody>
      </p:sp>
      <p:sp>
        <p:nvSpPr>
          <p:cNvPr id="12" name="本文关心：模型是否容易改口？"/>
          <p:cNvSpPr>
            <a:spLocks noGrp="1"/>
          </p:cNvSpPr>
          <p:nvPr/>
        </p:nvSpPr>
        <p:spPr>
          <a:xfrm>
            <a:off x="5581650" y="4495800"/>
            <a:ext cx="5953125"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本文关心：模型是否容易改口？</a:t>
            </a:r>
          </a:p>
        </p:txBody>
      </p:sp>
      <p:sp>
        <p:nvSpPr>
          <p:cNvPr id="13" name="小变化后仍能稳定判断，称为“鲁棒性”&#10;目标：让模型更稳，同时保留原来的判断"/>
          <p:cNvSpPr>
            <a:spLocks noGrp="1"/>
          </p:cNvSpPr>
          <p:nvPr/>
        </p:nvSpPr>
        <p:spPr>
          <a:xfrm>
            <a:off x="5581650" y="4924425"/>
            <a:ext cx="5953125"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小变化后仍能稳定判断，称为“鲁棒性”</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目标：让模型更稳，同时保留原来的判断</a:t>
            </a:r>
          </a:p>
        </p:txBody>
      </p:sp>
      <p:sp>
        <p:nvSpPr>
          <p:cNvPr id="14" name="已有结果：拉近两团点，对不同任务的准确率影响不一致。"/>
          <p:cNvSpPr>
            <a:spLocks noGrp="1"/>
          </p:cNvSpPr>
          <p:nvPr/>
        </p:nvSpPr>
        <p:spPr>
          <a:xfrm>
            <a:off x="495300" y="5810250"/>
            <a:ext cx="11201400" cy="304800"/>
          </a:xfrm>
          <a:prstGeom prst="rect">
            <a:avLst/>
          </a:prstGeom>
          <a:noFill/>
          <a:ln w="0">
            <a:noFill/>
          </a:ln>
        </p:spPr>
        <p:txBody>
          <a:bodyPr lIns="0" tIns="0" rIns="0" bIns="0">
            <a:noAutofit/>
          </a:bodyPr>
          <a:lstStyle/>
          <a:p>
            <a:pPr>
              <a:defRPr sz="1650" b="0">
                <a:solidFill>
                  <a:srgbClr val="666666"/>
                </a:solidFill>
                <a:latin typeface="微软雅黑"/>
                <a:ea typeface="微软雅黑"/>
                <a:cs typeface="微软雅黑"/>
              </a:defRPr>
            </a:pPr>
            <a:r>
              <a:rPr sz="1650" b="0">
                <a:solidFill>
                  <a:srgbClr val="666666"/>
                </a:solidFill>
                <a:latin typeface="微软雅黑"/>
                <a:ea typeface="微软雅黑"/>
                <a:cs typeface="微软雅黑"/>
              </a:rPr>
              <a:t>已有结果：拉近两团点，对不同任务的准确率影响不一致。</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研究思路：解释成因，再设计干预"/>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为什么训练好了，两团点仍没有重合？</a:t>
            </a:r>
          </a:p>
        </p:txBody>
      </p:sp>
      <p:sp>
        <p:nvSpPr>
          <p:cNvPr id="4" name="04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04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3–4"/>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来源：论文图3、式2、§3.2</a:t>
            </a:r>
          </a:p>
        </p:txBody>
      </p:sp>
      <p:pic>
        <p:nvPicPr>
          <p:cNvPr id="17" name="图片 16"/>
          <p:cNvPicPr>
            <a:picLocks noChangeAspect="1"/>
          </p:cNvPicPr>
          <p:nvPr/>
        </p:nvPicPr>
        <p:blipFill>
          <a:blip r:embed="rId3"/>
          <a:stretch>
            <a:fillRect/>
          </a:stretch>
        </p:blipFill>
        <p:spPr>
          <a:xfrm>
            <a:off x="514350" y="1874984"/>
            <a:ext cx="4524375" cy="3155657"/>
          </a:xfrm>
          <a:prstGeom prst="rect">
            <a:avLst/>
          </a:prstGeom>
        </p:spPr>
      </p:pic>
      <p:sp>
        <p:nvSpPr>
          <p:cNvPr id="8" name="训练鼓励正确配对领先其他候选"/>
          <p:cNvSpPr>
            <a:spLocks noGrp="1"/>
          </p:cNvSpPr>
          <p:nvPr/>
        </p:nvSpPr>
        <p:spPr>
          <a:xfrm>
            <a:off x="5619750" y="1809750"/>
            <a:ext cx="59055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训练鼓励正确配对领先其他候选</a:t>
            </a:r>
          </a:p>
        </p:txBody>
      </p:sp>
      <p:sp>
        <p:nvSpPr>
          <p:cNvPr id="9" name="原文式（2）：正确配对的相对分数"/>
          <p:cNvSpPr>
            <a:spLocks noGrp="1"/>
          </p:cNvSpPr>
          <p:nvPr/>
        </p:nvSpPr>
        <p:spPr>
          <a:xfrm>
            <a:off x="5619750" y="2238375"/>
            <a:ext cx="5905500"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原文式（2）：正确配对的相对分数</a:t>
            </a:r>
          </a:p>
        </p:txBody>
      </p:sp>
      <p:pic>
        <p:nvPicPr>
          <p:cNvPr id="20" name="图片 19"/>
          <p:cNvPicPr>
            <a:picLocks noChangeAspect="1"/>
          </p:cNvPicPr>
          <p:nvPr/>
        </p:nvPicPr>
        <p:blipFill>
          <a:blip r:embed="rId4"/>
          <a:stretch>
            <a:fillRect/>
          </a:stretch>
        </p:blipFill>
        <p:spPr>
          <a:xfrm>
            <a:off x="5619750" y="2704532"/>
            <a:ext cx="5810250" cy="1172711"/>
          </a:xfrm>
          <a:prstGeom prst="rect">
            <a:avLst/>
          </a:prstGeom>
        </p:spPr>
      </p:pic>
      <p:sp>
        <p:nvSpPr>
          <p:cNvPr id="11" name="xᵢ：文字点；yᵢ：配对的图片点；Y：候选图片&#10;分子：正确配对的分数&#10;分母：所有"/>
          <p:cNvSpPr>
            <a:spLocks noGrp="1"/>
          </p:cNvSpPr>
          <p:nvPr/>
        </p:nvSpPr>
        <p:spPr>
          <a:xfrm>
            <a:off x="5619750" y="4105275"/>
            <a:ext cx="6000750" cy="1219200"/>
          </a:xfrm>
          <a:prstGeom prst="rect">
            <a:avLst/>
          </a:prstGeom>
          <a:noFill/>
          <a:ln w="0">
            <a:noFill/>
          </a:ln>
        </p:spPr>
        <p:txBody>
          <a:bodyPr lIns="0" tIns="0" rIns="0" bIns="0">
            <a:noAutofit/>
          </a:bodyPr>
          <a:lstStyle/>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xᵢ：文字点；yᵢ：配对的图片点；Y：候选图片</a:t>
            </a:r>
          </a:p>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分子：正确配对的分数</a:t>
            </a:r>
          </a:p>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分母：所有候选分数的总和</a:t>
            </a:r>
          </a:p>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τ：控制分数是否更集中在最近的候选上</a:t>
            </a:r>
          </a:p>
        </p:txBody>
      </p:sp>
      <p:sp>
        <p:nvSpPr>
          <p:cNvPr id="12" name="正确配对明显领先，训练目标就能较好满足；图片点与文字点仍可能相隔一段距离。"/>
          <p:cNvSpPr>
            <a:spLocks noGrp="1"/>
          </p:cNvSpPr>
          <p:nvPr/>
        </p:nvSpPr>
        <p:spPr>
          <a:xfrm>
            <a:off x="495300" y="5619750"/>
            <a:ext cx="11201400" cy="504825"/>
          </a:xfrm>
          <a:prstGeom prst="rect">
            <a:avLst/>
          </a:prstGeom>
          <a:noFill/>
          <a:ln w="0">
            <a:noFill/>
          </a:ln>
        </p:spPr>
        <p:txBody>
          <a:bodyPr lIns="0" tIns="0" rIns="0" bIns="0">
            <a:noAutofit/>
          </a:bodyPr>
          <a:lstStyle/>
          <a:p>
            <a:pPr>
              <a:defRPr sz="1875" b="1">
                <a:solidFill>
                  <a:srgbClr val="202020"/>
                </a:solidFill>
                <a:latin typeface="微软雅黑"/>
                <a:ea typeface="微软雅黑"/>
                <a:cs typeface="微软雅黑"/>
              </a:defRPr>
            </a:pPr>
            <a:r>
              <a:rPr sz="1875" b="1">
                <a:solidFill>
                  <a:srgbClr val="202020"/>
                </a:solidFill>
                <a:latin typeface="微软雅黑"/>
                <a:ea typeface="微软雅黑"/>
                <a:cs typeface="微软雅黑"/>
              </a:rPr>
              <a:t>正确配对明显领先，训练目标就能较好满足；图片点与文字点仍可能相隔一段距离。</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间隙的成因：对齐可以保留整体偏移"/>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解决思路：模型不重训，只调整文字点的位置</a:t>
            </a:r>
          </a:p>
        </p:txBody>
      </p:sp>
      <p:sp>
        <p:nvSpPr>
          <p:cNvPr id="4" name="05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05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图4、定理3.1–3.2"/>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来源：论文§3–4、定理3.4–3.5</a:t>
            </a:r>
          </a:p>
        </p:txBody>
      </p:sp>
      <p:sp>
        <p:nvSpPr>
          <p:cNvPr id="7" name="模型保持原样"/>
          <p:cNvSpPr>
            <a:spLocks noGrp="1"/>
          </p:cNvSpPr>
          <p:nvPr/>
        </p:nvSpPr>
        <p:spPr>
          <a:xfrm>
            <a:off x="495300" y="1771650"/>
            <a:ext cx="112014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模型保持原样</a:t>
            </a:r>
          </a:p>
        </p:txBody>
      </p:sp>
      <p:sp>
        <p:nvSpPr>
          <p:cNvPr id="8" name="直接使用已经训练好的编码器，得到图片点和文字点。&#10;需要调整的是输出的数字坐标。"/>
          <p:cNvSpPr>
            <a:spLocks noGrp="1"/>
          </p:cNvSpPr>
          <p:nvPr/>
        </p:nvSpPr>
        <p:spPr>
          <a:xfrm>
            <a:off x="495300" y="2200275"/>
            <a:ext cx="11201400"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直接使用已经训练好的编码器，得到图片点和文字点。</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需要调整的是输出的数字坐标。</a:t>
            </a:r>
          </a:p>
        </p:txBody>
      </p:sp>
      <p:sp>
        <p:nvSpPr>
          <p:cNvPr id="9" name="文字点一起移动"/>
          <p:cNvSpPr>
            <a:spLocks noGrp="1"/>
          </p:cNvSpPr>
          <p:nvPr/>
        </p:nvSpPr>
        <p:spPr>
          <a:xfrm>
            <a:off x="495300" y="3248025"/>
            <a:ext cx="112014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文字点一起移动</a:t>
            </a:r>
          </a:p>
        </p:txBody>
      </p:sp>
      <p:sp>
        <p:nvSpPr>
          <p:cNvPr id="10" name="每个文字点都沿相同方向、移动相同距离。&#10;图片点保持原位，再比较它与文字点之间的距"/>
          <p:cNvSpPr>
            <a:spLocks noGrp="1"/>
          </p:cNvSpPr>
          <p:nvPr/>
        </p:nvSpPr>
        <p:spPr>
          <a:xfrm>
            <a:off x="495300" y="3676650"/>
            <a:ext cx="11201400"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每个文字点都沿相同方向、移动相同距离。</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图片点保持原位，再比较它与文字点之间的距离。</a:t>
            </a:r>
          </a:p>
        </p:txBody>
      </p:sp>
      <p:sp>
        <p:nvSpPr>
          <p:cNvPr id="11" name="方向必须先选好"/>
          <p:cNvSpPr>
            <a:spLocks noGrp="1"/>
          </p:cNvSpPr>
          <p:nvPr/>
        </p:nvSpPr>
        <p:spPr>
          <a:xfrm>
            <a:off x="495300" y="4724400"/>
            <a:ext cx="112014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方向必须先选好</a:t>
            </a:r>
          </a:p>
        </p:txBody>
      </p:sp>
      <p:sp>
        <p:nvSpPr>
          <p:cNvPr id="12" name="希望受到小干扰后更稳定，同时保留没有干扰时的原答案。&#10;因此，方法的关键是找到满足"/>
          <p:cNvSpPr>
            <a:spLocks noGrp="1"/>
          </p:cNvSpPr>
          <p:nvPr/>
        </p:nvSpPr>
        <p:spPr>
          <a:xfrm>
            <a:off x="495300" y="5153025"/>
            <a:ext cx="11201400" cy="9525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希望受到小干扰后更稳定，同时保留没有干扰时的原答案。</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因此，方法的关键是找到满足这一要求的移动方向。</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间隙与鲁棒性：距离越远，扰动影响越大"/>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为什么间隙大，模型可能更容易改口？</a:t>
            </a:r>
          </a:p>
        </p:txBody>
      </p:sp>
      <p:sp>
        <p:nvSpPr>
          <p:cNvPr id="4" name="06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06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图7、定义式10、定理3.4"/>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来源：论文图7、式10、定理3.4、附录A</a:t>
            </a:r>
          </a:p>
        </p:txBody>
      </p:sp>
      <p:pic>
        <p:nvPicPr>
          <p:cNvPr id="17" name="图片 16"/>
          <p:cNvPicPr>
            <a:picLocks noChangeAspect="1"/>
          </p:cNvPicPr>
          <p:nvPr/>
        </p:nvPicPr>
        <p:blipFill>
          <a:blip r:embed="rId3"/>
          <a:stretch>
            <a:fillRect/>
          </a:stretch>
        </p:blipFill>
        <p:spPr>
          <a:xfrm>
            <a:off x="495300" y="1908268"/>
            <a:ext cx="6810375" cy="2336614"/>
          </a:xfrm>
          <a:prstGeom prst="rect">
            <a:avLst/>
          </a:prstGeom>
        </p:spPr>
      </p:pic>
      <p:sp>
        <p:nvSpPr>
          <p:cNvPr id="8" name="文字一动，分界线也会动"/>
          <p:cNvSpPr>
            <a:spLocks noGrp="1"/>
          </p:cNvSpPr>
          <p:nvPr/>
        </p:nvSpPr>
        <p:spPr>
          <a:xfrm>
            <a:off x="7858125" y="1847850"/>
            <a:ext cx="38100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文字一动，分界线也会动</a:t>
            </a:r>
          </a:p>
        </p:txBody>
      </p:sp>
      <p:sp>
        <p:nvSpPr>
          <p:cNvPr id="9" name="线的两侧，模型选择不同文字&#10;边界稍一转动，离文字更远的&#10;图片点可能被划到另一边"/>
          <p:cNvSpPr>
            <a:spLocks noGrp="1"/>
          </p:cNvSpPr>
          <p:nvPr/>
        </p:nvSpPr>
        <p:spPr>
          <a:xfrm>
            <a:off x="7858125" y="2276475"/>
            <a:ext cx="3810000" cy="1143000"/>
          </a:xfrm>
          <a:prstGeom prst="rect">
            <a:avLst/>
          </a:prstGeom>
          <a:noFill/>
          <a:ln w="0">
            <a:noFill/>
          </a:ln>
        </p:spPr>
        <p:txBody>
          <a:bodyPr lIns="0" tIns="0" rIns="0" bIns="0">
            <a:noAutofit/>
          </a:bodyPr>
          <a:lstStyle/>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线的两侧，模型选择不同文字</a:t>
            </a:r>
          </a:p>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边界稍一转动，离文字更远的</a:t>
            </a:r>
          </a:p>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图片点可能被划到另一边</a:t>
            </a:r>
          </a:p>
        </p:txBody>
      </p:sp>
      <p:sp>
        <p:nvSpPr>
          <p:cNvPr id="10" name="本文的稳定性：加了干扰后，仍选原来答案的比例"/>
          <p:cNvSpPr>
            <a:spLocks noGrp="1"/>
          </p:cNvSpPr>
          <p:nvPr/>
        </p:nvSpPr>
        <p:spPr>
          <a:xfrm>
            <a:off x="495300" y="4657725"/>
            <a:ext cx="11201400" cy="438150"/>
          </a:xfrm>
          <a:prstGeom prst="rect">
            <a:avLst/>
          </a:prstGeom>
          <a:noFill/>
          <a:ln w="0">
            <a:noFill/>
          </a:ln>
        </p:spPr>
        <p:txBody>
          <a:bodyPr lIns="0" tIns="0" rIns="0" bIns="0">
            <a:noAutofit/>
          </a:bodyPr>
          <a:lstStyle/>
          <a:p>
            <a:pPr>
              <a:defRPr sz="2250" b="1">
                <a:solidFill>
                  <a:srgbClr val="202020"/>
                </a:solidFill>
                <a:latin typeface="微软雅黑"/>
                <a:ea typeface="微软雅黑"/>
                <a:cs typeface="微软雅黑"/>
              </a:defRPr>
            </a:pPr>
            <a:r>
              <a:rPr sz="2250" b="1">
                <a:solidFill>
                  <a:srgbClr val="202020"/>
                </a:solidFill>
                <a:latin typeface="微软雅黑"/>
                <a:ea typeface="微软雅黑"/>
                <a:cs typeface="微软雅黑"/>
              </a:rPr>
              <a:t>本文的稳定性：加了干扰后，仍选原来答案的比例</a:t>
            </a:r>
          </a:p>
        </p:txBody>
      </p:sp>
      <p:sp>
        <p:nvSpPr>
          <p:cNvPr id="11" name="原来答错、后来仍答错，也算“没改口”。因此，还必须一起看准确率。"/>
          <p:cNvSpPr>
            <a:spLocks noGrp="1"/>
          </p:cNvSpPr>
          <p:nvPr/>
        </p:nvSpPr>
        <p:spPr>
          <a:xfrm>
            <a:off x="495300" y="5238750"/>
            <a:ext cx="11201400" cy="4953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原来答错、后来仍答错，也算“没改口”。因此，还必须一起看准确率。</a:t>
            </a:r>
          </a:p>
        </p:txBody>
      </p:sp>
      <p:sp>
        <p:nvSpPr>
          <p:cNvPr id="12" name="上述关系有几何与噪声条件，不能直接推广到任意输入变化。"/>
          <p:cNvSpPr>
            <a:spLocks noGrp="1"/>
          </p:cNvSpPr>
          <p:nvPr/>
        </p:nvSpPr>
        <p:spPr>
          <a:xfrm>
            <a:off x="495300" y="5857875"/>
            <a:ext cx="11201400" cy="285750"/>
          </a:xfrm>
          <a:prstGeom prst="rect">
            <a:avLst/>
          </a:prstGeom>
          <a:noFill/>
          <a:ln w="0">
            <a:noFill/>
          </a:ln>
        </p:spPr>
        <p:txBody>
          <a:bodyPr lIns="0" tIns="0" rIns="0" bIns="0">
            <a:noAutofit/>
          </a:bodyPr>
          <a:lstStyle/>
          <a:p>
            <a:pPr>
              <a:defRPr sz="1650" b="0">
                <a:solidFill>
                  <a:srgbClr val="666666"/>
                </a:solidFill>
                <a:latin typeface="微软雅黑"/>
                <a:ea typeface="微软雅黑"/>
                <a:cs typeface="微软雅黑"/>
              </a:defRPr>
            </a:pPr>
            <a:r>
              <a:rPr sz="1650" b="0">
                <a:solidFill>
                  <a:srgbClr val="666666"/>
                </a:solidFill>
                <a:latin typeface="微软雅黑"/>
                <a:ea typeface="微软雅黑"/>
                <a:cs typeface="微软雅黑"/>
              </a:rPr>
              <a:t>上述关系有几何与噪声条件，不能直接推广到任意输入变化。</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保持干净预测：沿正交方向缩小间隙"/>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怎样移动，才能保住原来的答案？</a:t>
            </a:r>
          </a:p>
        </p:txBody>
      </p:sp>
      <p:sp>
        <p:nvSpPr>
          <p:cNvPr id="4" name="07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07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假设3.3、定理3.5"/>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来源：论文定理3.5、附录A.5、式45；表中数值为教学示例</a:t>
            </a:r>
          </a:p>
        </p:txBody>
      </p:sp>
      <p:sp>
        <p:nvSpPr>
          <p:cNvPr id="7" name="“正交”就是垂直"/>
          <p:cNvSpPr>
            <a:spLocks noGrp="1"/>
          </p:cNvSpPr>
          <p:nvPr/>
        </p:nvSpPr>
        <p:spPr>
          <a:xfrm>
            <a:off x="495300" y="1676400"/>
            <a:ext cx="112014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“正交”就是垂直</a:t>
            </a:r>
          </a:p>
        </p:txBody>
      </p:sp>
      <p:sp>
        <p:nvSpPr>
          <p:cNvPr id="8" name="把文字点想成同一桌面上的点，沿垂直方向一起移动。&#10;所有候选的平方距离改变相同的量"/>
          <p:cNvSpPr>
            <a:spLocks noGrp="1"/>
          </p:cNvSpPr>
          <p:nvPr/>
        </p:nvSpPr>
        <p:spPr>
          <a:xfrm>
            <a:off x="495300" y="2105025"/>
            <a:ext cx="11201400" cy="66675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把文字点想成同一桌面上的点，沿垂直方向一起移动。</a:t>
            </a:r>
          </a:p>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所有候选的平方距离改变相同的量，远近顺序就不变。</a:t>
            </a:r>
          </a:p>
        </p:txBody>
      </p:sp>
      <p:graphicFrame>
        <p:nvGraphicFramePr>
          <p:cNvPr id="19" name="表格 18"/>
          <p:cNvGraphicFramePr/>
          <p:nvPr/>
        </p:nvGraphicFramePr>
        <p:xfrm>
          <a:off x="495300" y="2867025"/>
          <a:ext cx="11201400" cy="1314450"/>
        </p:xfrm>
        <a:graphic>
          <a:graphicData uri="http://schemas.openxmlformats.org/drawingml/2006/table">
            <a:tbl>
              <a:tblPr/>
              <a:tblGrid>
                <a:gridCol w="3524250">
                  <a:extLst>
                    <a:ext uri="{9D8B030D-6E8A-4147-A177-3AD203B41FA5}">
                      <a16:colId xmlns:a16="http://schemas.microsoft.com/office/drawing/2014/main" val="20000"/>
                    </a:ext>
                  </a:extLst>
                </a:gridCol>
                <a:gridCol w="3838575">
                  <a:extLst>
                    <a:ext uri="{9D8B030D-6E8A-4147-A177-3AD203B41FA5}">
                      <a16:colId xmlns:a16="http://schemas.microsoft.com/office/drawing/2014/main" val="20001"/>
                    </a:ext>
                  </a:extLst>
                </a:gridCol>
                <a:gridCol w="3838575">
                  <a:extLst>
                    <a:ext uri="{9D8B030D-6E8A-4147-A177-3AD203B41FA5}">
                      <a16:colId xmlns:a16="http://schemas.microsoft.com/office/drawing/2014/main" val="20002"/>
                    </a:ext>
                  </a:extLst>
                </a:gridCol>
              </a:tblGrid>
              <a:tr h="438150">
                <a:tc>
                  <a:txBody>
                    <a:bodyPr/>
                    <a:lstStyle/>
                    <a:p>
                      <a:r>
                        <a:rPr sz="1725" b="1">
                          <a:solidFill>
                            <a:srgbClr val="202020"/>
                          </a:solidFill>
                          <a:latin typeface="微软雅黑"/>
                          <a:ea typeface="微软雅黑"/>
                          <a:cs typeface="微软雅黑"/>
                        </a:rPr>
                        <a:t>教学示例</a:t>
                      </a:r>
                    </a:p>
                  </a:txBody>
                  <a:tcPr anchor="ctr">
                    <a:solidFill>
                      <a:srgbClr val="F0F0F0"/>
                    </a:solidFill>
                  </a:tcPr>
                </a:tc>
                <a:tc>
                  <a:txBody>
                    <a:bodyPr/>
                    <a:lstStyle/>
                    <a:p>
                      <a:r>
                        <a:rPr sz="1725" b="1">
                          <a:solidFill>
                            <a:srgbClr val="202020"/>
                          </a:solidFill>
                          <a:latin typeface="微软雅黑"/>
                          <a:ea typeface="微软雅黑"/>
                          <a:cs typeface="微软雅黑"/>
                        </a:rPr>
                        <a:t>到“狗”的平方距离</a:t>
                      </a:r>
                    </a:p>
                  </a:txBody>
                  <a:tcPr anchor="ctr">
                    <a:solidFill>
                      <a:srgbClr val="F0F0F0"/>
                    </a:solidFill>
                  </a:tcPr>
                </a:tc>
                <a:tc>
                  <a:txBody>
                    <a:bodyPr/>
                    <a:lstStyle/>
                    <a:p>
                      <a:r>
                        <a:rPr sz="1725" b="1">
                          <a:solidFill>
                            <a:srgbClr val="202020"/>
                          </a:solidFill>
                          <a:latin typeface="微软雅黑"/>
                          <a:ea typeface="微软雅黑"/>
                          <a:cs typeface="微软雅黑"/>
                        </a:rPr>
                        <a:t>到“猫”的平方距离</a:t>
                      </a:r>
                    </a:p>
                  </a:txBody>
                  <a:tcPr anchor="ctr">
                    <a:solidFill>
                      <a:srgbClr val="F0F0F0"/>
                    </a:solidFill>
                  </a:tcPr>
                </a:tc>
                <a:extLst>
                  <a:ext uri="{0D108BD9-81ED-4DB2-BD59-A6C34878D82A}">
                    <a16:rowId xmlns:a16="http://schemas.microsoft.com/office/drawing/2014/main" val="10000"/>
                  </a:ext>
                </a:extLst>
              </a:tr>
              <a:tr h="438150">
                <a:tc>
                  <a:txBody>
                    <a:bodyPr/>
                    <a:lstStyle/>
                    <a:p>
                      <a:r>
                        <a:rPr sz="1725" b="1">
                          <a:solidFill>
                            <a:srgbClr val="202020"/>
                          </a:solidFill>
                          <a:latin typeface="微软雅黑"/>
                          <a:ea typeface="微软雅黑"/>
                          <a:cs typeface="微软雅黑"/>
                        </a:rPr>
                        <a:t>移动前</a:t>
                      </a:r>
                    </a:p>
                  </a:txBody>
                  <a:tcPr anchor="ctr">
                    <a:solidFill>
                      <a:srgbClr val="FFFFFF"/>
                    </a:solidFill>
                  </a:tcPr>
                </a:tc>
                <a:tc>
                  <a:txBody>
                    <a:bodyPr/>
                    <a:lstStyle/>
                    <a:p>
                      <a:r>
                        <a:rPr sz="1725" b="0">
                          <a:solidFill>
                            <a:srgbClr val="202020"/>
                          </a:solidFill>
                          <a:latin typeface="微软雅黑"/>
                          <a:ea typeface="微软雅黑"/>
                          <a:cs typeface="微软雅黑"/>
                        </a:rPr>
                        <a:t>9</a:t>
                      </a:r>
                    </a:p>
                  </a:txBody>
                  <a:tcPr anchor="ctr">
                    <a:solidFill>
                      <a:srgbClr val="FFFFFF"/>
                    </a:solidFill>
                  </a:tcPr>
                </a:tc>
                <a:tc>
                  <a:txBody>
                    <a:bodyPr/>
                    <a:lstStyle/>
                    <a:p>
                      <a:r>
                        <a:rPr sz="1725" b="0">
                          <a:solidFill>
                            <a:srgbClr val="202020"/>
                          </a:solidFill>
                          <a:latin typeface="微软雅黑"/>
                          <a:ea typeface="微软雅黑"/>
                          <a:cs typeface="微软雅黑"/>
                        </a:rPr>
                        <a:t>13</a:t>
                      </a:r>
                    </a:p>
                  </a:txBody>
                  <a:tcPr anchor="ctr">
                    <a:solidFill>
                      <a:srgbClr val="FFFFFF"/>
                    </a:solidFill>
                  </a:tcPr>
                </a:tc>
                <a:extLst>
                  <a:ext uri="{0D108BD9-81ED-4DB2-BD59-A6C34878D82A}">
                    <a16:rowId xmlns:a16="http://schemas.microsoft.com/office/drawing/2014/main" val="10001"/>
                  </a:ext>
                </a:extLst>
              </a:tr>
              <a:tr h="438150">
                <a:tc>
                  <a:txBody>
                    <a:bodyPr/>
                    <a:lstStyle/>
                    <a:p>
                      <a:r>
                        <a:rPr sz="1725" b="1">
                          <a:solidFill>
                            <a:srgbClr val="202020"/>
                          </a:solidFill>
                          <a:latin typeface="微软雅黑"/>
                          <a:ea typeface="微软雅黑"/>
                          <a:cs typeface="微软雅黑"/>
                        </a:rPr>
                        <a:t>整体上移后</a:t>
                      </a:r>
                    </a:p>
                  </a:txBody>
                  <a:tcPr anchor="ctr">
                    <a:solidFill>
                      <a:srgbClr val="FFFFFF"/>
                    </a:solidFill>
                  </a:tcPr>
                </a:tc>
                <a:tc>
                  <a:txBody>
                    <a:bodyPr/>
                    <a:lstStyle/>
                    <a:p>
                      <a:r>
                        <a:rPr sz="1725" b="0">
                          <a:solidFill>
                            <a:srgbClr val="202020"/>
                          </a:solidFill>
                          <a:latin typeface="微软雅黑"/>
                          <a:ea typeface="微软雅黑"/>
                          <a:cs typeface="微软雅黑"/>
                        </a:rPr>
                        <a:t>1</a:t>
                      </a:r>
                    </a:p>
                  </a:txBody>
                  <a:tcPr anchor="ctr">
                    <a:solidFill>
                      <a:srgbClr val="FFFFFF"/>
                    </a:solidFill>
                  </a:tcPr>
                </a:tc>
                <a:tc>
                  <a:txBody>
                    <a:bodyPr/>
                    <a:lstStyle/>
                    <a:p>
                      <a:r>
                        <a:rPr sz="1725" b="0">
                          <a:solidFill>
                            <a:srgbClr val="202020"/>
                          </a:solidFill>
                          <a:latin typeface="微软雅黑"/>
                          <a:ea typeface="微软雅黑"/>
                          <a:cs typeface="微软雅黑"/>
                        </a:rPr>
                        <a:t>5</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10" name="原文式（45）：y 是图片点，xᵢ、xⱼ 是文字点，v 是正交方向，α 控制移动"/>
          <p:cNvSpPr>
            <a:spLocks noGrp="1"/>
          </p:cNvSpPr>
          <p:nvPr/>
        </p:nvSpPr>
        <p:spPr>
          <a:xfrm>
            <a:off x="495300" y="4314825"/>
            <a:ext cx="11201400" cy="304800"/>
          </a:xfrm>
          <a:prstGeom prst="rect">
            <a:avLst/>
          </a:prstGeom>
          <a:noFill/>
          <a:ln w="0">
            <a:noFill/>
          </a:ln>
        </p:spPr>
        <p:txBody>
          <a:bodyPr lIns="0" tIns="0" rIns="0" bIns="0">
            <a:noAutofit/>
          </a:bodyPr>
          <a:lstStyle/>
          <a:p>
            <a:pPr>
              <a:defRPr sz="1650" b="0">
                <a:solidFill>
                  <a:srgbClr val="202020"/>
                </a:solidFill>
                <a:latin typeface="微软雅黑"/>
                <a:ea typeface="微软雅黑"/>
                <a:cs typeface="微软雅黑"/>
              </a:defRPr>
            </a:pPr>
            <a:r>
              <a:rPr sz="1650" b="0">
                <a:solidFill>
                  <a:srgbClr val="202020"/>
                </a:solidFill>
                <a:latin typeface="微软雅黑"/>
                <a:ea typeface="微软雅黑"/>
                <a:cs typeface="微软雅黑"/>
              </a:rPr>
              <a:t>原文式（45）：y 是图片点，xᵢ、xⱼ 是文字点，v 是正交方向，α 控制移动多少。</a:t>
            </a:r>
          </a:p>
        </p:txBody>
      </p:sp>
      <p:pic>
        <p:nvPicPr>
          <p:cNvPr id="21" name="图片 20"/>
          <p:cNvPicPr>
            <a:picLocks noChangeAspect="1"/>
          </p:cNvPicPr>
          <p:nvPr/>
        </p:nvPicPr>
        <p:blipFill>
          <a:blip r:embed="rId3"/>
          <a:stretch>
            <a:fillRect/>
          </a:stretch>
        </p:blipFill>
        <p:spPr>
          <a:xfrm>
            <a:off x="2503714" y="4629150"/>
            <a:ext cx="7184571" cy="1143000"/>
          </a:xfrm>
          <a:prstGeom prst="rect">
            <a:avLst/>
          </a:prstGeom>
        </p:spPr>
      </p:pic>
      <p:sp>
        <p:nvSpPr>
          <p:cNvPr id="12" name="两项都减 8，“狗”仍然最近。这里保证的是按欧氏距离选出的原答案。"/>
          <p:cNvSpPr>
            <a:spLocks noGrp="1"/>
          </p:cNvSpPr>
          <p:nvPr/>
        </p:nvSpPr>
        <p:spPr>
          <a:xfrm>
            <a:off x="495300" y="5857875"/>
            <a:ext cx="11201400" cy="304800"/>
          </a:xfrm>
          <a:prstGeom prst="rect">
            <a:avLst/>
          </a:prstGeom>
          <a:noFill/>
          <a:ln w="0">
            <a:noFill/>
          </a:ln>
        </p:spPr>
        <p:txBody>
          <a:bodyPr lIns="0" tIns="0" rIns="0" bIns="0">
            <a:noAutofit/>
          </a:bodyPr>
          <a:lstStyle/>
          <a:p>
            <a:pPr>
              <a:defRPr sz="1725" b="0">
                <a:solidFill>
                  <a:srgbClr val="666666"/>
                </a:solidFill>
                <a:latin typeface="微软雅黑"/>
                <a:ea typeface="微软雅黑"/>
                <a:cs typeface="微软雅黑"/>
              </a:defRPr>
            </a:pPr>
            <a:r>
              <a:rPr sz="1725" b="0">
                <a:solidFill>
                  <a:srgbClr val="666666"/>
                </a:solidFill>
                <a:latin typeface="微软雅黑"/>
                <a:ea typeface="微软雅黑"/>
                <a:cs typeface="微软雅黑"/>
              </a:rPr>
              <a:t>两项都减 8，“狗”仍然最近。这里保证的是按欧氏距离选出的原答案。</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后处理算法：估计间隙，投影，再平移"/>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具体怎么做：找中心、选方向、一起移动</a:t>
            </a:r>
          </a:p>
        </p:txBody>
      </p:sp>
      <p:sp>
        <p:nvSpPr>
          <p:cNvPr id="4" name="08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08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4、式11、附录G"/>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来源：论文§4、式4与11、附录G</a:t>
            </a:r>
          </a:p>
        </p:txBody>
      </p:sp>
      <p:sp>
        <p:nvSpPr>
          <p:cNvPr id="7" name="1  找到两团点各自的中心"/>
          <p:cNvSpPr>
            <a:spLocks noGrp="1"/>
          </p:cNvSpPr>
          <p:nvPr/>
        </p:nvSpPr>
        <p:spPr>
          <a:xfrm>
            <a:off x="495300" y="1676400"/>
            <a:ext cx="539115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1  找到两团点各自的中心</a:t>
            </a:r>
          </a:p>
        </p:txBody>
      </p:sp>
      <p:sp>
        <p:nvSpPr>
          <p:cNvPr id="8" name="坐标取平均，得到图片中心与文字中心"/>
          <p:cNvSpPr>
            <a:spLocks noGrp="1"/>
          </p:cNvSpPr>
          <p:nvPr/>
        </p:nvSpPr>
        <p:spPr>
          <a:xfrm>
            <a:off x="495300" y="2105025"/>
            <a:ext cx="5391150" cy="457200"/>
          </a:xfrm>
          <a:prstGeom prst="rect">
            <a:avLst/>
          </a:prstGeom>
          <a:noFill/>
          <a:ln w="0">
            <a:noFill/>
          </a:ln>
        </p:spPr>
        <p:txBody>
          <a:bodyPr lIns="0" tIns="0" rIns="0" bIns="0">
            <a:noAutofit/>
          </a:bodyPr>
          <a:lstStyle/>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坐标取平均，得到图片中心与文字中心</a:t>
            </a:r>
          </a:p>
        </p:txBody>
      </p:sp>
      <p:pic>
        <p:nvPicPr>
          <p:cNvPr id="26" name="图片 25"/>
          <p:cNvPicPr>
            <a:picLocks noChangeAspect="1"/>
          </p:cNvPicPr>
          <p:nvPr/>
        </p:nvPicPr>
        <p:blipFill>
          <a:blip r:embed="rId3"/>
          <a:stretch>
            <a:fillRect/>
          </a:stretch>
        </p:blipFill>
        <p:spPr>
          <a:xfrm>
            <a:off x="495300" y="2518447"/>
            <a:ext cx="5238750" cy="906707"/>
          </a:xfrm>
          <a:prstGeom prst="rect">
            <a:avLst/>
          </a:prstGeom>
        </p:spPr>
      </p:pic>
      <p:sp>
        <p:nvSpPr>
          <p:cNvPr id="10" name="X、Y：文字／图片集合；N、M：各自数量&#10;μ：中心；g：从文字中心指向图片中心"/>
          <p:cNvSpPr>
            <a:spLocks noGrp="1"/>
          </p:cNvSpPr>
          <p:nvPr/>
        </p:nvSpPr>
        <p:spPr>
          <a:xfrm>
            <a:off x="495300" y="3438525"/>
            <a:ext cx="5391150" cy="571500"/>
          </a:xfrm>
          <a:prstGeom prst="rect">
            <a:avLst/>
          </a:prstGeom>
          <a:noFill/>
          <a:ln w="0">
            <a:noFill/>
          </a:ln>
        </p:spPr>
        <p:txBody>
          <a:bodyPr lIns="0" tIns="0" rIns="0" bIns="0">
            <a:noAutofit/>
          </a:bodyPr>
          <a:lstStyle/>
          <a:p>
            <a:pPr>
              <a:defRPr sz="1650" b="0">
                <a:solidFill>
                  <a:srgbClr val="202020"/>
                </a:solidFill>
                <a:latin typeface="微软雅黑"/>
                <a:ea typeface="微软雅黑"/>
                <a:cs typeface="微软雅黑"/>
              </a:defRPr>
            </a:pPr>
            <a:r>
              <a:rPr sz="1650" b="0">
                <a:solidFill>
                  <a:srgbClr val="202020"/>
                </a:solidFill>
                <a:latin typeface="微软雅黑"/>
                <a:ea typeface="微软雅黑"/>
                <a:cs typeface="微软雅黑"/>
              </a:rPr>
              <a:t>X、Y：文字／图片集合；N、M：各自数量</a:t>
            </a:r>
          </a:p>
          <a:p>
            <a:pPr>
              <a:defRPr sz="1650" b="0">
                <a:solidFill>
                  <a:srgbClr val="202020"/>
                </a:solidFill>
                <a:latin typeface="微软雅黑"/>
                <a:ea typeface="微软雅黑"/>
                <a:cs typeface="微软雅黑"/>
              </a:defRPr>
            </a:pPr>
            <a:r>
              <a:rPr sz="1650" b="0">
                <a:solidFill>
                  <a:srgbClr val="202020"/>
                </a:solidFill>
                <a:latin typeface="微软雅黑"/>
                <a:ea typeface="微软雅黑"/>
                <a:cs typeface="微软雅黑"/>
              </a:rPr>
              <a:t>μ：中心；g：从文字中心指向图片中心</a:t>
            </a:r>
          </a:p>
        </p:txBody>
      </p:sp>
      <p:sp>
        <p:nvSpPr>
          <p:cNvPr id="11" name="2  只保留垂直于文字展开方向的部分"/>
          <p:cNvSpPr>
            <a:spLocks noGrp="1"/>
          </p:cNvSpPr>
          <p:nvPr/>
        </p:nvSpPr>
        <p:spPr>
          <a:xfrm>
            <a:off x="6334125" y="1676400"/>
            <a:ext cx="5362575"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2  只保留垂直于文字展开方向的部分</a:t>
            </a:r>
          </a:p>
        </p:txBody>
      </p:sp>
      <p:sp>
        <p:nvSpPr>
          <p:cNvPr id="12" name="用 PCA 找出文字点展开的方向，记为 V"/>
          <p:cNvSpPr>
            <a:spLocks noGrp="1"/>
          </p:cNvSpPr>
          <p:nvPr/>
        </p:nvSpPr>
        <p:spPr>
          <a:xfrm>
            <a:off x="6334125" y="2105025"/>
            <a:ext cx="5362575" cy="457200"/>
          </a:xfrm>
          <a:prstGeom prst="rect">
            <a:avLst/>
          </a:prstGeom>
          <a:noFill/>
          <a:ln w="0">
            <a:noFill/>
          </a:ln>
        </p:spPr>
        <p:txBody>
          <a:bodyPr lIns="0" tIns="0" rIns="0" bIns="0">
            <a:noAutofit/>
          </a:bodyPr>
          <a:lstStyle/>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用 PCA 找出文字点展开的方向，记为 V</a:t>
            </a:r>
          </a:p>
        </p:txBody>
      </p:sp>
      <p:pic>
        <p:nvPicPr>
          <p:cNvPr id="30" name="图片 29"/>
          <p:cNvPicPr>
            <a:picLocks noChangeAspect="1"/>
          </p:cNvPicPr>
          <p:nvPr/>
        </p:nvPicPr>
        <p:blipFill>
          <a:blip r:embed="rId4"/>
          <a:stretch>
            <a:fillRect/>
          </a:stretch>
        </p:blipFill>
        <p:spPr>
          <a:xfrm>
            <a:off x="6334125" y="2697789"/>
            <a:ext cx="4524375" cy="605171"/>
          </a:xfrm>
          <a:prstGeom prst="rect">
            <a:avLst/>
          </a:prstGeom>
        </p:spPr>
      </p:pic>
      <p:sp>
        <p:nvSpPr>
          <p:cNvPr id="14" name="VVᵀg：间隙中沿文字展开方向的部分&#10;减掉这部分，得到垂直分量 g′"/>
          <p:cNvSpPr>
            <a:spLocks noGrp="1"/>
          </p:cNvSpPr>
          <p:nvPr/>
        </p:nvSpPr>
        <p:spPr>
          <a:xfrm>
            <a:off x="6334125" y="3438525"/>
            <a:ext cx="5362575" cy="571500"/>
          </a:xfrm>
          <a:prstGeom prst="rect">
            <a:avLst/>
          </a:prstGeom>
          <a:noFill/>
          <a:ln w="0">
            <a:noFill/>
          </a:ln>
        </p:spPr>
        <p:txBody>
          <a:bodyPr lIns="0" tIns="0" rIns="0" bIns="0">
            <a:noAutofit/>
          </a:bodyPr>
          <a:lstStyle/>
          <a:p>
            <a:pPr>
              <a:defRPr sz="1650" b="0">
                <a:solidFill>
                  <a:srgbClr val="202020"/>
                </a:solidFill>
                <a:latin typeface="微软雅黑"/>
                <a:ea typeface="微软雅黑"/>
                <a:cs typeface="微软雅黑"/>
              </a:defRPr>
            </a:pPr>
            <a:r>
              <a:rPr sz="1650" b="0">
                <a:solidFill>
                  <a:srgbClr val="202020"/>
                </a:solidFill>
                <a:latin typeface="微软雅黑"/>
                <a:ea typeface="微软雅黑"/>
                <a:cs typeface="微软雅黑"/>
              </a:rPr>
              <a:t>VVᵀg：间隙中沿文字展开方向的部分</a:t>
            </a:r>
          </a:p>
          <a:p>
            <a:pPr>
              <a:defRPr sz="1650" b="0">
                <a:solidFill>
                  <a:srgbClr val="202020"/>
                </a:solidFill>
                <a:latin typeface="微软雅黑"/>
                <a:ea typeface="微软雅黑"/>
                <a:cs typeface="微软雅黑"/>
              </a:defRPr>
            </a:pPr>
            <a:r>
              <a:rPr sz="1650" b="0">
                <a:solidFill>
                  <a:srgbClr val="202020"/>
                </a:solidFill>
                <a:latin typeface="微软雅黑"/>
                <a:ea typeface="微软雅黑"/>
                <a:cs typeface="微软雅黑"/>
              </a:rPr>
              <a:t>减掉这部分，得到垂直分量 g′</a:t>
            </a:r>
          </a:p>
        </p:txBody>
      </p:sp>
      <p:sp>
        <p:nvSpPr>
          <p:cNvPr id="15" name="3  所有文字点一起移动"/>
          <p:cNvSpPr>
            <a:spLocks noGrp="1"/>
          </p:cNvSpPr>
          <p:nvPr/>
        </p:nvSpPr>
        <p:spPr>
          <a:xfrm>
            <a:off x="495300" y="4295775"/>
            <a:ext cx="539115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3  所有文字点一起移动</a:t>
            </a:r>
          </a:p>
        </p:txBody>
      </p:sp>
      <p:sp>
        <p:nvSpPr>
          <p:cNvPr id="16" name="给每个文字向量加上相同的 αg′&#10;α 控制移动量，0 到 1 表示逐步靠近&#10;图片"/>
          <p:cNvSpPr>
            <a:spLocks noGrp="1"/>
          </p:cNvSpPr>
          <p:nvPr/>
        </p:nvSpPr>
        <p:spPr>
          <a:xfrm>
            <a:off x="495300" y="4724400"/>
            <a:ext cx="5391150" cy="895350"/>
          </a:xfrm>
          <a:prstGeom prst="rect">
            <a:avLst/>
          </a:prstGeom>
          <a:noFill/>
          <a:ln w="0">
            <a:noFill/>
          </a:ln>
        </p:spPr>
        <p:txBody>
          <a:bodyPr lIns="0" tIns="0" rIns="0" bIns="0">
            <a:noAutofit/>
          </a:bodyPr>
          <a:lstStyle/>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给每个文字向量加上相同的 αg′</a:t>
            </a:r>
          </a:p>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α 控制移动量，0 到 1 表示逐步靠近</a:t>
            </a:r>
          </a:p>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图片点不动，再按距离选择文字</a:t>
            </a:r>
          </a:p>
        </p:txBody>
      </p:sp>
      <p:sp>
        <p:nvSpPr>
          <p:cNvPr id="17" name="什么时候有保证？"/>
          <p:cNvSpPr>
            <a:spLocks noGrp="1"/>
          </p:cNvSpPr>
          <p:nvPr/>
        </p:nvSpPr>
        <p:spPr>
          <a:xfrm>
            <a:off x="6334125" y="4295775"/>
            <a:ext cx="5362575"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什么时候有保证？</a:t>
            </a:r>
          </a:p>
        </p:txBody>
      </p:sp>
      <p:sp>
        <p:nvSpPr>
          <p:cNvPr id="18" name="严格垂直时，原来的选择保持不变&#10;近似选择方向时，需要重新检查结果&#10;如果 g′ 为"/>
          <p:cNvSpPr>
            <a:spLocks noGrp="1"/>
          </p:cNvSpPr>
          <p:nvPr/>
        </p:nvSpPr>
        <p:spPr>
          <a:xfrm>
            <a:off x="6334125" y="4724400"/>
            <a:ext cx="5362575" cy="895350"/>
          </a:xfrm>
          <a:prstGeom prst="rect">
            <a:avLst/>
          </a:prstGeom>
          <a:noFill/>
          <a:ln w="0">
            <a:noFill/>
          </a:ln>
        </p:spPr>
        <p:txBody>
          <a:bodyPr lIns="0" tIns="0" rIns="0" bIns="0">
            <a:noAutofit/>
          </a:bodyPr>
          <a:lstStyle/>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严格垂直时，原来的选择保持不变</a:t>
            </a:r>
          </a:p>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近似选择方向时，需要重新检查结果</a:t>
            </a:r>
          </a:p>
          <a:p>
            <a:pPr>
              <a:defRPr sz="1725" b="0">
                <a:solidFill>
                  <a:srgbClr val="202020"/>
                </a:solidFill>
                <a:latin typeface="微软雅黑"/>
                <a:ea typeface="微软雅黑"/>
                <a:cs typeface="微软雅黑"/>
              </a:defRPr>
            </a:pPr>
            <a:r>
              <a:rPr sz="1725" b="0">
                <a:solidFill>
                  <a:srgbClr val="202020"/>
                </a:solidFill>
                <a:latin typeface="微软雅黑"/>
                <a:ea typeface="微软雅黑"/>
                <a:cs typeface="微软雅黑"/>
              </a:rPr>
              <a:t>如果 g′ 为零，就没有可移动的分量</a:t>
            </a:r>
          </a:p>
        </p:txBody>
      </p:sp>
      <p:sp>
        <p:nvSpPr>
          <p:cNvPr id="19" name="排序保证按欧氏距离比较。平移后若再改变向量长度，需要重新检查。"/>
          <p:cNvSpPr>
            <a:spLocks noGrp="1"/>
          </p:cNvSpPr>
          <p:nvPr/>
        </p:nvSpPr>
        <p:spPr>
          <a:xfrm>
            <a:off x="495300" y="5848350"/>
            <a:ext cx="11201400" cy="285750"/>
          </a:xfrm>
          <a:prstGeom prst="rect">
            <a:avLst/>
          </a:prstGeom>
          <a:noFill/>
          <a:ln w="0">
            <a:noFill/>
          </a:ln>
        </p:spPr>
        <p:txBody>
          <a:bodyPr lIns="0" tIns="0" rIns="0" bIns="0">
            <a:noAutofit/>
          </a:bodyPr>
          <a:lstStyle/>
          <a:p>
            <a:pPr>
              <a:defRPr sz="1575" b="0">
                <a:solidFill>
                  <a:srgbClr val="666666"/>
                </a:solidFill>
                <a:latin typeface="微软雅黑"/>
                <a:ea typeface="微软雅黑"/>
                <a:cs typeface="微软雅黑"/>
              </a:defRPr>
            </a:pPr>
            <a:r>
              <a:rPr sz="1575" b="0">
                <a:solidFill>
                  <a:srgbClr val="666666"/>
                </a:solidFill>
                <a:latin typeface="微软雅黑"/>
                <a:ea typeface="微软雅黑"/>
                <a:cs typeface="微软雅黑"/>
              </a:rPr>
              <a:t>排序保证按欧氏距离比较。平移后若再改变向量长度，需要重新检查。</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核心贡献：把间隙与预测稳定性联系起来"/>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创新点一：解释间隙为何影响稳定性</a:t>
            </a:r>
          </a:p>
        </p:txBody>
      </p:sp>
      <p:sp>
        <p:nvSpPr>
          <p:cNvPr id="4" name="09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09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3–4、§6"/>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来源：论文§2、§3.2–3.3、定理3.1–3.4</a:t>
            </a:r>
          </a:p>
        </p:txBody>
      </p:sp>
      <p:graphicFrame>
        <p:nvGraphicFramePr>
          <p:cNvPr id="13" name="表格 12"/>
          <p:cNvGraphicFramePr/>
          <p:nvPr/>
        </p:nvGraphicFramePr>
        <p:xfrm>
          <a:off x="495300" y="1952625"/>
          <a:ext cx="11201400" cy="3286124"/>
        </p:xfrm>
        <a:graphic>
          <a:graphicData uri="http://schemas.openxmlformats.org/drawingml/2006/table">
            <a:tbl>
              <a:tblPr/>
              <a:tblGrid>
                <a:gridCol w="30099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tblGrid>
              <a:tr h="821531">
                <a:tc>
                  <a:txBody>
                    <a:bodyPr/>
                    <a:lstStyle/>
                    <a:p>
                      <a:r>
                        <a:rPr sz="1725" b="1">
                          <a:solidFill>
                            <a:srgbClr val="202020"/>
                          </a:solidFill>
                          <a:latin typeface="微软雅黑"/>
                          <a:ea typeface="微软雅黑"/>
                          <a:cs typeface="微软雅黑"/>
                        </a:rPr>
                        <a:t>要解释的问题</a:t>
                      </a:r>
                    </a:p>
                  </a:txBody>
                  <a:tcPr anchor="ctr">
                    <a:solidFill>
                      <a:srgbClr val="F0F0F0"/>
                    </a:solidFill>
                  </a:tcPr>
                </a:tc>
                <a:tc>
                  <a:txBody>
                    <a:bodyPr/>
                    <a:lstStyle/>
                    <a:p>
                      <a:r>
                        <a:rPr sz="1725" b="1">
                          <a:solidFill>
                            <a:srgbClr val="202020"/>
                          </a:solidFill>
                          <a:latin typeface="微软雅黑"/>
                          <a:ea typeface="微软雅黑"/>
                          <a:cs typeface="微软雅黑"/>
                        </a:rPr>
                        <a:t>本文做了什么</a:t>
                      </a:r>
                    </a:p>
                  </a:txBody>
                  <a:tcPr anchor="ctr">
                    <a:solidFill>
                      <a:srgbClr val="F0F0F0"/>
                    </a:solidFill>
                  </a:tcPr>
                </a:tc>
                <a:tc>
                  <a:txBody>
                    <a:bodyPr/>
                    <a:lstStyle/>
                    <a:p>
                      <a:r>
                        <a:rPr sz="1725" b="1">
                          <a:solidFill>
                            <a:srgbClr val="202020"/>
                          </a:solidFill>
                          <a:latin typeface="微软雅黑"/>
                          <a:ea typeface="微软雅黑"/>
                          <a:cs typeface="微软雅黑"/>
                        </a:rPr>
                        <a:t>带来的认识</a:t>
                      </a:r>
                    </a:p>
                  </a:txBody>
                  <a:tcPr anchor="ctr">
                    <a:solidFill>
                      <a:srgbClr val="F0F0F0"/>
                    </a:solidFill>
                  </a:tcPr>
                </a:tc>
                <a:extLst>
                  <a:ext uri="{0D108BD9-81ED-4DB2-BD59-A6C34878D82A}">
                    <a16:rowId xmlns:a16="http://schemas.microsoft.com/office/drawing/2014/main" val="10000"/>
                  </a:ext>
                </a:extLst>
              </a:tr>
              <a:tr h="821531">
                <a:tc>
                  <a:txBody>
                    <a:bodyPr/>
                    <a:lstStyle/>
                    <a:p>
                      <a:r>
                        <a:rPr sz="1725" b="1">
                          <a:solidFill>
                            <a:srgbClr val="202020"/>
                          </a:solidFill>
                          <a:latin typeface="微软雅黑"/>
                          <a:ea typeface="微软雅黑"/>
                          <a:cs typeface="微软雅黑"/>
                        </a:rPr>
                        <a:t>为什么训练后还有间隙？</a:t>
                      </a:r>
                    </a:p>
                  </a:txBody>
                  <a:tcPr anchor="ctr">
                    <a:solidFill>
                      <a:srgbClr val="FFFFFF"/>
                    </a:solidFill>
                  </a:tcPr>
                </a:tc>
                <a:tc>
                  <a:txBody>
                    <a:bodyPr/>
                    <a:lstStyle/>
                    <a:p>
                      <a:r>
                        <a:rPr sz="1725" b="0">
                          <a:solidFill>
                            <a:srgbClr val="202020"/>
                          </a:solidFill>
                          <a:latin typeface="微软雅黑"/>
                          <a:ea typeface="微软雅黑"/>
                          <a:cs typeface="微软雅黑"/>
                        </a:rPr>
                        <a:t>分析训练开始时点的位置</a:t>
                      </a:r>
                    </a:p>
                    <a:p>
                      <a:r>
                        <a:rPr sz="1725" b="0">
                          <a:solidFill>
                            <a:srgbClr val="202020"/>
                          </a:solidFill>
                          <a:latin typeface="微软雅黑"/>
                          <a:ea typeface="微软雅黑"/>
                          <a:cs typeface="微软雅黑"/>
                        </a:rPr>
                        <a:t>以及训练怎样移动这些点</a:t>
                      </a:r>
                    </a:p>
                  </a:txBody>
                  <a:tcPr anchor="ctr">
                    <a:solidFill>
                      <a:srgbClr val="FFFFFF"/>
                    </a:solidFill>
                  </a:tcPr>
                </a:tc>
                <a:tc>
                  <a:txBody>
                    <a:bodyPr/>
                    <a:lstStyle/>
                    <a:p>
                      <a:r>
                        <a:rPr sz="1725" b="0">
                          <a:solidFill>
                            <a:srgbClr val="202020"/>
                          </a:solidFill>
                          <a:latin typeface="微软雅黑"/>
                          <a:ea typeface="微软雅黑"/>
                          <a:cs typeface="微软雅黑"/>
                        </a:rPr>
                        <a:t>解释间隙怎样形成</a:t>
                      </a:r>
                    </a:p>
                    <a:p>
                      <a:r>
                        <a:rPr sz="1725" b="0">
                          <a:solidFill>
                            <a:srgbClr val="202020"/>
                          </a:solidFill>
                          <a:latin typeface="微软雅黑"/>
                          <a:ea typeface="微软雅黑"/>
                          <a:cs typeface="微软雅黑"/>
                        </a:rPr>
                        <a:t>为什么能够保留下来</a:t>
                      </a:r>
                    </a:p>
                  </a:txBody>
                  <a:tcPr anchor="ctr">
                    <a:solidFill>
                      <a:srgbClr val="FFFFFF"/>
                    </a:solidFill>
                  </a:tcPr>
                </a:tc>
                <a:extLst>
                  <a:ext uri="{0D108BD9-81ED-4DB2-BD59-A6C34878D82A}">
                    <a16:rowId xmlns:a16="http://schemas.microsoft.com/office/drawing/2014/main" val="10001"/>
                  </a:ext>
                </a:extLst>
              </a:tr>
              <a:tr h="821531">
                <a:tc>
                  <a:txBody>
                    <a:bodyPr/>
                    <a:lstStyle/>
                    <a:p>
                      <a:r>
                        <a:rPr sz="1725" b="1">
                          <a:solidFill>
                            <a:srgbClr val="202020"/>
                          </a:solidFill>
                          <a:latin typeface="微软雅黑"/>
                          <a:ea typeface="微软雅黑"/>
                          <a:cs typeface="微软雅黑"/>
                        </a:rPr>
                        <a:t>间隙会影响什么？</a:t>
                      </a:r>
                    </a:p>
                  </a:txBody>
                  <a:tcPr anchor="ctr">
                    <a:solidFill>
                      <a:srgbClr val="FFFFFF"/>
                    </a:solidFill>
                  </a:tcPr>
                </a:tc>
                <a:tc>
                  <a:txBody>
                    <a:bodyPr/>
                    <a:lstStyle/>
                    <a:p>
                      <a:r>
                        <a:rPr sz="1725" b="0">
                          <a:solidFill>
                            <a:srgbClr val="202020"/>
                          </a:solidFill>
                          <a:latin typeface="微软雅黑"/>
                          <a:ea typeface="微软雅黑"/>
                          <a:cs typeface="微软雅黑"/>
                        </a:rPr>
                        <a:t>研究受到小干扰以后</a:t>
                      </a:r>
                    </a:p>
                    <a:p>
                      <a:r>
                        <a:rPr sz="1725" b="0">
                          <a:solidFill>
                            <a:srgbClr val="202020"/>
                          </a:solidFill>
                          <a:latin typeface="微软雅黑"/>
                          <a:ea typeface="微软雅黑"/>
                          <a:cs typeface="微软雅黑"/>
                        </a:rPr>
                        <a:t>模型是否改变原答案</a:t>
                      </a:r>
                    </a:p>
                  </a:txBody>
                  <a:tcPr anchor="ctr">
                    <a:solidFill>
                      <a:srgbClr val="FFFFFF"/>
                    </a:solidFill>
                  </a:tcPr>
                </a:tc>
                <a:tc>
                  <a:txBody>
                    <a:bodyPr/>
                    <a:lstStyle/>
                    <a:p>
                      <a:r>
                        <a:rPr sz="1725" b="0">
                          <a:solidFill>
                            <a:srgbClr val="202020"/>
                          </a:solidFill>
                          <a:latin typeface="微软雅黑"/>
                          <a:ea typeface="微软雅黑"/>
                          <a:cs typeface="微软雅黑"/>
                        </a:rPr>
                        <a:t>原来能答对</a:t>
                      </a:r>
                    </a:p>
                    <a:p>
                      <a:r>
                        <a:rPr sz="1725" b="0">
                          <a:solidFill>
                            <a:srgbClr val="202020"/>
                          </a:solidFill>
                          <a:latin typeface="微软雅黑"/>
                          <a:ea typeface="微软雅黑"/>
                          <a:cs typeface="微软雅黑"/>
                        </a:rPr>
                        <a:t>不代表答案足够稳定</a:t>
                      </a:r>
                    </a:p>
                  </a:txBody>
                  <a:tcPr anchor="ctr">
                    <a:solidFill>
                      <a:srgbClr val="FFFFFF"/>
                    </a:solidFill>
                  </a:tcPr>
                </a:tc>
                <a:extLst>
                  <a:ext uri="{0D108BD9-81ED-4DB2-BD59-A6C34878D82A}">
                    <a16:rowId xmlns:a16="http://schemas.microsoft.com/office/drawing/2014/main" val="10002"/>
                  </a:ext>
                </a:extLst>
              </a:tr>
              <a:tr h="821531">
                <a:tc>
                  <a:txBody>
                    <a:bodyPr/>
                    <a:lstStyle/>
                    <a:p>
                      <a:r>
                        <a:rPr sz="1725" b="1">
                          <a:solidFill>
                            <a:srgbClr val="202020"/>
                          </a:solidFill>
                          <a:latin typeface="微软雅黑"/>
                          <a:ea typeface="微软雅黑"/>
                          <a:cs typeface="微软雅黑"/>
                        </a:rPr>
                        <a:t>什么时候成立？</a:t>
                      </a:r>
                    </a:p>
                  </a:txBody>
                  <a:tcPr anchor="ctr">
                    <a:solidFill>
                      <a:srgbClr val="FFFFFF"/>
                    </a:solidFill>
                  </a:tcPr>
                </a:tc>
                <a:tc>
                  <a:txBody>
                    <a:bodyPr/>
                    <a:lstStyle/>
                    <a:p>
                      <a:r>
                        <a:rPr sz="1725" b="0">
                          <a:solidFill>
                            <a:srgbClr val="202020"/>
                          </a:solidFill>
                          <a:latin typeface="微软雅黑"/>
                          <a:ea typeface="微软雅黑"/>
                          <a:cs typeface="微软雅黑"/>
                        </a:rPr>
                        <a:t>给出几何与噪声条件</a:t>
                      </a:r>
                    </a:p>
                    <a:p>
                      <a:r>
                        <a:rPr sz="1725" b="0">
                          <a:solidFill>
                            <a:srgbClr val="202020"/>
                          </a:solidFill>
                          <a:latin typeface="微软雅黑"/>
                          <a:ea typeface="微软雅黑"/>
                          <a:cs typeface="微软雅黑"/>
                        </a:rPr>
                        <a:t>再证明间隙与稳定性的关系</a:t>
                      </a:r>
                    </a:p>
                  </a:txBody>
                  <a:tcPr anchor="ctr">
                    <a:solidFill>
                      <a:srgbClr val="FFFFFF"/>
                    </a:solidFill>
                  </a:tcPr>
                </a:tc>
                <a:tc>
                  <a:txBody>
                    <a:bodyPr/>
                    <a:lstStyle/>
                    <a:p>
                      <a:r>
                        <a:rPr sz="1725" b="0">
                          <a:solidFill>
                            <a:srgbClr val="202020"/>
                          </a:solidFill>
                          <a:latin typeface="微软雅黑"/>
                          <a:ea typeface="微软雅黑"/>
                          <a:cs typeface="微软雅黑"/>
                        </a:rPr>
                        <a:t>明确理论适用范围</a:t>
                      </a:r>
                    </a:p>
                    <a:p>
                      <a:r>
                        <a:rPr sz="1725" b="0">
                          <a:solidFill>
                            <a:srgbClr val="202020"/>
                          </a:solidFill>
                          <a:latin typeface="微软雅黑"/>
                          <a:ea typeface="微软雅黑"/>
                          <a:cs typeface="微软雅黑"/>
                        </a:rPr>
                        <a:t>为后面的调整方法提供依据</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8" name="新增认识：除了“原来答得对不对”，还要看“小变化后是否容易改口”。"/>
          <p:cNvSpPr>
            <a:spLocks noGrp="1"/>
          </p:cNvSpPr>
          <p:nvPr/>
        </p:nvSpPr>
        <p:spPr>
          <a:xfrm>
            <a:off x="495300" y="5657850"/>
            <a:ext cx="11201400" cy="409575"/>
          </a:xfrm>
          <a:prstGeom prst="rect">
            <a:avLst/>
          </a:prstGeom>
          <a:noFill/>
          <a:ln w="0">
            <a:noFill/>
          </a:ln>
        </p:spPr>
        <p:txBody>
          <a:bodyPr lIns="0" tIns="0" rIns="0" bIns="0">
            <a:noAutofit/>
          </a:bodyPr>
          <a:lstStyle/>
          <a:p>
            <a:pPr>
              <a:defRPr sz="1950" b="1">
                <a:solidFill>
                  <a:srgbClr val="202020"/>
                </a:solidFill>
                <a:latin typeface="微软雅黑"/>
                <a:ea typeface="微软雅黑"/>
                <a:cs typeface="微软雅黑"/>
              </a:defRPr>
            </a:pPr>
            <a:r>
              <a:rPr sz="1950" b="1">
                <a:solidFill>
                  <a:srgbClr val="202020"/>
                </a:solidFill>
                <a:latin typeface="微软雅黑"/>
                <a:ea typeface="微软雅黑"/>
                <a:cs typeface="微软雅黑"/>
              </a:rPr>
              <a:t>新增认识：除了“原来答得对不对”，还要看“小变化后是否容易改口”。</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实验验证：从四个方面检验论文主张"/>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创新点二：把理论变成不用重训的调整方法</a:t>
            </a:r>
          </a:p>
        </p:txBody>
      </p:sp>
      <p:sp>
        <p:nvSpPr>
          <p:cNvPr id="4" name="10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10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图4–6、§5.1–5.3"/>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dirty="0">
                <a:solidFill>
                  <a:srgbClr val="666666"/>
                </a:solidFill>
                <a:latin typeface="微软雅黑"/>
                <a:ea typeface="微软雅黑"/>
                <a:cs typeface="微软雅黑"/>
              </a:rPr>
              <a:t>来源：本文§2–4</a:t>
            </a:r>
          </a:p>
        </p:txBody>
      </p:sp>
      <p:sp>
        <p:nvSpPr>
          <p:cNvPr id="7" name="模型照常使用，调整发生在输出向量之后"/>
          <p:cNvSpPr>
            <a:spLocks noGrp="1"/>
          </p:cNvSpPr>
          <p:nvPr/>
        </p:nvSpPr>
        <p:spPr>
          <a:xfrm>
            <a:off x="495300" y="1704975"/>
            <a:ext cx="1120140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模型照常使用，调整发生在输出向量之后</a:t>
            </a:r>
          </a:p>
        </p:txBody>
      </p:sp>
      <p:sp>
        <p:nvSpPr>
          <p:cNvPr id="8" name="用理论选择移动方向，在正交条件下保留原来的答案。"/>
          <p:cNvSpPr>
            <a:spLocks noGrp="1"/>
          </p:cNvSpPr>
          <p:nvPr/>
        </p:nvSpPr>
        <p:spPr>
          <a:xfrm>
            <a:off x="495300" y="2133600"/>
            <a:ext cx="11201400" cy="533400"/>
          </a:xfrm>
          <a:prstGeom prst="rect">
            <a:avLst/>
          </a:prstGeom>
          <a:noFill/>
          <a:ln w="0">
            <a:noFill/>
          </a:ln>
        </p:spPr>
        <p:txBody>
          <a:bodyPr lIns="0" tIns="0" rIns="0" bIns="0">
            <a:noAutofit/>
          </a:bodyPr>
          <a:lstStyle/>
          <a:p>
            <a:pPr>
              <a:defRPr sz="1875" b="0">
                <a:solidFill>
                  <a:srgbClr val="202020"/>
                </a:solidFill>
                <a:latin typeface="微软雅黑"/>
                <a:ea typeface="微软雅黑"/>
                <a:cs typeface="微软雅黑"/>
              </a:defRPr>
            </a:pPr>
            <a:r>
              <a:rPr sz="1875" b="0">
                <a:solidFill>
                  <a:srgbClr val="202020"/>
                </a:solidFill>
                <a:latin typeface="微软雅黑"/>
                <a:ea typeface="微软雅黑"/>
                <a:cs typeface="微软雅黑"/>
              </a:rPr>
              <a:t>用理论选择移动方向，在正交条件下保留原来的答案。</a:t>
            </a:r>
          </a:p>
        </p:txBody>
      </p:sp>
      <p:graphicFrame>
        <p:nvGraphicFramePr>
          <p:cNvPr id="17" name="表格 16"/>
          <p:cNvGraphicFramePr/>
          <p:nvPr/>
        </p:nvGraphicFramePr>
        <p:xfrm>
          <a:off x="495300" y="2886075"/>
          <a:ext cx="11201400" cy="2524124"/>
        </p:xfrm>
        <a:graphic>
          <a:graphicData uri="http://schemas.openxmlformats.org/drawingml/2006/table">
            <a:tbl>
              <a:tblPr/>
              <a:tblGrid>
                <a:gridCol w="32575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229100">
                  <a:extLst>
                    <a:ext uri="{9D8B030D-6E8A-4147-A177-3AD203B41FA5}">
                      <a16:colId xmlns:a16="http://schemas.microsoft.com/office/drawing/2014/main" val="20002"/>
                    </a:ext>
                  </a:extLst>
                </a:gridCol>
              </a:tblGrid>
              <a:tr h="631031">
                <a:tc>
                  <a:txBody>
                    <a:bodyPr/>
                    <a:lstStyle/>
                    <a:p>
                      <a:r>
                        <a:rPr sz="1800" b="1">
                          <a:solidFill>
                            <a:srgbClr val="202020"/>
                          </a:solidFill>
                          <a:latin typeface="微软雅黑"/>
                          <a:ea typeface="微软雅黑"/>
                          <a:cs typeface="微软雅黑"/>
                        </a:rPr>
                        <a:t>做法</a:t>
                      </a:r>
                    </a:p>
                  </a:txBody>
                  <a:tcPr anchor="ctr">
                    <a:solidFill>
                      <a:srgbClr val="F0F0F0"/>
                    </a:solidFill>
                  </a:tcPr>
                </a:tc>
                <a:tc>
                  <a:txBody>
                    <a:bodyPr/>
                    <a:lstStyle/>
                    <a:p>
                      <a:r>
                        <a:rPr sz="1800" b="1">
                          <a:solidFill>
                            <a:srgbClr val="202020"/>
                          </a:solidFill>
                          <a:latin typeface="微软雅黑"/>
                          <a:ea typeface="微软雅黑"/>
                          <a:cs typeface="微软雅黑"/>
                        </a:rPr>
                        <a:t>改动的位置</a:t>
                      </a:r>
                    </a:p>
                  </a:txBody>
                  <a:tcPr anchor="ctr">
                    <a:solidFill>
                      <a:srgbClr val="F0F0F0"/>
                    </a:solidFill>
                  </a:tcPr>
                </a:tc>
                <a:tc>
                  <a:txBody>
                    <a:bodyPr/>
                    <a:lstStyle/>
                    <a:p>
                      <a:r>
                        <a:rPr sz="1800" b="1">
                          <a:solidFill>
                            <a:srgbClr val="202020"/>
                          </a:solidFill>
                          <a:latin typeface="微软雅黑"/>
                          <a:ea typeface="微软雅黑"/>
                          <a:cs typeface="微软雅黑"/>
                        </a:rPr>
                        <a:t>主要操作</a:t>
                      </a:r>
                    </a:p>
                  </a:txBody>
                  <a:tcPr anchor="ctr">
                    <a:solidFill>
                      <a:srgbClr val="F0F0F0"/>
                    </a:solidFill>
                  </a:tcPr>
                </a:tc>
                <a:extLst>
                  <a:ext uri="{0D108BD9-81ED-4DB2-BD59-A6C34878D82A}">
                    <a16:rowId xmlns:a16="http://schemas.microsoft.com/office/drawing/2014/main" val="10000"/>
                  </a:ext>
                </a:extLst>
              </a:tr>
              <a:tr h="631031">
                <a:tc>
                  <a:txBody>
                    <a:bodyPr/>
                    <a:lstStyle/>
                    <a:p>
                      <a:r>
                        <a:rPr sz="1800" b="1">
                          <a:solidFill>
                            <a:srgbClr val="202020"/>
                          </a:solidFill>
                          <a:latin typeface="微软雅黑"/>
                          <a:ea typeface="微软雅黑"/>
                          <a:cs typeface="微软雅黑"/>
                        </a:rPr>
                        <a:t>再训练模型</a:t>
                      </a:r>
                    </a:p>
                  </a:txBody>
                  <a:tcPr anchor="ctr">
                    <a:solidFill>
                      <a:srgbClr val="FFFFFF"/>
                    </a:solidFill>
                  </a:tcPr>
                </a:tc>
                <a:tc>
                  <a:txBody>
                    <a:bodyPr/>
                    <a:lstStyle/>
                    <a:p>
                      <a:r>
                        <a:rPr sz="1800" b="0">
                          <a:solidFill>
                            <a:srgbClr val="202020"/>
                          </a:solidFill>
                          <a:latin typeface="微软雅黑"/>
                          <a:ea typeface="微软雅黑"/>
                          <a:cs typeface="微软雅黑"/>
                        </a:rPr>
                        <a:t>模型内部的参数</a:t>
                      </a:r>
                    </a:p>
                  </a:txBody>
                  <a:tcPr anchor="ctr">
                    <a:solidFill>
                      <a:srgbClr val="FFFFFF"/>
                    </a:solidFill>
                  </a:tcPr>
                </a:tc>
                <a:tc>
                  <a:txBody>
                    <a:bodyPr/>
                    <a:lstStyle/>
                    <a:p>
                      <a:r>
                        <a:rPr sz="1800" b="0">
                          <a:solidFill>
                            <a:srgbClr val="202020"/>
                          </a:solidFill>
                          <a:latin typeface="微软雅黑"/>
                          <a:ea typeface="微软雅黑"/>
                          <a:cs typeface="微软雅黑"/>
                        </a:rPr>
                        <a:t>用训练数据更新参数</a:t>
                      </a:r>
                    </a:p>
                  </a:txBody>
                  <a:tcPr anchor="ctr">
                    <a:solidFill>
                      <a:srgbClr val="FFFFFF"/>
                    </a:solidFill>
                  </a:tcPr>
                </a:tc>
                <a:extLst>
                  <a:ext uri="{0D108BD9-81ED-4DB2-BD59-A6C34878D82A}">
                    <a16:rowId xmlns:a16="http://schemas.microsoft.com/office/drawing/2014/main" val="10001"/>
                  </a:ext>
                </a:extLst>
              </a:tr>
              <a:tr h="631031">
                <a:tc>
                  <a:txBody>
                    <a:bodyPr/>
                    <a:lstStyle/>
                    <a:p>
                      <a:r>
                        <a:rPr sz="1800" b="1">
                          <a:solidFill>
                            <a:srgbClr val="202020"/>
                          </a:solidFill>
                          <a:latin typeface="微软雅黑"/>
                          <a:ea typeface="微软雅黑"/>
                          <a:cs typeface="微软雅黑"/>
                        </a:rPr>
                        <a:t>使用时修正图片</a:t>
                      </a:r>
                    </a:p>
                  </a:txBody>
                  <a:tcPr anchor="ctr">
                    <a:solidFill>
                      <a:srgbClr val="FFFFFF"/>
                    </a:solidFill>
                  </a:tcPr>
                </a:tc>
                <a:tc>
                  <a:txBody>
                    <a:bodyPr/>
                    <a:lstStyle/>
                    <a:p>
                      <a:r>
                        <a:rPr sz="1800" b="0">
                          <a:solidFill>
                            <a:srgbClr val="202020"/>
                          </a:solidFill>
                          <a:latin typeface="微软雅黑"/>
                          <a:ea typeface="微软雅黑"/>
                          <a:cs typeface="微软雅黑"/>
                        </a:rPr>
                        <a:t>输入模型的图片</a:t>
                      </a:r>
                    </a:p>
                  </a:txBody>
                  <a:tcPr anchor="ctr">
                    <a:solidFill>
                      <a:srgbClr val="FFFFFF"/>
                    </a:solidFill>
                  </a:tcPr>
                </a:tc>
                <a:tc>
                  <a:txBody>
                    <a:bodyPr/>
                    <a:lstStyle/>
                    <a:p>
                      <a:r>
                        <a:rPr sz="1800" b="0">
                          <a:solidFill>
                            <a:srgbClr val="202020"/>
                          </a:solidFill>
                          <a:latin typeface="微软雅黑"/>
                          <a:ea typeface="微软雅黑"/>
                          <a:cs typeface="微软雅黑"/>
                        </a:rPr>
                        <a:t>为输入求一个修正扰动</a:t>
                      </a:r>
                    </a:p>
                  </a:txBody>
                  <a:tcPr anchor="ctr">
                    <a:solidFill>
                      <a:srgbClr val="FFFFFF"/>
                    </a:solidFill>
                  </a:tcPr>
                </a:tc>
                <a:extLst>
                  <a:ext uri="{0D108BD9-81ED-4DB2-BD59-A6C34878D82A}">
                    <a16:rowId xmlns:a16="http://schemas.microsoft.com/office/drawing/2014/main" val="10002"/>
                  </a:ext>
                </a:extLst>
              </a:tr>
              <a:tr h="631031">
                <a:tc>
                  <a:txBody>
                    <a:bodyPr/>
                    <a:lstStyle/>
                    <a:p>
                      <a:r>
                        <a:rPr sz="1800" b="1">
                          <a:solidFill>
                            <a:srgbClr val="202020"/>
                          </a:solidFill>
                          <a:latin typeface="微软雅黑"/>
                          <a:ea typeface="微软雅黑"/>
                          <a:cs typeface="微软雅黑"/>
                        </a:rPr>
                        <a:t>本文的方法</a:t>
                      </a:r>
                    </a:p>
                  </a:txBody>
                  <a:tcPr anchor="ctr">
                    <a:solidFill>
                      <a:srgbClr val="FFFFFF"/>
                    </a:solidFill>
                  </a:tcPr>
                </a:tc>
                <a:tc>
                  <a:txBody>
                    <a:bodyPr/>
                    <a:lstStyle/>
                    <a:p>
                      <a:r>
                        <a:rPr sz="1800" b="0">
                          <a:solidFill>
                            <a:srgbClr val="202020"/>
                          </a:solidFill>
                          <a:latin typeface="微软雅黑"/>
                          <a:ea typeface="微软雅黑"/>
                          <a:cs typeface="微软雅黑"/>
                        </a:rPr>
                        <a:t>模型输出的文字向量</a:t>
                      </a:r>
                    </a:p>
                  </a:txBody>
                  <a:tcPr anchor="ctr">
                    <a:solidFill>
                      <a:srgbClr val="FFFFFF"/>
                    </a:solidFill>
                  </a:tcPr>
                </a:tc>
                <a:tc>
                  <a:txBody>
                    <a:bodyPr/>
                    <a:lstStyle/>
                    <a:p>
                      <a:r>
                        <a:rPr sz="1800" b="0">
                          <a:solidFill>
                            <a:srgbClr val="202020"/>
                          </a:solidFill>
                          <a:latin typeface="微软雅黑"/>
                          <a:ea typeface="微软雅黑"/>
                          <a:cs typeface="微软雅黑"/>
                        </a:rPr>
                        <a:t>先找正交方向，再整体平移</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0" name="方法贡献：用理论约束移动方向，把稳定性改善与原答案保持结合起来。"/>
          <p:cNvSpPr>
            <a:spLocks noGrp="1"/>
          </p:cNvSpPr>
          <p:nvPr/>
        </p:nvSpPr>
        <p:spPr>
          <a:xfrm>
            <a:off x="495300" y="5781675"/>
            <a:ext cx="11201400" cy="333375"/>
          </a:xfrm>
          <a:prstGeom prst="rect">
            <a:avLst/>
          </a:prstGeom>
          <a:noFill/>
          <a:ln w="0">
            <a:noFill/>
          </a:ln>
        </p:spPr>
        <p:txBody>
          <a:bodyPr lIns="0" tIns="0" rIns="0" bIns="0">
            <a:noAutofit/>
          </a:bodyPr>
          <a:lstStyle/>
          <a:p>
            <a:pPr>
              <a:defRPr sz="1800" b="1">
                <a:solidFill>
                  <a:srgbClr val="202020"/>
                </a:solidFill>
                <a:latin typeface="微软雅黑"/>
                <a:ea typeface="微软雅黑"/>
                <a:cs typeface="微软雅黑"/>
              </a:defRPr>
            </a:pPr>
            <a:r>
              <a:rPr sz="1800" b="1">
                <a:solidFill>
                  <a:srgbClr val="202020"/>
                </a:solidFill>
                <a:latin typeface="微软雅黑"/>
                <a:ea typeface="微软雅黑"/>
                <a:cs typeface="微软雅黑"/>
              </a:rPr>
              <a:t>方法贡献：用理论约束移动方向，把稳定性改善与原答案保持结合起来。</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结论边界与课程启发"/>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实验从哪四个方面检查这些说法？</a:t>
            </a:r>
          </a:p>
        </p:txBody>
      </p:sp>
      <p:sp>
        <p:nvSpPr>
          <p:cNvPr id="4" name="11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11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5.3、§6、附录G"/>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来源：论文图4–6、§5.1–5.3、图8–10</a:t>
            </a:r>
          </a:p>
        </p:txBody>
      </p:sp>
      <p:graphicFrame>
        <p:nvGraphicFramePr>
          <p:cNvPr id="13" name="表格 12"/>
          <p:cNvGraphicFramePr/>
          <p:nvPr/>
        </p:nvGraphicFramePr>
        <p:xfrm>
          <a:off x="495300" y="1895475"/>
          <a:ext cx="11201400" cy="3571875"/>
        </p:xfrm>
        <a:graphic>
          <a:graphicData uri="http://schemas.openxmlformats.org/drawingml/2006/table">
            <a:tbl>
              <a:tblPr/>
              <a:tblGrid>
                <a:gridCol w="2400300">
                  <a:extLst>
                    <a:ext uri="{9D8B030D-6E8A-4147-A177-3AD203B41FA5}">
                      <a16:colId xmlns:a16="http://schemas.microsoft.com/office/drawing/2014/main" val="20000"/>
                    </a:ext>
                  </a:extLst>
                </a:gridCol>
                <a:gridCol w="5191125">
                  <a:extLst>
                    <a:ext uri="{9D8B030D-6E8A-4147-A177-3AD203B41FA5}">
                      <a16:colId xmlns:a16="http://schemas.microsoft.com/office/drawing/2014/main" val="20001"/>
                    </a:ext>
                  </a:extLst>
                </a:gridCol>
                <a:gridCol w="3609975">
                  <a:extLst>
                    <a:ext uri="{9D8B030D-6E8A-4147-A177-3AD203B41FA5}">
                      <a16:colId xmlns:a16="http://schemas.microsoft.com/office/drawing/2014/main" val="20002"/>
                    </a:ext>
                  </a:extLst>
                </a:gridCol>
              </a:tblGrid>
              <a:tr h="714375">
                <a:tc>
                  <a:txBody>
                    <a:bodyPr/>
                    <a:lstStyle/>
                    <a:p>
                      <a:r>
                        <a:rPr sz="1725" b="1">
                          <a:solidFill>
                            <a:srgbClr val="202020"/>
                          </a:solidFill>
                          <a:latin typeface="微软雅黑"/>
                          <a:ea typeface="微软雅黑"/>
                          <a:cs typeface="微软雅黑"/>
                        </a:rPr>
                        <a:t>验证方面</a:t>
                      </a:r>
                    </a:p>
                  </a:txBody>
                  <a:tcPr anchor="ctr">
                    <a:solidFill>
                      <a:srgbClr val="F0F0F0"/>
                    </a:solidFill>
                  </a:tcPr>
                </a:tc>
                <a:tc>
                  <a:txBody>
                    <a:bodyPr/>
                    <a:lstStyle/>
                    <a:p>
                      <a:r>
                        <a:rPr sz="1725" b="1">
                          <a:solidFill>
                            <a:srgbClr val="202020"/>
                          </a:solidFill>
                          <a:latin typeface="微软雅黑"/>
                          <a:ea typeface="微软雅黑"/>
                          <a:cs typeface="微软雅黑"/>
                        </a:rPr>
                        <a:t>怎么检查</a:t>
                      </a:r>
                    </a:p>
                  </a:txBody>
                  <a:tcPr anchor="ctr">
                    <a:solidFill>
                      <a:srgbClr val="F0F0F0"/>
                    </a:solidFill>
                  </a:tcPr>
                </a:tc>
                <a:tc>
                  <a:txBody>
                    <a:bodyPr/>
                    <a:lstStyle/>
                    <a:p>
                      <a:r>
                        <a:rPr sz="1725" b="1">
                          <a:solidFill>
                            <a:srgbClr val="202020"/>
                          </a:solidFill>
                          <a:latin typeface="微软雅黑"/>
                          <a:ea typeface="微软雅黑"/>
                          <a:cs typeface="微软雅黑"/>
                        </a:rPr>
                        <a:t>要回答的问题</a:t>
                      </a:r>
                    </a:p>
                  </a:txBody>
                  <a:tcPr anchor="ctr">
                    <a:solidFill>
                      <a:srgbClr val="F0F0F0"/>
                    </a:solidFill>
                  </a:tcPr>
                </a:tc>
                <a:extLst>
                  <a:ext uri="{0D108BD9-81ED-4DB2-BD59-A6C34878D82A}">
                    <a16:rowId xmlns:a16="http://schemas.microsoft.com/office/drawing/2014/main" val="10000"/>
                  </a:ext>
                </a:extLst>
              </a:tr>
              <a:tr h="714375">
                <a:tc>
                  <a:txBody>
                    <a:bodyPr/>
                    <a:lstStyle/>
                    <a:p>
                      <a:r>
                        <a:rPr sz="1725" b="1">
                          <a:solidFill>
                            <a:srgbClr val="202020"/>
                          </a:solidFill>
                          <a:latin typeface="微软雅黑"/>
                          <a:ea typeface="微软雅黑"/>
                          <a:cs typeface="微软雅黑"/>
                        </a:rPr>
                        <a:t>间隙的形成</a:t>
                      </a:r>
                    </a:p>
                  </a:txBody>
                  <a:tcPr anchor="ctr">
                    <a:solidFill>
                      <a:srgbClr val="FFFFFF"/>
                    </a:solidFill>
                  </a:tcPr>
                </a:tc>
                <a:tc>
                  <a:txBody>
                    <a:bodyPr/>
                    <a:lstStyle/>
                    <a:p>
                      <a:r>
                        <a:rPr sz="1725" b="0">
                          <a:solidFill>
                            <a:srgbClr val="202020"/>
                          </a:solidFill>
                          <a:latin typeface="微软雅黑"/>
                          <a:ea typeface="微软雅黑"/>
                          <a:cs typeface="微软雅黑"/>
                        </a:rPr>
                        <a:t>观察训练过程和实际模型</a:t>
                      </a:r>
                    </a:p>
                    <a:p>
                      <a:r>
                        <a:rPr sz="1725" b="0">
                          <a:solidFill>
                            <a:srgbClr val="202020"/>
                          </a:solidFill>
                          <a:latin typeface="微软雅黑"/>
                          <a:ea typeface="微软雅黑"/>
                          <a:cs typeface="微软雅黑"/>
                        </a:rPr>
                        <a:t>中图片点、文字点的位置</a:t>
                      </a:r>
                    </a:p>
                  </a:txBody>
                  <a:tcPr anchor="ctr">
                    <a:solidFill>
                      <a:srgbClr val="FFFFFF"/>
                    </a:solidFill>
                  </a:tcPr>
                </a:tc>
                <a:tc>
                  <a:txBody>
                    <a:bodyPr/>
                    <a:lstStyle/>
                    <a:p>
                      <a:r>
                        <a:rPr sz="1725" b="0">
                          <a:solidFill>
                            <a:srgbClr val="202020"/>
                          </a:solidFill>
                          <a:latin typeface="微软雅黑"/>
                          <a:ea typeface="微软雅黑"/>
                          <a:cs typeface="微软雅黑"/>
                        </a:rPr>
                        <a:t>前面的形成解释</a:t>
                      </a:r>
                    </a:p>
                    <a:p>
                      <a:r>
                        <a:rPr sz="1725" b="0">
                          <a:solidFill>
                            <a:srgbClr val="202020"/>
                          </a:solidFill>
                          <a:latin typeface="微软雅黑"/>
                          <a:ea typeface="微软雅黑"/>
                          <a:cs typeface="微软雅黑"/>
                        </a:rPr>
                        <a:t>是否有实际依据？</a:t>
                      </a:r>
                    </a:p>
                  </a:txBody>
                  <a:tcPr anchor="ctr">
                    <a:solidFill>
                      <a:srgbClr val="FFFFFF"/>
                    </a:solidFill>
                  </a:tcPr>
                </a:tc>
                <a:extLst>
                  <a:ext uri="{0D108BD9-81ED-4DB2-BD59-A6C34878D82A}">
                    <a16:rowId xmlns:a16="http://schemas.microsoft.com/office/drawing/2014/main" val="10001"/>
                  </a:ext>
                </a:extLst>
              </a:tr>
              <a:tr h="714375">
                <a:tc>
                  <a:txBody>
                    <a:bodyPr/>
                    <a:lstStyle/>
                    <a:p>
                      <a:r>
                        <a:rPr sz="1725" b="1">
                          <a:solidFill>
                            <a:srgbClr val="202020"/>
                          </a:solidFill>
                          <a:latin typeface="微软雅黑"/>
                          <a:ea typeface="微软雅黑"/>
                          <a:cs typeface="微软雅黑"/>
                        </a:rPr>
                        <a:t>人为加入小干扰</a:t>
                      </a:r>
                    </a:p>
                  </a:txBody>
                  <a:tcPr anchor="ctr">
                    <a:solidFill>
                      <a:srgbClr val="FFFFFF"/>
                    </a:solidFill>
                  </a:tcPr>
                </a:tc>
                <a:tc>
                  <a:txBody>
                    <a:bodyPr/>
                    <a:lstStyle/>
                    <a:p>
                      <a:r>
                        <a:rPr sz="1725" b="0">
                          <a:solidFill>
                            <a:srgbClr val="202020"/>
                          </a:solidFill>
                          <a:latin typeface="微软雅黑"/>
                          <a:ea typeface="微软雅黑"/>
                          <a:cs typeface="微软雅黑"/>
                        </a:rPr>
                        <a:t>控制干扰大小，比较答案是否改变</a:t>
                      </a:r>
                    </a:p>
                    <a:p>
                      <a:r>
                        <a:rPr sz="1725" b="0">
                          <a:solidFill>
                            <a:srgbClr val="202020"/>
                          </a:solidFill>
                          <a:latin typeface="微软雅黑"/>
                          <a:ea typeface="微软雅黑"/>
                          <a:cs typeface="微软雅黑"/>
                        </a:rPr>
                        <a:t>同时检查没有干扰时的表现</a:t>
                      </a:r>
                    </a:p>
                  </a:txBody>
                  <a:tcPr anchor="ctr">
                    <a:solidFill>
                      <a:srgbClr val="FFFFFF"/>
                    </a:solidFill>
                  </a:tcPr>
                </a:tc>
                <a:tc>
                  <a:txBody>
                    <a:bodyPr/>
                    <a:lstStyle/>
                    <a:p>
                      <a:r>
                        <a:rPr sz="1725" b="0">
                          <a:solidFill>
                            <a:srgbClr val="202020"/>
                          </a:solidFill>
                          <a:latin typeface="微软雅黑"/>
                          <a:ea typeface="微软雅黑"/>
                          <a:cs typeface="微软雅黑"/>
                        </a:rPr>
                        <a:t>是否更稳定？</a:t>
                      </a:r>
                    </a:p>
                    <a:p>
                      <a:r>
                        <a:rPr sz="1725" b="0">
                          <a:solidFill>
                            <a:srgbClr val="202020"/>
                          </a:solidFill>
                          <a:latin typeface="微软雅黑"/>
                          <a:ea typeface="微软雅黑"/>
                          <a:cs typeface="微软雅黑"/>
                        </a:rPr>
                        <a:t>原来的判断是否保留？</a:t>
                      </a:r>
                    </a:p>
                  </a:txBody>
                  <a:tcPr anchor="ctr">
                    <a:solidFill>
                      <a:srgbClr val="FFFFFF"/>
                    </a:solidFill>
                  </a:tcPr>
                </a:tc>
                <a:extLst>
                  <a:ext uri="{0D108BD9-81ED-4DB2-BD59-A6C34878D82A}">
                    <a16:rowId xmlns:a16="http://schemas.microsoft.com/office/drawing/2014/main" val="10002"/>
                  </a:ext>
                </a:extLst>
              </a:tr>
              <a:tr h="714375">
                <a:tc>
                  <a:txBody>
                    <a:bodyPr/>
                    <a:lstStyle/>
                    <a:p>
                      <a:r>
                        <a:rPr sz="1725" b="1">
                          <a:solidFill>
                            <a:srgbClr val="202020"/>
                          </a:solidFill>
                          <a:latin typeface="微软雅黑"/>
                          <a:ea typeface="微软雅黑"/>
                          <a:cs typeface="微软雅黑"/>
                        </a:rPr>
                        <a:t>数字存得更粗</a:t>
                      </a:r>
                    </a:p>
                  </a:txBody>
                  <a:tcPr anchor="ctr">
                    <a:solidFill>
                      <a:srgbClr val="FFFFFF"/>
                    </a:solidFill>
                  </a:tcPr>
                </a:tc>
                <a:tc>
                  <a:txBody>
                    <a:bodyPr/>
                    <a:lstStyle/>
                    <a:p>
                      <a:r>
                        <a:rPr sz="1725" b="0">
                          <a:solidFill>
                            <a:srgbClr val="202020"/>
                          </a:solidFill>
                          <a:latin typeface="微软雅黑"/>
                          <a:ea typeface="微软雅黑"/>
                          <a:cs typeface="微软雅黑"/>
                        </a:rPr>
                        <a:t>降低向量数值的存储精度</a:t>
                      </a:r>
                    </a:p>
                    <a:p>
                      <a:r>
                        <a:rPr sz="1725" b="0">
                          <a:solidFill>
                            <a:srgbClr val="202020"/>
                          </a:solidFill>
                          <a:latin typeface="微软雅黑"/>
                          <a:ea typeface="微软雅黑"/>
                          <a:cs typeface="微软雅黑"/>
                        </a:rPr>
                        <a:t>这叫“量化”</a:t>
                      </a:r>
                    </a:p>
                  </a:txBody>
                  <a:tcPr anchor="ctr">
                    <a:solidFill>
                      <a:srgbClr val="FFFFFF"/>
                    </a:solidFill>
                  </a:tcPr>
                </a:tc>
                <a:tc>
                  <a:txBody>
                    <a:bodyPr/>
                    <a:lstStyle/>
                    <a:p>
                      <a:r>
                        <a:rPr sz="1725" b="0">
                          <a:solidFill>
                            <a:srgbClr val="202020"/>
                          </a:solidFill>
                          <a:latin typeface="微软雅黑"/>
                          <a:ea typeface="微软雅黑"/>
                          <a:cs typeface="微软雅黑"/>
                        </a:rPr>
                        <a:t>出现精度误差时</a:t>
                      </a:r>
                    </a:p>
                    <a:p>
                      <a:r>
                        <a:rPr sz="1725" b="0">
                          <a:solidFill>
                            <a:srgbClr val="202020"/>
                          </a:solidFill>
                          <a:latin typeface="微软雅黑"/>
                          <a:ea typeface="微软雅黑"/>
                          <a:cs typeface="微软雅黑"/>
                        </a:rPr>
                        <a:t>方法还有没有用？</a:t>
                      </a:r>
                    </a:p>
                  </a:txBody>
                  <a:tcPr anchor="ctr">
                    <a:solidFill>
                      <a:srgbClr val="FFFFFF"/>
                    </a:solidFill>
                  </a:tcPr>
                </a:tc>
                <a:extLst>
                  <a:ext uri="{0D108BD9-81ED-4DB2-BD59-A6C34878D82A}">
                    <a16:rowId xmlns:a16="http://schemas.microsoft.com/office/drawing/2014/main" val="10003"/>
                  </a:ext>
                </a:extLst>
              </a:tr>
              <a:tr h="714375">
                <a:tc>
                  <a:txBody>
                    <a:bodyPr/>
                    <a:lstStyle/>
                    <a:p>
                      <a:r>
                        <a:rPr sz="1725" b="1">
                          <a:solidFill>
                            <a:srgbClr val="202020"/>
                          </a:solidFill>
                          <a:latin typeface="微软雅黑"/>
                          <a:ea typeface="微软雅黑"/>
                          <a:cs typeface="微软雅黑"/>
                        </a:rPr>
                        <a:t>文字换一种说法</a:t>
                      </a:r>
                    </a:p>
                  </a:txBody>
                  <a:tcPr anchor="ctr">
                    <a:solidFill>
                      <a:srgbClr val="FFFFFF"/>
                    </a:solidFill>
                  </a:tcPr>
                </a:tc>
                <a:tc>
                  <a:txBody>
                    <a:bodyPr/>
                    <a:lstStyle/>
                    <a:p>
                      <a:r>
                        <a:rPr sz="1725" b="0">
                          <a:solidFill>
                            <a:srgbClr val="202020"/>
                          </a:solidFill>
                          <a:latin typeface="微软雅黑"/>
                          <a:ea typeface="微软雅黑"/>
                          <a:cs typeface="微软雅黑"/>
                        </a:rPr>
                        <a:t>改变表达，检查答对的比例</a:t>
                      </a:r>
                    </a:p>
                  </a:txBody>
                  <a:tcPr anchor="ctr">
                    <a:solidFill>
                      <a:srgbClr val="FFFFFF"/>
                    </a:solidFill>
                  </a:tcPr>
                </a:tc>
                <a:tc>
                  <a:txBody>
                    <a:bodyPr/>
                    <a:lstStyle/>
                    <a:p>
                      <a:r>
                        <a:rPr sz="1725" b="0">
                          <a:solidFill>
                            <a:srgbClr val="202020"/>
                          </a:solidFill>
                          <a:latin typeface="微软雅黑"/>
                          <a:ea typeface="微软雅黑"/>
                          <a:cs typeface="微软雅黑"/>
                        </a:rPr>
                        <a:t>不完全满足理论条件时</a:t>
                      </a:r>
                    </a:p>
                    <a:p>
                      <a:r>
                        <a:rPr sz="1725" b="0">
                          <a:solidFill>
                            <a:srgbClr val="202020"/>
                          </a:solidFill>
                          <a:latin typeface="微软雅黑"/>
                          <a:ea typeface="微软雅黑"/>
                          <a:cs typeface="微软雅黑"/>
                        </a:rPr>
                        <a:t>是否仍有实际效果？</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8" name="模型是否“没改口”和是否“答对”，是两件事，需要分别检查。"/>
          <p:cNvSpPr>
            <a:spLocks noGrp="1"/>
          </p:cNvSpPr>
          <p:nvPr/>
        </p:nvSpPr>
        <p:spPr>
          <a:xfrm>
            <a:off x="495300" y="5781675"/>
            <a:ext cx="11201400" cy="342900"/>
          </a:xfrm>
          <a:prstGeom prst="rect">
            <a:avLst/>
          </a:prstGeom>
          <a:noFill/>
          <a:ln w="0">
            <a:noFill/>
          </a:ln>
        </p:spPr>
        <p:txBody>
          <a:bodyPr lIns="0" tIns="0" rIns="0" bIns="0">
            <a:noAutofit/>
          </a:bodyPr>
          <a:lstStyle/>
          <a:p>
            <a:pPr>
              <a:defRPr sz="1800" b="0">
                <a:solidFill>
                  <a:srgbClr val="666666"/>
                </a:solidFill>
                <a:latin typeface="微软雅黑"/>
                <a:ea typeface="微软雅黑"/>
                <a:cs typeface="微软雅黑"/>
              </a:defRPr>
            </a:pPr>
            <a:r>
              <a:rPr sz="1800" b="0">
                <a:solidFill>
                  <a:srgbClr val="666666"/>
                </a:solidFill>
                <a:latin typeface="微软雅黑"/>
                <a:ea typeface="微软雅黑"/>
                <a:cs typeface="微软雅黑"/>
              </a:rPr>
              <a:t>模型是否“没改口”和是否“答对”，是两件事，需要分别检查。</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总结"/>
          <p:cNvSpPr>
            <a:spLocks noGrp="1"/>
          </p:cNvSpPr>
          <p:nvPr/>
        </p:nvSpPr>
        <p:spPr>
          <a:xfrm>
            <a:off x="495300" y="609600"/>
            <a:ext cx="11049000" cy="590550"/>
          </a:xfrm>
          <a:prstGeom prst="rect">
            <a:avLst/>
          </a:prstGeom>
          <a:noFill/>
          <a:ln w="0">
            <a:noFill/>
          </a:ln>
        </p:spPr>
        <p:txBody>
          <a:bodyPr lIns="0" tIns="0" rIns="0" bIns="0" anchor="t">
            <a:noAutofit/>
          </a:bodyPr>
          <a:lstStyle/>
          <a:p>
            <a:pPr>
              <a:buNone/>
              <a:defRPr sz="2850" b="1">
                <a:solidFill>
                  <a:srgbClr val="202020"/>
                </a:solidFill>
                <a:latin typeface="微软雅黑"/>
                <a:ea typeface="微软雅黑"/>
                <a:cs typeface="微软雅黑"/>
              </a:defRPr>
            </a:pPr>
            <a:r>
              <a:rPr sz="2850" b="1">
                <a:solidFill>
                  <a:srgbClr val="202020"/>
                </a:solidFill>
                <a:latin typeface="微软雅黑"/>
                <a:ea typeface="微软雅黑"/>
                <a:cs typeface="微软雅黑"/>
              </a:rPr>
              <a:t>总结：让模型不仅能匹配，也更经得起小变化</a:t>
            </a:r>
          </a:p>
        </p:txBody>
      </p:sp>
      <p:sp>
        <p:nvSpPr>
          <p:cNvPr id="4" name="12 / 12"/>
          <p:cNvSpPr>
            <a:spLocks noGrp="1"/>
          </p:cNvSpPr>
          <p:nvPr/>
        </p:nvSpPr>
        <p:spPr>
          <a:xfrm>
            <a:off x="10953750" y="342900"/>
            <a:ext cx="857250" cy="238125"/>
          </a:xfrm>
          <a:prstGeom prst="rect">
            <a:avLst/>
          </a:prstGeom>
          <a:noFill/>
          <a:ln w="0">
            <a:noFill/>
          </a:ln>
        </p:spPr>
        <p:txBody>
          <a:bodyPr lIns="0" tIns="0" rIns="0" bIns="0" anchor="t">
            <a:noAutofit/>
          </a:bodyPr>
          <a:lstStyle/>
          <a:p>
            <a:pPr>
              <a:buNone/>
              <a:defRPr sz="1200" b="0">
                <a:solidFill>
                  <a:srgbClr val="666666"/>
                </a:solidFill>
                <a:latin typeface="微软雅黑"/>
                <a:ea typeface="微软雅黑"/>
                <a:cs typeface="微软雅黑"/>
              </a:defRPr>
            </a:pPr>
            <a:r>
              <a:rPr sz="1200" b="0">
                <a:solidFill>
                  <a:srgbClr val="666666"/>
                </a:solidFill>
                <a:latin typeface="微软雅黑"/>
                <a:ea typeface="微软雅黑"/>
                <a:cs typeface="微软雅黑"/>
              </a:rPr>
              <a:t>12 / 12</a:t>
            </a:r>
          </a:p>
        </p:txBody>
      </p:sp>
      <p:sp>
        <p:nvSpPr>
          <p:cNvPr id="5" name="矩形 4"/>
          <p:cNvSpPr>
            <a:spLocks noGrp="1"/>
          </p:cNvSpPr>
          <p:nvPr/>
        </p:nvSpPr>
        <p:spPr>
          <a:xfrm>
            <a:off x="495300" y="6210300"/>
            <a:ext cx="11201400" cy="9525"/>
          </a:xfrm>
          <a:prstGeom prst="rect">
            <a:avLst/>
          </a:prstGeom>
          <a:solidFill>
            <a:srgbClr val="DADADA"/>
          </a:solidFill>
          <a:ln w="0">
            <a:noFill/>
          </a:ln>
        </p:spPr>
      </p:sp>
      <p:sp>
        <p:nvSpPr>
          <p:cNvPr id="6" name="来源：论文 §6"/>
          <p:cNvSpPr>
            <a:spLocks noGrp="1"/>
          </p:cNvSpPr>
          <p:nvPr/>
        </p:nvSpPr>
        <p:spPr>
          <a:xfrm>
            <a:off x="495300" y="6353175"/>
            <a:ext cx="10287000" cy="228600"/>
          </a:xfrm>
          <a:prstGeom prst="rect">
            <a:avLst/>
          </a:prstGeom>
          <a:noFill/>
          <a:ln w="0">
            <a:noFill/>
          </a:ln>
        </p:spPr>
        <p:txBody>
          <a:bodyPr lIns="0" tIns="0" rIns="0" bIns="0" anchor="t">
            <a:noAutofit/>
          </a:bodyPr>
          <a:lstStyle/>
          <a:p>
            <a:pPr>
              <a:buNone/>
              <a:defRPr sz="1125" b="0">
                <a:solidFill>
                  <a:srgbClr val="666666"/>
                </a:solidFill>
                <a:latin typeface="微软雅黑"/>
                <a:ea typeface="微软雅黑"/>
                <a:cs typeface="微软雅黑"/>
              </a:defRPr>
            </a:pPr>
            <a:r>
              <a:rPr sz="1125" b="0">
                <a:solidFill>
                  <a:srgbClr val="666666"/>
                </a:solidFill>
                <a:latin typeface="微软雅黑"/>
                <a:ea typeface="微软雅黑"/>
                <a:cs typeface="微软雅黑"/>
              </a:rPr>
              <a:t>来源：论文§6</a:t>
            </a:r>
          </a:p>
        </p:txBody>
      </p:sp>
      <p:sp>
        <p:nvSpPr>
          <p:cNvPr id="7" name="为什么研究？"/>
          <p:cNvSpPr>
            <a:spLocks noGrp="1"/>
          </p:cNvSpPr>
          <p:nvPr/>
        </p:nvSpPr>
        <p:spPr>
          <a:xfrm>
            <a:off x="495300" y="2019300"/>
            <a:ext cx="1114425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为什么研究？</a:t>
            </a:r>
          </a:p>
        </p:txBody>
      </p:sp>
      <p:sp>
        <p:nvSpPr>
          <p:cNvPr id="8" name="原来答得对，不代表受到小干扰后还能稳定判断。"/>
          <p:cNvSpPr>
            <a:spLocks noGrp="1"/>
          </p:cNvSpPr>
          <p:nvPr/>
        </p:nvSpPr>
        <p:spPr>
          <a:xfrm>
            <a:off x="495300" y="2447925"/>
            <a:ext cx="11144250" cy="952500"/>
          </a:xfrm>
          <a:prstGeom prst="rect">
            <a:avLst/>
          </a:prstGeom>
          <a:noFill/>
          <a:ln w="0">
            <a:noFill/>
          </a:ln>
        </p:spPr>
        <p:txBody>
          <a:bodyPr lIns="0" tIns="0" rIns="0" bIns="0">
            <a:noAutofit/>
          </a:bodyPr>
          <a:lstStyle/>
          <a:p>
            <a:pPr>
              <a:defRPr sz="2025" b="0">
                <a:solidFill>
                  <a:srgbClr val="202020"/>
                </a:solidFill>
                <a:latin typeface="微软雅黑"/>
                <a:ea typeface="微软雅黑"/>
                <a:cs typeface="微软雅黑"/>
              </a:defRPr>
            </a:pPr>
            <a:r>
              <a:rPr sz="2025" b="0">
                <a:solidFill>
                  <a:srgbClr val="202020"/>
                </a:solidFill>
                <a:latin typeface="微软雅黑"/>
                <a:ea typeface="微软雅黑"/>
                <a:cs typeface="微软雅黑"/>
              </a:rPr>
              <a:t>原来答得对，不代表受到小干扰后还能稳定判断。</a:t>
            </a:r>
          </a:p>
        </p:txBody>
      </p:sp>
      <p:sp>
        <p:nvSpPr>
          <p:cNvPr id="9" name="怎样解决？"/>
          <p:cNvSpPr>
            <a:spLocks noGrp="1"/>
          </p:cNvSpPr>
          <p:nvPr/>
        </p:nvSpPr>
        <p:spPr>
          <a:xfrm>
            <a:off x="495300" y="3409950"/>
            <a:ext cx="1114425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怎样解决？</a:t>
            </a:r>
          </a:p>
        </p:txBody>
      </p:sp>
      <p:sp>
        <p:nvSpPr>
          <p:cNvPr id="10" name="模型不重训，先选正交方向，再把所有文字点一起移动。"/>
          <p:cNvSpPr>
            <a:spLocks noGrp="1"/>
          </p:cNvSpPr>
          <p:nvPr/>
        </p:nvSpPr>
        <p:spPr>
          <a:xfrm>
            <a:off x="495300" y="3838575"/>
            <a:ext cx="11144250" cy="952500"/>
          </a:xfrm>
          <a:prstGeom prst="rect">
            <a:avLst/>
          </a:prstGeom>
          <a:noFill/>
          <a:ln w="0">
            <a:noFill/>
          </a:ln>
        </p:spPr>
        <p:txBody>
          <a:bodyPr lIns="0" tIns="0" rIns="0" bIns="0">
            <a:noAutofit/>
          </a:bodyPr>
          <a:lstStyle/>
          <a:p>
            <a:pPr>
              <a:defRPr sz="2025" b="0">
                <a:solidFill>
                  <a:srgbClr val="202020"/>
                </a:solidFill>
                <a:latin typeface="微软雅黑"/>
                <a:ea typeface="微软雅黑"/>
                <a:cs typeface="微软雅黑"/>
              </a:defRPr>
            </a:pPr>
            <a:r>
              <a:rPr sz="2025" b="0">
                <a:solidFill>
                  <a:srgbClr val="202020"/>
                </a:solidFill>
                <a:latin typeface="微软雅黑"/>
                <a:ea typeface="微软雅黑"/>
                <a:cs typeface="微软雅黑"/>
              </a:rPr>
              <a:t>模型不重训，先选正交方向，再把所有文字点一起移动。</a:t>
            </a:r>
          </a:p>
        </p:txBody>
      </p:sp>
      <p:sp>
        <p:nvSpPr>
          <p:cNvPr id="11" name="新在哪里？"/>
          <p:cNvSpPr>
            <a:spLocks noGrp="1"/>
          </p:cNvSpPr>
          <p:nvPr/>
        </p:nvSpPr>
        <p:spPr>
          <a:xfrm>
            <a:off x="495300" y="4800600"/>
            <a:ext cx="11144250" cy="361950"/>
          </a:xfrm>
          <a:prstGeom prst="rect">
            <a:avLst/>
          </a:prstGeom>
          <a:noFill/>
          <a:ln w="0">
            <a:noFill/>
          </a:ln>
        </p:spPr>
        <p:txBody>
          <a:bodyPr lIns="0" tIns="0" rIns="0" bIns="0">
            <a:noAutofit/>
          </a:bodyPr>
          <a:lstStyle/>
          <a:p>
            <a:pPr>
              <a:defRPr sz="2025" b="1">
                <a:solidFill>
                  <a:srgbClr val="202020"/>
                </a:solidFill>
                <a:latin typeface="微软雅黑"/>
                <a:ea typeface="微软雅黑"/>
                <a:cs typeface="微软雅黑"/>
              </a:defRPr>
            </a:pPr>
            <a:r>
              <a:rPr sz="2025" b="1">
                <a:solidFill>
                  <a:srgbClr val="202020"/>
                </a:solidFill>
                <a:latin typeface="微软雅黑"/>
                <a:ea typeface="微软雅黑"/>
                <a:cs typeface="微软雅黑"/>
              </a:rPr>
              <a:t>新在哪里？</a:t>
            </a:r>
          </a:p>
        </p:txBody>
      </p:sp>
      <p:sp>
        <p:nvSpPr>
          <p:cNvPr id="12" name="解释间隙与稳定性的关系，并据此设计有条件保证的调整方法。"/>
          <p:cNvSpPr>
            <a:spLocks noGrp="1"/>
          </p:cNvSpPr>
          <p:nvPr/>
        </p:nvSpPr>
        <p:spPr>
          <a:xfrm>
            <a:off x="495300" y="5229225"/>
            <a:ext cx="11144250" cy="952500"/>
          </a:xfrm>
          <a:prstGeom prst="rect">
            <a:avLst/>
          </a:prstGeom>
          <a:noFill/>
          <a:ln w="0">
            <a:noFill/>
          </a:ln>
        </p:spPr>
        <p:txBody>
          <a:bodyPr lIns="0" tIns="0" rIns="0" bIns="0">
            <a:noAutofit/>
          </a:bodyPr>
          <a:lstStyle/>
          <a:p>
            <a:pPr>
              <a:defRPr sz="2025" b="0">
                <a:solidFill>
                  <a:srgbClr val="202020"/>
                </a:solidFill>
                <a:latin typeface="微软雅黑"/>
                <a:ea typeface="微软雅黑"/>
                <a:cs typeface="微软雅黑"/>
              </a:defRPr>
            </a:pPr>
            <a:r>
              <a:rPr sz="2025" b="0">
                <a:solidFill>
                  <a:srgbClr val="202020"/>
                </a:solidFill>
                <a:latin typeface="微软雅黑"/>
                <a:ea typeface="微软雅黑"/>
                <a:cs typeface="微软雅黑"/>
              </a:rPr>
              <a:t>解释间隙与稳定性的关系，并据此设计有条件保证的调整方法。</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1165369" y="1202178"/>
            <a:ext cx="9861261" cy="1200150"/>
          </a:xfrm>
          <a:prstGeom prst="rect">
            <a:avLst/>
          </a:prstGeom>
          <a:noFill/>
          <a:ln w="0">
            <a:noFill/>
          </a:ln>
        </p:spPr>
        <p:txBody>
          <a:bodyPr anchor="ctr">
            <a:normAutofit/>
          </a:bodyPr>
          <a:lstStyle/>
          <a:p>
            <a:pPr algn="ctr">
              <a:defRPr sz="3600" b="1">
                <a:solidFill>
                  <a:srgbClr val="10255A"/>
                </a:solidFill>
                <a:latin typeface="微软雅黑"/>
                <a:ea typeface="微软雅黑"/>
                <a:cs typeface="微软雅黑"/>
              </a:defRPr>
            </a:pPr>
            <a:r>
              <a:rPr sz="3600" b="1" dirty="0">
                <a:solidFill>
                  <a:srgbClr val="10255A"/>
                </a:solidFill>
                <a:latin typeface="微软雅黑"/>
                <a:ea typeface="微软雅黑"/>
                <a:cs typeface="微软雅黑"/>
              </a:rPr>
              <a:t>CLIP is Strong Enough</a:t>
            </a:r>
            <a:r>
              <a:rPr lang="en-US" sz="3600" b="1" dirty="0">
                <a:solidFill>
                  <a:srgbClr val="10255A"/>
                </a:solidFill>
                <a:latin typeface="微软雅黑"/>
                <a:ea typeface="微软雅黑"/>
                <a:cs typeface="微软雅黑"/>
              </a:rPr>
              <a:t> </a:t>
            </a:r>
            <a:r>
              <a:rPr sz="3600" b="1" dirty="0">
                <a:solidFill>
                  <a:srgbClr val="10255A"/>
                </a:solidFill>
                <a:latin typeface="微软雅黑"/>
                <a:ea typeface="微软雅黑"/>
                <a:cs typeface="微软雅黑"/>
              </a:rPr>
              <a:t>to Fight Back</a:t>
            </a:r>
          </a:p>
        </p:txBody>
      </p:sp>
      <p:sp>
        <p:nvSpPr>
          <p:cNvPr id="3" name="矩形 2"/>
          <p:cNvSpPr>
            <a:spLocks noGrp="1"/>
          </p:cNvSpPr>
          <p:nvPr/>
        </p:nvSpPr>
        <p:spPr>
          <a:xfrm>
            <a:off x="1905866" y="2683862"/>
            <a:ext cx="6715125" cy="800100"/>
          </a:xfrm>
          <a:prstGeom prst="rect">
            <a:avLst/>
          </a:prstGeom>
          <a:noFill/>
          <a:ln w="0">
            <a:noFill/>
          </a:ln>
        </p:spPr>
        <p:txBody>
          <a:bodyPr anchor="ctr">
            <a:normAutofit/>
          </a:bodyPr>
          <a:lstStyle/>
          <a:p>
            <a:pPr>
              <a:defRPr sz="1950" b="0">
                <a:solidFill>
                  <a:srgbClr val="1D2737"/>
                </a:solidFill>
                <a:latin typeface="微软雅黑"/>
                <a:ea typeface="微软雅黑"/>
                <a:cs typeface="微软雅黑"/>
              </a:defRPr>
            </a:pPr>
            <a:r>
              <a:rPr sz="1950" b="0" dirty="0">
                <a:solidFill>
                  <a:srgbClr val="1D2737"/>
                </a:solidFill>
                <a:latin typeface="微软雅黑"/>
                <a:ea typeface="微软雅黑"/>
                <a:cs typeface="微软雅黑"/>
              </a:rPr>
              <a:t>Test-time Counterattacks towards Zero-shot</a:t>
            </a:r>
          </a:p>
          <a:p>
            <a:pPr>
              <a:defRPr sz="1950" b="0">
                <a:solidFill>
                  <a:srgbClr val="1D2737"/>
                </a:solidFill>
                <a:latin typeface="微软雅黑"/>
                <a:ea typeface="微软雅黑"/>
                <a:cs typeface="微软雅黑"/>
              </a:defRPr>
            </a:pPr>
            <a:r>
              <a:rPr sz="1950" b="0" dirty="0">
                <a:solidFill>
                  <a:srgbClr val="1D2737"/>
                </a:solidFill>
                <a:latin typeface="微软雅黑"/>
                <a:ea typeface="微软雅黑"/>
                <a:cs typeface="微软雅黑"/>
              </a:rPr>
              <a:t>Adversarial Robustness of CLIP</a:t>
            </a:r>
          </a:p>
        </p:txBody>
      </p:sp>
      <p:pic>
        <p:nvPicPr>
          <p:cNvPr id="18" name="图片 17"/>
          <p:cNvPicPr>
            <a:picLocks noChangeAspect="1"/>
          </p:cNvPicPr>
          <p:nvPr/>
        </p:nvPicPr>
        <p:blipFill>
          <a:blip r:embed="rId3"/>
          <a:stretch>
            <a:fillRect/>
          </a:stretch>
        </p:blipFill>
        <p:spPr>
          <a:xfrm>
            <a:off x="7826664" y="3710374"/>
            <a:ext cx="3714750" cy="2193045"/>
          </a:xfrm>
          <a:prstGeom prst="rect">
            <a:avLst/>
          </a:prstGeom>
        </p:spPr>
      </p:pic>
      <p:sp>
        <p:nvSpPr>
          <p:cNvPr id="8" name="矩形 7"/>
          <p:cNvSpPr>
            <a:spLocks noGrp="1"/>
          </p:cNvSpPr>
          <p:nvPr/>
        </p:nvSpPr>
        <p:spPr>
          <a:xfrm>
            <a:off x="1905866" y="3560162"/>
            <a:ext cx="7620000" cy="457200"/>
          </a:xfrm>
          <a:prstGeom prst="rect">
            <a:avLst/>
          </a:prstGeom>
          <a:noFill/>
          <a:ln w="0">
            <a:noFill/>
          </a:ln>
        </p:spPr>
        <p:txBody>
          <a:bodyPr anchor="ctr">
            <a:normAutofit/>
          </a:bodyPr>
          <a:lstStyle/>
          <a:p>
            <a:pPr>
              <a:defRPr sz="1875" b="1">
                <a:solidFill>
                  <a:srgbClr val="082878"/>
                </a:solidFill>
                <a:latin typeface="微软雅黑"/>
                <a:ea typeface="微软雅黑"/>
                <a:cs typeface="微软雅黑"/>
              </a:defRPr>
            </a:pPr>
            <a:r>
              <a:rPr sz="1875" b="1" dirty="0">
                <a:solidFill>
                  <a:srgbClr val="082878"/>
                </a:solidFill>
                <a:latin typeface="微软雅黑"/>
                <a:ea typeface="微软雅黑"/>
                <a:cs typeface="微软雅黑"/>
              </a:rPr>
              <a:t>From False Stability to Test-time Counterattack</a:t>
            </a:r>
          </a:p>
        </p:txBody>
      </p:sp>
      <p:sp>
        <p:nvSpPr>
          <p:cNvPr id="10" name="矩形 9"/>
          <p:cNvSpPr>
            <a:spLocks noGrp="1"/>
          </p:cNvSpPr>
          <p:nvPr/>
        </p:nvSpPr>
        <p:spPr>
          <a:xfrm>
            <a:off x="2020166" y="5073437"/>
            <a:ext cx="3429000" cy="323850"/>
          </a:xfrm>
          <a:prstGeom prst="rect">
            <a:avLst/>
          </a:prstGeom>
          <a:noFill/>
          <a:ln w="0">
            <a:noFill/>
          </a:ln>
        </p:spPr>
        <p:txBody>
          <a:bodyPr anchor="ctr">
            <a:noAutofit/>
          </a:bodyPr>
          <a:lstStyle/>
          <a:p>
            <a:pPr>
              <a:defRPr sz="1425" b="1">
                <a:solidFill>
                  <a:srgbClr val="1D2737"/>
                </a:solidFill>
                <a:latin typeface="微软雅黑"/>
                <a:ea typeface="微软雅黑"/>
                <a:cs typeface="微软雅黑"/>
              </a:defRPr>
            </a:pPr>
            <a:r>
              <a:rPr sz="2400" b="1" dirty="0" err="1">
                <a:solidFill>
                  <a:srgbClr val="1D2737"/>
                </a:solidFill>
                <a:latin typeface="微软雅黑"/>
                <a:ea typeface="微软雅黑"/>
                <a:cs typeface="微软雅黑"/>
              </a:rPr>
              <a:t>汇报人：袁珩翔</a:t>
            </a:r>
            <a:endParaRPr sz="2400" b="1" dirty="0">
              <a:solidFill>
                <a:srgbClr val="1D2737"/>
              </a:solidFill>
              <a:latin typeface="微软雅黑"/>
              <a:ea typeface="微软雅黑"/>
              <a:cs typeface="微软雅黑"/>
            </a:endParaRPr>
          </a:p>
        </p:txBody>
      </p:sp>
      <p:sp>
        <p:nvSpPr>
          <p:cNvPr id="11" name="矩形 10"/>
          <p:cNvSpPr>
            <a:spLocks noGrp="1"/>
          </p:cNvSpPr>
          <p:nvPr/>
        </p:nvSpPr>
        <p:spPr>
          <a:xfrm>
            <a:off x="1974273" y="4580431"/>
            <a:ext cx="5143500" cy="285750"/>
          </a:xfrm>
          <a:prstGeom prst="rect">
            <a:avLst/>
          </a:prstGeom>
          <a:noFill/>
          <a:ln w="0">
            <a:noFill/>
          </a:ln>
        </p:spPr>
        <p:txBody>
          <a:bodyPr anchor="ctr">
            <a:noAutofit/>
          </a:bodyPr>
          <a:lstStyle/>
          <a:p>
            <a:pPr>
              <a:defRPr sz="1275" b="0">
                <a:solidFill>
                  <a:srgbClr val="647084"/>
                </a:solidFill>
                <a:latin typeface="微软雅黑"/>
                <a:ea typeface="微软雅黑"/>
                <a:cs typeface="微软雅黑"/>
              </a:defRPr>
            </a:pPr>
            <a:r>
              <a:rPr sz="2400" b="0" dirty="0" err="1">
                <a:solidFill>
                  <a:srgbClr val="647084"/>
                </a:solidFill>
                <a:latin typeface="微软雅黑"/>
                <a:ea typeface="微软雅黑"/>
                <a:cs typeface="微软雅黑"/>
              </a:rPr>
              <a:t>同济大学</a:t>
            </a:r>
            <a:r>
              <a:rPr sz="2400" b="0" dirty="0">
                <a:solidFill>
                  <a:srgbClr val="647084"/>
                </a:solidFill>
                <a:latin typeface="微软雅黑"/>
                <a:ea typeface="微软雅黑"/>
                <a:cs typeface="微软雅黑"/>
              </a:rPr>
              <a:t> · </a:t>
            </a:r>
            <a:r>
              <a:rPr sz="2400" b="0" dirty="0" err="1">
                <a:solidFill>
                  <a:srgbClr val="647084"/>
                </a:solidFill>
                <a:latin typeface="微软雅黑"/>
                <a:ea typeface="微软雅黑"/>
                <a:cs typeface="微软雅黑"/>
              </a:rPr>
              <a:t>电子与信息工程学院</a:t>
            </a:r>
            <a:endParaRPr sz="2400" b="0" dirty="0">
              <a:solidFill>
                <a:srgbClr val="647084"/>
              </a:solidFill>
              <a:latin typeface="微软雅黑"/>
              <a:ea typeface="微软雅黑"/>
              <a:cs typeface="微软雅黑"/>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a:spLocks noGrp="1"/>
          </p:cNvSpPr>
          <p:nvPr/>
        </p:nvSpPr>
        <p:spPr>
          <a:xfrm>
            <a:off x="457200" y="228600"/>
            <a:ext cx="1409700" cy="409575"/>
          </a:xfrm>
          <a:prstGeom prst="rect">
            <a:avLst/>
          </a:prstGeom>
          <a:solidFill>
            <a:srgbClr val="082878"/>
          </a:solidFill>
          <a:ln w="0">
            <a:noFill/>
          </a:ln>
        </p:spPr>
      </p:sp>
      <p:sp>
        <p:nvSpPr>
          <p:cNvPr id="2" name="矩形 1"/>
          <p:cNvSpPr>
            <a:spLocks noGrp="1"/>
          </p:cNvSpPr>
          <p:nvPr/>
        </p:nvSpPr>
        <p:spPr>
          <a:xfrm>
            <a:off x="504825" y="266700"/>
            <a:ext cx="1314450" cy="323850"/>
          </a:xfrm>
          <a:prstGeom prst="rect">
            <a:avLst/>
          </a:prstGeom>
          <a:noFill/>
          <a:ln w="0">
            <a:noFill/>
          </a:ln>
        </p:spPr>
        <p:txBody>
          <a:bodyPr anchor="ctr">
            <a:normAutofit/>
          </a:bodyPr>
          <a:lstStyle/>
          <a:p>
            <a:pPr>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研究背景</a:t>
            </a:r>
          </a:p>
        </p:txBody>
      </p:sp>
      <p:sp>
        <p:nvSpPr>
          <p:cNvPr id="3" name="矩形 2"/>
          <p:cNvSpPr>
            <a:spLocks noGrp="1"/>
          </p:cNvSpPr>
          <p:nvPr/>
        </p:nvSpPr>
        <p:spPr>
          <a:xfrm>
            <a:off x="19145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研究动机</a:t>
            </a:r>
          </a:p>
        </p:txBody>
      </p:sp>
      <p:sp>
        <p:nvSpPr>
          <p:cNvPr id="4" name="矩形 3"/>
          <p:cNvSpPr>
            <a:spLocks noGrp="1"/>
          </p:cNvSpPr>
          <p:nvPr/>
        </p:nvSpPr>
        <p:spPr>
          <a:xfrm>
            <a:off x="33242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关键发现</a:t>
            </a:r>
          </a:p>
        </p:txBody>
      </p:sp>
      <p:sp>
        <p:nvSpPr>
          <p:cNvPr id="5" name="矩形 4"/>
          <p:cNvSpPr>
            <a:spLocks noGrp="1"/>
          </p:cNvSpPr>
          <p:nvPr/>
        </p:nvSpPr>
        <p:spPr>
          <a:xfrm>
            <a:off x="47339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TTC 方法</a:t>
            </a:r>
          </a:p>
        </p:txBody>
      </p:sp>
      <p:sp>
        <p:nvSpPr>
          <p:cNvPr id="6" name="矩形 5"/>
          <p:cNvSpPr>
            <a:spLocks noGrp="1"/>
          </p:cNvSpPr>
          <p:nvPr/>
        </p:nvSpPr>
        <p:spPr>
          <a:xfrm>
            <a:off x="6143625" y="266700"/>
            <a:ext cx="114300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创新点</a:t>
            </a:r>
          </a:p>
        </p:txBody>
      </p:sp>
      <p:sp>
        <p:nvSpPr>
          <p:cNvPr id="7" name="矩形 6"/>
          <p:cNvSpPr>
            <a:spLocks noGrp="1"/>
          </p:cNvSpPr>
          <p:nvPr/>
        </p:nvSpPr>
        <p:spPr>
          <a:xfrm>
            <a:off x="73818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实验结果</a:t>
            </a:r>
          </a:p>
        </p:txBody>
      </p:sp>
      <p:sp>
        <p:nvSpPr>
          <p:cNvPr id="8" name="矩形 7"/>
          <p:cNvSpPr>
            <a:spLocks noGrp="1"/>
          </p:cNvSpPr>
          <p:nvPr/>
        </p:nvSpPr>
        <p:spPr>
          <a:xfrm>
            <a:off x="87915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总结讨论</a:t>
            </a:r>
          </a:p>
        </p:txBody>
      </p:sp>
      <p:sp>
        <p:nvSpPr>
          <p:cNvPr id="9" name="矩形 8"/>
          <p:cNvSpPr>
            <a:spLocks noGrp="1"/>
          </p:cNvSpPr>
          <p:nvPr/>
        </p:nvSpPr>
        <p:spPr>
          <a:xfrm>
            <a:off x="457200" y="647700"/>
            <a:ext cx="11277600" cy="28575"/>
          </a:xfrm>
          <a:prstGeom prst="rect">
            <a:avLst/>
          </a:prstGeom>
          <a:solidFill>
            <a:srgbClr val="082878"/>
          </a:solidFill>
          <a:ln w="0">
            <a:noFill/>
          </a:ln>
        </p:spPr>
      </p:sp>
      <p:sp>
        <p:nvSpPr>
          <p:cNvPr id="10" name="矩形 9"/>
          <p:cNvSpPr>
            <a:spLocks noGrp="1"/>
          </p:cNvSpPr>
          <p:nvPr/>
        </p:nvSpPr>
        <p:spPr>
          <a:xfrm>
            <a:off x="495300" y="1095375"/>
            <a:ext cx="85725" cy="285750"/>
          </a:xfrm>
          <a:prstGeom prst="rect">
            <a:avLst/>
          </a:prstGeom>
          <a:solidFill>
            <a:srgbClr val="082878"/>
          </a:solidFill>
          <a:ln w="0">
            <a:noFill/>
          </a:ln>
        </p:spPr>
      </p:sp>
      <p:sp>
        <p:nvSpPr>
          <p:cNvPr id="11" name="矩形 10"/>
          <p:cNvSpPr>
            <a:spLocks noGrp="1"/>
          </p:cNvSpPr>
          <p:nvPr/>
        </p:nvSpPr>
        <p:spPr>
          <a:xfrm>
            <a:off x="695325" y="1000125"/>
            <a:ext cx="10620375" cy="552450"/>
          </a:xfrm>
          <a:prstGeom prst="rect">
            <a:avLst/>
          </a:prstGeom>
          <a:noFill/>
          <a:ln w="0">
            <a:noFill/>
          </a:ln>
        </p:spPr>
        <p:txBody>
          <a:bodyPr anchor="ctr">
            <a:normAutofit/>
          </a:bodyPr>
          <a:lstStyle/>
          <a:p>
            <a:pPr>
              <a:defRPr sz="2550" b="1">
                <a:solidFill>
                  <a:srgbClr val="10255A"/>
                </a:solidFill>
                <a:latin typeface="微软雅黑"/>
                <a:ea typeface="微软雅黑"/>
                <a:cs typeface="微软雅黑"/>
              </a:defRPr>
            </a:pPr>
            <a:r>
              <a:rPr sz="2550" b="1">
                <a:solidFill>
                  <a:srgbClr val="10255A"/>
                </a:solidFill>
                <a:latin typeface="微软雅黑"/>
                <a:ea typeface="微软雅黑"/>
                <a:cs typeface="微软雅黑"/>
              </a:rPr>
              <a:t>CLIP 的零样本分类与对抗攻击</a:t>
            </a:r>
          </a:p>
        </p:txBody>
      </p:sp>
      <p:sp>
        <p:nvSpPr>
          <p:cNvPr id="12" name="矩形 11"/>
          <p:cNvSpPr>
            <a:spLocks noGrp="1"/>
          </p:cNvSpPr>
          <p:nvPr/>
        </p:nvSpPr>
        <p:spPr>
          <a:xfrm>
            <a:off x="4048125" y="1695450"/>
            <a:ext cx="2143125" cy="295275"/>
          </a:xfrm>
          <a:prstGeom prst="rect">
            <a:avLst/>
          </a:prstGeom>
          <a:solidFill>
            <a:srgbClr val="082878"/>
          </a:solidFill>
          <a:ln w="0">
            <a:noFill/>
          </a:ln>
        </p:spPr>
      </p:sp>
      <p:sp>
        <p:nvSpPr>
          <p:cNvPr id="13" name="矩形 12"/>
          <p:cNvSpPr>
            <a:spLocks noGrp="1"/>
          </p:cNvSpPr>
          <p:nvPr/>
        </p:nvSpPr>
        <p:spPr>
          <a:xfrm>
            <a:off x="4124325" y="1714500"/>
            <a:ext cx="199072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Shared Embedding Space</a:t>
            </a:r>
          </a:p>
        </p:txBody>
      </p:sp>
      <p:sp>
        <p:nvSpPr>
          <p:cNvPr id="14" name="矩形 13"/>
          <p:cNvSpPr>
            <a:spLocks noGrp="1"/>
          </p:cNvSpPr>
          <p:nvPr/>
        </p:nvSpPr>
        <p:spPr>
          <a:xfrm>
            <a:off x="4048125" y="2085975"/>
            <a:ext cx="2143125" cy="2714625"/>
          </a:xfrm>
          <a:prstGeom prst="rect">
            <a:avLst/>
          </a:prstGeom>
          <a:solidFill>
            <a:srgbClr val="FFFFFF"/>
          </a:solidFill>
          <a:ln w="9525">
            <a:solidFill>
              <a:srgbClr val="CAD4E6"/>
            </a:solidFill>
          </a:ln>
        </p:spPr>
      </p:sp>
      <p:sp>
        <p:nvSpPr>
          <p:cNvPr id="15" name="矩形 14"/>
          <p:cNvSpPr>
            <a:spLocks noGrp="1"/>
          </p:cNvSpPr>
          <p:nvPr/>
        </p:nvSpPr>
        <p:spPr>
          <a:xfrm>
            <a:off x="714375" y="2171700"/>
            <a:ext cx="1428750" cy="381000"/>
          </a:xfrm>
          <a:prstGeom prst="rect">
            <a:avLst/>
          </a:prstGeom>
          <a:noFill/>
          <a:ln w="0">
            <a:noFill/>
          </a:ln>
        </p:spPr>
        <p:txBody>
          <a:bodyPr anchor="ctr">
            <a:normAutofit/>
          </a:bodyPr>
          <a:lstStyle/>
          <a:p>
            <a:pPr>
              <a:defRPr sz="1725" b="1">
                <a:solidFill>
                  <a:srgbClr val="10255A"/>
                </a:solidFill>
                <a:latin typeface="微软雅黑"/>
                <a:ea typeface="微软雅黑"/>
                <a:cs typeface="微软雅黑"/>
              </a:defRPr>
            </a:pPr>
            <a:r>
              <a:rPr sz="1725" b="1">
                <a:solidFill>
                  <a:srgbClr val="10255A"/>
                </a:solidFill>
                <a:latin typeface="微软雅黑"/>
                <a:ea typeface="微软雅黑"/>
                <a:cs typeface="微软雅黑"/>
              </a:rPr>
              <a:t>Image</a:t>
            </a:r>
          </a:p>
        </p:txBody>
      </p:sp>
      <p:sp>
        <p:nvSpPr>
          <p:cNvPr id="16" name="矩形 15"/>
          <p:cNvSpPr>
            <a:spLocks noGrp="1"/>
          </p:cNvSpPr>
          <p:nvPr/>
        </p:nvSpPr>
        <p:spPr>
          <a:xfrm>
            <a:off x="1743075" y="2181225"/>
            <a:ext cx="333375" cy="361950"/>
          </a:xfrm>
          <a:prstGeom prst="rect">
            <a:avLst/>
          </a:prstGeom>
          <a:noFill/>
          <a:ln w="0">
            <a:noFill/>
          </a:ln>
        </p:spPr>
        <p:txBody>
          <a:bodyPr anchor="ctr">
            <a:normAutofit fontScale="92978"/>
          </a:bodyPr>
          <a:lstStyle/>
          <a:p>
            <a:pPr>
              <a:defRPr sz="1875" b="0">
                <a:solidFill>
                  <a:srgbClr val="082878"/>
                </a:solidFill>
                <a:latin typeface="微软雅黑"/>
                <a:ea typeface="微软雅黑"/>
                <a:cs typeface="微软雅黑"/>
              </a:defRPr>
            </a:pPr>
            <a:r>
              <a:rPr sz="1875" b="0">
                <a:solidFill>
                  <a:srgbClr val="082878"/>
                </a:solidFill>
                <a:latin typeface="微软雅黑"/>
                <a:ea typeface="微软雅黑"/>
                <a:cs typeface="微软雅黑"/>
              </a:rPr>
              <a:t>→</a:t>
            </a:r>
          </a:p>
        </p:txBody>
      </p:sp>
      <p:sp>
        <p:nvSpPr>
          <p:cNvPr id="17" name="矩形 16"/>
          <p:cNvSpPr>
            <a:spLocks noGrp="1"/>
          </p:cNvSpPr>
          <p:nvPr/>
        </p:nvSpPr>
        <p:spPr>
          <a:xfrm>
            <a:off x="2143125" y="2171700"/>
            <a:ext cx="1857375" cy="381000"/>
          </a:xfrm>
          <a:prstGeom prst="rect">
            <a:avLst/>
          </a:prstGeom>
          <a:noFill/>
          <a:ln w="0">
            <a:noFill/>
          </a:ln>
        </p:spPr>
        <p:txBody>
          <a:bodyPr anchor="ctr">
            <a:normAutofit/>
          </a:bodyPr>
          <a:lstStyle/>
          <a:p>
            <a:pPr>
              <a:defRPr sz="1575" b="0">
                <a:solidFill>
                  <a:srgbClr val="1D2737"/>
                </a:solidFill>
                <a:latin typeface="微软雅黑"/>
                <a:ea typeface="微软雅黑"/>
                <a:cs typeface="微软雅黑"/>
              </a:defRPr>
            </a:pPr>
            <a:r>
              <a:rPr sz="1575" b="0">
                <a:solidFill>
                  <a:srgbClr val="1D2737"/>
                </a:solidFill>
                <a:latin typeface="微软雅黑"/>
                <a:ea typeface="微软雅黑"/>
                <a:cs typeface="微软雅黑"/>
              </a:rPr>
              <a:t>Vision Encoder</a:t>
            </a:r>
          </a:p>
        </p:txBody>
      </p:sp>
      <p:sp>
        <p:nvSpPr>
          <p:cNvPr id="18" name="矩形 17"/>
          <p:cNvSpPr>
            <a:spLocks noGrp="1"/>
          </p:cNvSpPr>
          <p:nvPr/>
        </p:nvSpPr>
        <p:spPr>
          <a:xfrm>
            <a:off x="3790950" y="2181225"/>
            <a:ext cx="285750" cy="361950"/>
          </a:xfrm>
          <a:prstGeom prst="rect">
            <a:avLst/>
          </a:prstGeom>
          <a:noFill/>
          <a:ln w="0">
            <a:noFill/>
          </a:ln>
        </p:spPr>
        <p:txBody>
          <a:bodyPr anchor="ctr">
            <a:normAutofit fontScale="95478" lnSpcReduction="10000"/>
          </a:bodyPr>
          <a:lstStyle/>
          <a:p>
            <a:pPr>
              <a:defRPr sz="1875" b="0">
                <a:solidFill>
                  <a:srgbClr val="082878"/>
                </a:solidFill>
                <a:latin typeface="微软雅黑"/>
                <a:ea typeface="微软雅黑"/>
                <a:cs typeface="微软雅黑"/>
              </a:defRPr>
            </a:pPr>
            <a:r>
              <a:rPr sz="1875" b="0">
                <a:solidFill>
                  <a:srgbClr val="082878"/>
                </a:solidFill>
                <a:latin typeface="微软雅黑"/>
                <a:ea typeface="微软雅黑"/>
                <a:cs typeface="微软雅黑"/>
              </a:rPr>
              <a:t>→</a:t>
            </a:r>
          </a:p>
        </p:txBody>
      </p:sp>
      <p:sp>
        <p:nvSpPr>
          <p:cNvPr id="19" name="矩形 18"/>
          <p:cNvSpPr>
            <a:spLocks noGrp="1"/>
          </p:cNvSpPr>
          <p:nvPr/>
        </p:nvSpPr>
        <p:spPr>
          <a:xfrm>
            <a:off x="4191000" y="2171700"/>
            <a:ext cx="1952625" cy="381000"/>
          </a:xfrm>
          <a:prstGeom prst="rect">
            <a:avLst/>
          </a:prstGeom>
          <a:noFill/>
          <a:ln w="0">
            <a:noFill/>
          </a:ln>
        </p:spPr>
        <p:txBody>
          <a:bodyPr anchor="ctr">
            <a:normAutofit/>
          </a:bodyPr>
          <a:lstStyle/>
          <a:p>
            <a:pPr>
              <a:defRPr sz="1425" b="1">
                <a:solidFill>
                  <a:srgbClr val="10255A"/>
                </a:solidFill>
                <a:latin typeface="微软雅黑"/>
                <a:ea typeface="微软雅黑"/>
                <a:cs typeface="微软雅黑"/>
              </a:defRPr>
            </a:pPr>
            <a:r>
              <a:rPr sz="1425" b="1">
                <a:solidFill>
                  <a:srgbClr val="10255A"/>
                </a:solidFill>
                <a:latin typeface="微软雅黑"/>
                <a:ea typeface="微软雅黑"/>
                <a:cs typeface="微软雅黑"/>
              </a:rPr>
              <a:t>Image Embedding</a:t>
            </a:r>
          </a:p>
        </p:txBody>
      </p:sp>
      <p:sp>
        <p:nvSpPr>
          <p:cNvPr id="20" name="矩形 19"/>
          <p:cNvSpPr>
            <a:spLocks noGrp="1"/>
          </p:cNvSpPr>
          <p:nvPr/>
        </p:nvSpPr>
        <p:spPr>
          <a:xfrm>
            <a:off x="714375" y="3924300"/>
            <a:ext cx="1619250" cy="381000"/>
          </a:xfrm>
          <a:prstGeom prst="rect">
            <a:avLst/>
          </a:prstGeom>
          <a:noFill/>
          <a:ln w="0">
            <a:noFill/>
          </a:ln>
        </p:spPr>
        <p:txBody>
          <a:bodyPr anchor="ctr">
            <a:normAutofit/>
          </a:bodyPr>
          <a:lstStyle/>
          <a:p>
            <a:pPr>
              <a:defRPr sz="1725" b="1">
                <a:solidFill>
                  <a:srgbClr val="10255A"/>
                </a:solidFill>
                <a:latin typeface="微软雅黑"/>
                <a:ea typeface="微软雅黑"/>
                <a:cs typeface="微软雅黑"/>
              </a:defRPr>
            </a:pPr>
            <a:r>
              <a:rPr sz="1725" b="1">
                <a:solidFill>
                  <a:srgbClr val="10255A"/>
                </a:solidFill>
                <a:latin typeface="微软雅黑"/>
                <a:ea typeface="微软雅黑"/>
                <a:cs typeface="微软雅黑"/>
              </a:rPr>
              <a:t>Text Prompt</a:t>
            </a:r>
          </a:p>
        </p:txBody>
      </p:sp>
      <p:sp>
        <p:nvSpPr>
          <p:cNvPr id="21" name="矩形 20"/>
          <p:cNvSpPr>
            <a:spLocks noGrp="1"/>
          </p:cNvSpPr>
          <p:nvPr/>
        </p:nvSpPr>
        <p:spPr>
          <a:xfrm>
            <a:off x="2047875" y="3933825"/>
            <a:ext cx="333375" cy="361950"/>
          </a:xfrm>
          <a:prstGeom prst="rect">
            <a:avLst/>
          </a:prstGeom>
          <a:noFill/>
          <a:ln w="0">
            <a:noFill/>
          </a:ln>
        </p:spPr>
        <p:txBody>
          <a:bodyPr anchor="ctr">
            <a:normAutofit fontScale="92978"/>
          </a:bodyPr>
          <a:lstStyle/>
          <a:p>
            <a:pPr>
              <a:defRPr sz="1875" b="0">
                <a:solidFill>
                  <a:srgbClr val="082878"/>
                </a:solidFill>
                <a:latin typeface="微软雅黑"/>
                <a:ea typeface="微软雅黑"/>
                <a:cs typeface="微软雅黑"/>
              </a:defRPr>
            </a:pPr>
            <a:r>
              <a:rPr sz="1875" b="0">
                <a:solidFill>
                  <a:srgbClr val="082878"/>
                </a:solidFill>
                <a:latin typeface="微软雅黑"/>
                <a:ea typeface="微软雅黑"/>
                <a:cs typeface="微软雅黑"/>
              </a:rPr>
              <a:t>→</a:t>
            </a:r>
          </a:p>
        </p:txBody>
      </p:sp>
      <p:sp>
        <p:nvSpPr>
          <p:cNvPr id="22" name="矩形 21"/>
          <p:cNvSpPr>
            <a:spLocks noGrp="1"/>
          </p:cNvSpPr>
          <p:nvPr/>
        </p:nvSpPr>
        <p:spPr>
          <a:xfrm>
            <a:off x="2381250" y="3924300"/>
            <a:ext cx="1524000" cy="381000"/>
          </a:xfrm>
          <a:prstGeom prst="rect">
            <a:avLst/>
          </a:prstGeom>
          <a:noFill/>
          <a:ln w="0">
            <a:noFill/>
          </a:ln>
        </p:spPr>
        <p:txBody>
          <a:bodyPr anchor="ctr">
            <a:normAutofit/>
          </a:bodyPr>
          <a:lstStyle/>
          <a:p>
            <a:pPr>
              <a:defRPr sz="1575" b="0">
                <a:solidFill>
                  <a:srgbClr val="1D2737"/>
                </a:solidFill>
                <a:latin typeface="微软雅黑"/>
                <a:ea typeface="微软雅黑"/>
                <a:cs typeface="微软雅黑"/>
              </a:defRPr>
            </a:pPr>
            <a:r>
              <a:rPr sz="1575" b="0">
                <a:solidFill>
                  <a:srgbClr val="1D2737"/>
                </a:solidFill>
                <a:latin typeface="微软雅黑"/>
                <a:ea typeface="微软雅黑"/>
                <a:cs typeface="微软雅黑"/>
              </a:rPr>
              <a:t>Text Encoder</a:t>
            </a:r>
          </a:p>
        </p:txBody>
      </p:sp>
      <p:sp>
        <p:nvSpPr>
          <p:cNvPr id="23" name="矩形 22"/>
          <p:cNvSpPr>
            <a:spLocks noGrp="1"/>
          </p:cNvSpPr>
          <p:nvPr/>
        </p:nvSpPr>
        <p:spPr>
          <a:xfrm>
            <a:off x="3790950" y="3933825"/>
            <a:ext cx="285750" cy="361950"/>
          </a:xfrm>
          <a:prstGeom prst="rect">
            <a:avLst/>
          </a:prstGeom>
          <a:noFill/>
          <a:ln w="0">
            <a:noFill/>
          </a:ln>
        </p:spPr>
        <p:txBody>
          <a:bodyPr anchor="ctr">
            <a:normAutofit fontScale="95478" lnSpcReduction="10000"/>
          </a:bodyPr>
          <a:lstStyle/>
          <a:p>
            <a:pPr>
              <a:defRPr sz="1875" b="0">
                <a:solidFill>
                  <a:srgbClr val="082878"/>
                </a:solidFill>
                <a:latin typeface="微软雅黑"/>
                <a:ea typeface="微软雅黑"/>
                <a:cs typeface="微软雅黑"/>
              </a:defRPr>
            </a:pPr>
            <a:r>
              <a:rPr sz="1875" b="0">
                <a:solidFill>
                  <a:srgbClr val="082878"/>
                </a:solidFill>
                <a:latin typeface="微软雅黑"/>
                <a:ea typeface="微软雅黑"/>
                <a:cs typeface="微软雅黑"/>
              </a:rPr>
              <a:t>→</a:t>
            </a:r>
          </a:p>
        </p:txBody>
      </p:sp>
      <p:sp>
        <p:nvSpPr>
          <p:cNvPr id="24" name="矩形 23"/>
          <p:cNvSpPr>
            <a:spLocks noGrp="1"/>
          </p:cNvSpPr>
          <p:nvPr/>
        </p:nvSpPr>
        <p:spPr>
          <a:xfrm>
            <a:off x="4191000" y="3924300"/>
            <a:ext cx="1952625" cy="381000"/>
          </a:xfrm>
          <a:prstGeom prst="rect">
            <a:avLst/>
          </a:prstGeom>
          <a:noFill/>
          <a:ln w="0">
            <a:noFill/>
          </a:ln>
        </p:spPr>
        <p:txBody>
          <a:bodyPr anchor="ctr">
            <a:normAutofit/>
          </a:bodyPr>
          <a:lstStyle/>
          <a:p>
            <a:pPr>
              <a:defRPr sz="1425" b="1">
                <a:solidFill>
                  <a:srgbClr val="10255A"/>
                </a:solidFill>
                <a:latin typeface="微软雅黑"/>
                <a:ea typeface="微软雅黑"/>
                <a:cs typeface="微软雅黑"/>
              </a:defRPr>
            </a:pPr>
            <a:r>
              <a:rPr sz="1425" b="1">
                <a:solidFill>
                  <a:srgbClr val="10255A"/>
                </a:solidFill>
                <a:latin typeface="微软雅黑"/>
                <a:ea typeface="微软雅黑"/>
                <a:cs typeface="微软雅黑"/>
              </a:rPr>
              <a:t>Text Embedding</a:t>
            </a:r>
          </a:p>
        </p:txBody>
      </p:sp>
      <p:sp>
        <p:nvSpPr>
          <p:cNvPr id="25" name="矩形 24"/>
          <p:cNvSpPr>
            <a:spLocks noGrp="1"/>
          </p:cNvSpPr>
          <p:nvPr/>
        </p:nvSpPr>
        <p:spPr>
          <a:xfrm>
            <a:off x="5048250" y="2619375"/>
            <a:ext cx="476250" cy="381000"/>
          </a:xfrm>
          <a:prstGeom prst="rect">
            <a:avLst/>
          </a:prstGeom>
          <a:noFill/>
          <a:ln w="0">
            <a:noFill/>
          </a:ln>
        </p:spPr>
        <p:txBody>
          <a:bodyPr anchor="ctr">
            <a:normAutofit fontScale="94856" lnSpcReduction="10000"/>
          </a:bodyPr>
          <a:lstStyle/>
          <a:p>
            <a:pPr>
              <a:defRPr sz="2175" b="1">
                <a:solidFill>
                  <a:srgbClr val="082878"/>
                </a:solidFill>
                <a:latin typeface="微软雅黑"/>
                <a:ea typeface="微软雅黑"/>
                <a:cs typeface="微软雅黑"/>
              </a:defRPr>
            </a:pPr>
            <a:r>
              <a:rPr sz="2175" b="1">
                <a:solidFill>
                  <a:srgbClr val="082878"/>
                </a:solidFill>
                <a:latin typeface="微软雅黑"/>
                <a:ea typeface="微软雅黑"/>
                <a:cs typeface="微软雅黑"/>
              </a:rPr>
              <a:t>↘</a:t>
            </a:r>
          </a:p>
        </p:txBody>
      </p:sp>
      <p:sp>
        <p:nvSpPr>
          <p:cNvPr id="26" name="矩形 25"/>
          <p:cNvSpPr>
            <a:spLocks noGrp="1"/>
          </p:cNvSpPr>
          <p:nvPr/>
        </p:nvSpPr>
        <p:spPr>
          <a:xfrm>
            <a:off x="4286250" y="3048000"/>
            <a:ext cx="1857375" cy="619125"/>
          </a:xfrm>
          <a:prstGeom prst="rect">
            <a:avLst/>
          </a:prstGeom>
          <a:noFill/>
          <a:ln w="0">
            <a:noFill/>
          </a:ln>
        </p:spPr>
        <p:txBody>
          <a:bodyPr anchor="ctr">
            <a:normAutofit/>
          </a:bodyPr>
          <a:lstStyle/>
          <a:p>
            <a:pPr>
              <a:defRPr sz="1725" b="1">
                <a:solidFill>
                  <a:srgbClr val="082878"/>
                </a:solidFill>
                <a:latin typeface="微软雅黑"/>
                <a:ea typeface="微软雅黑"/>
                <a:cs typeface="微软雅黑"/>
              </a:defRPr>
            </a:pPr>
            <a:r>
              <a:rPr sz="1725" b="1">
                <a:solidFill>
                  <a:srgbClr val="082878"/>
                </a:solidFill>
                <a:latin typeface="微软雅黑"/>
                <a:ea typeface="微软雅黑"/>
                <a:cs typeface="微软雅黑"/>
              </a:rPr>
              <a:t>Cosine</a:t>
            </a:r>
          </a:p>
          <a:p>
            <a:pPr>
              <a:defRPr sz="1725" b="1">
                <a:solidFill>
                  <a:srgbClr val="082878"/>
                </a:solidFill>
                <a:latin typeface="微软雅黑"/>
                <a:ea typeface="微软雅黑"/>
                <a:cs typeface="微软雅黑"/>
              </a:defRPr>
            </a:pPr>
            <a:r>
              <a:rPr sz="1725" b="1">
                <a:solidFill>
                  <a:srgbClr val="082878"/>
                </a:solidFill>
                <a:latin typeface="微软雅黑"/>
                <a:ea typeface="微软雅黑"/>
                <a:cs typeface="微软雅黑"/>
              </a:rPr>
              <a:t>Similarity</a:t>
            </a:r>
          </a:p>
        </p:txBody>
      </p:sp>
      <p:sp>
        <p:nvSpPr>
          <p:cNvPr id="27" name="矩形 26"/>
          <p:cNvSpPr>
            <a:spLocks noGrp="1"/>
          </p:cNvSpPr>
          <p:nvPr/>
        </p:nvSpPr>
        <p:spPr>
          <a:xfrm>
            <a:off x="5048250" y="3667125"/>
            <a:ext cx="476250" cy="381000"/>
          </a:xfrm>
          <a:prstGeom prst="rect">
            <a:avLst/>
          </a:prstGeom>
          <a:noFill/>
          <a:ln w="0">
            <a:noFill/>
          </a:ln>
        </p:spPr>
        <p:txBody>
          <a:bodyPr anchor="ctr">
            <a:normAutofit fontScale="94856" lnSpcReduction="10000"/>
          </a:bodyPr>
          <a:lstStyle/>
          <a:p>
            <a:pPr>
              <a:defRPr sz="2175" b="1">
                <a:solidFill>
                  <a:srgbClr val="082878"/>
                </a:solidFill>
                <a:latin typeface="微软雅黑"/>
                <a:ea typeface="微软雅黑"/>
                <a:cs typeface="微软雅黑"/>
              </a:defRPr>
            </a:pPr>
            <a:r>
              <a:rPr sz="2175" b="1">
                <a:solidFill>
                  <a:srgbClr val="082878"/>
                </a:solidFill>
                <a:latin typeface="微软雅黑"/>
                <a:ea typeface="微软雅黑"/>
                <a:cs typeface="微软雅黑"/>
              </a:rPr>
              <a:t>↗</a:t>
            </a:r>
          </a:p>
        </p:txBody>
      </p:sp>
      <p:sp>
        <p:nvSpPr>
          <p:cNvPr id="28" name="矩形 27"/>
          <p:cNvSpPr>
            <a:spLocks noGrp="1"/>
          </p:cNvSpPr>
          <p:nvPr/>
        </p:nvSpPr>
        <p:spPr>
          <a:xfrm>
            <a:off x="3838575" y="4857750"/>
            <a:ext cx="2857500" cy="400050"/>
          </a:xfrm>
          <a:prstGeom prst="rect">
            <a:avLst/>
          </a:prstGeom>
          <a:noFill/>
          <a:ln w="0">
            <a:noFill/>
          </a:ln>
        </p:spPr>
        <p:txBody>
          <a:bodyPr anchor="ctr">
            <a:normAutofit/>
          </a:bodyPr>
          <a:lstStyle/>
          <a:p>
            <a:pPr>
              <a:defRPr sz="1650" b="1">
                <a:solidFill>
                  <a:srgbClr val="10255A"/>
                </a:solidFill>
                <a:latin typeface="微软雅黑"/>
                <a:ea typeface="微软雅黑"/>
                <a:cs typeface="微软雅黑"/>
              </a:defRPr>
            </a:pPr>
            <a:r>
              <a:rPr sz="1650" b="1">
                <a:solidFill>
                  <a:srgbClr val="10255A"/>
                </a:solidFill>
                <a:latin typeface="微软雅黑"/>
                <a:ea typeface="微软雅黑"/>
                <a:cs typeface="微软雅黑"/>
              </a:rPr>
              <a:t>↓  Zero-shot Prediction</a:t>
            </a:r>
          </a:p>
        </p:txBody>
      </p:sp>
      <p:pic>
        <p:nvPicPr>
          <p:cNvPr id="61" name="图片 60"/>
          <p:cNvPicPr>
            <a:picLocks noChangeAspect="1"/>
          </p:cNvPicPr>
          <p:nvPr/>
        </p:nvPicPr>
        <p:blipFill>
          <a:blip r:embed="rId3"/>
          <a:stretch>
            <a:fillRect/>
          </a:stretch>
        </p:blipFill>
        <p:spPr>
          <a:xfrm>
            <a:off x="6715125" y="1956068"/>
            <a:ext cx="4667250" cy="2755364"/>
          </a:xfrm>
          <a:prstGeom prst="rect">
            <a:avLst/>
          </a:prstGeom>
        </p:spPr>
      </p:pic>
      <p:sp>
        <p:nvSpPr>
          <p:cNvPr id="30" name="矩形 29"/>
          <p:cNvSpPr>
            <a:spLocks noGrp="1"/>
          </p:cNvSpPr>
          <p:nvPr/>
        </p:nvSpPr>
        <p:spPr>
          <a:xfrm>
            <a:off x="7000875" y="4810125"/>
            <a:ext cx="4238625" cy="333375"/>
          </a:xfrm>
          <a:prstGeom prst="rect">
            <a:avLst/>
          </a:prstGeom>
          <a:noFill/>
          <a:ln w="0">
            <a:noFill/>
          </a:ln>
        </p:spPr>
        <p:txBody>
          <a:bodyPr anchor="ctr">
            <a:normAutofit/>
          </a:bodyPr>
          <a:lstStyle/>
          <a:p>
            <a:pPr>
              <a:defRPr sz="1425" b="1">
                <a:solidFill>
                  <a:srgbClr val="AE3F3F"/>
                </a:solidFill>
                <a:latin typeface="微软雅黑"/>
                <a:ea typeface="微软雅黑"/>
                <a:cs typeface="微软雅黑"/>
              </a:defRPr>
            </a:pPr>
            <a:r>
              <a:rPr sz="1425" b="1">
                <a:solidFill>
                  <a:srgbClr val="AE3F3F"/>
                </a:solidFill>
                <a:latin typeface="微软雅黑"/>
                <a:ea typeface="微软雅黑"/>
                <a:cs typeface="微软雅黑"/>
              </a:rPr>
              <a:t>screwdriver  →  lighter  →  screwdriver</a:t>
            </a:r>
          </a:p>
        </p:txBody>
      </p:sp>
      <p:sp>
        <p:nvSpPr>
          <p:cNvPr id="31" name="矩形 30"/>
          <p:cNvSpPr>
            <a:spLocks noGrp="1"/>
          </p:cNvSpPr>
          <p:nvPr/>
        </p:nvSpPr>
        <p:spPr>
          <a:xfrm>
            <a:off x="714375" y="5429250"/>
            <a:ext cx="10668000" cy="19050"/>
          </a:xfrm>
          <a:prstGeom prst="rect">
            <a:avLst/>
          </a:prstGeom>
          <a:solidFill>
            <a:srgbClr val="CAD4E6"/>
          </a:solidFill>
          <a:ln w="0">
            <a:noFill/>
          </a:ln>
        </p:spPr>
      </p:sp>
      <p:sp>
        <p:nvSpPr>
          <p:cNvPr id="32" name="矩形 31"/>
          <p:cNvSpPr>
            <a:spLocks noGrp="1"/>
          </p:cNvSpPr>
          <p:nvPr/>
        </p:nvSpPr>
        <p:spPr>
          <a:xfrm>
            <a:off x="809625" y="5610225"/>
            <a:ext cx="10287000" cy="542925"/>
          </a:xfrm>
          <a:prstGeom prst="rect">
            <a:avLst/>
          </a:prstGeom>
          <a:noFill/>
          <a:ln w="0">
            <a:noFill/>
          </a:ln>
        </p:spPr>
        <p:txBody>
          <a:bodyPr anchor="ctr">
            <a:normAutofit/>
          </a:bodyPr>
          <a:lstStyle/>
          <a:p>
            <a:pPr>
              <a:defRPr sz="1875" b="1">
                <a:solidFill>
                  <a:srgbClr val="082878"/>
                </a:solidFill>
                <a:latin typeface="微软雅黑"/>
                <a:ea typeface="微软雅黑"/>
                <a:cs typeface="微软雅黑"/>
              </a:defRPr>
            </a:pPr>
            <a:r>
              <a:rPr sz="1875" b="1">
                <a:solidFill>
                  <a:srgbClr val="082878"/>
                </a:solidFill>
                <a:latin typeface="微软雅黑"/>
                <a:ea typeface="微软雅黑"/>
                <a:cs typeface="微软雅黑"/>
              </a:rPr>
              <a:t>Adversarial Perturbation：人眼近似不变，预测可能改变</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p:cNvSpPr>
            <a:spLocks noGrp="1"/>
          </p:cNvSpPr>
          <p:nvPr/>
        </p:nvSpPr>
        <p:spPr>
          <a:xfrm>
            <a:off x="5048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研究背景</a:t>
            </a:r>
          </a:p>
        </p:txBody>
      </p:sp>
      <p:sp>
        <p:nvSpPr>
          <p:cNvPr id="2" name="矩形 1"/>
          <p:cNvSpPr>
            <a:spLocks noGrp="1"/>
          </p:cNvSpPr>
          <p:nvPr/>
        </p:nvSpPr>
        <p:spPr>
          <a:xfrm>
            <a:off x="1866900" y="228600"/>
            <a:ext cx="1409700" cy="409575"/>
          </a:xfrm>
          <a:prstGeom prst="rect">
            <a:avLst/>
          </a:prstGeom>
          <a:solidFill>
            <a:srgbClr val="082878"/>
          </a:solidFill>
          <a:ln w="0">
            <a:noFill/>
          </a:ln>
        </p:spPr>
      </p:sp>
      <p:sp>
        <p:nvSpPr>
          <p:cNvPr id="3" name="矩形 2"/>
          <p:cNvSpPr>
            <a:spLocks noGrp="1"/>
          </p:cNvSpPr>
          <p:nvPr/>
        </p:nvSpPr>
        <p:spPr>
          <a:xfrm>
            <a:off x="1914525" y="266700"/>
            <a:ext cx="1314450" cy="323850"/>
          </a:xfrm>
          <a:prstGeom prst="rect">
            <a:avLst/>
          </a:prstGeom>
          <a:noFill/>
          <a:ln w="0">
            <a:noFill/>
          </a:ln>
        </p:spPr>
        <p:txBody>
          <a:bodyPr anchor="ctr">
            <a:normAutofit/>
          </a:bodyPr>
          <a:lstStyle/>
          <a:p>
            <a:pPr>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研究动机</a:t>
            </a:r>
          </a:p>
        </p:txBody>
      </p:sp>
      <p:sp>
        <p:nvSpPr>
          <p:cNvPr id="4" name="矩形 3"/>
          <p:cNvSpPr>
            <a:spLocks noGrp="1"/>
          </p:cNvSpPr>
          <p:nvPr/>
        </p:nvSpPr>
        <p:spPr>
          <a:xfrm>
            <a:off x="33242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关键发现</a:t>
            </a:r>
          </a:p>
        </p:txBody>
      </p:sp>
      <p:sp>
        <p:nvSpPr>
          <p:cNvPr id="5" name="矩形 4"/>
          <p:cNvSpPr>
            <a:spLocks noGrp="1"/>
          </p:cNvSpPr>
          <p:nvPr/>
        </p:nvSpPr>
        <p:spPr>
          <a:xfrm>
            <a:off x="47339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TTC 方法</a:t>
            </a:r>
          </a:p>
        </p:txBody>
      </p:sp>
      <p:sp>
        <p:nvSpPr>
          <p:cNvPr id="6" name="矩形 5"/>
          <p:cNvSpPr>
            <a:spLocks noGrp="1"/>
          </p:cNvSpPr>
          <p:nvPr/>
        </p:nvSpPr>
        <p:spPr>
          <a:xfrm>
            <a:off x="6143625" y="266700"/>
            <a:ext cx="114300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创新点</a:t>
            </a:r>
          </a:p>
        </p:txBody>
      </p:sp>
      <p:sp>
        <p:nvSpPr>
          <p:cNvPr id="7" name="矩形 6"/>
          <p:cNvSpPr>
            <a:spLocks noGrp="1"/>
          </p:cNvSpPr>
          <p:nvPr/>
        </p:nvSpPr>
        <p:spPr>
          <a:xfrm>
            <a:off x="73818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实验结果</a:t>
            </a:r>
          </a:p>
        </p:txBody>
      </p:sp>
      <p:sp>
        <p:nvSpPr>
          <p:cNvPr id="8" name="矩形 7"/>
          <p:cNvSpPr>
            <a:spLocks noGrp="1"/>
          </p:cNvSpPr>
          <p:nvPr/>
        </p:nvSpPr>
        <p:spPr>
          <a:xfrm>
            <a:off x="87915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总结讨论</a:t>
            </a:r>
          </a:p>
        </p:txBody>
      </p:sp>
      <p:sp>
        <p:nvSpPr>
          <p:cNvPr id="9" name="矩形 8"/>
          <p:cNvSpPr>
            <a:spLocks noGrp="1"/>
          </p:cNvSpPr>
          <p:nvPr/>
        </p:nvSpPr>
        <p:spPr>
          <a:xfrm>
            <a:off x="457200" y="647700"/>
            <a:ext cx="11277600" cy="28575"/>
          </a:xfrm>
          <a:prstGeom prst="rect">
            <a:avLst/>
          </a:prstGeom>
          <a:solidFill>
            <a:srgbClr val="082878"/>
          </a:solidFill>
          <a:ln w="0">
            <a:noFill/>
          </a:ln>
        </p:spPr>
      </p:sp>
      <p:sp>
        <p:nvSpPr>
          <p:cNvPr id="10" name="矩形 9"/>
          <p:cNvSpPr>
            <a:spLocks noGrp="1"/>
          </p:cNvSpPr>
          <p:nvPr/>
        </p:nvSpPr>
        <p:spPr>
          <a:xfrm>
            <a:off x="495300" y="1095375"/>
            <a:ext cx="85725" cy="285750"/>
          </a:xfrm>
          <a:prstGeom prst="rect">
            <a:avLst/>
          </a:prstGeom>
          <a:solidFill>
            <a:srgbClr val="082878"/>
          </a:solidFill>
          <a:ln w="0">
            <a:noFill/>
          </a:ln>
        </p:spPr>
      </p:sp>
      <p:sp>
        <p:nvSpPr>
          <p:cNvPr id="11" name="矩形 10"/>
          <p:cNvSpPr>
            <a:spLocks noGrp="1"/>
          </p:cNvSpPr>
          <p:nvPr/>
        </p:nvSpPr>
        <p:spPr>
          <a:xfrm>
            <a:off x="695325" y="1000125"/>
            <a:ext cx="10620375" cy="552450"/>
          </a:xfrm>
          <a:prstGeom prst="rect">
            <a:avLst/>
          </a:prstGeom>
          <a:noFill/>
          <a:ln w="0">
            <a:noFill/>
          </a:ln>
        </p:spPr>
        <p:txBody>
          <a:bodyPr anchor="ctr">
            <a:normAutofit/>
          </a:bodyPr>
          <a:lstStyle/>
          <a:p>
            <a:pPr>
              <a:defRPr sz="2550" b="1">
                <a:solidFill>
                  <a:srgbClr val="10255A"/>
                </a:solidFill>
                <a:latin typeface="微软雅黑"/>
                <a:ea typeface="微软雅黑"/>
                <a:cs typeface="微软雅黑"/>
              </a:defRPr>
            </a:pPr>
            <a:r>
              <a:rPr sz="2550" b="1">
                <a:solidFill>
                  <a:srgbClr val="10255A"/>
                </a:solidFill>
                <a:latin typeface="微软雅黑"/>
                <a:ea typeface="微软雅黑"/>
                <a:cs typeface="微软雅黑"/>
              </a:rPr>
              <a:t>为何不直接重新训练 CLIP？</a:t>
            </a:r>
          </a:p>
        </p:txBody>
      </p:sp>
      <p:sp>
        <p:nvSpPr>
          <p:cNvPr id="12" name="矩形 11"/>
          <p:cNvSpPr>
            <a:spLocks noGrp="1"/>
          </p:cNvSpPr>
          <p:nvPr/>
        </p:nvSpPr>
        <p:spPr>
          <a:xfrm>
            <a:off x="714375" y="1714500"/>
            <a:ext cx="2047875" cy="295275"/>
          </a:xfrm>
          <a:prstGeom prst="rect">
            <a:avLst/>
          </a:prstGeom>
          <a:solidFill>
            <a:srgbClr val="082878"/>
          </a:solidFill>
          <a:ln w="0">
            <a:noFill/>
          </a:ln>
        </p:spPr>
      </p:sp>
      <p:sp>
        <p:nvSpPr>
          <p:cNvPr id="13" name="矩形 12"/>
          <p:cNvSpPr>
            <a:spLocks noGrp="1"/>
          </p:cNvSpPr>
          <p:nvPr/>
        </p:nvSpPr>
        <p:spPr>
          <a:xfrm>
            <a:off x="790575" y="1733550"/>
            <a:ext cx="189547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Existing Defenses</a:t>
            </a:r>
          </a:p>
        </p:txBody>
      </p:sp>
      <p:sp>
        <p:nvSpPr>
          <p:cNvPr id="14" name="矩形 13"/>
          <p:cNvSpPr>
            <a:spLocks noGrp="1"/>
          </p:cNvSpPr>
          <p:nvPr/>
        </p:nvSpPr>
        <p:spPr>
          <a:xfrm>
            <a:off x="809625" y="2247900"/>
            <a:ext cx="904875" cy="400050"/>
          </a:xfrm>
          <a:prstGeom prst="rect">
            <a:avLst/>
          </a:prstGeom>
          <a:noFill/>
          <a:ln w="0">
            <a:noFill/>
          </a:ln>
        </p:spPr>
        <p:txBody>
          <a:bodyPr anchor="ctr">
            <a:normAutofit/>
          </a:bodyPr>
          <a:lstStyle/>
          <a:p>
            <a:pPr>
              <a:defRPr sz="1875" b="1">
                <a:solidFill>
                  <a:srgbClr val="10255A"/>
                </a:solidFill>
                <a:latin typeface="微软雅黑"/>
                <a:ea typeface="微软雅黑"/>
                <a:cs typeface="微软雅黑"/>
              </a:defRPr>
            </a:pPr>
            <a:r>
              <a:rPr sz="1875" b="1">
                <a:solidFill>
                  <a:srgbClr val="10255A"/>
                </a:solidFill>
                <a:latin typeface="微软雅黑"/>
                <a:ea typeface="微软雅黑"/>
                <a:cs typeface="微软雅黑"/>
              </a:rPr>
              <a:t>AFT</a:t>
            </a:r>
          </a:p>
        </p:txBody>
      </p:sp>
      <p:sp>
        <p:nvSpPr>
          <p:cNvPr id="15" name="矩形 14"/>
          <p:cNvSpPr>
            <a:spLocks noGrp="1"/>
          </p:cNvSpPr>
          <p:nvPr/>
        </p:nvSpPr>
        <p:spPr>
          <a:xfrm>
            <a:off x="1809750" y="2247900"/>
            <a:ext cx="5810250" cy="400050"/>
          </a:xfrm>
          <a:prstGeom prst="rect">
            <a:avLst/>
          </a:prstGeom>
          <a:noFill/>
          <a:ln w="0">
            <a:noFill/>
          </a:ln>
        </p:spPr>
        <p:txBody>
          <a:bodyPr anchor="ctr">
            <a:normAutofit/>
          </a:bodyPr>
          <a:lstStyle/>
          <a:p>
            <a:pPr>
              <a:defRPr sz="1650" b="0">
                <a:solidFill>
                  <a:srgbClr val="1D2737"/>
                </a:solidFill>
                <a:latin typeface="微软雅黑"/>
                <a:ea typeface="微软雅黑"/>
                <a:cs typeface="微软雅黑"/>
              </a:defRPr>
            </a:pPr>
            <a:r>
              <a:rPr sz="1650" b="0">
                <a:solidFill>
                  <a:srgbClr val="1D2737"/>
                </a:solidFill>
                <a:latin typeface="微软雅黑"/>
                <a:ea typeface="微软雅黑"/>
                <a:cs typeface="微软雅黑"/>
              </a:rPr>
              <a:t>Adversarial images → Vision Encoder → update θ</a:t>
            </a:r>
          </a:p>
        </p:txBody>
      </p:sp>
      <p:sp>
        <p:nvSpPr>
          <p:cNvPr id="16" name="矩形 15"/>
          <p:cNvSpPr>
            <a:spLocks noGrp="1"/>
          </p:cNvSpPr>
          <p:nvPr/>
        </p:nvSpPr>
        <p:spPr>
          <a:xfrm>
            <a:off x="809625" y="2809875"/>
            <a:ext cx="904875" cy="400050"/>
          </a:xfrm>
          <a:prstGeom prst="rect">
            <a:avLst/>
          </a:prstGeom>
          <a:noFill/>
          <a:ln w="0">
            <a:noFill/>
          </a:ln>
        </p:spPr>
        <p:txBody>
          <a:bodyPr anchor="ctr">
            <a:normAutofit/>
          </a:bodyPr>
          <a:lstStyle/>
          <a:p>
            <a:pPr>
              <a:defRPr sz="1875" b="1">
                <a:solidFill>
                  <a:srgbClr val="10255A"/>
                </a:solidFill>
                <a:latin typeface="微软雅黑"/>
                <a:ea typeface="微软雅黑"/>
                <a:cs typeface="微软雅黑"/>
              </a:defRPr>
            </a:pPr>
            <a:r>
              <a:rPr sz="1875" b="1">
                <a:solidFill>
                  <a:srgbClr val="10255A"/>
                </a:solidFill>
                <a:latin typeface="微软雅黑"/>
                <a:ea typeface="微软雅黑"/>
                <a:cs typeface="微软雅黑"/>
              </a:rPr>
              <a:t>APT</a:t>
            </a:r>
          </a:p>
        </p:txBody>
      </p:sp>
      <p:sp>
        <p:nvSpPr>
          <p:cNvPr id="17" name="矩形 16"/>
          <p:cNvSpPr>
            <a:spLocks noGrp="1"/>
          </p:cNvSpPr>
          <p:nvPr/>
        </p:nvSpPr>
        <p:spPr>
          <a:xfrm>
            <a:off x="1809750" y="2809875"/>
            <a:ext cx="5810250" cy="400050"/>
          </a:xfrm>
          <a:prstGeom prst="rect">
            <a:avLst/>
          </a:prstGeom>
          <a:noFill/>
          <a:ln w="0">
            <a:noFill/>
          </a:ln>
        </p:spPr>
        <p:txBody>
          <a:bodyPr anchor="ctr">
            <a:normAutofit/>
          </a:bodyPr>
          <a:lstStyle/>
          <a:p>
            <a:pPr>
              <a:defRPr sz="1575" b="0">
                <a:solidFill>
                  <a:srgbClr val="1D2737"/>
                </a:solidFill>
                <a:latin typeface="微软雅黑"/>
                <a:ea typeface="微软雅黑"/>
                <a:cs typeface="微软雅黑"/>
              </a:defRPr>
            </a:pPr>
            <a:r>
              <a:rPr sz="1575" b="0">
                <a:solidFill>
                  <a:srgbClr val="1D2737"/>
                </a:solidFill>
                <a:latin typeface="微软雅黑"/>
                <a:ea typeface="微软雅黑"/>
                <a:cs typeface="微软雅黑"/>
              </a:rPr>
              <a:t>Adversarial images → Text Prompts → update tokens</a:t>
            </a:r>
          </a:p>
        </p:txBody>
      </p:sp>
      <p:sp>
        <p:nvSpPr>
          <p:cNvPr id="18" name="矩形 17"/>
          <p:cNvSpPr>
            <a:spLocks noGrp="1"/>
          </p:cNvSpPr>
          <p:nvPr/>
        </p:nvSpPr>
        <p:spPr>
          <a:xfrm>
            <a:off x="714375" y="3505200"/>
            <a:ext cx="1524000" cy="295275"/>
          </a:xfrm>
          <a:prstGeom prst="rect">
            <a:avLst/>
          </a:prstGeom>
          <a:solidFill>
            <a:srgbClr val="082878"/>
          </a:solidFill>
          <a:ln w="0">
            <a:noFill/>
          </a:ln>
        </p:spPr>
      </p:sp>
      <p:sp>
        <p:nvSpPr>
          <p:cNvPr id="19" name="矩形 18"/>
          <p:cNvSpPr>
            <a:spLocks noGrp="1"/>
          </p:cNvSpPr>
          <p:nvPr/>
        </p:nvSpPr>
        <p:spPr>
          <a:xfrm>
            <a:off x="790575" y="3524250"/>
            <a:ext cx="137160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Limitations</a:t>
            </a:r>
          </a:p>
        </p:txBody>
      </p:sp>
      <p:sp>
        <p:nvSpPr>
          <p:cNvPr id="20" name="矩形 19"/>
          <p:cNvSpPr>
            <a:spLocks noGrp="1"/>
          </p:cNvSpPr>
          <p:nvPr/>
        </p:nvSpPr>
        <p:spPr>
          <a:xfrm>
            <a:off x="857250" y="4019550"/>
            <a:ext cx="2095500" cy="400050"/>
          </a:xfrm>
          <a:prstGeom prst="rect">
            <a:avLst/>
          </a:prstGeom>
          <a:noFill/>
          <a:ln w="0">
            <a:noFill/>
          </a:ln>
        </p:spPr>
        <p:txBody>
          <a:bodyPr anchor="ctr">
            <a:normAutofit/>
          </a:bodyPr>
          <a:lstStyle/>
          <a:p>
            <a:pPr>
              <a:defRPr sz="1650" b="1">
                <a:solidFill>
                  <a:srgbClr val="1D2737"/>
                </a:solidFill>
                <a:latin typeface="微软雅黑"/>
                <a:ea typeface="微软雅黑"/>
                <a:cs typeface="微软雅黑"/>
              </a:defRPr>
            </a:pPr>
            <a:r>
              <a:rPr sz="1650" b="1">
                <a:solidFill>
                  <a:srgbClr val="1D2737"/>
                </a:solidFill>
                <a:latin typeface="微软雅黑"/>
                <a:ea typeface="微软雅黑"/>
                <a:cs typeface="微软雅黑"/>
              </a:rPr>
              <a:t>Training cost ↑</a:t>
            </a:r>
          </a:p>
        </p:txBody>
      </p:sp>
      <p:sp>
        <p:nvSpPr>
          <p:cNvPr id="21" name="矩形 20"/>
          <p:cNvSpPr>
            <a:spLocks noGrp="1"/>
          </p:cNvSpPr>
          <p:nvPr/>
        </p:nvSpPr>
        <p:spPr>
          <a:xfrm>
            <a:off x="2952750" y="4019550"/>
            <a:ext cx="2571750" cy="400050"/>
          </a:xfrm>
          <a:prstGeom prst="rect">
            <a:avLst/>
          </a:prstGeom>
          <a:noFill/>
          <a:ln w="0">
            <a:noFill/>
          </a:ln>
        </p:spPr>
        <p:txBody>
          <a:bodyPr anchor="ctr">
            <a:normAutofit fontScale="84250" lnSpcReduction="10000"/>
          </a:bodyPr>
          <a:lstStyle/>
          <a:p>
            <a:pPr>
              <a:defRPr sz="1575" b="1">
                <a:solidFill>
                  <a:srgbClr val="1D2737"/>
                </a:solidFill>
                <a:latin typeface="微软雅黑"/>
                <a:ea typeface="微软雅黑"/>
                <a:cs typeface="微软雅黑"/>
              </a:defRPr>
            </a:pPr>
            <a:r>
              <a:rPr sz="1575" b="1">
                <a:solidFill>
                  <a:srgbClr val="1D2737"/>
                </a:solidFill>
                <a:latin typeface="微软雅黑"/>
                <a:ea typeface="微软雅黑"/>
                <a:cs typeface="微软雅黑"/>
              </a:rPr>
              <a:t>Generalization may degrade</a:t>
            </a:r>
          </a:p>
        </p:txBody>
      </p:sp>
      <p:sp>
        <p:nvSpPr>
          <p:cNvPr id="22" name="矩形 21"/>
          <p:cNvSpPr>
            <a:spLocks noGrp="1"/>
          </p:cNvSpPr>
          <p:nvPr/>
        </p:nvSpPr>
        <p:spPr>
          <a:xfrm>
            <a:off x="5572125" y="4019550"/>
            <a:ext cx="2190750" cy="400050"/>
          </a:xfrm>
          <a:prstGeom prst="rect">
            <a:avLst/>
          </a:prstGeom>
          <a:noFill/>
          <a:ln w="0">
            <a:noFill/>
          </a:ln>
        </p:spPr>
        <p:txBody>
          <a:bodyPr anchor="ctr">
            <a:normAutofit fontScale="72221" lnSpcReduction="20000"/>
          </a:bodyPr>
          <a:lstStyle/>
          <a:p>
            <a:pPr>
              <a:defRPr sz="1575" b="1">
                <a:solidFill>
                  <a:srgbClr val="1D2737"/>
                </a:solidFill>
                <a:latin typeface="微软雅黑"/>
                <a:ea typeface="微软雅黑"/>
                <a:cs typeface="微软雅黑"/>
              </a:defRPr>
            </a:pPr>
            <a:r>
              <a:rPr sz="1575" b="1">
                <a:solidFill>
                  <a:srgbClr val="1D2737"/>
                </a:solidFill>
                <a:latin typeface="微软雅黑"/>
                <a:ea typeface="微软雅黑"/>
                <a:cs typeface="微软雅黑"/>
              </a:rPr>
              <a:t>Clean accuracy may drop</a:t>
            </a:r>
          </a:p>
        </p:txBody>
      </p:sp>
      <p:sp>
        <p:nvSpPr>
          <p:cNvPr id="23" name="矩形 22"/>
          <p:cNvSpPr>
            <a:spLocks noGrp="1"/>
          </p:cNvSpPr>
          <p:nvPr/>
        </p:nvSpPr>
        <p:spPr>
          <a:xfrm>
            <a:off x="809625" y="4648200"/>
            <a:ext cx="6858000" cy="381000"/>
          </a:xfrm>
          <a:prstGeom prst="rect">
            <a:avLst/>
          </a:prstGeom>
          <a:noFill/>
          <a:ln w="0">
            <a:noFill/>
          </a:ln>
        </p:spPr>
        <p:txBody>
          <a:bodyPr anchor="ctr">
            <a:normAutofit/>
          </a:bodyPr>
          <a:lstStyle/>
          <a:p>
            <a:pPr>
              <a:defRPr sz="1650" b="1">
                <a:solidFill>
                  <a:srgbClr val="10255A"/>
                </a:solidFill>
                <a:latin typeface="微软雅黑"/>
                <a:ea typeface="微软雅黑"/>
                <a:cs typeface="微软雅黑"/>
              </a:defRPr>
            </a:pPr>
            <a:r>
              <a:rPr sz="1650" b="1">
                <a:solidFill>
                  <a:srgbClr val="10255A"/>
                </a:solidFill>
                <a:latin typeface="微软雅黑"/>
                <a:ea typeface="微软雅黑"/>
                <a:cs typeface="微软雅黑"/>
              </a:rPr>
              <a:t>CLIP is already a strong pretrained foundation model</a:t>
            </a:r>
          </a:p>
        </p:txBody>
      </p:sp>
      <p:sp>
        <p:nvSpPr>
          <p:cNvPr id="24" name="矩形 23"/>
          <p:cNvSpPr>
            <a:spLocks noGrp="1"/>
          </p:cNvSpPr>
          <p:nvPr/>
        </p:nvSpPr>
        <p:spPr>
          <a:xfrm>
            <a:off x="809625" y="5038725"/>
            <a:ext cx="6858000" cy="361950"/>
          </a:xfrm>
          <a:prstGeom prst="rect">
            <a:avLst/>
          </a:prstGeom>
          <a:noFill/>
          <a:ln w="0">
            <a:noFill/>
          </a:ln>
        </p:spPr>
        <p:txBody>
          <a:bodyPr anchor="ctr">
            <a:normAutofit/>
          </a:bodyPr>
          <a:lstStyle/>
          <a:p>
            <a:pPr>
              <a:defRPr sz="1575" b="1">
                <a:solidFill>
                  <a:srgbClr val="082878"/>
                </a:solidFill>
                <a:latin typeface="微软雅黑"/>
                <a:ea typeface="微软雅黑"/>
                <a:cs typeface="微软雅黑"/>
              </a:defRPr>
            </a:pPr>
            <a:r>
              <a:rPr sz="1575" b="1">
                <a:solidFill>
                  <a:srgbClr val="082878"/>
                </a:solidFill>
                <a:latin typeface="微软雅黑"/>
                <a:ea typeface="微软雅黑"/>
                <a:cs typeface="微软雅黑"/>
              </a:rPr>
              <a:t>→  Reuse its representation instead of retraining?</a:t>
            </a:r>
          </a:p>
        </p:txBody>
      </p:sp>
      <p:sp>
        <p:nvSpPr>
          <p:cNvPr id="25" name="矩形 24"/>
          <p:cNvSpPr>
            <a:spLocks noGrp="1"/>
          </p:cNvSpPr>
          <p:nvPr/>
        </p:nvSpPr>
        <p:spPr>
          <a:xfrm>
            <a:off x="8001000" y="1724025"/>
            <a:ext cx="19050" cy="3676650"/>
          </a:xfrm>
          <a:prstGeom prst="rect">
            <a:avLst/>
          </a:prstGeom>
          <a:solidFill>
            <a:srgbClr val="CAD4E6"/>
          </a:solidFill>
          <a:ln w="0">
            <a:noFill/>
          </a:ln>
        </p:spPr>
      </p:sp>
      <p:sp>
        <p:nvSpPr>
          <p:cNvPr id="26" name="矩形 25"/>
          <p:cNvSpPr>
            <a:spLocks noGrp="1"/>
          </p:cNvSpPr>
          <p:nvPr/>
        </p:nvSpPr>
        <p:spPr>
          <a:xfrm>
            <a:off x="8239125" y="1743075"/>
            <a:ext cx="3095625" cy="295275"/>
          </a:xfrm>
          <a:prstGeom prst="rect">
            <a:avLst/>
          </a:prstGeom>
          <a:solidFill>
            <a:srgbClr val="082878"/>
          </a:solidFill>
          <a:ln w="0">
            <a:noFill/>
          </a:ln>
        </p:spPr>
      </p:sp>
      <p:sp>
        <p:nvSpPr>
          <p:cNvPr id="27" name="矩形 26"/>
          <p:cNvSpPr>
            <a:spLocks noGrp="1"/>
          </p:cNvSpPr>
          <p:nvPr/>
        </p:nvSpPr>
        <p:spPr>
          <a:xfrm>
            <a:off x="8315325" y="1762125"/>
            <a:ext cx="294322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Method / Optimize / Stage</a:t>
            </a:r>
          </a:p>
        </p:txBody>
      </p:sp>
      <p:sp>
        <p:nvSpPr>
          <p:cNvPr id="28" name="矩形 27"/>
          <p:cNvSpPr>
            <a:spLocks noGrp="1"/>
          </p:cNvSpPr>
          <p:nvPr/>
        </p:nvSpPr>
        <p:spPr>
          <a:xfrm>
            <a:off x="8324850" y="2343150"/>
            <a:ext cx="3143250" cy="476250"/>
          </a:xfrm>
          <a:prstGeom prst="rect">
            <a:avLst/>
          </a:prstGeom>
          <a:noFill/>
          <a:ln w="0">
            <a:noFill/>
          </a:ln>
        </p:spPr>
        <p:txBody>
          <a:bodyPr anchor="ctr">
            <a:normAutofit/>
          </a:bodyPr>
          <a:lstStyle/>
          <a:p>
            <a:pPr>
              <a:defRPr sz="1350" b="0">
                <a:solidFill>
                  <a:srgbClr val="1D2737"/>
                </a:solidFill>
                <a:latin typeface="微软雅黑"/>
                <a:ea typeface="微软雅黑"/>
                <a:cs typeface="微软雅黑"/>
              </a:defRPr>
            </a:pPr>
            <a:r>
              <a:rPr sz="1350" b="0">
                <a:solidFill>
                  <a:srgbClr val="1D2737"/>
                </a:solidFill>
                <a:latin typeface="微软雅黑"/>
                <a:ea typeface="微软雅黑"/>
                <a:cs typeface="微软雅黑"/>
              </a:rPr>
              <a:t>AFT    Vision Encoder    Training</a:t>
            </a:r>
          </a:p>
        </p:txBody>
      </p:sp>
      <p:sp>
        <p:nvSpPr>
          <p:cNvPr id="29" name="矩形 28"/>
          <p:cNvSpPr>
            <a:spLocks noGrp="1"/>
          </p:cNvSpPr>
          <p:nvPr/>
        </p:nvSpPr>
        <p:spPr>
          <a:xfrm>
            <a:off x="8267700" y="2876550"/>
            <a:ext cx="3048000" cy="19050"/>
          </a:xfrm>
          <a:prstGeom prst="rect">
            <a:avLst/>
          </a:prstGeom>
          <a:solidFill>
            <a:srgbClr val="CAD4E6"/>
          </a:solidFill>
          <a:ln w="0">
            <a:noFill/>
          </a:ln>
        </p:spPr>
      </p:sp>
      <p:sp>
        <p:nvSpPr>
          <p:cNvPr id="30" name="矩形 29"/>
          <p:cNvSpPr>
            <a:spLocks noGrp="1"/>
          </p:cNvSpPr>
          <p:nvPr/>
        </p:nvSpPr>
        <p:spPr>
          <a:xfrm>
            <a:off x="8324850" y="3000375"/>
            <a:ext cx="3143250" cy="476250"/>
          </a:xfrm>
          <a:prstGeom prst="rect">
            <a:avLst/>
          </a:prstGeom>
          <a:noFill/>
          <a:ln w="0">
            <a:noFill/>
          </a:ln>
        </p:spPr>
        <p:txBody>
          <a:bodyPr anchor="ctr">
            <a:normAutofit/>
          </a:bodyPr>
          <a:lstStyle/>
          <a:p>
            <a:pPr>
              <a:defRPr sz="1350" b="0">
                <a:solidFill>
                  <a:srgbClr val="1D2737"/>
                </a:solidFill>
                <a:latin typeface="微软雅黑"/>
                <a:ea typeface="微软雅黑"/>
                <a:cs typeface="微软雅黑"/>
              </a:defRPr>
            </a:pPr>
            <a:r>
              <a:rPr sz="1350" b="0">
                <a:solidFill>
                  <a:srgbClr val="1D2737"/>
                </a:solidFill>
                <a:latin typeface="微软雅黑"/>
                <a:ea typeface="微软雅黑"/>
                <a:cs typeface="微软雅黑"/>
              </a:rPr>
              <a:t>APT    Text Prompts      Training</a:t>
            </a:r>
          </a:p>
        </p:txBody>
      </p:sp>
      <p:sp>
        <p:nvSpPr>
          <p:cNvPr id="31" name="矩形 30"/>
          <p:cNvSpPr>
            <a:spLocks noGrp="1"/>
          </p:cNvSpPr>
          <p:nvPr/>
        </p:nvSpPr>
        <p:spPr>
          <a:xfrm>
            <a:off x="8267700" y="3524250"/>
            <a:ext cx="3048000" cy="19050"/>
          </a:xfrm>
          <a:prstGeom prst="rect">
            <a:avLst/>
          </a:prstGeom>
          <a:solidFill>
            <a:srgbClr val="CAD4E6"/>
          </a:solidFill>
          <a:ln w="0">
            <a:noFill/>
          </a:ln>
        </p:spPr>
      </p:sp>
      <p:sp>
        <p:nvSpPr>
          <p:cNvPr id="32" name="矩形 31"/>
          <p:cNvSpPr>
            <a:spLocks noGrp="1"/>
          </p:cNvSpPr>
          <p:nvPr/>
        </p:nvSpPr>
        <p:spPr>
          <a:xfrm>
            <a:off x="8248650" y="3714750"/>
            <a:ext cx="3048000" cy="619125"/>
          </a:xfrm>
          <a:prstGeom prst="rect">
            <a:avLst/>
          </a:prstGeom>
          <a:solidFill>
            <a:srgbClr val="F2F5FA"/>
          </a:solidFill>
          <a:ln w="0">
            <a:noFill/>
          </a:ln>
        </p:spPr>
      </p:sp>
      <p:sp>
        <p:nvSpPr>
          <p:cNvPr id="33" name="矩形 32"/>
          <p:cNvSpPr>
            <a:spLocks noGrp="1"/>
          </p:cNvSpPr>
          <p:nvPr/>
        </p:nvSpPr>
        <p:spPr>
          <a:xfrm>
            <a:off x="8343900" y="3790950"/>
            <a:ext cx="2905125" cy="457200"/>
          </a:xfrm>
          <a:prstGeom prst="rect">
            <a:avLst/>
          </a:prstGeom>
          <a:noFill/>
          <a:ln w="0">
            <a:noFill/>
          </a:ln>
        </p:spPr>
        <p:txBody>
          <a:bodyPr anchor="ctr">
            <a:normAutofit fontScale="87955"/>
          </a:bodyPr>
          <a:lstStyle/>
          <a:p>
            <a:pPr>
              <a:defRPr sz="1425" b="1">
                <a:solidFill>
                  <a:srgbClr val="082878"/>
                </a:solidFill>
                <a:latin typeface="微软雅黑"/>
                <a:ea typeface="微软雅黑"/>
                <a:cs typeface="微软雅黑"/>
              </a:defRPr>
            </a:pPr>
            <a:r>
              <a:rPr sz="1425" b="1" dirty="0">
                <a:solidFill>
                  <a:srgbClr val="082878"/>
                </a:solidFill>
                <a:latin typeface="微软雅黑"/>
                <a:ea typeface="微软雅黑"/>
                <a:cs typeface="微软雅黑"/>
              </a:rPr>
              <a:t>TTC    Test Input         Inference</a:t>
            </a:r>
          </a:p>
        </p:txBody>
      </p:sp>
      <p:sp>
        <p:nvSpPr>
          <p:cNvPr id="34" name="矩形 33"/>
          <p:cNvSpPr>
            <a:spLocks noGrp="1"/>
          </p:cNvSpPr>
          <p:nvPr/>
        </p:nvSpPr>
        <p:spPr>
          <a:xfrm>
            <a:off x="714375" y="5648325"/>
            <a:ext cx="10668000" cy="19050"/>
          </a:xfrm>
          <a:prstGeom prst="rect">
            <a:avLst/>
          </a:prstGeom>
          <a:solidFill>
            <a:srgbClr val="CAD4E6"/>
          </a:solidFill>
          <a:ln w="0">
            <a:noFill/>
          </a:ln>
        </p:spPr>
      </p:sp>
      <p:sp>
        <p:nvSpPr>
          <p:cNvPr id="35" name="矩形 34"/>
          <p:cNvSpPr>
            <a:spLocks noGrp="1"/>
          </p:cNvSpPr>
          <p:nvPr/>
        </p:nvSpPr>
        <p:spPr>
          <a:xfrm>
            <a:off x="809625" y="5791200"/>
            <a:ext cx="10477500" cy="495300"/>
          </a:xfrm>
          <a:prstGeom prst="rect">
            <a:avLst/>
          </a:prstGeom>
          <a:noFill/>
          <a:ln w="0">
            <a:noFill/>
          </a:ln>
        </p:spPr>
        <p:txBody>
          <a:bodyPr anchor="ctr">
            <a:normAutofit/>
          </a:bodyPr>
          <a:lstStyle/>
          <a:p>
            <a:pPr>
              <a:defRPr sz="2025" b="1">
                <a:solidFill>
                  <a:srgbClr val="082878"/>
                </a:solidFill>
                <a:latin typeface="微软雅黑"/>
                <a:ea typeface="微软雅黑"/>
                <a:cs typeface="微软雅黑"/>
              </a:defRPr>
            </a:pPr>
            <a:r>
              <a:rPr sz="2025" b="1">
                <a:solidFill>
                  <a:srgbClr val="082878"/>
                </a:solidFill>
                <a:latin typeface="微软雅黑"/>
                <a:ea typeface="微软雅黑"/>
                <a:cs typeface="微软雅黑"/>
              </a:rPr>
              <a:t>Research Question   →   Can CLIP defend itself at test time?</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a:spLocks noGrp="1"/>
          </p:cNvSpPr>
          <p:nvPr/>
        </p:nvSpPr>
        <p:spPr>
          <a:xfrm>
            <a:off x="5048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研究背景</a:t>
            </a:r>
          </a:p>
        </p:txBody>
      </p:sp>
      <p:sp>
        <p:nvSpPr>
          <p:cNvPr id="2" name="矩形 1"/>
          <p:cNvSpPr>
            <a:spLocks noGrp="1"/>
          </p:cNvSpPr>
          <p:nvPr/>
        </p:nvSpPr>
        <p:spPr>
          <a:xfrm>
            <a:off x="19145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研究动机</a:t>
            </a:r>
          </a:p>
        </p:txBody>
      </p:sp>
      <p:sp>
        <p:nvSpPr>
          <p:cNvPr id="3" name="矩形 2"/>
          <p:cNvSpPr>
            <a:spLocks noGrp="1"/>
          </p:cNvSpPr>
          <p:nvPr/>
        </p:nvSpPr>
        <p:spPr>
          <a:xfrm>
            <a:off x="3276600" y="228600"/>
            <a:ext cx="1409700" cy="409575"/>
          </a:xfrm>
          <a:prstGeom prst="rect">
            <a:avLst/>
          </a:prstGeom>
          <a:solidFill>
            <a:srgbClr val="082878"/>
          </a:solidFill>
          <a:ln w="0">
            <a:noFill/>
          </a:ln>
        </p:spPr>
      </p:sp>
      <p:sp>
        <p:nvSpPr>
          <p:cNvPr id="4" name="矩形 3"/>
          <p:cNvSpPr>
            <a:spLocks noGrp="1"/>
          </p:cNvSpPr>
          <p:nvPr/>
        </p:nvSpPr>
        <p:spPr>
          <a:xfrm>
            <a:off x="3324225" y="266700"/>
            <a:ext cx="1314450" cy="323850"/>
          </a:xfrm>
          <a:prstGeom prst="rect">
            <a:avLst/>
          </a:prstGeom>
          <a:noFill/>
          <a:ln w="0">
            <a:noFill/>
          </a:ln>
        </p:spPr>
        <p:txBody>
          <a:bodyPr anchor="ctr">
            <a:normAutofit/>
          </a:bodyPr>
          <a:lstStyle/>
          <a:p>
            <a:pPr>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关键发现</a:t>
            </a:r>
          </a:p>
        </p:txBody>
      </p:sp>
      <p:sp>
        <p:nvSpPr>
          <p:cNvPr id="5" name="矩形 4"/>
          <p:cNvSpPr>
            <a:spLocks noGrp="1"/>
          </p:cNvSpPr>
          <p:nvPr/>
        </p:nvSpPr>
        <p:spPr>
          <a:xfrm>
            <a:off x="47339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TTC 方法</a:t>
            </a:r>
          </a:p>
        </p:txBody>
      </p:sp>
      <p:sp>
        <p:nvSpPr>
          <p:cNvPr id="6" name="矩形 5"/>
          <p:cNvSpPr>
            <a:spLocks noGrp="1"/>
          </p:cNvSpPr>
          <p:nvPr/>
        </p:nvSpPr>
        <p:spPr>
          <a:xfrm>
            <a:off x="6143625" y="266700"/>
            <a:ext cx="114300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创新点</a:t>
            </a:r>
          </a:p>
        </p:txBody>
      </p:sp>
      <p:sp>
        <p:nvSpPr>
          <p:cNvPr id="7" name="矩形 6"/>
          <p:cNvSpPr>
            <a:spLocks noGrp="1"/>
          </p:cNvSpPr>
          <p:nvPr/>
        </p:nvSpPr>
        <p:spPr>
          <a:xfrm>
            <a:off x="73818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实验结果</a:t>
            </a:r>
          </a:p>
        </p:txBody>
      </p:sp>
      <p:sp>
        <p:nvSpPr>
          <p:cNvPr id="8" name="矩形 7"/>
          <p:cNvSpPr>
            <a:spLocks noGrp="1"/>
          </p:cNvSpPr>
          <p:nvPr/>
        </p:nvSpPr>
        <p:spPr>
          <a:xfrm>
            <a:off x="87915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总结讨论</a:t>
            </a:r>
          </a:p>
        </p:txBody>
      </p:sp>
      <p:sp>
        <p:nvSpPr>
          <p:cNvPr id="9" name="矩形 8"/>
          <p:cNvSpPr>
            <a:spLocks noGrp="1"/>
          </p:cNvSpPr>
          <p:nvPr/>
        </p:nvSpPr>
        <p:spPr>
          <a:xfrm>
            <a:off x="457200" y="647700"/>
            <a:ext cx="11277600" cy="28575"/>
          </a:xfrm>
          <a:prstGeom prst="rect">
            <a:avLst/>
          </a:prstGeom>
          <a:solidFill>
            <a:srgbClr val="082878"/>
          </a:solidFill>
          <a:ln w="0">
            <a:noFill/>
          </a:ln>
        </p:spPr>
      </p:sp>
      <p:sp>
        <p:nvSpPr>
          <p:cNvPr id="10" name="矩形 9"/>
          <p:cNvSpPr>
            <a:spLocks noGrp="1"/>
          </p:cNvSpPr>
          <p:nvPr/>
        </p:nvSpPr>
        <p:spPr>
          <a:xfrm>
            <a:off x="495300" y="1095375"/>
            <a:ext cx="85725" cy="285750"/>
          </a:xfrm>
          <a:prstGeom prst="rect">
            <a:avLst/>
          </a:prstGeom>
          <a:solidFill>
            <a:srgbClr val="082878"/>
          </a:solidFill>
          <a:ln w="0">
            <a:noFill/>
          </a:ln>
        </p:spPr>
      </p:sp>
      <p:sp>
        <p:nvSpPr>
          <p:cNvPr id="11" name="矩形 10"/>
          <p:cNvSpPr>
            <a:spLocks noGrp="1"/>
          </p:cNvSpPr>
          <p:nvPr/>
        </p:nvSpPr>
        <p:spPr>
          <a:xfrm>
            <a:off x="695325" y="1000125"/>
            <a:ext cx="10620375" cy="552450"/>
          </a:xfrm>
          <a:prstGeom prst="rect">
            <a:avLst/>
          </a:prstGeom>
          <a:noFill/>
          <a:ln w="0">
            <a:noFill/>
          </a:ln>
        </p:spPr>
        <p:txBody>
          <a:bodyPr anchor="ctr">
            <a:normAutofit/>
          </a:bodyPr>
          <a:lstStyle/>
          <a:p>
            <a:pPr>
              <a:defRPr sz="2550" b="1">
                <a:solidFill>
                  <a:srgbClr val="10255A"/>
                </a:solidFill>
                <a:latin typeface="微软雅黑"/>
                <a:ea typeface="微软雅黑"/>
                <a:cs typeface="微软雅黑"/>
              </a:defRPr>
            </a:pPr>
            <a:r>
              <a:rPr sz="2550" b="1">
                <a:solidFill>
                  <a:srgbClr val="10255A"/>
                </a:solidFill>
                <a:latin typeface="微软雅黑"/>
                <a:ea typeface="微软雅黑"/>
                <a:cs typeface="微软雅黑"/>
              </a:rPr>
              <a:t>False Stability：对抗图像的异常局部行为</a:t>
            </a:r>
          </a:p>
        </p:txBody>
      </p:sp>
      <p:sp>
        <p:nvSpPr>
          <p:cNvPr id="12" name="矩形 11"/>
          <p:cNvSpPr>
            <a:spLocks noGrp="1"/>
          </p:cNvSpPr>
          <p:nvPr/>
        </p:nvSpPr>
        <p:spPr>
          <a:xfrm>
            <a:off x="714375" y="1714500"/>
            <a:ext cx="10668000" cy="457200"/>
          </a:xfrm>
          <a:prstGeom prst="rect">
            <a:avLst/>
          </a:prstGeom>
          <a:noFill/>
          <a:ln w="0">
            <a:noFill/>
          </a:ln>
        </p:spPr>
        <p:txBody>
          <a:bodyPr anchor="ctr">
            <a:normAutofit/>
          </a:bodyPr>
          <a:lstStyle/>
          <a:p>
            <a:pPr>
              <a:defRPr sz="1650" b="1">
                <a:solidFill>
                  <a:srgbClr val="10255A"/>
                </a:solidFill>
                <a:latin typeface="微软雅黑"/>
                <a:ea typeface="微软雅黑"/>
                <a:cs typeface="微软雅黑"/>
              </a:defRPr>
            </a:pPr>
            <a:r>
              <a:rPr sz="1650" b="1">
                <a:solidFill>
                  <a:srgbClr val="10255A"/>
                </a:solidFill>
                <a:latin typeface="微软雅黑"/>
                <a:ea typeface="微软雅黑"/>
                <a:cs typeface="微软雅黑"/>
              </a:rPr>
              <a:t>Clean / Adversarial image  →  noise n  →  Vision Encoder  →  embedding drift τ</a:t>
            </a:r>
          </a:p>
        </p:txBody>
      </p:sp>
      <p:sp>
        <p:nvSpPr>
          <p:cNvPr id="13" name="矩形 12"/>
          <p:cNvSpPr>
            <a:spLocks noGrp="1"/>
          </p:cNvSpPr>
          <p:nvPr/>
        </p:nvSpPr>
        <p:spPr>
          <a:xfrm>
            <a:off x="714375" y="2257425"/>
            <a:ext cx="3190875" cy="295275"/>
          </a:xfrm>
          <a:prstGeom prst="rect">
            <a:avLst/>
          </a:prstGeom>
          <a:solidFill>
            <a:srgbClr val="082878"/>
          </a:solidFill>
          <a:ln w="0">
            <a:noFill/>
          </a:ln>
        </p:spPr>
      </p:sp>
      <p:sp>
        <p:nvSpPr>
          <p:cNvPr id="14" name="矩形 13"/>
          <p:cNvSpPr>
            <a:spLocks noGrp="1"/>
          </p:cNvSpPr>
          <p:nvPr/>
        </p:nvSpPr>
        <p:spPr>
          <a:xfrm>
            <a:off x="790575" y="2276475"/>
            <a:ext cx="303847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Small-noise regime: 1/255–4/255</a:t>
            </a:r>
          </a:p>
        </p:txBody>
      </p:sp>
      <p:pic>
        <p:nvPicPr>
          <p:cNvPr id="43" name="图片 42"/>
          <p:cNvPicPr>
            <a:picLocks noChangeAspect="1"/>
          </p:cNvPicPr>
          <p:nvPr/>
        </p:nvPicPr>
        <p:blipFill>
          <a:blip r:embed="rId3"/>
          <a:stretch>
            <a:fillRect/>
          </a:stretch>
        </p:blipFill>
        <p:spPr>
          <a:xfrm>
            <a:off x="955797" y="2619375"/>
            <a:ext cx="5613156" cy="2238375"/>
          </a:xfrm>
          <a:prstGeom prst="rect">
            <a:avLst/>
          </a:prstGeom>
        </p:spPr>
      </p:pic>
      <p:sp>
        <p:nvSpPr>
          <p:cNvPr id="16" name="矩形 15"/>
          <p:cNvSpPr>
            <a:spLocks noGrp="1"/>
          </p:cNvSpPr>
          <p:nvPr/>
        </p:nvSpPr>
        <p:spPr>
          <a:xfrm>
            <a:off x="1047750" y="4895850"/>
            <a:ext cx="5715000" cy="400050"/>
          </a:xfrm>
          <a:prstGeom prst="rect">
            <a:avLst/>
          </a:prstGeom>
          <a:noFill/>
          <a:ln w="0">
            <a:noFill/>
          </a:ln>
        </p:spPr>
        <p:txBody>
          <a:bodyPr anchor="ctr">
            <a:normAutofit/>
          </a:bodyPr>
          <a:lstStyle/>
          <a:p>
            <a:pPr>
              <a:defRPr sz="1725" b="1">
                <a:solidFill>
                  <a:srgbClr val="082878"/>
                </a:solidFill>
                <a:latin typeface="微软雅黑"/>
                <a:ea typeface="微软雅黑"/>
                <a:cs typeface="微软雅黑"/>
              </a:defRPr>
            </a:pPr>
            <a:r>
              <a:rPr sz="1725" b="1">
                <a:solidFill>
                  <a:srgbClr val="082878"/>
                </a:solidFill>
                <a:latin typeface="微软雅黑"/>
                <a:ea typeface="微软雅黑"/>
                <a:cs typeface="微软雅黑"/>
              </a:rPr>
              <a:t>adv. τ &lt; clean τ  (both datasets)</a:t>
            </a:r>
          </a:p>
        </p:txBody>
      </p:sp>
      <p:sp>
        <p:nvSpPr>
          <p:cNvPr id="17" name="矩形 16"/>
          <p:cNvSpPr>
            <a:spLocks noGrp="1"/>
          </p:cNvSpPr>
          <p:nvPr/>
        </p:nvSpPr>
        <p:spPr>
          <a:xfrm>
            <a:off x="7239000" y="2257425"/>
            <a:ext cx="1524000" cy="295275"/>
          </a:xfrm>
          <a:prstGeom prst="rect">
            <a:avLst/>
          </a:prstGeom>
          <a:solidFill>
            <a:srgbClr val="082878"/>
          </a:solidFill>
          <a:ln w="0">
            <a:noFill/>
          </a:ln>
        </p:spPr>
      </p:sp>
      <p:sp>
        <p:nvSpPr>
          <p:cNvPr id="18" name="矩形 17"/>
          <p:cNvSpPr>
            <a:spLocks noGrp="1"/>
          </p:cNvSpPr>
          <p:nvPr/>
        </p:nvSpPr>
        <p:spPr>
          <a:xfrm>
            <a:off x="7315200" y="2276475"/>
            <a:ext cx="137160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Drift Ratio</a:t>
            </a:r>
          </a:p>
        </p:txBody>
      </p:sp>
      <p:sp>
        <p:nvSpPr>
          <p:cNvPr id="19" name="矩形 18"/>
          <p:cNvSpPr>
            <a:spLocks noGrp="1"/>
          </p:cNvSpPr>
          <p:nvPr/>
        </p:nvSpPr>
        <p:spPr>
          <a:xfrm>
            <a:off x="7334250" y="2705100"/>
            <a:ext cx="4048125" cy="619125"/>
          </a:xfrm>
          <a:prstGeom prst="rect">
            <a:avLst/>
          </a:prstGeom>
          <a:noFill/>
          <a:ln w="0">
            <a:noFill/>
          </a:ln>
        </p:spPr>
        <p:txBody>
          <a:bodyPr anchor="ctr">
            <a:normAutofit/>
          </a:bodyPr>
          <a:lstStyle/>
          <a:p>
            <a:pPr>
              <a:defRPr sz="1800" b="1">
                <a:solidFill>
                  <a:srgbClr val="10255A"/>
                </a:solidFill>
                <a:latin typeface="微软雅黑"/>
                <a:ea typeface="微软雅黑"/>
                <a:cs typeface="微软雅黑"/>
              </a:defRPr>
            </a:pPr>
            <a:r>
              <a:rPr sz="1800" b="1">
                <a:solidFill>
                  <a:srgbClr val="10255A"/>
                </a:solidFill>
                <a:latin typeface="微软雅黑"/>
                <a:ea typeface="微软雅黑"/>
                <a:cs typeface="微软雅黑"/>
              </a:rPr>
              <a:t>τ = ‖fθ(x+n) − fθ(x)‖ / ‖fθ(x)‖</a:t>
            </a:r>
          </a:p>
        </p:txBody>
      </p:sp>
      <p:sp>
        <p:nvSpPr>
          <p:cNvPr id="20" name="矩形 19"/>
          <p:cNvSpPr>
            <a:spLocks noGrp="1"/>
          </p:cNvSpPr>
          <p:nvPr/>
        </p:nvSpPr>
        <p:spPr>
          <a:xfrm>
            <a:off x="7334250" y="3352800"/>
            <a:ext cx="4048125" cy="428625"/>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x: image · n: random noise · fθ: vision encoder</a:t>
            </a:r>
          </a:p>
        </p:txBody>
      </p:sp>
      <p:sp>
        <p:nvSpPr>
          <p:cNvPr id="21" name="矩形 20"/>
          <p:cNvSpPr>
            <a:spLocks noGrp="1"/>
          </p:cNvSpPr>
          <p:nvPr/>
        </p:nvSpPr>
        <p:spPr>
          <a:xfrm>
            <a:off x="7334250" y="3952875"/>
            <a:ext cx="1809750" cy="333375"/>
          </a:xfrm>
          <a:prstGeom prst="rect">
            <a:avLst/>
          </a:prstGeom>
          <a:noFill/>
          <a:ln w="0">
            <a:noFill/>
          </a:ln>
        </p:spPr>
        <p:txBody>
          <a:bodyPr anchor="ctr">
            <a:normAutofit/>
          </a:bodyPr>
          <a:lstStyle/>
          <a:p>
            <a:pPr>
              <a:defRPr sz="1350" b="1">
                <a:solidFill>
                  <a:srgbClr val="082878"/>
                </a:solidFill>
                <a:latin typeface="微软雅黑"/>
                <a:ea typeface="微软雅黑"/>
                <a:cs typeface="微软雅黑"/>
              </a:defRPr>
            </a:pPr>
            <a:r>
              <a:rPr sz="1350" b="1">
                <a:solidFill>
                  <a:srgbClr val="082878"/>
                </a:solidFill>
                <a:latin typeface="微软雅黑"/>
                <a:ea typeface="微软雅黑"/>
                <a:cs typeface="微软雅黑"/>
              </a:rPr>
              <a:t>Observation</a:t>
            </a:r>
          </a:p>
        </p:txBody>
      </p:sp>
      <p:sp>
        <p:nvSpPr>
          <p:cNvPr id="22" name="矩形 21"/>
          <p:cNvSpPr>
            <a:spLocks noGrp="1"/>
          </p:cNvSpPr>
          <p:nvPr/>
        </p:nvSpPr>
        <p:spPr>
          <a:xfrm>
            <a:off x="7334250" y="4267200"/>
            <a:ext cx="4048125" cy="381000"/>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small noise → unusually low drift</a:t>
            </a:r>
          </a:p>
        </p:txBody>
      </p:sp>
      <p:sp>
        <p:nvSpPr>
          <p:cNvPr id="23" name="矩形 22"/>
          <p:cNvSpPr>
            <a:spLocks noGrp="1"/>
          </p:cNvSpPr>
          <p:nvPr/>
        </p:nvSpPr>
        <p:spPr>
          <a:xfrm>
            <a:off x="7334250" y="4724400"/>
            <a:ext cx="2095500" cy="333375"/>
          </a:xfrm>
          <a:prstGeom prst="rect">
            <a:avLst/>
          </a:prstGeom>
          <a:noFill/>
          <a:ln w="0">
            <a:noFill/>
          </a:ln>
        </p:spPr>
        <p:txBody>
          <a:bodyPr anchor="ctr">
            <a:normAutofit/>
          </a:bodyPr>
          <a:lstStyle/>
          <a:p>
            <a:pPr>
              <a:defRPr sz="1350" b="1">
                <a:solidFill>
                  <a:srgbClr val="082878"/>
                </a:solidFill>
                <a:latin typeface="微软雅黑"/>
                <a:ea typeface="微软雅黑"/>
                <a:cs typeface="微软雅黑"/>
              </a:defRPr>
            </a:pPr>
            <a:r>
              <a:rPr sz="1350" b="1">
                <a:solidFill>
                  <a:srgbClr val="082878"/>
                </a:solidFill>
                <a:latin typeface="微软雅黑"/>
                <a:ea typeface="微软雅黑"/>
                <a:cs typeface="微软雅黑"/>
              </a:rPr>
              <a:t>↓  Hypothesis</a:t>
            </a:r>
          </a:p>
        </p:txBody>
      </p:sp>
      <p:sp>
        <p:nvSpPr>
          <p:cNvPr id="24" name="矩形 23"/>
          <p:cNvSpPr>
            <a:spLocks noGrp="1"/>
          </p:cNvSpPr>
          <p:nvPr/>
        </p:nvSpPr>
        <p:spPr>
          <a:xfrm>
            <a:off x="7334250" y="5038725"/>
            <a:ext cx="4048125" cy="361950"/>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may occupy a wrong local region</a:t>
            </a:r>
          </a:p>
        </p:txBody>
      </p:sp>
      <p:sp>
        <p:nvSpPr>
          <p:cNvPr id="25" name="矩形 24"/>
          <p:cNvSpPr>
            <a:spLocks noGrp="1"/>
          </p:cNvSpPr>
          <p:nvPr/>
        </p:nvSpPr>
        <p:spPr>
          <a:xfrm>
            <a:off x="7334250" y="5448300"/>
            <a:ext cx="2286000" cy="333375"/>
          </a:xfrm>
          <a:prstGeom prst="rect">
            <a:avLst/>
          </a:prstGeom>
          <a:noFill/>
          <a:ln w="0">
            <a:noFill/>
          </a:ln>
        </p:spPr>
        <p:txBody>
          <a:bodyPr anchor="ctr">
            <a:normAutofit/>
          </a:bodyPr>
          <a:lstStyle/>
          <a:p>
            <a:pPr>
              <a:defRPr sz="1350" b="1">
                <a:solidFill>
                  <a:srgbClr val="082878"/>
                </a:solidFill>
                <a:latin typeface="微软雅黑"/>
                <a:ea typeface="微软雅黑"/>
                <a:cs typeface="微软雅黑"/>
              </a:defRPr>
            </a:pPr>
            <a:r>
              <a:rPr sz="1350" b="1">
                <a:solidFill>
                  <a:srgbClr val="082878"/>
                </a:solidFill>
                <a:latin typeface="微软雅黑"/>
                <a:ea typeface="微软雅黑"/>
                <a:cs typeface="微软雅黑"/>
              </a:rPr>
              <a:t>↓  Design Intuition</a:t>
            </a:r>
          </a:p>
        </p:txBody>
      </p:sp>
      <p:sp>
        <p:nvSpPr>
          <p:cNvPr id="26" name="矩形 25"/>
          <p:cNvSpPr>
            <a:spLocks noGrp="1"/>
          </p:cNvSpPr>
          <p:nvPr/>
        </p:nvSpPr>
        <p:spPr>
          <a:xfrm>
            <a:off x="7334250" y="5753100"/>
            <a:ext cx="4048125" cy="33337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push the embedding away</a:t>
            </a:r>
          </a:p>
        </p:txBody>
      </p:sp>
      <p:sp>
        <p:nvSpPr>
          <p:cNvPr id="27" name="矩形 26"/>
          <p:cNvSpPr>
            <a:spLocks noGrp="1"/>
          </p:cNvSpPr>
          <p:nvPr/>
        </p:nvSpPr>
        <p:spPr>
          <a:xfrm>
            <a:off x="714375" y="6172200"/>
            <a:ext cx="10668000" cy="19050"/>
          </a:xfrm>
          <a:prstGeom prst="rect">
            <a:avLst/>
          </a:prstGeom>
          <a:solidFill>
            <a:srgbClr val="CAD4E6"/>
          </a:solidFill>
          <a:ln w="0">
            <a:noFill/>
          </a:ln>
        </p:spPr>
      </p:sp>
      <p:sp>
        <p:nvSpPr>
          <p:cNvPr id="28" name="矩形 27"/>
          <p:cNvSpPr>
            <a:spLocks noGrp="1"/>
          </p:cNvSpPr>
          <p:nvPr/>
        </p:nvSpPr>
        <p:spPr>
          <a:xfrm>
            <a:off x="809625" y="6229350"/>
            <a:ext cx="10287000" cy="333375"/>
          </a:xfrm>
          <a:prstGeom prst="rect">
            <a:avLst/>
          </a:prstGeom>
          <a:noFill/>
          <a:ln w="0">
            <a:noFill/>
          </a:ln>
        </p:spPr>
        <p:txBody>
          <a:bodyPr anchor="ctr">
            <a:normAutofit/>
          </a:bodyPr>
          <a:lstStyle/>
          <a:p>
            <a:pPr>
              <a:defRPr sz="1575" b="1">
                <a:solidFill>
                  <a:srgbClr val="10255A"/>
                </a:solidFill>
                <a:latin typeface="微软雅黑"/>
                <a:ea typeface="微软雅黑"/>
                <a:cs typeface="微软雅黑"/>
              </a:defRPr>
            </a:pPr>
            <a:r>
              <a:rPr sz="1575" b="1">
                <a:solidFill>
                  <a:srgbClr val="10255A"/>
                </a:solidFill>
                <a:latin typeface="微软雅黑"/>
                <a:ea typeface="微软雅黑"/>
                <a:cs typeface="微软雅黑"/>
              </a:rPr>
              <a:t>False Stability directly motivates TTC.</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a:spLocks noGrp="1"/>
          </p:cNvSpPr>
          <p:nvPr/>
        </p:nvSpPr>
        <p:spPr>
          <a:xfrm>
            <a:off x="5048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研究背景</a:t>
            </a:r>
          </a:p>
        </p:txBody>
      </p:sp>
      <p:sp>
        <p:nvSpPr>
          <p:cNvPr id="2" name="矩形 1"/>
          <p:cNvSpPr>
            <a:spLocks noGrp="1"/>
          </p:cNvSpPr>
          <p:nvPr/>
        </p:nvSpPr>
        <p:spPr>
          <a:xfrm>
            <a:off x="19145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研究动机</a:t>
            </a:r>
          </a:p>
        </p:txBody>
      </p:sp>
      <p:sp>
        <p:nvSpPr>
          <p:cNvPr id="3" name="矩形 2"/>
          <p:cNvSpPr>
            <a:spLocks noGrp="1"/>
          </p:cNvSpPr>
          <p:nvPr/>
        </p:nvSpPr>
        <p:spPr>
          <a:xfrm>
            <a:off x="33242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关键发现</a:t>
            </a:r>
          </a:p>
        </p:txBody>
      </p:sp>
      <p:sp>
        <p:nvSpPr>
          <p:cNvPr id="4" name="矩形 3"/>
          <p:cNvSpPr>
            <a:spLocks noGrp="1"/>
          </p:cNvSpPr>
          <p:nvPr/>
        </p:nvSpPr>
        <p:spPr>
          <a:xfrm>
            <a:off x="4686300" y="228600"/>
            <a:ext cx="1409700" cy="409575"/>
          </a:xfrm>
          <a:prstGeom prst="rect">
            <a:avLst/>
          </a:prstGeom>
          <a:solidFill>
            <a:srgbClr val="082878"/>
          </a:solidFill>
          <a:ln w="0">
            <a:noFill/>
          </a:ln>
        </p:spPr>
      </p:sp>
      <p:sp>
        <p:nvSpPr>
          <p:cNvPr id="5" name="矩形 4"/>
          <p:cNvSpPr>
            <a:spLocks noGrp="1"/>
          </p:cNvSpPr>
          <p:nvPr/>
        </p:nvSpPr>
        <p:spPr>
          <a:xfrm>
            <a:off x="4733925" y="266700"/>
            <a:ext cx="1314450" cy="323850"/>
          </a:xfrm>
          <a:prstGeom prst="rect">
            <a:avLst/>
          </a:prstGeom>
          <a:noFill/>
          <a:ln w="0">
            <a:noFill/>
          </a:ln>
        </p:spPr>
        <p:txBody>
          <a:bodyPr anchor="ctr">
            <a:normAutofit/>
          </a:bodyPr>
          <a:lstStyle/>
          <a:p>
            <a:pPr>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TTC 方法</a:t>
            </a:r>
          </a:p>
        </p:txBody>
      </p:sp>
      <p:sp>
        <p:nvSpPr>
          <p:cNvPr id="6" name="矩形 5"/>
          <p:cNvSpPr>
            <a:spLocks noGrp="1"/>
          </p:cNvSpPr>
          <p:nvPr/>
        </p:nvSpPr>
        <p:spPr>
          <a:xfrm>
            <a:off x="6143625" y="266700"/>
            <a:ext cx="114300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创新点</a:t>
            </a:r>
          </a:p>
        </p:txBody>
      </p:sp>
      <p:sp>
        <p:nvSpPr>
          <p:cNvPr id="7" name="矩形 6"/>
          <p:cNvSpPr>
            <a:spLocks noGrp="1"/>
          </p:cNvSpPr>
          <p:nvPr/>
        </p:nvSpPr>
        <p:spPr>
          <a:xfrm>
            <a:off x="73818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实验结果</a:t>
            </a:r>
          </a:p>
        </p:txBody>
      </p:sp>
      <p:sp>
        <p:nvSpPr>
          <p:cNvPr id="8" name="矩形 7"/>
          <p:cNvSpPr>
            <a:spLocks noGrp="1"/>
          </p:cNvSpPr>
          <p:nvPr/>
        </p:nvSpPr>
        <p:spPr>
          <a:xfrm>
            <a:off x="87915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总结讨论</a:t>
            </a:r>
          </a:p>
        </p:txBody>
      </p:sp>
      <p:sp>
        <p:nvSpPr>
          <p:cNvPr id="9" name="矩形 8"/>
          <p:cNvSpPr>
            <a:spLocks noGrp="1"/>
          </p:cNvSpPr>
          <p:nvPr/>
        </p:nvSpPr>
        <p:spPr>
          <a:xfrm>
            <a:off x="457200" y="647700"/>
            <a:ext cx="11277600" cy="28575"/>
          </a:xfrm>
          <a:prstGeom prst="rect">
            <a:avLst/>
          </a:prstGeom>
          <a:solidFill>
            <a:srgbClr val="082878"/>
          </a:solidFill>
          <a:ln w="0">
            <a:noFill/>
          </a:ln>
        </p:spPr>
      </p:sp>
      <p:sp>
        <p:nvSpPr>
          <p:cNvPr id="10" name="矩形 9"/>
          <p:cNvSpPr>
            <a:spLocks noGrp="1"/>
          </p:cNvSpPr>
          <p:nvPr/>
        </p:nvSpPr>
        <p:spPr>
          <a:xfrm>
            <a:off x="495300" y="1095375"/>
            <a:ext cx="85725" cy="285750"/>
          </a:xfrm>
          <a:prstGeom prst="rect">
            <a:avLst/>
          </a:prstGeom>
          <a:solidFill>
            <a:srgbClr val="082878"/>
          </a:solidFill>
          <a:ln w="0">
            <a:noFill/>
          </a:ln>
        </p:spPr>
      </p:sp>
      <p:sp>
        <p:nvSpPr>
          <p:cNvPr id="11" name="矩形 10"/>
          <p:cNvSpPr>
            <a:spLocks noGrp="1"/>
          </p:cNvSpPr>
          <p:nvPr/>
        </p:nvSpPr>
        <p:spPr>
          <a:xfrm>
            <a:off x="695325" y="1000125"/>
            <a:ext cx="10620375" cy="552450"/>
          </a:xfrm>
          <a:prstGeom prst="rect">
            <a:avLst/>
          </a:prstGeom>
          <a:noFill/>
          <a:ln w="0">
            <a:noFill/>
          </a:ln>
        </p:spPr>
        <p:txBody>
          <a:bodyPr anchor="ctr">
            <a:normAutofit/>
          </a:bodyPr>
          <a:lstStyle/>
          <a:p>
            <a:pPr>
              <a:defRPr sz="2550" b="1">
                <a:solidFill>
                  <a:srgbClr val="10255A"/>
                </a:solidFill>
                <a:latin typeface="微软雅黑"/>
                <a:ea typeface="微软雅黑"/>
                <a:cs typeface="微软雅黑"/>
              </a:defRPr>
            </a:pPr>
            <a:r>
              <a:rPr sz="2550" b="1">
                <a:solidFill>
                  <a:srgbClr val="10255A"/>
                </a:solidFill>
                <a:latin typeface="微软雅黑"/>
                <a:ea typeface="微软雅黑"/>
                <a:cs typeface="微软雅黑"/>
              </a:rPr>
              <a:t>TTC：测试时优化输入扰动</a:t>
            </a:r>
          </a:p>
        </p:txBody>
      </p:sp>
      <p:sp>
        <p:nvSpPr>
          <p:cNvPr id="12" name="矩形 11"/>
          <p:cNvSpPr>
            <a:spLocks noGrp="1"/>
          </p:cNvSpPr>
          <p:nvPr/>
        </p:nvSpPr>
        <p:spPr>
          <a:xfrm>
            <a:off x="714375" y="1714500"/>
            <a:ext cx="2190750" cy="295275"/>
          </a:xfrm>
          <a:prstGeom prst="rect">
            <a:avLst/>
          </a:prstGeom>
          <a:solidFill>
            <a:srgbClr val="082878"/>
          </a:solidFill>
          <a:ln w="0">
            <a:noFill/>
          </a:ln>
        </p:spPr>
      </p:sp>
      <p:sp>
        <p:nvSpPr>
          <p:cNvPr id="13" name="矩形 12"/>
          <p:cNvSpPr>
            <a:spLocks noGrp="1"/>
          </p:cNvSpPr>
          <p:nvPr/>
        </p:nvSpPr>
        <p:spPr>
          <a:xfrm>
            <a:off x="790575" y="1733550"/>
            <a:ext cx="203835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Test-time workflow</a:t>
            </a:r>
          </a:p>
        </p:txBody>
      </p:sp>
      <p:sp>
        <p:nvSpPr>
          <p:cNvPr id="14" name="矩形 13"/>
          <p:cNvSpPr>
            <a:spLocks noGrp="1"/>
          </p:cNvSpPr>
          <p:nvPr/>
        </p:nvSpPr>
        <p:spPr>
          <a:xfrm>
            <a:off x="857250" y="2095500"/>
            <a:ext cx="3762375" cy="428625"/>
          </a:xfrm>
          <a:prstGeom prst="rect">
            <a:avLst/>
          </a:prstGeom>
          <a:solidFill>
            <a:srgbClr val="F2F5FA"/>
          </a:solidFill>
          <a:ln w="9525">
            <a:solidFill>
              <a:srgbClr val="CAD4E6"/>
            </a:solidFill>
          </a:ln>
        </p:spPr>
      </p:sp>
      <p:sp>
        <p:nvSpPr>
          <p:cNvPr id="15" name="矩形 14"/>
          <p:cNvSpPr>
            <a:spLocks noGrp="1"/>
          </p:cNvSpPr>
          <p:nvPr/>
        </p:nvSpPr>
        <p:spPr>
          <a:xfrm>
            <a:off x="1000125" y="2124075"/>
            <a:ext cx="3476625" cy="361950"/>
          </a:xfrm>
          <a:prstGeom prst="rect">
            <a:avLst/>
          </a:prstGeom>
          <a:noFill/>
          <a:ln w="0">
            <a:noFill/>
          </a:ln>
        </p:spPr>
        <p:txBody>
          <a:bodyPr anchor="ctr">
            <a:normAutofit/>
          </a:bodyPr>
          <a:lstStyle/>
          <a:p>
            <a:pPr>
              <a:defRPr sz="1725" b="1">
                <a:solidFill>
                  <a:srgbClr val="10255A"/>
                </a:solidFill>
                <a:latin typeface="微软雅黑"/>
                <a:ea typeface="微软雅黑"/>
                <a:cs typeface="微软雅黑"/>
              </a:defRPr>
            </a:pPr>
            <a:r>
              <a:rPr sz="1725" b="1">
                <a:solidFill>
                  <a:srgbClr val="10255A"/>
                </a:solidFill>
                <a:latin typeface="微软雅黑"/>
                <a:ea typeface="微软雅黑"/>
                <a:cs typeface="微软雅黑"/>
              </a:rPr>
              <a:t>① Test image x</a:t>
            </a:r>
          </a:p>
        </p:txBody>
      </p:sp>
      <p:sp>
        <p:nvSpPr>
          <p:cNvPr id="16" name="矩形 15"/>
          <p:cNvSpPr>
            <a:spLocks noGrp="1"/>
          </p:cNvSpPr>
          <p:nvPr/>
        </p:nvSpPr>
        <p:spPr>
          <a:xfrm>
            <a:off x="857250" y="2647950"/>
            <a:ext cx="3762375" cy="428625"/>
          </a:xfrm>
          <a:prstGeom prst="rect">
            <a:avLst/>
          </a:prstGeom>
          <a:solidFill>
            <a:srgbClr val="F2F5FA"/>
          </a:solidFill>
          <a:ln w="9525">
            <a:solidFill>
              <a:srgbClr val="CAD4E6"/>
            </a:solidFill>
          </a:ln>
        </p:spPr>
      </p:sp>
      <p:sp>
        <p:nvSpPr>
          <p:cNvPr id="17" name="矩形 16"/>
          <p:cNvSpPr>
            <a:spLocks noGrp="1"/>
          </p:cNvSpPr>
          <p:nvPr/>
        </p:nvSpPr>
        <p:spPr>
          <a:xfrm>
            <a:off x="1000125" y="2676525"/>
            <a:ext cx="3476625" cy="361950"/>
          </a:xfrm>
          <a:prstGeom prst="rect">
            <a:avLst/>
          </a:prstGeom>
          <a:noFill/>
          <a:ln w="0">
            <a:noFill/>
          </a:ln>
        </p:spPr>
        <p:txBody>
          <a:bodyPr anchor="ctr">
            <a:normAutofit/>
          </a:bodyPr>
          <a:lstStyle/>
          <a:p>
            <a:pPr>
              <a:defRPr sz="1725" b="1">
                <a:solidFill>
                  <a:srgbClr val="10255A"/>
                </a:solidFill>
                <a:latin typeface="微软雅黑"/>
                <a:ea typeface="微软雅黑"/>
                <a:cs typeface="微软雅黑"/>
              </a:defRPr>
            </a:pPr>
            <a:r>
              <a:rPr sz="1725" b="1">
                <a:solidFill>
                  <a:srgbClr val="10255A"/>
                </a:solidFill>
                <a:latin typeface="微软雅黑"/>
                <a:ea typeface="微软雅黑"/>
                <a:cs typeface="微软雅黑"/>
              </a:rPr>
              <a:t>② Compute τ</a:t>
            </a:r>
          </a:p>
        </p:txBody>
      </p:sp>
      <p:sp>
        <p:nvSpPr>
          <p:cNvPr id="18" name="矩形 17"/>
          <p:cNvSpPr>
            <a:spLocks noGrp="1"/>
          </p:cNvSpPr>
          <p:nvPr/>
        </p:nvSpPr>
        <p:spPr>
          <a:xfrm>
            <a:off x="857250" y="3219450"/>
            <a:ext cx="3762375" cy="428625"/>
          </a:xfrm>
          <a:prstGeom prst="rect">
            <a:avLst/>
          </a:prstGeom>
          <a:solidFill>
            <a:srgbClr val="F2F5FA"/>
          </a:solidFill>
          <a:ln w="9525">
            <a:solidFill>
              <a:srgbClr val="CAD4E6"/>
            </a:solidFill>
          </a:ln>
        </p:spPr>
      </p:sp>
      <p:sp>
        <p:nvSpPr>
          <p:cNvPr id="19" name="矩形 18"/>
          <p:cNvSpPr>
            <a:spLocks noGrp="1"/>
          </p:cNvSpPr>
          <p:nvPr/>
        </p:nvSpPr>
        <p:spPr>
          <a:xfrm>
            <a:off x="1000125" y="3248025"/>
            <a:ext cx="3476625" cy="361950"/>
          </a:xfrm>
          <a:prstGeom prst="rect">
            <a:avLst/>
          </a:prstGeom>
          <a:noFill/>
          <a:ln w="0">
            <a:noFill/>
          </a:ln>
        </p:spPr>
        <p:txBody>
          <a:bodyPr anchor="ctr">
            <a:normAutofit/>
          </a:bodyPr>
          <a:lstStyle/>
          <a:p>
            <a:pPr>
              <a:defRPr sz="1725" b="1">
                <a:solidFill>
                  <a:srgbClr val="10255A"/>
                </a:solidFill>
                <a:latin typeface="微软雅黑"/>
                <a:ea typeface="微软雅黑"/>
                <a:cs typeface="微软雅黑"/>
              </a:defRPr>
            </a:pPr>
            <a:r>
              <a:rPr sz="1725" b="1">
                <a:solidFill>
                  <a:srgbClr val="10255A"/>
                </a:solidFill>
                <a:latin typeface="微软雅黑"/>
                <a:ea typeface="微软雅黑"/>
                <a:cs typeface="微软雅黑"/>
              </a:rPr>
              <a:t>Is τ low?</a:t>
            </a:r>
          </a:p>
        </p:txBody>
      </p:sp>
      <p:sp>
        <p:nvSpPr>
          <p:cNvPr id="20" name="矩形 19"/>
          <p:cNvSpPr>
            <a:spLocks noGrp="1"/>
          </p:cNvSpPr>
          <p:nvPr/>
        </p:nvSpPr>
        <p:spPr>
          <a:xfrm>
            <a:off x="2524125" y="2466975"/>
            <a:ext cx="476250" cy="238125"/>
          </a:xfrm>
          <a:prstGeom prst="rect">
            <a:avLst/>
          </a:prstGeom>
          <a:noFill/>
          <a:ln w="0">
            <a:noFill/>
          </a:ln>
        </p:spPr>
        <p:txBody>
          <a:bodyPr anchor="ctr">
            <a:normAutofit fontScale="70797" lnSpcReduction="20000"/>
          </a:bodyPr>
          <a:lstStyle/>
          <a:p>
            <a:pPr>
              <a:defRPr sz="1725" b="1">
                <a:solidFill>
                  <a:srgbClr val="082878"/>
                </a:solidFill>
                <a:latin typeface="微软雅黑"/>
                <a:ea typeface="微软雅黑"/>
                <a:cs typeface="微软雅黑"/>
              </a:defRPr>
            </a:pPr>
            <a:r>
              <a:rPr sz="1725" b="1">
                <a:solidFill>
                  <a:srgbClr val="082878"/>
                </a:solidFill>
                <a:latin typeface="微软雅黑"/>
                <a:ea typeface="微软雅黑"/>
                <a:cs typeface="微软雅黑"/>
              </a:rPr>
              <a:t>↓</a:t>
            </a:r>
          </a:p>
        </p:txBody>
      </p:sp>
      <p:sp>
        <p:nvSpPr>
          <p:cNvPr id="21" name="矩形 20"/>
          <p:cNvSpPr>
            <a:spLocks noGrp="1"/>
          </p:cNvSpPr>
          <p:nvPr/>
        </p:nvSpPr>
        <p:spPr>
          <a:xfrm>
            <a:off x="2524125" y="3019425"/>
            <a:ext cx="476250" cy="238125"/>
          </a:xfrm>
          <a:prstGeom prst="rect">
            <a:avLst/>
          </a:prstGeom>
          <a:noFill/>
          <a:ln w="0">
            <a:noFill/>
          </a:ln>
        </p:spPr>
        <p:txBody>
          <a:bodyPr anchor="ctr">
            <a:normAutofit fontScale="70797" lnSpcReduction="20000"/>
          </a:bodyPr>
          <a:lstStyle/>
          <a:p>
            <a:pPr>
              <a:defRPr sz="1725" b="1">
                <a:solidFill>
                  <a:srgbClr val="082878"/>
                </a:solidFill>
                <a:latin typeface="微软雅黑"/>
                <a:ea typeface="微软雅黑"/>
                <a:cs typeface="微软雅黑"/>
              </a:defRPr>
            </a:pPr>
            <a:r>
              <a:rPr sz="1725" b="1">
                <a:solidFill>
                  <a:srgbClr val="082878"/>
                </a:solidFill>
                <a:latin typeface="微软雅黑"/>
                <a:ea typeface="微软雅黑"/>
                <a:cs typeface="微软雅黑"/>
              </a:rPr>
              <a:t>↓</a:t>
            </a:r>
          </a:p>
        </p:txBody>
      </p:sp>
      <p:sp>
        <p:nvSpPr>
          <p:cNvPr id="22" name="矩形 21"/>
          <p:cNvSpPr>
            <a:spLocks noGrp="1"/>
          </p:cNvSpPr>
          <p:nvPr/>
        </p:nvSpPr>
        <p:spPr>
          <a:xfrm>
            <a:off x="904875" y="4010025"/>
            <a:ext cx="1666875" cy="523875"/>
          </a:xfrm>
          <a:prstGeom prst="rect">
            <a:avLst/>
          </a:prstGeom>
          <a:solidFill>
            <a:srgbClr val="FFFFFF"/>
          </a:solidFill>
          <a:ln w="9525">
            <a:solidFill>
              <a:srgbClr val="CAD4E6"/>
            </a:solidFill>
          </a:ln>
        </p:spPr>
      </p:sp>
      <p:sp>
        <p:nvSpPr>
          <p:cNvPr id="23" name="矩形 22"/>
          <p:cNvSpPr>
            <a:spLocks noGrp="1"/>
          </p:cNvSpPr>
          <p:nvPr/>
        </p:nvSpPr>
        <p:spPr>
          <a:xfrm>
            <a:off x="1028700" y="4105275"/>
            <a:ext cx="1428750" cy="323850"/>
          </a:xfrm>
          <a:prstGeom prst="rect">
            <a:avLst/>
          </a:prstGeom>
          <a:noFill/>
          <a:ln w="0">
            <a:noFill/>
          </a:ln>
        </p:spPr>
        <p:txBody>
          <a:bodyPr anchor="ctr">
            <a:normAutofit fontScale="99924" lnSpcReduction="10000"/>
          </a:bodyPr>
          <a:lstStyle/>
          <a:p>
            <a:pPr>
              <a:defRPr sz="1650" b="1">
                <a:solidFill>
                  <a:srgbClr val="647084"/>
                </a:solidFill>
                <a:latin typeface="微软雅黑"/>
                <a:ea typeface="微软雅黑"/>
                <a:cs typeface="微软雅黑"/>
              </a:defRPr>
            </a:pPr>
            <a:r>
              <a:rPr sz="1650" b="1">
                <a:solidFill>
                  <a:srgbClr val="647084"/>
                </a:solidFill>
                <a:latin typeface="微软雅黑"/>
                <a:ea typeface="微软雅黑"/>
                <a:cs typeface="微软雅黑"/>
              </a:rPr>
              <a:t>No → Stop</a:t>
            </a:r>
          </a:p>
        </p:txBody>
      </p:sp>
      <p:sp>
        <p:nvSpPr>
          <p:cNvPr id="24" name="矩形 23"/>
          <p:cNvSpPr>
            <a:spLocks noGrp="1"/>
          </p:cNvSpPr>
          <p:nvPr/>
        </p:nvSpPr>
        <p:spPr>
          <a:xfrm>
            <a:off x="3000375" y="4010025"/>
            <a:ext cx="3238500" cy="523875"/>
          </a:xfrm>
          <a:prstGeom prst="rect">
            <a:avLst/>
          </a:prstGeom>
          <a:solidFill>
            <a:srgbClr val="F2F5FA"/>
          </a:solidFill>
          <a:ln w="9525">
            <a:solidFill>
              <a:srgbClr val="CAD4E6"/>
            </a:solidFill>
          </a:ln>
        </p:spPr>
      </p:sp>
      <p:sp>
        <p:nvSpPr>
          <p:cNvPr id="25" name="矩形 24"/>
          <p:cNvSpPr>
            <a:spLocks noGrp="1"/>
          </p:cNvSpPr>
          <p:nvPr/>
        </p:nvSpPr>
        <p:spPr>
          <a:xfrm>
            <a:off x="3124200" y="4105275"/>
            <a:ext cx="3000375" cy="323850"/>
          </a:xfrm>
          <a:prstGeom prst="rect">
            <a:avLst/>
          </a:prstGeom>
          <a:noFill/>
          <a:ln w="0">
            <a:noFill/>
          </a:ln>
        </p:spPr>
        <p:txBody>
          <a:bodyPr anchor="ctr">
            <a:normAutofit fontScale="99924" lnSpcReduction="10000"/>
          </a:bodyPr>
          <a:lstStyle/>
          <a:p>
            <a:pPr>
              <a:defRPr sz="1650" b="1">
                <a:solidFill>
                  <a:srgbClr val="082878"/>
                </a:solidFill>
                <a:latin typeface="微软雅黑"/>
                <a:ea typeface="微软雅黑"/>
                <a:cs typeface="微软雅黑"/>
              </a:defRPr>
            </a:pPr>
            <a:r>
              <a:rPr sz="1650" b="1">
                <a:solidFill>
                  <a:srgbClr val="082878"/>
                </a:solidFill>
                <a:latin typeface="微软雅黑"/>
                <a:ea typeface="微软雅黑"/>
                <a:cs typeface="微软雅黑"/>
              </a:rPr>
              <a:t>Yes → PGD counterattack</a:t>
            </a:r>
          </a:p>
        </p:txBody>
      </p:sp>
      <p:sp>
        <p:nvSpPr>
          <p:cNvPr id="26" name="矩形 25"/>
          <p:cNvSpPr>
            <a:spLocks noGrp="1"/>
          </p:cNvSpPr>
          <p:nvPr/>
        </p:nvSpPr>
        <p:spPr>
          <a:xfrm>
            <a:off x="1657350" y="3676650"/>
            <a:ext cx="523875" cy="361950"/>
          </a:xfrm>
          <a:prstGeom prst="rect">
            <a:avLst/>
          </a:prstGeom>
          <a:noFill/>
          <a:ln w="0">
            <a:noFill/>
          </a:ln>
        </p:spPr>
        <p:txBody>
          <a:bodyPr anchor="ctr">
            <a:normAutofit fontScale="89109" lnSpcReduction="10000"/>
          </a:bodyPr>
          <a:lstStyle/>
          <a:p>
            <a:pPr>
              <a:defRPr sz="2175" b="1">
                <a:solidFill>
                  <a:srgbClr val="647084"/>
                </a:solidFill>
                <a:latin typeface="微软雅黑"/>
                <a:ea typeface="微软雅黑"/>
                <a:cs typeface="微软雅黑"/>
              </a:defRPr>
            </a:pPr>
            <a:r>
              <a:rPr sz="2175" b="1">
                <a:solidFill>
                  <a:srgbClr val="647084"/>
                </a:solidFill>
                <a:latin typeface="微软雅黑"/>
                <a:ea typeface="微软雅黑"/>
                <a:cs typeface="微软雅黑"/>
              </a:rPr>
              <a:t>↙</a:t>
            </a:r>
          </a:p>
        </p:txBody>
      </p:sp>
      <p:sp>
        <p:nvSpPr>
          <p:cNvPr id="27" name="矩形 26"/>
          <p:cNvSpPr>
            <a:spLocks noGrp="1"/>
          </p:cNvSpPr>
          <p:nvPr/>
        </p:nvSpPr>
        <p:spPr>
          <a:xfrm>
            <a:off x="4238625" y="3676650"/>
            <a:ext cx="523875" cy="361950"/>
          </a:xfrm>
          <a:prstGeom prst="rect">
            <a:avLst/>
          </a:prstGeom>
          <a:noFill/>
          <a:ln w="0">
            <a:noFill/>
          </a:ln>
        </p:spPr>
        <p:txBody>
          <a:bodyPr anchor="ctr">
            <a:normAutofit fontScale="89109" lnSpcReduction="10000"/>
          </a:bodyPr>
          <a:lstStyle/>
          <a:p>
            <a:pPr>
              <a:defRPr sz="2175" b="1">
                <a:solidFill>
                  <a:srgbClr val="082878"/>
                </a:solidFill>
                <a:latin typeface="微软雅黑"/>
                <a:ea typeface="微软雅黑"/>
                <a:cs typeface="微软雅黑"/>
              </a:defRPr>
            </a:pPr>
            <a:r>
              <a:rPr sz="2175" b="1">
                <a:solidFill>
                  <a:srgbClr val="082878"/>
                </a:solidFill>
                <a:latin typeface="微软雅黑"/>
                <a:ea typeface="微软雅黑"/>
                <a:cs typeface="微软雅黑"/>
              </a:rPr>
              <a:t>↘</a:t>
            </a:r>
          </a:p>
        </p:txBody>
      </p:sp>
      <p:sp>
        <p:nvSpPr>
          <p:cNvPr id="28" name="矩形 27"/>
          <p:cNvSpPr>
            <a:spLocks noGrp="1"/>
          </p:cNvSpPr>
          <p:nvPr/>
        </p:nvSpPr>
        <p:spPr>
          <a:xfrm>
            <a:off x="3000375" y="4648200"/>
            <a:ext cx="4333875" cy="400050"/>
          </a:xfrm>
          <a:prstGeom prst="rect">
            <a:avLst/>
          </a:prstGeom>
          <a:noFill/>
          <a:ln w="0">
            <a:noFill/>
          </a:ln>
        </p:spPr>
        <p:txBody>
          <a:bodyPr anchor="ctr">
            <a:normAutofit fontScale="92042"/>
          </a:bodyPr>
          <a:lstStyle/>
          <a:p>
            <a:pPr>
              <a:defRPr sz="1500" b="1">
                <a:solidFill>
                  <a:srgbClr val="1D2737"/>
                </a:solidFill>
                <a:latin typeface="微软雅黑"/>
                <a:ea typeface="微软雅黑"/>
                <a:cs typeface="微软雅黑"/>
              </a:defRPr>
            </a:pPr>
            <a:r>
              <a:rPr sz="1500" b="1">
                <a:solidFill>
                  <a:srgbClr val="1D2737"/>
                </a:solidFill>
                <a:latin typeface="微软雅黑"/>
                <a:ea typeface="微软雅黑"/>
                <a:cs typeface="微软雅黑"/>
              </a:rPr>
              <a:t>N-step updates  →  weighted perturbations</a:t>
            </a:r>
          </a:p>
        </p:txBody>
      </p:sp>
      <p:sp>
        <p:nvSpPr>
          <p:cNvPr id="29" name="矩形 28"/>
          <p:cNvSpPr>
            <a:spLocks noGrp="1"/>
          </p:cNvSpPr>
          <p:nvPr/>
        </p:nvSpPr>
        <p:spPr>
          <a:xfrm>
            <a:off x="3000375" y="5162550"/>
            <a:ext cx="4333875" cy="400050"/>
          </a:xfrm>
          <a:prstGeom prst="rect">
            <a:avLst/>
          </a:prstGeom>
          <a:noFill/>
          <a:ln w="0">
            <a:noFill/>
          </a:ln>
        </p:spPr>
        <p:txBody>
          <a:bodyPr anchor="ctr">
            <a:normAutofit/>
          </a:bodyPr>
          <a:lstStyle/>
          <a:p>
            <a:pPr>
              <a:defRPr sz="1575" b="1">
                <a:solidFill>
                  <a:srgbClr val="10255A"/>
                </a:solidFill>
                <a:latin typeface="微软雅黑"/>
                <a:ea typeface="微软雅黑"/>
                <a:cs typeface="微软雅黑"/>
              </a:defRPr>
            </a:pPr>
            <a:r>
              <a:rPr sz="1575" b="1">
                <a:solidFill>
                  <a:srgbClr val="10255A"/>
                </a:solidFill>
                <a:latin typeface="微软雅黑"/>
                <a:ea typeface="微软雅黑"/>
                <a:cs typeface="微软雅黑"/>
              </a:rPr>
              <a:t>↓  x + δₜₜ꜀  →  CLIP prediction</a:t>
            </a:r>
          </a:p>
        </p:txBody>
      </p:sp>
      <p:pic>
        <p:nvPicPr>
          <p:cNvPr id="66" name="图片 65"/>
          <p:cNvPicPr>
            <a:picLocks noChangeAspect="1"/>
          </p:cNvPicPr>
          <p:nvPr/>
        </p:nvPicPr>
        <p:blipFill>
          <a:blip r:embed="rId3"/>
          <a:stretch>
            <a:fillRect/>
          </a:stretch>
        </p:blipFill>
        <p:spPr>
          <a:xfrm>
            <a:off x="7620000" y="2040463"/>
            <a:ext cx="3619500" cy="1443575"/>
          </a:xfrm>
          <a:prstGeom prst="rect">
            <a:avLst/>
          </a:prstGeom>
        </p:spPr>
      </p:pic>
      <p:sp>
        <p:nvSpPr>
          <p:cNvPr id="31" name="矩形 30"/>
          <p:cNvSpPr>
            <a:spLocks noGrp="1"/>
          </p:cNvSpPr>
          <p:nvPr/>
        </p:nvSpPr>
        <p:spPr>
          <a:xfrm>
            <a:off x="7620000" y="3943350"/>
            <a:ext cx="2809875" cy="295275"/>
          </a:xfrm>
          <a:prstGeom prst="rect">
            <a:avLst/>
          </a:prstGeom>
          <a:solidFill>
            <a:srgbClr val="082878"/>
          </a:solidFill>
          <a:ln w="0">
            <a:noFill/>
          </a:ln>
        </p:spPr>
      </p:sp>
      <p:sp>
        <p:nvSpPr>
          <p:cNvPr id="32" name="矩形 31"/>
          <p:cNvSpPr>
            <a:spLocks noGrp="1"/>
          </p:cNvSpPr>
          <p:nvPr/>
        </p:nvSpPr>
        <p:spPr>
          <a:xfrm>
            <a:off x="7696200" y="3962400"/>
            <a:ext cx="265747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Optimization Objective</a:t>
            </a:r>
          </a:p>
        </p:txBody>
      </p:sp>
      <p:sp>
        <p:nvSpPr>
          <p:cNvPr id="33" name="矩形 32"/>
          <p:cNvSpPr>
            <a:spLocks noGrp="1"/>
          </p:cNvSpPr>
          <p:nvPr/>
        </p:nvSpPr>
        <p:spPr>
          <a:xfrm>
            <a:off x="7620000" y="4343400"/>
            <a:ext cx="3667125" cy="695325"/>
          </a:xfrm>
          <a:prstGeom prst="rect">
            <a:avLst/>
          </a:prstGeom>
          <a:noFill/>
          <a:ln w="0">
            <a:noFill/>
          </a:ln>
        </p:spPr>
        <p:txBody>
          <a:bodyPr anchor="ctr">
            <a:normAutofit/>
          </a:bodyPr>
          <a:lstStyle/>
          <a:p>
            <a:pPr>
              <a:defRPr sz="1725" b="1">
                <a:solidFill>
                  <a:srgbClr val="082878"/>
                </a:solidFill>
                <a:latin typeface="微软雅黑"/>
                <a:ea typeface="微软雅黑"/>
                <a:cs typeface="微软雅黑"/>
              </a:defRPr>
            </a:pPr>
            <a:r>
              <a:rPr sz="1725" b="1">
                <a:solidFill>
                  <a:srgbClr val="082878"/>
                </a:solidFill>
                <a:latin typeface="微软雅黑"/>
                <a:ea typeface="微软雅黑"/>
                <a:cs typeface="微软雅黑"/>
              </a:rPr>
              <a:t>δₜₜ꜀ = arg maxδ</a:t>
            </a:r>
          </a:p>
          <a:p>
            <a:pPr>
              <a:defRPr sz="1725" b="1">
                <a:solidFill>
                  <a:srgbClr val="082878"/>
                </a:solidFill>
                <a:latin typeface="微软雅黑"/>
                <a:ea typeface="微软雅黑"/>
                <a:cs typeface="微软雅黑"/>
              </a:defRPr>
            </a:pPr>
            <a:r>
              <a:rPr sz="1725" b="1">
                <a:solidFill>
                  <a:srgbClr val="082878"/>
                </a:solidFill>
                <a:latin typeface="微软雅黑"/>
                <a:ea typeface="微软雅黑"/>
                <a:cs typeface="微软雅黑"/>
              </a:rPr>
              <a:t>‖fθ(x+δ) − fθ(x)‖</a:t>
            </a:r>
          </a:p>
        </p:txBody>
      </p:sp>
      <p:sp>
        <p:nvSpPr>
          <p:cNvPr id="34" name="矩形 33"/>
          <p:cNvSpPr>
            <a:spLocks noGrp="1"/>
          </p:cNvSpPr>
          <p:nvPr/>
        </p:nvSpPr>
        <p:spPr>
          <a:xfrm>
            <a:off x="7667625" y="5048250"/>
            <a:ext cx="3476625" cy="685800"/>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Move the new embedding away</a:t>
            </a:r>
          </a:p>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from the current embedding.</a:t>
            </a:r>
          </a:p>
        </p:txBody>
      </p:sp>
      <p:sp>
        <p:nvSpPr>
          <p:cNvPr id="35" name="矩形 34"/>
          <p:cNvSpPr>
            <a:spLocks noGrp="1"/>
          </p:cNvSpPr>
          <p:nvPr/>
        </p:nvSpPr>
        <p:spPr>
          <a:xfrm>
            <a:off x="714375" y="5962650"/>
            <a:ext cx="10668000" cy="19050"/>
          </a:xfrm>
          <a:prstGeom prst="rect">
            <a:avLst/>
          </a:prstGeom>
          <a:solidFill>
            <a:srgbClr val="CAD4E6"/>
          </a:solidFill>
          <a:ln w="0">
            <a:noFill/>
          </a:ln>
        </p:spPr>
      </p:sp>
      <p:sp>
        <p:nvSpPr>
          <p:cNvPr id="36" name="矩形 35"/>
          <p:cNvSpPr>
            <a:spLocks noGrp="1"/>
          </p:cNvSpPr>
          <p:nvPr/>
        </p:nvSpPr>
        <p:spPr>
          <a:xfrm>
            <a:off x="809625" y="6076950"/>
            <a:ext cx="10477500" cy="400050"/>
          </a:xfrm>
          <a:prstGeom prst="rect">
            <a:avLst/>
          </a:prstGeom>
          <a:noFill/>
          <a:ln w="0">
            <a:noFill/>
          </a:ln>
        </p:spPr>
        <p:txBody>
          <a:bodyPr anchor="ctr">
            <a:normAutofit/>
          </a:bodyPr>
          <a:lstStyle/>
          <a:p>
            <a:pPr>
              <a:defRPr sz="1650" b="1">
                <a:solidFill>
                  <a:srgbClr val="10255A"/>
                </a:solidFill>
                <a:latin typeface="微软雅黑"/>
                <a:ea typeface="微软雅黑"/>
                <a:cs typeface="微软雅黑"/>
              </a:defRPr>
            </a:pPr>
            <a:r>
              <a:rPr sz="1650" b="1">
                <a:solidFill>
                  <a:srgbClr val="10255A"/>
                </a:solidFill>
                <a:latin typeface="微软雅黑"/>
                <a:ea typeface="微软雅黑"/>
                <a:cs typeface="微软雅黑"/>
              </a:rPr>
              <a:t>Frozen Vision Encoder  ·  No Finetuning  ·  Optimize Input</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a:spLocks noGrp="1"/>
          </p:cNvSpPr>
          <p:nvPr/>
        </p:nvSpPr>
        <p:spPr>
          <a:xfrm>
            <a:off x="5048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研究背景</a:t>
            </a:r>
          </a:p>
        </p:txBody>
      </p:sp>
      <p:sp>
        <p:nvSpPr>
          <p:cNvPr id="2" name="矩形 1"/>
          <p:cNvSpPr>
            <a:spLocks noGrp="1"/>
          </p:cNvSpPr>
          <p:nvPr/>
        </p:nvSpPr>
        <p:spPr>
          <a:xfrm>
            <a:off x="19145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研究动机</a:t>
            </a:r>
          </a:p>
        </p:txBody>
      </p:sp>
      <p:sp>
        <p:nvSpPr>
          <p:cNvPr id="3" name="矩形 2"/>
          <p:cNvSpPr>
            <a:spLocks noGrp="1"/>
          </p:cNvSpPr>
          <p:nvPr/>
        </p:nvSpPr>
        <p:spPr>
          <a:xfrm>
            <a:off x="33242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关键发现</a:t>
            </a:r>
          </a:p>
        </p:txBody>
      </p:sp>
      <p:sp>
        <p:nvSpPr>
          <p:cNvPr id="4" name="矩形 3"/>
          <p:cNvSpPr>
            <a:spLocks noGrp="1"/>
          </p:cNvSpPr>
          <p:nvPr/>
        </p:nvSpPr>
        <p:spPr>
          <a:xfrm>
            <a:off x="47339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TTC 方法</a:t>
            </a:r>
          </a:p>
        </p:txBody>
      </p:sp>
      <p:sp>
        <p:nvSpPr>
          <p:cNvPr id="5" name="矩形 4"/>
          <p:cNvSpPr>
            <a:spLocks noGrp="1"/>
          </p:cNvSpPr>
          <p:nvPr/>
        </p:nvSpPr>
        <p:spPr>
          <a:xfrm>
            <a:off x="6096000" y="228600"/>
            <a:ext cx="1238250" cy="409575"/>
          </a:xfrm>
          <a:prstGeom prst="rect">
            <a:avLst/>
          </a:prstGeom>
          <a:solidFill>
            <a:srgbClr val="082878"/>
          </a:solidFill>
          <a:ln w="0">
            <a:noFill/>
          </a:ln>
        </p:spPr>
      </p:sp>
      <p:sp>
        <p:nvSpPr>
          <p:cNvPr id="6" name="矩形 5"/>
          <p:cNvSpPr>
            <a:spLocks noGrp="1"/>
          </p:cNvSpPr>
          <p:nvPr/>
        </p:nvSpPr>
        <p:spPr>
          <a:xfrm>
            <a:off x="6143625" y="266700"/>
            <a:ext cx="1143000" cy="323850"/>
          </a:xfrm>
          <a:prstGeom prst="rect">
            <a:avLst/>
          </a:prstGeom>
          <a:noFill/>
          <a:ln w="0">
            <a:noFill/>
          </a:ln>
        </p:spPr>
        <p:txBody>
          <a:bodyPr anchor="ctr">
            <a:normAutofit/>
          </a:bodyPr>
          <a:lstStyle/>
          <a:p>
            <a:pPr>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创新点</a:t>
            </a:r>
          </a:p>
        </p:txBody>
      </p:sp>
      <p:sp>
        <p:nvSpPr>
          <p:cNvPr id="7" name="矩形 6"/>
          <p:cNvSpPr>
            <a:spLocks noGrp="1"/>
          </p:cNvSpPr>
          <p:nvPr/>
        </p:nvSpPr>
        <p:spPr>
          <a:xfrm>
            <a:off x="73818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实验结果</a:t>
            </a:r>
          </a:p>
        </p:txBody>
      </p:sp>
      <p:sp>
        <p:nvSpPr>
          <p:cNvPr id="8" name="矩形 7"/>
          <p:cNvSpPr>
            <a:spLocks noGrp="1"/>
          </p:cNvSpPr>
          <p:nvPr/>
        </p:nvSpPr>
        <p:spPr>
          <a:xfrm>
            <a:off x="87915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总结讨论</a:t>
            </a:r>
          </a:p>
        </p:txBody>
      </p:sp>
      <p:sp>
        <p:nvSpPr>
          <p:cNvPr id="9" name="矩形 8"/>
          <p:cNvSpPr>
            <a:spLocks noGrp="1"/>
          </p:cNvSpPr>
          <p:nvPr/>
        </p:nvSpPr>
        <p:spPr>
          <a:xfrm>
            <a:off x="457200" y="647700"/>
            <a:ext cx="11277600" cy="28575"/>
          </a:xfrm>
          <a:prstGeom prst="rect">
            <a:avLst/>
          </a:prstGeom>
          <a:solidFill>
            <a:srgbClr val="082878"/>
          </a:solidFill>
          <a:ln w="0">
            <a:noFill/>
          </a:ln>
        </p:spPr>
      </p:sp>
      <p:sp>
        <p:nvSpPr>
          <p:cNvPr id="10" name="矩形 9"/>
          <p:cNvSpPr>
            <a:spLocks noGrp="1"/>
          </p:cNvSpPr>
          <p:nvPr/>
        </p:nvSpPr>
        <p:spPr>
          <a:xfrm>
            <a:off x="495300" y="1095375"/>
            <a:ext cx="85725" cy="285750"/>
          </a:xfrm>
          <a:prstGeom prst="rect">
            <a:avLst/>
          </a:prstGeom>
          <a:solidFill>
            <a:srgbClr val="082878"/>
          </a:solidFill>
          <a:ln w="0">
            <a:noFill/>
          </a:ln>
        </p:spPr>
      </p:sp>
      <p:sp>
        <p:nvSpPr>
          <p:cNvPr id="11" name="矩形 10"/>
          <p:cNvSpPr>
            <a:spLocks noGrp="1"/>
          </p:cNvSpPr>
          <p:nvPr/>
        </p:nvSpPr>
        <p:spPr>
          <a:xfrm>
            <a:off x="695325" y="1000125"/>
            <a:ext cx="10620375" cy="552450"/>
          </a:xfrm>
          <a:prstGeom prst="rect">
            <a:avLst/>
          </a:prstGeom>
          <a:noFill/>
          <a:ln w="0">
            <a:noFill/>
          </a:ln>
        </p:spPr>
        <p:txBody>
          <a:bodyPr anchor="ctr">
            <a:normAutofit/>
          </a:bodyPr>
          <a:lstStyle/>
          <a:p>
            <a:pPr>
              <a:defRPr sz="2550" b="1">
                <a:solidFill>
                  <a:srgbClr val="10255A"/>
                </a:solidFill>
                <a:latin typeface="微软雅黑"/>
                <a:ea typeface="微软雅黑"/>
                <a:cs typeface="微软雅黑"/>
              </a:defRPr>
            </a:pPr>
            <a:r>
              <a:rPr sz="2550" b="1">
                <a:solidFill>
                  <a:srgbClr val="10255A"/>
                </a:solidFill>
                <a:latin typeface="微软雅黑"/>
                <a:ea typeface="微软雅黑"/>
                <a:cs typeface="微软雅黑"/>
              </a:rPr>
              <a:t>创新：让 CLIP 利用自身表示防御</a:t>
            </a:r>
          </a:p>
        </p:txBody>
      </p:sp>
      <p:sp>
        <p:nvSpPr>
          <p:cNvPr id="12" name="矩形 11"/>
          <p:cNvSpPr>
            <a:spLocks noGrp="1"/>
          </p:cNvSpPr>
          <p:nvPr/>
        </p:nvSpPr>
        <p:spPr>
          <a:xfrm>
            <a:off x="714375" y="1762125"/>
            <a:ext cx="1619250" cy="295275"/>
          </a:xfrm>
          <a:prstGeom prst="rect">
            <a:avLst/>
          </a:prstGeom>
          <a:solidFill>
            <a:srgbClr val="082878"/>
          </a:solidFill>
          <a:ln w="0">
            <a:noFill/>
          </a:ln>
        </p:spPr>
      </p:sp>
      <p:sp>
        <p:nvSpPr>
          <p:cNvPr id="13" name="矩形 12"/>
          <p:cNvSpPr>
            <a:spLocks noGrp="1"/>
          </p:cNvSpPr>
          <p:nvPr/>
        </p:nvSpPr>
        <p:spPr>
          <a:xfrm>
            <a:off x="790575" y="1781175"/>
            <a:ext cx="146685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Observation</a:t>
            </a:r>
          </a:p>
        </p:txBody>
      </p:sp>
      <p:sp>
        <p:nvSpPr>
          <p:cNvPr id="14" name="矩形 13"/>
          <p:cNvSpPr>
            <a:spLocks noGrp="1"/>
          </p:cNvSpPr>
          <p:nvPr/>
        </p:nvSpPr>
        <p:spPr>
          <a:xfrm>
            <a:off x="2619375" y="1724025"/>
            <a:ext cx="4762500" cy="457200"/>
          </a:xfrm>
          <a:prstGeom prst="rect">
            <a:avLst/>
          </a:prstGeom>
          <a:noFill/>
          <a:ln w="0">
            <a:noFill/>
          </a:ln>
        </p:spPr>
        <p:txBody>
          <a:bodyPr anchor="ctr">
            <a:normAutofit/>
          </a:bodyPr>
          <a:lstStyle/>
          <a:p>
            <a:pPr>
              <a:defRPr sz="2100" b="1">
                <a:solidFill>
                  <a:srgbClr val="10255A"/>
                </a:solidFill>
                <a:latin typeface="微软雅黑"/>
                <a:ea typeface="微软雅黑"/>
                <a:cs typeface="微软雅黑"/>
              </a:defRPr>
            </a:pPr>
            <a:r>
              <a:rPr sz="2100" b="1">
                <a:solidFill>
                  <a:srgbClr val="10255A"/>
                </a:solidFill>
                <a:latin typeface="微软雅黑"/>
                <a:ea typeface="微软雅黑"/>
                <a:cs typeface="微软雅黑"/>
              </a:rPr>
              <a:t>False Stability</a:t>
            </a:r>
          </a:p>
        </p:txBody>
      </p:sp>
      <p:sp>
        <p:nvSpPr>
          <p:cNvPr id="15" name="矩形 14"/>
          <p:cNvSpPr>
            <a:spLocks noGrp="1"/>
          </p:cNvSpPr>
          <p:nvPr/>
        </p:nvSpPr>
        <p:spPr>
          <a:xfrm>
            <a:off x="3190875" y="2209800"/>
            <a:ext cx="476250" cy="333375"/>
          </a:xfrm>
          <a:prstGeom prst="rect">
            <a:avLst/>
          </a:prstGeom>
          <a:noFill/>
          <a:ln w="0">
            <a:noFill/>
          </a:ln>
        </p:spPr>
        <p:txBody>
          <a:bodyPr anchor="ctr">
            <a:normAutofit fontScale="92167" lnSpcReduction="10000"/>
          </a:bodyPr>
          <a:lstStyle/>
          <a:p>
            <a:pPr>
              <a:defRPr sz="1875" b="1">
                <a:solidFill>
                  <a:srgbClr val="082878"/>
                </a:solidFill>
                <a:latin typeface="微软雅黑"/>
                <a:ea typeface="微软雅黑"/>
                <a:cs typeface="微软雅黑"/>
              </a:defRPr>
            </a:pPr>
            <a:r>
              <a:rPr sz="1875" b="1">
                <a:solidFill>
                  <a:srgbClr val="082878"/>
                </a:solidFill>
                <a:latin typeface="微软雅黑"/>
                <a:ea typeface="微软雅黑"/>
                <a:cs typeface="微软雅黑"/>
              </a:rPr>
              <a:t>↓</a:t>
            </a:r>
          </a:p>
        </p:txBody>
      </p:sp>
      <p:sp>
        <p:nvSpPr>
          <p:cNvPr id="16" name="矩形 15"/>
          <p:cNvSpPr>
            <a:spLocks noGrp="1"/>
          </p:cNvSpPr>
          <p:nvPr/>
        </p:nvSpPr>
        <p:spPr>
          <a:xfrm>
            <a:off x="714375" y="2619375"/>
            <a:ext cx="1619250" cy="295275"/>
          </a:xfrm>
          <a:prstGeom prst="rect">
            <a:avLst/>
          </a:prstGeom>
          <a:solidFill>
            <a:srgbClr val="082878"/>
          </a:solidFill>
          <a:ln w="0">
            <a:noFill/>
          </a:ln>
        </p:spPr>
      </p:sp>
      <p:sp>
        <p:nvSpPr>
          <p:cNvPr id="17" name="矩形 16"/>
          <p:cNvSpPr>
            <a:spLocks noGrp="1"/>
          </p:cNvSpPr>
          <p:nvPr/>
        </p:nvSpPr>
        <p:spPr>
          <a:xfrm>
            <a:off x="790575" y="2638425"/>
            <a:ext cx="146685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Hypothesis</a:t>
            </a:r>
          </a:p>
        </p:txBody>
      </p:sp>
      <p:sp>
        <p:nvSpPr>
          <p:cNvPr id="18" name="矩形 17"/>
          <p:cNvSpPr>
            <a:spLocks noGrp="1"/>
          </p:cNvSpPr>
          <p:nvPr/>
        </p:nvSpPr>
        <p:spPr>
          <a:xfrm>
            <a:off x="2619375" y="2552700"/>
            <a:ext cx="4857750" cy="666750"/>
          </a:xfrm>
          <a:prstGeom prst="rect">
            <a:avLst/>
          </a:prstGeom>
          <a:noFill/>
          <a:ln w="0">
            <a:noFill/>
          </a:ln>
        </p:spPr>
        <p:txBody>
          <a:bodyPr anchor="ctr">
            <a:normAutofit/>
          </a:bodyPr>
          <a:lstStyle/>
          <a:p>
            <a:pPr>
              <a:defRPr sz="1650" b="1">
                <a:solidFill>
                  <a:srgbClr val="10255A"/>
                </a:solidFill>
                <a:latin typeface="微软雅黑"/>
                <a:ea typeface="微软雅黑"/>
                <a:cs typeface="微软雅黑"/>
              </a:defRPr>
            </a:pPr>
            <a:r>
              <a:rPr sz="1650" b="1">
                <a:solidFill>
                  <a:srgbClr val="10255A"/>
                </a:solidFill>
                <a:latin typeface="微软雅黑"/>
                <a:ea typeface="微软雅黑"/>
                <a:cs typeface="微软雅黑"/>
              </a:rPr>
              <a:t>Adversarial samples may occupy</a:t>
            </a:r>
          </a:p>
          <a:p>
            <a:pPr>
              <a:defRPr sz="1650" b="1">
                <a:solidFill>
                  <a:srgbClr val="10255A"/>
                </a:solidFill>
                <a:latin typeface="微软雅黑"/>
                <a:ea typeface="微软雅黑"/>
                <a:cs typeface="微软雅黑"/>
              </a:defRPr>
            </a:pPr>
            <a:r>
              <a:rPr sz="1650" b="1">
                <a:solidFill>
                  <a:srgbClr val="10255A"/>
                </a:solidFill>
                <a:latin typeface="微软雅黑"/>
                <a:ea typeface="微软雅黑"/>
                <a:cs typeface="微软雅黑"/>
              </a:rPr>
              <a:t>a wrong local stable region</a:t>
            </a:r>
          </a:p>
        </p:txBody>
      </p:sp>
      <p:sp>
        <p:nvSpPr>
          <p:cNvPr id="19" name="矩形 18"/>
          <p:cNvSpPr>
            <a:spLocks noGrp="1"/>
          </p:cNvSpPr>
          <p:nvPr/>
        </p:nvSpPr>
        <p:spPr>
          <a:xfrm>
            <a:off x="3190875" y="3238500"/>
            <a:ext cx="476250" cy="333375"/>
          </a:xfrm>
          <a:prstGeom prst="rect">
            <a:avLst/>
          </a:prstGeom>
          <a:noFill/>
          <a:ln w="0">
            <a:noFill/>
          </a:ln>
        </p:spPr>
        <p:txBody>
          <a:bodyPr anchor="ctr">
            <a:normAutofit fontScale="92167" lnSpcReduction="10000"/>
          </a:bodyPr>
          <a:lstStyle/>
          <a:p>
            <a:pPr>
              <a:defRPr sz="1875" b="1">
                <a:solidFill>
                  <a:srgbClr val="082878"/>
                </a:solidFill>
                <a:latin typeface="微软雅黑"/>
                <a:ea typeface="微软雅黑"/>
                <a:cs typeface="微软雅黑"/>
              </a:defRPr>
            </a:pPr>
            <a:r>
              <a:rPr sz="1875" b="1">
                <a:solidFill>
                  <a:srgbClr val="082878"/>
                </a:solidFill>
                <a:latin typeface="微软雅黑"/>
                <a:ea typeface="微软雅黑"/>
                <a:cs typeface="微软雅黑"/>
              </a:rPr>
              <a:t>↓</a:t>
            </a:r>
          </a:p>
        </p:txBody>
      </p:sp>
      <p:sp>
        <p:nvSpPr>
          <p:cNvPr id="20" name="矩形 19"/>
          <p:cNvSpPr>
            <a:spLocks noGrp="1"/>
          </p:cNvSpPr>
          <p:nvPr/>
        </p:nvSpPr>
        <p:spPr>
          <a:xfrm>
            <a:off x="714375" y="3667125"/>
            <a:ext cx="1619250" cy="295275"/>
          </a:xfrm>
          <a:prstGeom prst="rect">
            <a:avLst/>
          </a:prstGeom>
          <a:solidFill>
            <a:srgbClr val="082878"/>
          </a:solidFill>
          <a:ln w="0">
            <a:noFill/>
          </a:ln>
        </p:spPr>
      </p:sp>
      <p:sp>
        <p:nvSpPr>
          <p:cNvPr id="21" name="矩形 20"/>
          <p:cNvSpPr>
            <a:spLocks noGrp="1"/>
          </p:cNvSpPr>
          <p:nvPr/>
        </p:nvSpPr>
        <p:spPr>
          <a:xfrm>
            <a:off x="790575" y="3686175"/>
            <a:ext cx="146685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Defense Design</a:t>
            </a:r>
          </a:p>
        </p:txBody>
      </p:sp>
      <p:sp>
        <p:nvSpPr>
          <p:cNvPr id="22" name="矩形 21"/>
          <p:cNvSpPr>
            <a:spLocks noGrp="1"/>
          </p:cNvSpPr>
          <p:nvPr/>
        </p:nvSpPr>
        <p:spPr>
          <a:xfrm>
            <a:off x="2619375" y="3629025"/>
            <a:ext cx="4762500" cy="457200"/>
          </a:xfrm>
          <a:prstGeom prst="rect">
            <a:avLst/>
          </a:prstGeom>
          <a:noFill/>
          <a:ln w="0">
            <a:noFill/>
          </a:ln>
        </p:spPr>
        <p:txBody>
          <a:bodyPr anchor="ctr">
            <a:normAutofit/>
          </a:bodyPr>
          <a:lstStyle/>
          <a:p>
            <a:pPr>
              <a:defRPr sz="1950" b="1">
                <a:solidFill>
                  <a:srgbClr val="10255A"/>
                </a:solidFill>
                <a:latin typeface="微软雅黑"/>
                <a:ea typeface="微软雅黑"/>
                <a:cs typeface="微软雅黑"/>
              </a:defRPr>
            </a:pPr>
            <a:r>
              <a:rPr sz="1950" b="1">
                <a:solidFill>
                  <a:srgbClr val="10255A"/>
                </a:solidFill>
                <a:latin typeface="微软雅黑"/>
                <a:ea typeface="微软雅黑"/>
                <a:cs typeface="微软雅黑"/>
              </a:rPr>
              <a:t>Maximize embedding drift</a:t>
            </a:r>
          </a:p>
        </p:txBody>
      </p:sp>
      <p:sp>
        <p:nvSpPr>
          <p:cNvPr id="23" name="矩形 22"/>
          <p:cNvSpPr>
            <a:spLocks noGrp="1"/>
          </p:cNvSpPr>
          <p:nvPr/>
        </p:nvSpPr>
        <p:spPr>
          <a:xfrm>
            <a:off x="3190875" y="4114800"/>
            <a:ext cx="476250" cy="333375"/>
          </a:xfrm>
          <a:prstGeom prst="rect">
            <a:avLst/>
          </a:prstGeom>
          <a:noFill/>
          <a:ln w="0">
            <a:noFill/>
          </a:ln>
        </p:spPr>
        <p:txBody>
          <a:bodyPr anchor="ctr">
            <a:normAutofit fontScale="92167" lnSpcReduction="10000"/>
          </a:bodyPr>
          <a:lstStyle/>
          <a:p>
            <a:pPr>
              <a:defRPr sz="1875" b="1">
                <a:solidFill>
                  <a:srgbClr val="082878"/>
                </a:solidFill>
                <a:latin typeface="微软雅黑"/>
                <a:ea typeface="微软雅黑"/>
                <a:cs typeface="微软雅黑"/>
              </a:defRPr>
            </a:pPr>
            <a:r>
              <a:rPr sz="1875" b="1">
                <a:solidFill>
                  <a:srgbClr val="082878"/>
                </a:solidFill>
                <a:latin typeface="微软雅黑"/>
                <a:ea typeface="微软雅黑"/>
                <a:cs typeface="微软雅黑"/>
              </a:rPr>
              <a:t>↓</a:t>
            </a:r>
          </a:p>
        </p:txBody>
      </p:sp>
      <p:sp>
        <p:nvSpPr>
          <p:cNvPr id="24" name="矩形 23"/>
          <p:cNvSpPr>
            <a:spLocks noGrp="1"/>
          </p:cNvSpPr>
          <p:nvPr/>
        </p:nvSpPr>
        <p:spPr>
          <a:xfrm>
            <a:off x="714375" y="4524375"/>
            <a:ext cx="1619250" cy="295275"/>
          </a:xfrm>
          <a:prstGeom prst="rect">
            <a:avLst/>
          </a:prstGeom>
          <a:solidFill>
            <a:srgbClr val="082878"/>
          </a:solidFill>
          <a:ln w="0">
            <a:noFill/>
          </a:ln>
        </p:spPr>
      </p:sp>
      <p:sp>
        <p:nvSpPr>
          <p:cNvPr id="25" name="矩形 24"/>
          <p:cNvSpPr>
            <a:spLocks noGrp="1"/>
          </p:cNvSpPr>
          <p:nvPr/>
        </p:nvSpPr>
        <p:spPr>
          <a:xfrm>
            <a:off x="790575" y="4543425"/>
            <a:ext cx="146685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Execution</a:t>
            </a:r>
          </a:p>
        </p:txBody>
      </p:sp>
      <p:sp>
        <p:nvSpPr>
          <p:cNvPr id="26" name="矩形 25"/>
          <p:cNvSpPr>
            <a:spLocks noGrp="1"/>
          </p:cNvSpPr>
          <p:nvPr/>
        </p:nvSpPr>
        <p:spPr>
          <a:xfrm>
            <a:off x="2619375" y="4448175"/>
            <a:ext cx="4762500" cy="638175"/>
          </a:xfrm>
          <a:prstGeom prst="rect">
            <a:avLst/>
          </a:prstGeom>
          <a:noFill/>
          <a:ln w="0">
            <a:noFill/>
          </a:ln>
        </p:spPr>
        <p:txBody>
          <a:bodyPr anchor="ctr">
            <a:normAutofit/>
          </a:bodyPr>
          <a:lstStyle/>
          <a:p>
            <a:pPr>
              <a:defRPr sz="1725" b="1">
                <a:solidFill>
                  <a:srgbClr val="10255A"/>
                </a:solidFill>
                <a:latin typeface="微软雅黑"/>
                <a:ea typeface="微软雅黑"/>
                <a:cs typeface="微软雅黑"/>
              </a:defRPr>
            </a:pPr>
            <a:r>
              <a:rPr sz="1725" b="1">
                <a:solidFill>
                  <a:srgbClr val="10255A"/>
                </a:solidFill>
                <a:latin typeface="微软雅黑"/>
                <a:ea typeface="微软雅黑"/>
                <a:cs typeface="微软雅黑"/>
              </a:rPr>
              <a:t>Test-time gradient-based</a:t>
            </a:r>
          </a:p>
          <a:p>
            <a:pPr>
              <a:defRPr sz="1725" b="1">
                <a:solidFill>
                  <a:srgbClr val="10255A"/>
                </a:solidFill>
                <a:latin typeface="微软雅黑"/>
                <a:ea typeface="微软雅黑"/>
                <a:cs typeface="微软雅黑"/>
              </a:defRPr>
            </a:pPr>
            <a:r>
              <a:rPr sz="1725" b="1">
                <a:solidFill>
                  <a:srgbClr val="10255A"/>
                </a:solidFill>
                <a:latin typeface="微软雅黑"/>
                <a:ea typeface="微软雅黑"/>
                <a:cs typeface="微软雅黑"/>
              </a:rPr>
              <a:t>input optimization</a:t>
            </a:r>
          </a:p>
        </p:txBody>
      </p:sp>
      <p:sp>
        <p:nvSpPr>
          <p:cNvPr id="27" name="矩形 26"/>
          <p:cNvSpPr>
            <a:spLocks noGrp="1"/>
          </p:cNvSpPr>
          <p:nvPr/>
        </p:nvSpPr>
        <p:spPr>
          <a:xfrm>
            <a:off x="7810500" y="1714500"/>
            <a:ext cx="19050" cy="3333750"/>
          </a:xfrm>
          <a:prstGeom prst="rect">
            <a:avLst/>
          </a:prstGeom>
          <a:solidFill>
            <a:srgbClr val="CAD4E6"/>
          </a:solidFill>
          <a:ln w="0">
            <a:noFill/>
          </a:ln>
        </p:spPr>
      </p:sp>
      <p:sp>
        <p:nvSpPr>
          <p:cNvPr id="28" name="矩形 27"/>
          <p:cNvSpPr>
            <a:spLocks noGrp="1"/>
          </p:cNvSpPr>
          <p:nvPr/>
        </p:nvSpPr>
        <p:spPr>
          <a:xfrm>
            <a:off x="8096250" y="1762125"/>
            <a:ext cx="2667000" cy="295275"/>
          </a:xfrm>
          <a:prstGeom prst="rect">
            <a:avLst/>
          </a:prstGeom>
          <a:solidFill>
            <a:srgbClr val="082878"/>
          </a:solidFill>
          <a:ln w="0">
            <a:noFill/>
          </a:ln>
        </p:spPr>
      </p:sp>
      <p:sp>
        <p:nvSpPr>
          <p:cNvPr id="29" name="矩形 28"/>
          <p:cNvSpPr>
            <a:spLocks noGrp="1"/>
          </p:cNvSpPr>
          <p:nvPr/>
        </p:nvSpPr>
        <p:spPr>
          <a:xfrm>
            <a:off x="8172450" y="1781175"/>
            <a:ext cx="251460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Latent-space intuition</a:t>
            </a:r>
          </a:p>
        </p:txBody>
      </p:sp>
      <p:sp>
        <p:nvSpPr>
          <p:cNvPr id="30" name="椭圆 29"/>
          <p:cNvSpPr>
            <a:spLocks noGrp="1"/>
          </p:cNvSpPr>
          <p:nvPr/>
        </p:nvSpPr>
        <p:spPr>
          <a:xfrm>
            <a:off x="8477250" y="2571750"/>
            <a:ext cx="1381125" cy="1000125"/>
          </a:xfrm>
          <a:prstGeom prst="ellipse">
            <a:avLst/>
          </a:prstGeom>
          <a:noFill/>
          <a:ln w="19050">
            <a:solidFill>
              <a:srgbClr val="CAD4E6"/>
            </a:solidFill>
          </a:ln>
        </p:spPr>
      </p:sp>
      <p:sp>
        <p:nvSpPr>
          <p:cNvPr id="31" name="椭圆 30"/>
          <p:cNvSpPr>
            <a:spLocks noGrp="1"/>
          </p:cNvSpPr>
          <p:nvPr/>
        </p:nvSpPr>
        <p:spPr>
          <a:xfrm>
            <a:off x="9906000" y="3505200"/>
            <a:ext cx="1381125" cy="1047750"/>
          </a:xfrm>
          <a:prstGeom prst="ellipse">
            <a:avLst/>
          </a:prstGeom>
          <a:noFill/>
          <a:ln w="19050">
            <a:solidFill>
              <a:srgbClr val="CAD4E6"/>
            </a:solidFill>
          </a:ln>
        </p:spPr>
      </p:sp>
      <p:sp>
        <p:nvSpPr>
          <p:cNvPr id="32" name="椭圆 31"/>
          <p:cNvSpPr>
            <a:spLocks noGrp="1"/>
          </p:cNvSpPr>
          <p:nvPr/>
        </p:nvSpPr>
        <p:spPr>
          <a:xfrm>
            <a:off x="9010650" y="2933700"/>
            <a:ext cx="142875" cy="142875"/>
          </a:xfrm>
          <a:prstGeom prst="ellipse">
            <a:avLst/>
          </a:prstGeom>
          <a:solidFill>
            <a:srgbClr val="082878"/>
          </a:solidFill>
          <a:ln w="0">
            <a:noFill/>
          </a:ln>
        </p:spPr>
      </p:sp>
      <p:sp>
        <p:nvSpPr>
          <p:cNvPr id="33" name="矩形 32"/>
          <p:cNvSpPr>
            <a:spLocks noGrp="1"/>
          </p:cNvSpPr>
          <p:nvPr/>
        </p:nvSpPr>
        <p:spPr>
          <a:xfrm>
            <a:off x="8210550" y="2333625"/>
            <a:ext cx="2000250" cy="333375"/>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clean semantic region</a:t>
            </a:r>
          </a:p>
        </p:txBody>
      </p:sp>
      <p:sp>
        <p:nvSpPr>
          <p:cNvPr id="34" name="矩形 33"/>
          <p:cNvSpPr>
            <a:spLocks noGrp="1"/>
          </p:cNvSpPr>
          <p:nvPr/>
        </p:nvSpPr>
        <p:spPr>
          <a:xfrm>
            <a:off x="9144000" y="3143250"/>
            <a:ext cx="2047875" cy="352425"/>
          </a:xfrm>
          <a:prstGeom prst="rect">
            <a:avLst/>
          </a:prstGeom>
          <a:noFill/>
          <a:ln w="0">
            <a:noFill/>
          </a:ln>
        </p:spPr>
        <p:txBody>
          <a:bodyPr anchor="ctr">
            <a:normAutofit/>
          </a:bodyPr>
          <a:lstStyle/>
          <a:p>
            <a:pPr>
              <a:defRPr sz="1350" b="1">
                <a:solidFill>
                  <a:srgbClr val="AE3F3F"/>
                </a:solidFill>
                <a:latin typeface="微软雅黑"/>
                <a:ea typeface="微软雅黑"/>
                <a:cs typeface="微软雅黑"/>
              </a:defRPr>
            </a:pPr>
            <a:r>
              <a:rPr sz="1350" b="1">
                <a:solidFill>
                  <a:srgbClr val="AE3F3F"/>
                </a:solidFill>
                <a:latin typeface="微软雅黑"/>
                <a:ea typeface="微软雅黑"/>
                <a:cs typeface="微软雅黑"/>
              </a:rPr>
              <a:t>↘ adversarial attack</a:t>
            </a:r>
          </a:p>
        </p:txBody>
      </p:sp>
      <p:sp>
        <p:nvSpPr>
          <p:cNvPr id="35" name="矩形 34"/>
          <p:cNvSpPr>
            <a:spLocks noGrp="1"/>
          </p:cNvSpPr>
          <p:nvPr/>
        </p:nvSpPr>
        <p:spPr>
          <a:xfrm>
            <a:off x="10344150" y="3714750"/>
            <a:ext cx="381000" cy="409575"/>
          </a:xfrm>
          <a:prstGeom prst="rect">
            <a:avLst/>
          </a:prstGeom>
          <a:noFill/>
          <a:ln w="0">
            <a:noFill/>
          </a:ln>
        </p:spPr>
        <p:txBody>
          <a:bodyPr anchor="ctr">
            <a:normAutofit fontScale="90083" lnSpcReduction="10000"/>
          </a:bodyPr>
          <a:lstStyle/>
          <a:p>
            <a:pPr>
              <a:defRPr sz="2475" b="1">
                <a:solidFill>
                  <a:srgbClr val="AE3F3F"/>
                </a:solidFill>
                <a:latin typeface="微软雅黑"/>
                <a:ea typeface="微软雅黑"/>
                <a:cs typeface="微软雅黑"/>
              </a:defRPr>
            </a:pPr>
            <a:r>
              <a:rPr sz="2475" b="1">
                <a:solidFill>
                  <a:srgbClr val="AE3F3F"/>
                </a:solidFill>
                <a:latin typeface="微软雅黑"/>
                <a:ea typeface="微软雅黑"/>
                <a:cs typeface="微软雅黑"/>
              </a:rPr>
              <a:t>×</a:t>
            </a:r>
          </a:p>
        </p:txBody>
      </p:sp>
      <p:sp>
        <p:nvSpPr>
          <p:cNvPr id="36" name="矩形 35"/>
          <p:cNvSpPr>
            <a:spLocks noGrp="1"/>
          </p:cNvSpPr>
          <p:nvPr/>
        </p:nvSpPr>
        <p:spPr>
          <a:xfrm>
            <a:off x="9734550" y="4533900"/>
            <a:ext cx="1905000" cy="333375"/>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false-stable region</a:t>
            </a:r>
          </a:p>
        </p:txBody>
      </p:sp>
      <p:sp>
        <p:nvSpPr>
          <p:cNvPr id="37" name="矩形 36"/>
          <p:cNvSpPr>
            <a:spLocks noGrp="1"/>
          </p:cNvSpPr>
          <p:nvPr/>
        </p:nvSpPr>
        <p:spPr>
          <a:xfrm>
            <a:off x="9382125" y="5000625"/>
            <a:ext cx="2095500" cy="352425"/>
          </a:xfrm>
          <a:prstGeom prst="rect">
            <a:avLst/>
          </a:prstGeom>
          <a:noFill/>
          <a:ln w="0">
            <a:noFill/>
          </a:ln>
        </p:spPr>
        <p:txBody>
          <a:bodyPr anchor="ctr">
            <a:normAutofit/>
          </a:bodyPr>
          <a:lstStyle/>
          <a:p>
            <a:pPr>
              <a:defRPr sz="1350" b="1">
                <a:solidFill>
                  <a:srgbClr val="082878"/>
                </a:solidFill>
                <a:latin typeface="微软雅黑"/>
                <a:ea typeface="微软雅黑"/>
                <a:cs typeface="微软雅黑"/>
              </a:defRPr>
            </a:pPr>
            <a:r>
              <a:rPr sz="1350" b="1">
                <a:solidFill>
                  <a:srgbClr val="082878"/>
                </a:solidFill>
                <a:latin typeface="微软雅黑"/>
                <a:ea typeface="微软雅黑"/>
                <a:cs typeface="微软雅黑"/>
              </a:rPr>
              <a:t>↗ TTC: move away</a:t>
            </a:r>
          </a:p>
        </p:txBody>
      </p:sp>
      <p:sp>
        <p:nvSpPr>
          <p:cNvPr id="38" name="矩形 37"/>
          <p:cNvSpPr>
            <a:spLocks noGrp="1"/>
          </p:cNvSpPr>
          <p:nvPr/>
        </p:nvSpPr>
        <p:spPr>
          <a:xfrm>
            <a:off x="714375" y="5429250"/>
            <a:ext cx="10668000" cy="19050"/>
          </a:xfrm>
          <a:prstGeom prst="rect">
            <a:avLst/>
          </a:prstGeom>
          <a:solidFill>
            <a:srgbClr val="CAD4E6"/>
          </a:solidFill>
          <a:ln w="0">
            <a:noFill/>
          </a:ln>
        </p:spPr>
      </p:sp>
      <p:sp>
        <p:nvSpPr>
          <p:cNvPr id="39" name="矩形 38"/>
          <p:cNvSpPr>
            <a:spLocks noGrp="1"/>
          </p:cNvSpPr>
          <p:nvPr/>
        </p:nvSpPr>
        <p:spPr>
          <a:xfrm>
            <a:off x="857250" y="5572125"/>
            <a:ext cx="10191750" cy="381000"/>
          </a:xfrm>
          <a:prstGeom prst="rect">
            <a:avLst/>
          </a:prstGeom>
          <a:noFill/>
          <a:ln w="0">
            <a:noFill/>
          </a:ln>
        </p:spPr>
        <p:txBody>
          <a:bodyPr anchor="ctr">
            <a:normAutofit/>
          </a:bodyPr>
          <a:lstStyle/>
          <a:p>
            <a:pPr>
              <a:defRPr sz="1725" b="1">
                <a:solidFill>
                  <a:srgbClr val="10255A"/>
                </a:solidFill>
                <a:latin typeface="微软雅黑"/>
                <a:ea typeface="微软雅黑"/>
                <a:cs typeface="微软雅黑"/>
              </a:defRPr>
            </a:pPr>
            <a:r>
              <a:rPr sz="1725" b="1">
                <a:solidFill>
                  <a:srgbClr val="10255A"/>
                </a:solidFill>
                <a:latin typeface="微软雅黑"/>
                <a:ea typeface="微软雅黑"/>
                <a:cs typeface="微软雅黑"/>
              </a:rPr>
              <a:t>Innovation = Observation → Hypothesis → Defense Design</a:t>
            </a:r>
          </a:p>
        </p:txBody>
      </p:sp>
      <p:sp>
        <p:nvSpPr>
          <p:cNvPr id="40" name="矩形 39"/>
          <p:cNvSpPr>
            <a:spLocks noGrp="1"/>
          </p:cNvSpPr>
          <p:nvPr/>
        </p:nvSpPr>
        <p:spPr>
          <a:xfrm>
            <a:off x="857250" y="5943600"/>
            <a:ext cx="6667500" cy="333375"/>
          </a:xfrm>
          <a:prstGeom prst="rect">
            <a:avLst/>
          </a:prstGeom>
          <a:noFill/>
          <a:ln w="0">
            <a:noFill/>
          </a:ln>
        </p:spPr>
        <p:txBody>
          <a:bodyPr anchor="ctr">
            <a:normAutofit/>
          </a:bodyPr>
          <a:lstStyle/>
          <a:p>
            <a:pPr>
              <a:defRPr sz="1425" b="0">
                <a:solidFill>
                  <a:srgbClr val="1D2737"/>
                </a:solidFill>
                <a:latin typeface="微软雅黑"/>
                <a:ea typeface="微软雅黑"/>
                <a:cs typeface="微软雅黑"/>
              </a:defRPr>
            </a:pPr>
            <a:r>
              <a:rPr sz="1425" b="0">
                <a:solidFill>
                  <a:srgbClr val="1D2737"/>
                </a:solidFill>
                <a:latin typeface="微软雅黑"/>
                <a:ea typeface="微软雅黑"/>
                <a:cs typeface="微软雅黑"/>
              </a:rPr>
              <a:t>PGD is the optimization tool, not the core novelty.</a:t>
            </a:r>
          </a:p>
        </p:txBody>
      </p:sp>
      <p:sp>
        <p:nvSpPr>
          <p:cNvPr id="41" name="矩形 40"/>
          <p:cNvSpPr>
            <a:spLocks noGrp="1"/>
          </p:cNvSpPr>
          <p:nvPr/>
        </p:nvSpPr>
        <p:spPr>
          <a:xfrm>
            <a:off x="7524750" y="5943600"/>
            <a:ext cx="3810000" cy="333375"/>
          </a:xfrm>
          <a:prstGeom prst="rect">
            <a:avLst/>
          </a:prstGeom>
          <a:noFill/>
          <a:ln w="0">
            <a:noFill/>
          </a:ln>
        </p:spPr>
        <p:txBody>
          <a:bodyPr anchor="ctr">
            <a:normAutofit/>
          </a:bodyPr>
          <a:lstStyle/>
          <a:p>
            <a:pPr>
              <a:defRPr sz="1200" b="0">
                <a:solidFill>
                  <a:srgbClr val="647084"/>
                </a:solidFill>
                <a:latin typeface="微软雅黑"/>
                <a:ea typeface="微软雅黑"/>
                <a:cs typeface="微软雅黑"/>
              </a:defRPr>
            </a:pPr>
            <a:r>
              <a:rPr sz="1200" b="0">
                <a:solidFill>
                  <a:srgbClr val="647084"/>
                </a:solidFill>
                <a:latin typeface="微软雅黑"/>
                <a:ea typeface="微软雅黑"/>
                <a:cs typeface="微软雅黑"/>
              </a:rPr>
              <a:t>Scope: attacks maximizing CLIP classification loss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a:spLocks noGrp="1"/>
          </p:cNvSpPr>
          <p:nvPr/>
        </p:nvSpPr>
        <p:spPr>
          <a:xfrm>
            <a:off x="5048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研究背景</a:t>
            </a:r>
          </a:p>
        </p:txBody>
      </p:sp>
      <p:sp>
        <p:nvSpPr>
          <p:cNvPr id="2" name="矩形 1"/>
          <p:cNvSpPr>
            <a:spLocks noGrp="1"/>
          </p:cNvSpPr>
          <p:nvPr/>
        </p:nvSpPr>
        <p:spPr>
          <a:xfrm>
            <a:off x="19145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研究动机</a:t>
            </a:r>
          </a:p>
        </p:txBody>
      </p:sp>
      <p:sp>
        <p:nvSpPr>
          <p:cNvPr id="3" name="矩形 2"/>
          <p:cNvSpPr>
            <a:spLocks noGrp="1"/>
          </p:cNvSpPr>
          <p:nvPr/>
        </p:nvSpPr>
        <p:spPr>
          <a:xfrm>
            <a:off x="33242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关键发现</a:t>
            </a:r>
          </a:p>
        </p:txBody>
      </p:sp>
      <p:sp>
        <p:nvSpPr>
          <p:cNvPr id="4" name="矩形 3"/>
          <p:cNvSpPr>
            <a:spLocks noGrp="1"/>
          </p:cNvSpPr>
          <p:nvPr/>
        </p:nvSpPr>
        <p:spPr>
          <a:xfrm>
            <a:off x="47339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TTC 方法</a:t>
            </a:r>
          </a:p>
        </p:txBody>
      </p:sp>
      <p:sp>
        <p:nvSpPr>
          <p:cNvPr id="5" name="矩形 4"/>
          <p:cNvSpPr>
            <a:spLocks noGrp="1"/>
          </p:cNvSpPr>
          <p:nvPr/>
        </p:nvSpPr>
        <p:spPr>
          <a:xfrm>
            <a:off x="6143625" y="266700"/>
            <a:ext cx="114300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创新点</a:t>
            </a:r>
          </a:p>
        </p:txBody>
      </p:sp>
      <p:sp>
        <p:nvSpPr>
          <p:cNvPr id="6" name="矩形 5"/>
          <p:cNvSpPr>
            <a:spLocks noGrp="1"/>
          </p:cNvSpPr>
          <p:nvPr/>
        </p:nvSpPr>
        <p:spPr>
          <a:xfrm>
            <a:off x="7334250" y="228600"/>
            <a:ext cx="1409700" cy="409575"/>
          </a:xfrm>
          <a:prstGeom prst="rect">
            <a:avLst/>
          </a:prstGeom>
          <a:solidFill>
            <a:srgbClr val="082878"/>
          </a:solidFill>
          <a:ln w="0">
            <a:noFill/>
          </a:ln>
        </p:spPr>
      </p:sp>
      <p:sp>
        <p:nvSpPr>
          <p:cNvPr id="7" name="矩形 6"/>
          <p:cNvSpPr>
            <a:spLocks noGrp="1"/>
          </p:cNvSpPr>
          <p:nvPr/>
        </p:nvSpPr>
        <p:spPr>
          <a:xfrm>
            <a:off x="7381875" y="266700"/>
            <a:ext cx="1314450" cy="323850"/>
          </a:xfrm>
          <a:prstGeom prst="rect">
            <a:avLst/>
          </a:prstGeom>
          <a:noFill/>
          <a:ln w="0">
            <a:noFill/>
          </a:ln>
        </p:spPr>
        <p:txBody>
          <a:bodyPr anchor="ctr">
            <a:normAutofit/>
          </a:bodyPr>
          <a:lstStyle/>
          <a:p>
            <a:pPr>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实验结果</a:t>
            </a:r>
          </a:p>
        </p:txBody>
      </p:sp>
      <p:sp>
        <p:nvSpPr>
          <p:cNvPr id="8" name="矩形 7"/>
          <p:cNvSpPr>
            <a:spLocks noGrp="1"/>
          </p:cNvSpPr>
          <p:nvPr/>
        </p:nvSpPr>
        <p:spPr>
          <a:xfrm>
            <a:off x="87915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总结讨论</a:t>
            </a:r>
          </a:p>
        </p:txBody>
      </p:sp>
      <p:sp>
        <p:nvSpPr>
          <p:cNvPr id="9" name="矩形 8"/>
          <p:cNvSpPr>
            <a:spLocks noGrp="1"/>
          </p:cNvSpPr>
          <p:nvPr/>
        </p:nvSpPr>
        <p:spPr>
          <a:xfrm>
            <a:off x="457200" y="647700"/>
            <a:ext cx="11277600" cy="28575"/>
          </a:xfrm>
          <a:prstGeom prst="rect">
            <a:avLst/>
          </a:prstGeom>
          <a:solidFill>
            <a:srgbClr val="082878"/>
          </a:solidFill>
          <a:ln w="0">
            <a:noFill/>
          </a:ln>
        </p:spPr>
      </p:sp>
      <p:sp>
        <p:nvSpPr>
          <p:cNvPr id="10" name="矩形 9"/>
          <p:cNvSpPr>
            <a:spLocks noGrp="1"/>
          </p:cNvSpPr>
          <p:nvPr/>
        </p:nvSpPr>
        <p:spPr>
          <a:xfrm>
            <a:off x="495300" y="1095375"/>
            <a:ext cx="85725" cy="285750"/>
          </a:xfrm>
          <a:prstGeom prst="rect">
            <a:avLst/>
          </a:prstGeom>
          <a:solidFill>
            <a:srgbClr val="082878"/>
          </a:solidFill>
          <a:ln w="0">
            <a:noFill/>
          </a:ln>
        </p:spPr>
      </p:sp>
      <p:sp>
        <p:nvSpPr>
          <p:cNvPr id="11" name="矩形 10"/>
          <p:cNvSpPr>
            <a:spLocks noGrp="1"/>
          </p:cNvSpPr>
          <p:nvPr/>
        </p:nvSpPr>
        <p:spPr>
          <a:xfrm>
            <a:off x="695325" y="1000125"/>
            <a:ext cx="10620375" cy="552450"/>
          </a:xfrm>
          <a:prstGeom prst="rect">
            <a:avLst/>
          </a:prstGeom>
          <a:noFill/>
          <a:ln w="0">
            <a:noFill/>
          </a:ln>
        </p:spPr>
        <p:txBody>
          <a:bodyPr anchor="ctr">
            <a:normAutofit/>
          </a:bodyPr>
          <a:lstStyle/>
          <a:p>
            <a:pPr>
              <a:defRPr sz="2550" b="1">
                <a:solidFill>
                  <a:srgbClr val="10255A"/>
                </a:solidFill>
                <a:latin typeface="微软雅黑"/>
                <a:ea typeface="微软雅黑"/>
                <a:cs typeface="微软雅黑"/>
              </a:defRPr>
            </a:pPr>
            <a:r>
              <a:rPr sz="2550" b="1">
                <a:solidFill>
                  <a:srgbClr val="10255A"/>
                </a:solidFill>
                <a:latin typeface="微软雅黑"/>
                <a:ea typeface="微软雅黑"/>
                <a:cs typeface="微软雅黑"/>
              </a:rPr>
              <a:t>实验设计：作者从四个方面验证 TTC</a:t>
            </a:r>
          </a:p>
        </p:txBody>
      </p:sp>
      <p:sp>
        <p:nvSpPr>
          <p:cNvPr id="12" name="矩形 11"/>
          <p:cNvSpPr>
            <a:spLocks noGrp="1"/>
          </p:cNvSpPr>
          <p:nvPr/>
        </p:nvSpPr>
        <p:spPr>
          <a:xfrm>
            <a:off x="6048375" y="1714500"/>
            <a:ext cx="19050" cy="4095750"/>
          </a:xfrm>
          <a:prstGeom prst="rect">
            <a:avLst/>
          </a:prstGeom>
          <a:solidFill>
            <a:srgbClr val="CAD4E6"/>
          </a:solidFill>
          <a:ln w="0">
            <a:noFill/>
          </a:ln>
        </p:spPr>
      </p:sp>
      <p:sp>
        <p:nvSpPr>
          <p:cNvPr id="13" name="矩形 12"/>
          <p:cNvSpPr>
            <a:spLocks noGrp="1"/>
          </p:cNvSpPr>
          <p:nvPr/>
        </p:nvSpPr>
        <p:spPr>
          <a:xfrm>
            <a:off x="714375" y="3743325"/>
            <a:ext cx="10668000" cy="19050"/>
          </a:xfrm>
          <a:prstGeom prst="rect">
            <a:avLst/>
          </a:prstGeom>
          <a:solidFill>
            <a:srgbClr val="CAD4E6"/>
          </a:solidFill>
          <a:ln w="0">
            <a:noFill/>
          </a:ln>
        </p:spPr>
      </p:sp>
      <p:sp>
        <p:nvSpPr>
          <p:cNvPr id="14" name="矩形 13"/>
          <p:cNvSpPr>
            <a:spLocks noGrp="1"/>
          </p:cNvSpPr>
          <p:nvPr/>
        </p:nvSpPr>
        <p:spPr>
          <a:xfrm>
            <a:off x="714375" y="1743075"/>
            <a:ext cx="1762125" cy="295275"/>
          </a:xfrm>
          <a:prstGeom prst="rect">
            <a:avLst/>
          </a:prstGeom>
          <a:solidFill>
            <a:srgbClr val="082878"/>
          </a:solidFill>
          <a:ln w="0">
            <a:noFill/>
          </a:ln>
        </p:spPr>
      </p:sp>
      <p:sp>
        <p:nvSpPr>
          <p:cNvPr id="15" name="矩形 14"/>
          <p:cNvSpPr>
            <a:spLocks noGrp="1"/>
          </p:cNvSpPr>
          <p:nvPr/>
        </p:nvSpPr>
        <p:spPr>
          <a:xfrm>
            <a:off x="790575" y="1762125"/>
            <a:ext cx="160972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① Generality</a:t>
            </a:r>
          </a:p>
        </p:txBody>
      </p:sp>
      <p:sp>
        <p:nvSpPr>
          <p:cNvPr id="16" name="矩形 15"/>
          <p:cNvSpPr>
            <a:spLocks noGrp="1"/>
          </p:cNvSpPr>
          <p:nvPr/>
        </p:nvSpPr>
        <p:spPr>
          <a:xfrm>
            <a:off x="2714625" y="1724025"/>
            <a:ext cx="3143250" cy="428625"/>
          </a:xfrm>
          <a:prstGeom prst="rect">
            <a:avLst/>
          </a:prstGeom>
          <a:noFill/>
          <a:ln w="0">
            <a:noFill/>
          </a:ln>
        </p:spPr>
        <p:txBody>
          <a:bodyPr anchor="ctr">
            <a:normAutofit/>
          </a:bodyPr>
          <a:lstStyle/>
          <a:p>
            <a:pPr>
              <a:defRPr sz="1650" b="1">
                <a:solidFill>
                  <a:srgbClr val="10255A"/>
                </a:solidFill>
                <a:latin typeface="微软雅黑"/>
                <a:ea typeface="微软雅黑"/>
                <a:cs typeface="微软雅黑"/>
              </a:defRPr>
            </a:pPr>
            <a:r>
              <a:rPr sz="1650" b="1">
                <a:solidFill>
                  <a:srgbClr val="10255A"/>
                </a:solidFill>
                <a:latin typeface="微软雅黑"/>
                <a:ea typeface="微软雅黑"/>
                <a:cs typeface="微软雅黑"/>
              </a:rPr>
              <a:t>Is TTC dataset-specific?</a:t>
            </a:r>
          </a:p>
        </p:txBody>
      </p:sp>
      <p:sp>
        <p:nvSpPr>
          <p:cNvPr id="17" name="矩形 16"/>
          <p:cNvSpPr>
            <a:spLocks noGrp="1"/>
          </p:cNvSpPr>
          <p:nvPr/>
        </p:nvSpPr>
        <p:spPr>
          <a:xfrm>
            <a:off x="857250" y="2266950"/>
            <a:ext cx="4953000" cy="400050"/>
          </a:xfrm>
          <a:prstGeom prst="rect">
            <a:avLst/>
          </a:prstGeom>
          <a:noFill/>
          <a:ln w="0">
            <a:noFill/>
          </a:ln>
        </p:spPr>
        <p:txBody>
          <a:bodyPr anchor="ctr">
            <a:normAutofit/>
          </a:bodyPr>
          <a:lstStyle/>
          <a:p>
            <a:pPr>
              <a:defRPr sz="1800" b="1">
                <a:solidFill>
                  <a:srgbClr val="082878"/>
                </a:solidFill>
                <a:latin typeface="微软雅黑"/>
                <a:ea typeface="微软雅黑"/>
                <a:cs typeface="微软雅黑"/>
              </a:defRPr>
            </a:pPr>
            <a:r>
              <a:rPr sz="1800" b="1">
                <a:solidFill>
                  <a:srgbClr val="082878"/>
                </a:solidFill>
                <a:latin typeface="微软雅黑"/>
                <a:ea typeface="微软雅黑"/>
                <a:cs typeface="微软雅黑"/>
              </a:rPr>
              <a:t>16 classification datasets</a:t>
            </a:r>
          </a:p>
        </p:txBody>
      </p:sp>
      <p:sp>
        <p:nvSpPr>
          <p:cNvPr id="18" name="矩形 17"/>
          <p:cNvSpPr>
            <a:spLocks noGrp="1"/>
          </p:cNvSpPr>
          <p:nvPr/>
        </p:nvSpPr>
        <p:spPr>
          <a:xfrm>
            <a:off x="857250" y="2695575"/>
            <a:ext cx="4953000" cy="381000"/>
          </a:xfrm>
          <a:prstGeom prst="rect">
            <a:avLst/>
          </a:prstGeom>
          <a:noFill/>
          <a:ln w="0">
            <a:noFill/>
          </a:ln>
        </p:spPr>
        <p:txBody>
          <a:bodyPr anchor="ctr">
            <a:normAutofit/>
          </a:bodyPr>
          <a:lstStyle/>
          <a:p>
            <a:pPr>
              <a:defRPr sz="1425" b="0">
                <a:solidFill>
                  <a:srgbClr val="1D2737"/>
                </a:solidFill>
                <a:latin typeface="微软雅黑"/>
                <a:ea typeface="微软雅黑"/>
                <a:cs typeface="微软雅黑"/>
              </a:defRPr>
            </a:pPr>
            <a:r>
              <a:rPr sz="1425" b="0">
                <a:solidFill>
                  <a:srgbClr val="1D2737"/>
                </a:solidFill>
                <a:latin typeface="微软雅黑"/>
                <a:ea typeface="微软雅黑"/>
                <a:cs typeface="微软雅黑"/>
              </a:rPr>
              <a:t>Object · Fine-grained · Scene · Domain-specific</a:t>
            </a:r>
          </a:p>
        </p:txBody>
      </p:sp>
      <p:sp>
        <p:nvSpPr>
          <p:cNvPr id="19" name="矩形 18"/>
          <p:cNvSpPr>
            <a:spLocks noGrp="1"/>
          </p:cNvSpPr>
          <p:nvPr/>
        </p:nvSpPr>
        <p:spPr>
          <a:xfrm>
            <a:off x="857250" y="3143250"/>
            <a:ext cx="4953000" cy="428625"/>
          </a:xfrm>
          <a:prstGeom prst="rect">
            <a:avLst/>
          </a:prstGeom>
          <a:noFill/>
          <a:ln w="0">
            <a:noFill/>
          </a:ln>
        </p:spPr>
        <p:txBody>
          <a:bodyPr anchor="ctr">
            <a:normAutofit/>
          </a:bodyPr>
          <a:lstStyle/>
          <a:p>
            <a:pPr>
              <a:defRPr sz="1350" b="0">
                <a:solidFill>
                  <a:srgbClr val="647084"/>
                </a:solidFill>
                <a:latin typeface="微软雅黑"/>
                <a:ea typeface="微软雅黑"/>
                <a:cs typeface="微软雅黑"/>
              </a:defRPr>
            </a:pPr>
            <a:r>
              <a:rPr sz="1350" b="0">
                <a:solidFill>
                  <a:srgbClr val="647084"/>
                </a:solidFill>
                <a:latin typeface="微软雅黑"/>
                <a:ea typeface="微软雅黑"/>
                <a:cs typeface="微软雅黑"/>
              </a:rPr>
              <a:t>CIFAR10 · ImageNet · OxfordPets · SUN397 · EuroSAT</a:t>
            </a:r>
          </a:p>
        </p:txBody>
      </p:sp>
      <p:sp>
        <p:nvSpPr>
          <p:cNvPr id="20" name="矩形 19"/>
          <p:cNvSpPr>
            <a:spLocks noGrp="1"/>
          </p:cNvSpPr>
          <p:nvPr/>
        </p:nvSpPr>
        <p:spPr>
          <a:xfrm>
            <a:off x="6286500" y="1743075"/>
            <a:ext cx="1762125" cy="295275"/>
          </a:xfrm>
          <a:prstGeom prst="rect">
            <a:avLst/>
          </a:prstGeom>
          <a:solidFill>
            <a:srgbClr val="082878"/>
          </a:solidFill>
          <a:ln w="0">
            <a:noFill/>
          </a:ln>
        </p:spPr>
      </p:sp>
      <p:sp>
        <p:nvSpPr>
          <p:cNvPr id="21" name="矩形 20"/>
          <p:cNvSpPr>
            <a:spLocks noGrp="1"/>
          </p:cNvSpPr>
          <p:nvPr/>
        </p:nvSpPr>
        <p:spPr>
          <a:xfrm>
            <a:off x="6362700" y="1762125"/>
            <a:ext cx="160972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② Robustness</a:t>
            </a:r>
          </a:p>
        </p:txBody>
      </p:sp>
      <p:sp>
        <p:nvSpPr>
          <p:cNvPr id="22" name="矩形 21"/>
          <p:cNvSpPr>
            <a:spLocks noGrp="1"/>
          </p:cNvSpPr>
          <p:nvPr/>
        </p:nvSpPr>
        <p:spPr>
          <a:xfrm>
            <a:off x="8239125" y="1724025"/>
            <a:ext cx="3095625" cy="428625"/>
          </a:xfrm>
          <a:prstGeom prst="rect">
            <a:avLst/>
          </a:prstGeom>
          <a:noFill/>
          <a:ln w="0">
            <a:noFill/>
          </a:ln>
        </p:spPr>
        <p:txBody>
          <a:bodyPr anchor="ctr">
            <a:normAutofit fontScale="81312" lnSpcReduction="10000"/>
          </a:bodyPr>
          <a:lstStyle/>
          <a:p>
            <a:pPr>
              <a:defRPr sz="1575" b="1">
                <a:solidFill>
                  <a:srgbClr val="10255A"/>
                </a:solidFill>
                <a:latin typeface="微软雅黑"/>
                <a:ea typeface="微软雅黑"/>
                <a:cs typeface="微软雅黑"/>
              </a:defRPr>
            </a:pPr>
            <a:r>
              <a:rPr sz="1575" b="1">
                <a:solidFill>
                  <a:srgbClr val="10255A"/>
                </a:solidFill>
                <a:latin typeface="微软雅黑"/>
                <a:ea typeface="微软雅黑"/>
                <a:cs typeface="微软雅黑"/>
              </a:rPr>
              <a:t>Does it survive stronger attacks?</a:t>
            </a:r>
          </a:p>
        </p:txBody>
      </p:sp>
      <p:sp>
        <p:nvSpPr>
          <p:cNvPr id="23" name="矩形 22"/>
          <p:cNvSpPr>
            <a:spLocks noGrp="1"/>
          </p:cNvSpPr>
          <p:nvPr/>
        </p:nvSpPr>
        <p:spPr>
          <a:xfrm>
            <a:off x="6429375" y="2266950"/>
            <a:ext cx="4762500" cy="400050"/>
          </a:xfrm>
          <a:prstGeom prst="rect">
            <a:avLst/>
          </a:prstGeom>
          <a:noFill/>
          <a:ln w="0">
            <a:noFill/>
          </a:ln>
        </p:spPr>
        <p:txBody>
          <a:bodyPr anchor="ctr">
            <a:normAutofit/>
          </a:bodyPr>
          <a:lstStyle/>
          <a:p>
            <a:pPr>
              <a:defRPr sz="1800" b="1">
                <a:solidFill>
                  <a:srgbClr val="082878"/>
                </a:solidFill>
                <a:latin typeface="微软雅黑"/>
                <a:ea typeface="微软雅黑"/>
                <a:cs typeface="微软雅黑"/>
              </a:defRPr>
            </a:pPr>
            <a:r>
              <a:rPr sz="1800" b="1">
                <a:solidFill>
                  <a:srgbClr val="082878"/>
                </a:solidFill>
                <a:latin typeface="微软雅黑"/>
                <a:ea typeface="微软雅黑"/>
                <a:cs typeface="微软雅黑"/>
              </a:rPr>
              <a:t>PGD  ·  CW</a:t>
            </a:r>
          </a:p>
        </p:txBody>
      </p:sp>
      <p:sp>
        <p:nvSpPr>
          <p:cNvPr id="24" name="矩形 23"/>
          <p:cNvSpPr>
            <a:spLocks noGrp="1"/>
          </p:cNvSpPr>
          <p:nvPr/>
        </p:nvSpPr>
        <p:spPr>
          <a:xfrm>
            <a:off x="6429375" y="2695575"/>
            <a:ext cx="4762500" cy="381000"/>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Attack budgets: εₐ = 1/255 · 4/255</a:t>
            </a:r>
          </a:p>
        </p:txBody>
      </p:sp>
      <p:sp>
        <p:nvSpPr>
          <p:cNvPr id="25" name="矩形 24"/>
          <p:cNvSpPr>
            <a:spLocks noGrp="1"/>
          </p:cNvSpPr>
          <p:nvPr/>
        </p:nvSpPr>
        <p:spPr>
          <a:xfrm>
            <a:off x="6429375" y="3143250"/>
            <a:ext cx="4762500" cy="428625"/>
          </a:xfrm>
          <a:prstGeom prst="rect">
            <a:avLst/>
          </a:prstGeom>
          <a:noFill/>
          <a:ln w="0">
            <a:noFill/>
          </a:ln>
        </p:spPr>
        <p:txBody>
          <a:bodyPr anchor="ctr">
            <a:normAutofit/>
          </a:bodyPr>
          <a:lstStyle/>
          <a:p>
            <a:pPr>
              <a:defRPr sz="1350" b="0">
                <a:solidFill>
                  <a:srgbClr val="647084"/>
                </a:solidFill>
                <a:latin typeface="微软雅黑"/>
                <a:ea typeface="微软雅黑"/>
                <a:cs typeface="微软雅黑"/>
              </a:defRPr>
            </a:pPr>
            <a:r>
              <a:rPr sz="1350" b="0">
                <a:solidFill>
                  <a:srgbClr val="647084"/>
                </a:solidFill>
                <a:latin typeface="微软雅黑"/>
                <a:ea typeface="微软雅黑"/>
                <a:cs typeface="微软雅黑"/>
              </a:rPr>
              <a:t>Changes in strength and attack form</a:t>
            </a:r>
          </a:p>
        </p:txBody>
      </p:sp>
      <p:sp>
        <p:nvSpPr>
          <p:cNvPr id="26" name="矩形 25"/>
          <p:cNvSpPr>
            <a:spLocks noGrp="1"/>
          </p:cNvSpPr>
          <p:nvPr/>
        </p:nvSpPr>
        <p:spPr>
          <a:xfrm>
            <a:off x="714375" y="3952875"/>
            <a:ext cx="1762125" cy="295275"/>
          </a:xfrm>
          <a:prstGeom prst="rect">
            <a:avLst/>
          </a:prstGeom>
          <a:solidFill>
            <a:srgbClr val="082878"/>
          </a:solidFill>
          <a:ln w="0">
            <a:noFill/>
          </a:ln>
        </p:spPr>
      </p:sp>
      <p:sp>
        <p:nvSpPr>
          <p:cNvPr id="27" name="矩形 26"/>
          <p:cNvSpPr>
            <a:spLocks noGrp="1"/>
          </p:cNvSpPr>
          <p:nvPr/>
        </p:nvSpPr>
        <p:spPr>
          <a:xfrm>
            <a:off x="790575" y="3971925"/>
            <a:ext cx="160972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③ Comparison</a:t>
            </a:r>
          </a:p>
        </p:txBody>
      </p:sp>
      <p:sp>
        <p:nvSpPr>
          <p:cNvPr id="28" name="矩形 27"/>
          <p:cNvSpPr>
            <a:spLocks noGrp="1"/>
          </p:cNvSpPr>
          <p:nvPr/>
        </p:nvSpPr>
        <p:spPr>
          <a:xfrm>
            <a:off x="2714625" y="3933825"/>
            <a:ext cx="3143250" cy="428625"/>
          </a:xfrm>
          <a:prstGeom prst="rect">
            <a:avLst/>
          </a:prstGeom>
          <a:noFill/>
          <a:ln w="0">
            <a:noFill/>
          </a:ln>
        </p:spPr>
        <p:txBody>
          <a:bodyPr anchor="ctr">
            <a:normAutofit/>
          </a:bodyPr>
          <a:lstStyle/>
          <a:p>
            <a:pPr>
              <a:defRPr sz="1650" b="1">
                <a:solidFill>
                  <a:srgbClr val="10255A"/>
                </a:solidFill>
                <a:latin typeface="微软雅黑"/>
                <a:ea typeface="微软雅黑"/>
                <a:cs typeface="微软雅黑"/>
              </a:defRPr>
            </a:pPr>
            <a:r>
              <a:rPr sz="1650" b="1">
                <a:solidFill>
                  <a:srgbClr val="10255A"/>
                </a:solidFill>
                <a:latin typeface="微软雅黑"/>
                <a:ea typeface="微软雅黑"/>
                <a:cs typeface="微软雅黑"/>
              </a:rPr>
              <a:t>Better than alternatives?</a:t>
            </a:r>
          </a:p>
        </p:txBody>
      </p:sp>
      <p:sp>
        <p:nvSpPr>
          <p:cNvPr id="29" name="矩形 28"/>
          <p:cNvSpPr>
            <a:spLocks noGrp="1"/>
          </p:cNvSpPr>
          <p:nvPr/>
        </p:nvSpPr>
        <p:spPr>
          <a:xfrm>
            <a:off x="857250" y="4476750"/>
            <a:ext cx="4762500" cy="314325"/>
          </a:xfrm>
          <a:prstGeom prst="rect">
            <a:avLst/>
          </a:prstGeom>
          <a:noFill/>
          <a:ln w="0">
            <a:noFill/>
          </a:ln>
        </p:spPr>
        <p:txBody>
          <a:bodyPr anchor="ctr">
            <a:normAutofit fontScale="92857" lnSpcReduction="10000"/>
          </a:bodyPr>
          <a:lstStyle/>
          <a:p>
            <a:pPr>
              <a:defRPr sz="1575" b="1">
                <a:solidFill>
                  <a:srgbClr val="082878"/>
                </a:solidFill>
                <a:latin typeface="微软雅黑"/>
                <a:ea typeface="微软雅黑"/>
                <a:cs typeface="微软雅黑"/>
              </a:defRPr>
            </a:pPr>
            <a:r>
              <a:rPr sz="1575" b="1">
                <a:solidFill>
                  <a:srgbClr val="082878"/>
                </a:solidFill>
                <a:latin typeface="微软雅黑"/>
                <a:ea typeface="微软雅黑"/>
                <a:cs typeface="微软雅黑"/>
              </a:rPr>
              <a:t>Test-time defenses</a:t>
            </a:r>
          </a:p>
        </p:txBody>
      </p:sp>
      <p:sp>
        <p:nvSpPr>
          <p:cNvPr id="30" name="矩形 29"/>
          <p:cNvSpPr>
            <a:spLocks noGrp="1"/>
          </p:cNvSpPr>
          <p:nvPr/>
        </p:nvSpPr>
        <p:spPr>
          <a:xfrm>
            <a:off x="857250" y="4838700"/>
            <a:ext cx="4762500" cy="314325"/>
          </a:xfrm>
          <a:prstGeom prst="rect">
            <a:avLst/>
          </a:prstGeom>
          <a:noFill/>
          <a:ln w="0">
            <a:noFill/>
          </a:ln>
        </p:spPr>
        <p:txBody>
          <a:bodyPr anchor="ctr">
            <a:normAutofit/>
          </a:bodyPr>
          <a:lstStyle/>
          <a:p>
            <a:pPr>
              <a:defRPr sz="1425" b="0">
                <a:solidFill>
                  <a:srgbClr val="1D2737"/>
                </a:solidFill>
                <a:latin typeface="微软雅黑"/>
                <a:ea typeface="微软雅黑"/>
                <a:cs typeface="微软雅黑"/>
              </a:defRPr>
            </a:pPr>
            <a:r>
              <a:rPr sz="1425" b="0">
                <a:solidFill>
                  <a:srgbClr val="1D2737"/>
                </a:solidFill>
                <a:latin typeface="微软雅黑"/>
                <a:ea typeface="微软雅黑"/>
                <a:cs typeface="微软雅黑"/>
              </a:rPr>
              <a:t>RN · TTE · Anti-adversary · HD</a:t>
            </a:r>
          </a:p>
        </p:txBody>
      </p:sp>
      <p:sp>
        <p:nvSpPr>
          <p:cNvPr id="31" name="矩形 30"/>
          <p:cNvSpPr>
            <a:spLocks noGrp="1"/>
          </p:cNvSpPr>
          <p:nvPr/>
        </p:nvSpPr>
        <p:spPr>
          <a:xfrm>
            <a:off x="857250" y="5238750"/>
            <a:ext cx="4953000" cy="400050"/>
          </a:xfrm>
          <a:prstGeom prst="rect">
            <a:avLst/>
          </a:prstGeom>
          <a:noFill/>
          <a:ln w="0">
            <a:noFill/>
          </a:ln>
        </p:spPr>
        <p:txBody>
          <a:bodyPr anchor="ctr">
            <a:normAutofit/>
          </a:bodyPr>
          <a:lstStyle/>
          <a:p>
            <a:pPr>
              <a:defRPr sz="1425" b="0">
                <a:solidFill>
                  <a:srgbClr val="1D2737"/>
                </a:solidFill>
                <a:latin typeface="微软雅黑"/>
                <a:ea typeface="微软雅黑"/>
                <a:cs typeface="微软雅黑"/>
              </a:defRPr>
            </a:pPr>
            <a:r>
              <a:rPr sz="1425" b="0">
                <a:solidFill>
                  <a:srgbClr val="1D2737"/>
                </a:solidFill>
                <a:latin typeface="微软雅黑"/>
                <a:ea typeface="微软雅黑"/>
                <a:cs typeface="微软雅黑"/>
              </a:rPr>
              <a:t>Finetuning: TeCoA · PMG-AFT · FARE</a:t>
            </a:r>
          </a:p>
        </p:txBody>
      </p:sp>
      <p:sp>
        <p:nvSpPr>
          <p:cNvPr id="32" name="矩形 31"/>
          <p:cNvSpPr>
            <a:spLocks noGrp="1"/>
          </p:cNvSpPr>
          <p:nvPr/>
        </p:nvSpPr>
        <p:spPr>
          <a:xfrm>
            <a:off x="6286500" y="3952875"/>
            <a:ext cx="2524125" cy="295275"/>
          </a:xfrm>
          <a:prstGeom prst="rect">
            <a:avLst/>
          </a:prstGeom>
          <a:solidFill>
            <a:srgbClr val="082878"/>
          </a:solidFill>
          <a:ln w="0">
            <a:noFill/>
          </a:ln>
        </p:spPr>
      </p:sp>
      <p:sp>
        <p:nvSpPr>
          <p:cNvPr id="33" name="矩形 32"/>
          <p:cNvSpPr>
            <a:spLocks noGrp="1"/>
          </p:cNvSpPr>
          <p:nvPr/>
        </p:nvSpPr>
        <p:spPr>
          <a:xfrm>
            <a:off x="6362700" y="3971925"/>
            <a:ext cx="237172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④ Ablation &amp; Compatibility</a:t>
            </a:r>
          </a:p>
        </p:txBody>
      </p:sp>
      <p:sp>
        <p:nvSpPr>
          <p:cNvPr id="34" name="矩形 33"/>
          <p:cNvSpPr>
            <a:spLocks noGrp="1"/>
          </p:cNvSpPr>
          <p:nvPr/>
        </p:nvSpPr>
        <p:spPr>
          <a:xfrm>
            <a:off x="9001125" y="3933825"/>
            <a:ext cx="2333625" cy="428625"/>
          </a:xfrm>
          <a:prstGeom prst="rect">
            <a:avLst/>
          </a:prstGeom>
          <a:noFill/>
          <a:ln w="0">
            <a:noFill/>
          </a:ln>
        </p:spPr>
        <p:txBody>
          <a:bodyPr anchor="ctr">
            <a:normAutofit fontScale="88917" lnSpcReduction="20000"/>
          </a:bodyPr>
          <a:lstStyle/>
          <a:p>
            <a:pPr>
              <a:defRPr sz="1500" b="1">
                <a:solidFill>
                  <a:srgbClr val="10255A"/>
                </a:solidFill>
                <a:latin typeface="微软雅黑"/>
                <a:ea typeface="微软雅黑"/>
                <a:cs typeface="微软雅黑"/>
              </a:defRPr>
            </a:pPr>
            <a:r>
              <a:rPr sz="1500" b="1">
                <a:solidFill>
                  <a:srgbClr val="10255A"/>
                </a:solidFill>
                <a:latin typeface="微软雅黑"/>
                <a:ea typeface="微软雅黑"/>
                <a:cs typeface="微软雅黑"/>
              </a:rPr>
              <a:t>Which components matter?</a:t>
            </a:r>
          </a:p>
        </p:txBody>
      </p:sp>
      <p:sp>
        <p:nvSpPr>
          <p:cNvPr id="35" name="矩形 34"/>
          <p:cNvSpPr>
            <a:spLocks noGrp="1"/>
          </p:cNvSpPr>
          <p:nvPr/>
        </p:nvSpPr>
        <p:spPr>
          <a:xfrm>
            <a:off x="6429375" y="4476750"/>
            <a:ext cx="4762500" cy="361950"/>
          </a:xfrm>
          <a:prstGeom prst="rect">
            <a:avLst/>
          </a:prstGeom>
          <a:noFill/>
          <a:ln w="0">
            <a:noFill/>
          </a:ln>
        </p:spPr>
        <p:txBody>
          <a:bodyPr anchor="ctr">
            <a:normAutofit/>
          </a:bodyPr>
          <a:lstStyle/>
          <a:p>
            <a:pPr>
              <a:defRPr sz="1575" b="1">
                <a:solidFill>
                  <a:srgbClr val="082878"/>
                </a:solidFill>
                <a:latin typeface="微软雅黑"/>
                <a:ea typeface="微软雅黑"/>
                <a:cs typeface="微软雅黑"/>
              </a:defRPr>
            </a:pPr>
            <a:r>
              <a:rPr sz="1575" b="1">
                <a:solidFill>
                  <a:srgbClr val="082878"/>
                </a:solidFill>
                <a:latin typeface="微软雅黑"/>
                <a:ea typeface="微软雅黑"/>
                <a:cs typeface="微软雅黑"/>
              </a:rPr>
              <a:t>Ablation: N · τₜₕᵣₑₛ · β</a:t>
            </a:r>
          </a:p>
        </p:txBody>
      </p:sp>
      <p:sp>
        <p:nvSpPr>
          <p:cNvPr id="36" name="矩形 35"/>
          <p:cNvSpPr>
            <a:spLocks noGrp="1"/>
          </p:cNvSpPr>
          <p:nvPr/>
        </p:nvSpPr>
        <p:spPr>
          <a:xfrm>
            <a:off x="6429375" y="4905375"/>
            <a:ext cx="4667250" cy="333375"/>
          </a:xfrm>
          <a:prstGeom prst="rect">
            <a:avLst/>
          </a:prstGeom>
          <a:noFill/>
          <a:ln w="0">
            <a:noFill/>
          </a:ln>
        </p:spPr>
        <p:txBody>
          <a:bodyPr anchor="ctr">
            <a:normAutofit/>
          </a:bodyPr>
          <a:lstStyle/>
          <a:p>
            <a:pPr>
              <a:defRPr sz="1425" b="0">
                <a:solidFill>
                  <a:srgbClr val="1D2737"/>
                </a:solidFill>
                <a:latin typeface="微软雅黑"/>
                <a:ea typeface="微软雅黑"/>
                <a:cs typeface="微软雅黑"/>
              </a:defRPr>
            </a:pPr>
            <a:r>
              <a:rPr sz="1425" b="0">
                <a:solidFill>
                  <a:srgbClr val="1D2737"/>
                </a:solidFill>
                <a:latin typeface="微软雅黑"/>
                <a:ea typeface="微软雅黑"/>
                <a:cs typeface="微软雅黑"/>
              </a:rPr>
              <a:t>Compatibility:</a:t>
            </a:r>
          </a:p>
        </p:txBody>
      </p:sp>
      <p:sp>
        <p:nvSpPr>
          <p:cNvPr id="37" name="矩形 36"/>
          <p:cNvSpPr>
            <a:spLocks noGrp="1"/>
          </p:cNvSpPr>
          <p:nvPr/>
        </p:nvSpPr>
        <p:spPr>
          <a:xfrm>
            <a:off x="6429375" y="5238750"/>
            <a:ext cx="4762500" cy="400050"/>
          </a:xfrm>
          <a:prstGeom prst="rect">
            <a:avLst/>
          </a:prstGeom>
          <a:noFill/>
          <a:ln w="0">
            <a:noFill/>
          </a:ln>
        </p:spPr>
        <p:txBody>
          <a:bodyPr anchor="ctr">
            <a:normAutofit/>
          </a:bodyPr>
          <a:lstStyle/>
          <a:p>
            <a:pPr>
              <a:defRPr sz="1350" b="0">
                <a:solidFill>
                  <a:srgbClr val="1D2737"/>
                </a:solidFill>
                <a:latin typeface="微软雅黑"/>
                <a:ea typeface="微软雅黑"/>
                <a:cs typeface="微软雅黑"/>
              </a:defRPr>
            </a:pPr>
            <a:r>
              <a:rPr sz="1350" b="0">
                <a:solidFill>
                  <a:srgbClr val="1D2737"/>
                </a:solidFill>
                <a:latin typeface="微软雅黑"/>
                <a:ea typeface="微软雅黑"/>
                <a:cs typeface="微软雅黑"/>
              </a:rPr>
              <a:t>TeCoA + TTC · PMG-AFT + TTC · FARE + TTC</a:t>
            </a:r>
          </a:p>
        </p:txBody>
      </p:sp>
      <p:sp>
        <p:nvSpPr>
          <p:cNvPr id="38" name="矩形 37"/>
          <p:cNvSpPr>
            <a:spLocks noGrp="1"/>
          </p:cNvSpPr>
          <p:nvPr/>
        </p:nvSpPr>
        <p:spPr>
          <a:xfrm>
            <a:off x="714375" y="5953125"/>
            <a:ext cx="10668000" cy="19050"/>
          </a:xfrm>
          <a:prstGeom prst="rect">
            <a:avLst/>
          </a:prstGeom>
          <a:solidFill>
            <a:srgbClr val="CAD4E6"/>
          </a:solidFill>
          <a:ln w="0">
            <a:noFill/>
          </a:ln>
        </p:spPr>
      </p:sp>
      <p:sp>
        <p:nvSpPr>
          <p:cNvPr id="39" name="矩形 38"/>
          <p:cNvSpPr>
            <a:spLocks noGrp="1"/>
          </p:cNvSpPr>
          <p:nvPr/>
        </p:nvSpPr>
        <p:spPr>
          <a:xfrm>
            <a:off x="809625" y="6067425"/>
            <a:ext cx="10477500" cy="428625"/>
          </a:xfrm>
          <a:prstGeom prst="rect">
            <a:avLst/>
          </a:prstGeom>
          <a:noFill/>
          <a:ln w="0">
            <a:noFill/>
          </a:ln>
        </p:spPr>
        <p:txBody>
          <a:bodyPr anchor="ctr">
            <a:normAutofit/>
          </a:bodyPr>
          <a:lstStyle/>
          <a:p>
            <a:pPr>
              <a:defRPr sz="1575" b="1">
                <a:solidFill>
                  <a:srgbClr val="10255A"/>
                </a:solidFill>
                <a:latin typeface="微软雅黑"/>
                <a:ea typeface="微软雅黑"/>
                <a:cs typeface="微软雅黑"/>
              </a:defRPr>
            </a:pPr>
            <a:r>
              <a:rPr sz="1575" b="1">
                <a:solidFill>
                  <a:srgbClr val="10255A"/>
                </a:solidFill>
                <a:latin typeface="微软雅黑"/>
                <a:ea typeface="微软雅黑"/>
                <a:cs typeface="微软雅黑"/>
              </a:rPr>
              <a:t>Validation design → diverse datasets, attack settings, baselines, and internal components</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矩形 67"/>
          <p:cNvSpPr>
            <a:spLocks noGrp="1"/>
          </p:cNvSpPr>
          <p:nvPr/>
        </p:nvSpPr>
        <p:spPr>
          <a:xfrm>
            <a:off x="5048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研究背景</a:t>
            </a:r>
          </a:p>
        </p:txBody>
      </p:sp>
      <p:sp>
        <p:nvSpPr>
          <p:cNvPr id="2" name="矩形 1"/>
          <p:cNvSpPr>
            <a:spLocks noGrp="1"/>
          </p:cNvSpPr>
          <p:nvPr/>
        </p:nvSpPr>
        <p:spPr>
          <a:xfrm>
            <a:off x="19145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研究动机</a:t>
            </a:r>
          </a:p>
        </p:txBody>
      </p:sp>
      <p:sp>
        <p:nvSpPr>
          <p:cNvPr id="3" name="矩形 2"/>
          <p:cNvSpPr>
            <a:spLocks noGrp="1"/>
          </p:cNvSpPr>
          <p:nvPr/>
        </p:nvSpPr>
        <p:spPr>
          <a:xfrm>
            <a:off x="33242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关键发现</a:t>
            </a:r>
          </a:p>
        </p:txBody>
      </p:sp>
      <p:sp>
        <p:nvSpPr>
          <p:cNvPr id="4" name="矩形 3"/>
          <p:cNvSpPr>
            <a:spLocks noGrp="1"/>
          </p:cNvSpPr>
          <p:nvPr/>
        </p:nvSpPr>
        <p:spPr>
          <a:xfrm>
            <a:off x="47339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TTC 方法</a:t>
            </a:r>
          </a:p>
        </p:txBody>
      </p:sp>
      <p:sp>
        <p:nvSpPr>
          <p:cNvPr id="5" name="矩形 4"/>
          <p:cNvSpPr>
            <a:spLocks noGrp="1"/>
          </p:cNvSpPr>
          <p:nvPr/>
        </p:nvSpPr>
        <p:spPr>
          <a:xfrm>
            <a:off x="6143625" y="266700"/>
            <a:ext cx="114300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创新点</a:t>
            </a:r>
          </a:p>
        </p:txBody>
      </p:sp>
      <p:sp>
        <p:nvSpPr>
          <p:cNvPr id="6" name="矩形 5"/>
          <p:cNvSpPr>
            <a:spLocks noGrp="1"/>
          </p:cNvSpPr>
          <p:nvPr/>
        </p:nvSpPr>
        <p:spPr>
          <a:xfrm>
            <a:off x="7334250" y="228600"/>
            <a:ext cx="1409700" cy="409575"/>
          </a:xfrm>
          <a:prstGeom prst="rect">
            <a:avLst/>
          </a:prstGeom>
          <a:solidFill>
            <a:srgbClr val="082878"/>
          </a:solidFill>
          <a:ln w="0">
            <a:noFill/>
          </a:ln>
        </p:spPr>
      </p:sp>
      <p:sp>
        <p:nvSpPr>
          <p:cNvPr id="7" name="矩形 6"/>
          <p:cNvSpPr>
            <a:spLocks noGrp="1"/>
          </p:cNvSpPr>
          <p:nvPr/>
        </p:nvSpPr>
        <p:spPr>
          <a:xfrm>
            <a:off x="7381875" y="266700"/>
            <a:ext cx="1314450" cy="323850"/>
          </a:xfrm>
          <a:prstGeom prst="rect">
            <a:avLst/>
          </a:prstGeom>
          <a:noFill/>
          <a:ln w="0">
            <a:noFill/>
          </a:ln>
        </p:spPr>
        <p:txBody>
          <a:bodyPr anchor="ctr">
            <a:normAutofit/>
          </a:bodyPr>
          <a:lstStyle/>
          <a:p>
            <a:pPr>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实验结果</a:t>
            </a:r>
          </a:p>
        </p:txBody>
      </p:sp>
      <p:sp>
        <p:nvSpPr>
          <p:cNvPr id="8" name="矩形 7"/>
          <p:cNvSpPr>
            <a:spLocks noGrp="1"/>
          </p:cNvSpPr>
          <p:nvPr/>
        </p:nvSpPr>
        <p:spPr>
          <a:xfrm>
            <a:off x="87915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总结讨论</a:t>
            </a:r>
          </a:p>
        </p:txBody>
      </p:sp>
      <p:sp>
        <p:nvSpPr>
          <p:cNvPr id="9" name="矩形 8"/>
          <p:cNvSpPr>
            <a:spLocks noGrp="1"/>
          </p:cNvSpPr>
          <p:nvPr/>
        </p:nvSpPr>
        <p:spPr>
          <a:xfrm>
            <a:off x="457200" y="647700"/>
            <a:ext cx="11277600" cy="28575"/>
          </a:xfrm>
          <a:prstGeom prst="rect">
            <a:avLst/>
          </a:prstGeom>
          <a:solidFill>
            <a:srgbClr val="082878"/>
          </a:solidFill>
          <a:ln w="0">
            <a:noFill/>
          </a:ln>
        </p:spPr>
      </p:sp>
      <p:sp>
        <p:nvSpPr>
          <p:cNvPr id="10" name="矩形 9"/>
          <p:cNvSpPr>
            <a:spLocks noGrp="1"/>
          </p:cNvSpPr>
          <p:nvPr/>
        </p:nvSpPr>
        <p:spPr>
          <a:xfrm>
            <a:off x="495300" y="1095375"/>
            <a:ext cx="85725" cy="285750"/>
          </a:xfrm>
          <a:prstGeom prst="rect">
            <a:avLst/>
          </a:prstGeom>
          <a:solidFill>
            <a:srgbClr val="082878"/>
          </a:solidFill>
          <a:ln w="0">
            <a:noFill/>
          </a:ln>
        </p:spPr>
      </p:sp>
      <p:sp>
        <p:nvSpPr>
          <p:cNvPr id="11" name="矩形 10"/>
          <p:cNvSpPr>
            <a:spLocks noGrp="1"/>
          </p:cNvSpPr>
          <p:nvPr/>
        </p:nvSpPr>
        <p:spPr>
          <a:xfrm>
            <a:off x="695325" y="1000125"/>
            <a:ext cx="10620375" cy="552450"/>
          </a:xfrm>
          <a:prstGeom prst="rect">
            <a:avLst/>
          </a:prstGeom>
          <a:noFill/>
          <a:ln w="0">
            <a:noFill/>
          </a:ln>
        </p:spPr>
        <p:txBody>
          <a:bodyPr anchor="ctr">
            <a:normAutofit/>
          </a:bodyPr>
          <a:lstStyle/>
          <a:p>
            <a:pPr>
              <a:defRPr sz="2550" b="1">
                <a:solidFill>
                  <a:srgbClr val="10255A"/>
                </a:solidFill>
                <a:latin typeface="微软雅黑"/>
                <a:ea typeface="微软雅黑"/>
                <a:cs typeface="微软雅黑"/>
              </a:defRPr>
            </a:pPr>
            <a:r>
              <a:rPr sz="2550" b="1">
                <a:solidFill>
                  <a:srgbClr val="10255A"/>
                </a:solidFill>
                <a:latin typeface="微软雅黑"/>
                <a:ea typeface="微软雅黑"/>
                <a:cs typeface="微软雅黑"/>
              </a:rPr>
              <a:t>实验结果：TTC 是否真的有效？</a:t>
            </a:r>
          </a:p>
        </p:txBody>
      </p:sp>
      <p:sp>
        <p:nvSpPr>
          <p:cNvPr id="12" name="矩形 11"/>
          <p:cNvSpPr>
            <a:spLocks noGrp="1"/>
          </p:cNvSpPr>
          <p:nvPr/>
        </p:nvSpPr>
        <p:spPr>
          <a:xfrm>
            <a:off x="714375" y="1647825"/>
            <a:ext cx="10668000" cy="361950"/>
          </a:xfrm>
          <a:prstGeom prst="rect">
            <a:avLst/>
          </a:prstGeom>
          <a:noFill/>
          <a:ln w="0">
            <a:noFill/>
          </a:ln>
        </p:spPr>
        <p:txBody>
          <a:bodyPr anchor="ctr">
            <a:normAutofit/>
          </a:bodyPr>
          <a:lstStyle/>
          <a:p>
            <a:pPr>
              <a:defRPr sz="1425" b="0">
                <a:solidFill>
                  <a:srgbClr val="647084"/>
                </a:solidFill>
                <a:latin typeface="微软雅黑"/>
                <a:ea typeface="微软雅黑"/>
                <a:cs typeface="微软雅黑"/>
              </a:defRPr>
            </a:pPr>
            <a:r>
              <a:rPr sz="1425" b="0">
                <a:solidFill>
                  <a:srgbClr val="647084"/>
                </a:solidFill>
                <a:latin typeface="微软雅黑"/>
                <a:ea typeface="微软雅黑"/>
                <a:cs typeface="微软雅黑"/>
              </a:rPr>
              <a:t>16 datasets · PGD/CW · Different attack budgets · Baselines &amp; Ablations</a:t>
            </a:r>
          </a:p>
        </p:txBody>
      </p:sp>
      <p:sp>
        <p:nvSpPr>
          <p:cNvPr id="13" name="矩形 12"/>
          <p:cNvSpPr>
            <a:spLocks noGrp="1"/>
          </p:cNvSpPr>
          <p:nvPr/>
        </p:nvSpPr>
        <p:spPr>
          <a:xfrm>
            <a:off x="6762750" y="2047875"/>
            <a:ext cx="19050" cy="3905250"/>
          </a:xfrm>
          <a:prstGeom prst="rect">
            <a:avLst/>
          </a:prstGeom>
          <a:solidFill>
            <a:srgbClr val="CAD4E6"/>
          </a:solidFill>
          <a:ln w="0">
            <a:noFill/>
          </a:ln>
        </p:spPr>
      </p:sp>
      <p:sp>
        <p:nvSpPr>
          <p:cNvPr id="14" name="矩形 13"/>
          <p:cNvSpPr>
            <a:spLocks noGrp="1"/>
          </p:cNvSpPr>
          <p:nvPr/>
        </p:nvSpPr>
        <p:spPr>
          <a:xfrm>
            <a:off x="714375" y="2076450"/>
            <a:ext cx="2952750" cy="295275"/>
          </a:xfrm>
          <a:prstGeom prst="rect">
            <a:avLst/>
          </a:prstGeom>
          <a:solidFill>
            <a:srgbClr val="082878"/>
          </a:solidFill>
          <a:ln w="0">
            <a:noFill/>
          </a:ln>
        </p:spPr>
      </p:sp>
      <p:sp>
        <p:nvSpPr>
          <p:cNvPr id="15" name="矩形 14"/>
          <p:cNvSpPr>
            <a:spLocks noGrp="1"/>
          </p:cNvSpPr>
          <p:nvPr/>
        </p:nvSpPr>
        <p:spPr>
          <a:xfrm>
            <a:off x="790575" y="2095500"/>
            <a:ext cx="280035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Paper Table 1 · selected averages</a:t>
            </a:r>
          </a:p>
        </p:txBody>
      </p:sp>
      <p:sp>
        <p:nvSpPr>
          <p:cNvPr id="16" name="矩形 15"/>
          <p:cNvSpPr>
            <a:spLocks noGrp="1"/>
          </p:cNvSpPr>
          <p:nvPr/>
        </p:nvSpPr>
        <p:spPr>
          <a:xfrm>
            <a:off x="714375" y="2428875"/>
            <a:ext cx="5619750" cy="295275"/>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PGD, εₐ = 1/255 · average over 16 datasets</a:t>
            </a:r>
          </a:p>
        </p:txBody>
      </p:sp>
      <p:sp>
        <p:nvSpPr>
          <p:cNvPr id="17" name="矩形 16"/>
          <p:cNvSpPr>
            <a:spLocks noGrp="1"/>
          </p:cNvSpPr>
          <p:nvPr/>
        </p:nvSpPr>
        <p:spPr>
          <a:xfrm>
            <a:off x="828675" y="2781300"/>
            <a:ext cx="2000250" cy="333375"/>
          </a:xfrm>
          <a:prstGeom prst="rect">
            <a:avLst/>
          </a:prstGeom>
          <a:noFill/>
          <a:ln w="0">
            <a:noFill/>
          </a:ln>
        </p:spPr>
        <p:txBody>
          <a:bodyPr anchor="ctr">
            <a:normAutofit/>
          </a:bodyPr>
          <a:lstStyle/>
          <a:p>
            <a:pPr>
              <a:defRPr sz="1350" b="1">
                <a:solidFill>
                  <a:srgbClr val="10255A"/>
                </a:solidFill>
                <a:latin typeface="微软雅黑"/>
                <a:ea typeface="微软雅黑"/>
                <a:cs typeface="微软雅黑"/>
              </a:defRPr>
            </a:pPr>
            <a:r>
              <a:rPr sz="1350" b="1">
                <a:solidFill>
                  <a:srgbClr val="10255A"/>
                </a:solidFill>
                <a:latin typeface="微软雅黑"/>
                <a:ea typeface="微软雅黑"/>
                <a:cs typeface="微软雅黑"/>
              </a:rPr>
              <a:t>Method</a:t>
            </a:r>
          </a:p>
        </p:txBody>
      </p:sp>
      <p:sp>
        <p:nvSpPr>
          <p:cNvPr id="18" name="矩形 17"/>
          <p:cNvSpPr>
            <a:spLocks noGrp="1"/>
          </p:cNvSpPr>
          <p:nvPr/>
        </p:nvSpPr>
        <p:spPr>
          <a:xfrm>
            <a:off x="2857500" y="2781300"/>
            <a:ext cx="1571625" cy="333375"/>
          </a:xfrm>
          <a:prstGeom prst="rect">
            <a:avLst/>
          </a:prstGeom>
          <a:noFill/>
          <a:ln w="0">
            <a:noFill/>
          </a:ln>
        </p:spPr>
        <p:txBody>
          <a:bodyPr anchor="ctr">
            <a:normAutofit/>
          </a:bodyPr>
          <a:lstStyle/>
          <a:p>
            <a:pPr>
              <a:defRPr sz="1350" b="1">
                <a:solidFill>
                  <a:srgbClr val="10255A"/>
                </a:solidFill>
                <a:latin typeface="微软雅黑"/>
                <a:ea typeface="微软雅黑"/>
                <a:cs typeface="微软雅黑"/>
              </a:defRPr>
            </a:pPr>
            <a:r>
              <a:rPr sz="1350" b="1">
                <a:solidFill>
                  <a:srgbClr val="10255A"/>
                </a:solidFill>
                <a:latin typeface="微软雅黑"/>
                <a:ea typeface="微软雅黑"/>
                <a:cs typeface="微软雅黑"/>
              </a:rPr>
              <a:t>Robust Acc.</a:t>
            </a:r>
          </a:p>
        </p:txBody>
      </p:sp>
      <p:sp>
        <p:nvSpPr>
          <p:cNvPr id="19" name="矩形 18"/>
          <p:cNvSpPr>
            <a:spLocks noGrp="1"/>
          </p:cNvSpPr>
          <p:nvPr/>
        </p:nvSpPr>
        <p:spPr>
          <a:xfrm>
            <a:off x="4743450" y="2781300"/>
            <a:ext cx="1524000" cy="333375"/>
          </a:xfrm>
          <a:prstGeom prst="rect">
            <a:avLst/>
          </a:prstGeom>
          <a:noFill/>
          <a:ln w="0">
            <a:noFill/>
          </a:ln>
        </p:spPr>
        <p:txBody>
          <a:bodyPr anchor="ctr">
            <a:normAutofit/>
          </a:bodyPr>
          <a:lstStyle/>
          <a:p>
            <a:pPr>
              <a:defRPr sz="1350" b="1">
                <a:solidFill>
                  <a:srgbClr val="10255A"/>
                </a:solidFill>
                <a:latin typeface="微软雅黑"/>
                <a:ea typeface="微软雅黑"/>
                <a:cs typeface="微软雅黑"/>
              </a:defRPr>
            </a:pPr>
            <a:r>
              <a:rPr sz="1350" b="1">
                <a:solidFill>
                  <a:srgbClr val="10255A"/>
                </a:solidFill>
                <a:latin typeface="微软雅黑"/>
                <a:ea typeface="微软雅黑"/>
                <a:cs typeface="微软雅黑"/>
              </a:rPr>
              <a:t>Clean Acc.</a:t>
            </a:r>
          </a:p>
        </p:txBody>
      </p:sp>
      <p:sp>
        <p:nvSpPr>
          <p:cNvPr id="20" name="矩形 19"/>
          <p:cNvSpPr>
            <a:spLocks noGrp="1"/>
          </p:cNvSpPr>
          <p:nvPr/>
        </p:nvSpPr>
        <p:spPr>
          <a:xfrm>
            <a:off x="714375" y="3143250"/>
            <a:ext cx="5619750" cy="19050"/>
          </a:xfrm>
          <a:prstGeom prst="rect">
            <a:avLst/>
          </a:prstGeom>
          <a:solidFill>
            <a:srgbClr val="CAD4E6"/>
          </a:solidFill>
          <a:ln w="0">
            <a:noFill/>
          </a:ln>
        </p:spPr>
      </p:sp>
      <p:sp>
        <p:nvSpPr>
          <p:cNvPr id="21" name="矩形 20"/>
          <p:cNvSpPr>
            <a:spLocks noGrp="1"/>
          </p:cNvSpPr>
          <p:nvPr/>
        </p:nvSpPr>
        <p:spPr>
          <a:xfrm>
            <a:off x="828675" y="3238500"/>
            <a:ext cx="1905000"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CLIP</a:t>
            </a:r>
          </a:p>
        </p:txBody>
      </p:sp>
      <p:sp>
        <p:nvSpPr>
          <p:cNvPr id="22" name="矩形 21"/>
          <p:cNvSpPr>
            <a:spLocks noGrp="1"/>
          </p:cNvSpPr>
          <p:nvPr/>
        </p:nvSpPr>
        <p:spPr>
          <a:xfrm>
            <a:off x="2895600" y="3238500"/>
            <a:ext cx="1476375"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2.70</a:t>
            </a:r>
          </a:p>
        </p:txBody>
      </p:sp>
      <p:sp>
        <p:nvSpPr>
          <p:cNvPr id="23" name="矩形 22"/>
          <p:cNvSpPr>
            <a:spLocks noGrp="1"/>
          </p:cNvSpPr>
          <p:nvPr/>
        </p:nvSpPr>
        <p:spPr>
          <a:xfrm>
            <a:off x="4810125" y="3238500"/>
            <a:ext cx="1381125"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61.51</a:t>
            </a:r>
          </a:p>
        </p:txBody>
      </p:sp>
      <p:sp>
        <p:nvSpPr>
          <p:cNvPr id="24" name="矩形 23"/>
          <p:cNvSpPr>
            <a:spLocks noGrp="1"/>
          </p:cNvSpPr>
          <p:nvPr/>
        </p:nvSpPr>
        <p:spPr>
          <a:xfrm>
            <a:off x="714375" y="3619500"/>
            <a:ext cx="5619750" cy="19050"/>
          </a:xfrm>
          <a:prstGeom prst="rect">
            <a:avLst/>
          </a:prstGeom>
          <a:solidFill>
            <a:srgbClr val="CAD4E6"/>
          </a:solidFill>
          <a:ln w="0">
            <a:noFill/>
          </a:ln>
        </p:spPr>
      </p:sp>
      <p:sp>
        <p:nvSpPr>
          <p:cNvPr id="25" name="矩形 24"/>
          <p:cNvSpPr>
            <a:spLocks noGrp="1"/>
          </p:cNvSpPr>
          <p:nvPr/>
        </p:nvSpPr>
        <p:spPr>
          <a:xfrm>
            <a:off x="828675" y="3648075"/>
            <a:ext cx="1905000"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TTE</a:t>
            </a:r>
          </a:p>
        </p:txBody>
      </p:sp>
      <p:sp>
        <p:nvSpPr>
          <p:cNvPr id="26" name="矩形 25"/>
          <p:cNvSpPr>
            <a:spLocks noGrp="1"/>
          </p:cNvSpPr>
          <p:nvPr/>
        </p:nvSpPr>
        <p:spPr>
          <a:xfrm>
            <a:off x="2895600" y="3648075"/>
            <a:ext cx="1476375"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33.28</a:t>
            </a:r>
          </a:p>
        </p:txBody>
      </p:sp>
      <p:sp>
        <p:nvSpPr>
          <p:cNvPr id="27" name="矩形 26"/>
          <p:cNvSpPr>
            <a:spLocks noGrp="1"/>
          </p:cNvSpPr>
          <p:nvPr/>
        </p:nvSpPr>
        <p:spPr>
          <a:xfrm>
            <a:off x="4810125" y="3648075"/>
            <a:ext cx="1381125"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61.79</a:t>
            </a:r>
          </a:p>
        </p:txBody>
      </p:sp>
      <p:sp>
        <p:nvSpPr>
          <p:cNvPr id="28" name="矩形 27"/>
          <p:cNvSpPr>
            <a:spLocks noGrp="1"/>
          </p:cNvSpPr>
          <p:nvPr/>
        </p:nvSpPr>
        <p:spPr>
          <a:xfrm>
            <a:off x="714375" y="4029075"/>
            <a:ext cx="5619750" cy="19050"/>
          </a:xfrm>
          <a:prstGeom prst="rect">
            <a:avLst/>
          </a:prstGeom>
          <a:solidFill>
            <a:srgbClr val="CAD4E6"/>
          </a:solidFill>
          <a:ln w="0">
            <a:noFill/>
          </a:ln>
        </p:spPr>
      </p:sp>
      <p:sp>
        <p:nvSpPr>
          <p:cNvPr id="29" name="矩形 28"/>
          <p:cNvSpPr>
            <a:spLocks noGrp="1"/>
          </p:cNvSpPr>
          <p:nvPr/>
        </p:nvSpPr>
        <p:spPr>
          <a:xfrm>
            <a:off x="828675" y="4057650"/>
            <a:ext cx="1905000"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Anti-adv</a:t>
            </a:r>
          </a:p>
        </p:txBody>
      </p:sp>
      <p:sp>
        <p:nvSpPr>
          <p:cNvPr id="30" name="矩形 29"/>
          <p:cNvSpPr>
            <a:spLocks noGrp="1"/>
          </p:cNvSpPr>
          <p:nvPr/>
        </p:nvSpPr>
        <p:spPr>
          <a:xfrm>
            <a:off x="2895600" y="4057650"/>
            <a:ext cx="1476375"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12.01</a:t>
            </a:r>
          </a:p>
        </p:txBody>
      </p:sp>
      <p:sp>
        <p:nvSpPr>
          <p:cNvPr id="31" name="矩形 30"/>
          <p:cNvSpPr>
            <a:spLocks noGrp="1"/>
          </p:cNvSpPr>
          <p:nvPr/>
        </p:nvSpPr>
        <p:spPr>
          <a:xfrm>
            <a:off x="4810125" y="4057650"/>
            <a:ext cx="1381125"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57.35</a:t>
            </a:r>
          </a:p>
        </p:txBody>
      </p:sp>
      <p:sp>
        <p:nvSpPr>
          <p:cNvPr id="32" name="矩形 31"/>
          <p:cNvSpPr>
            <a:spLocks noGrp="1"/>
          </p:cNvSpPr>
          <p:nvPr/>
        </p:nvSpPr>
        <p:spPr>
          <a:xfrm>
            <a:off x="714375" y="4438650"/>
            <a:ext cx="5619750" cy="19050"/>
          </a:xfrm>
          <a:prstGeom prst="rect">
            <a:avLst/>
          </a:prstGeom>
          <a:solidFill>
            <a:srgbClr val="CAD4E6"/>
          </a:solidFill>
          <a:ln w="0">
            <a:noFill/>
          </a:ln>
        </p:spPr>
      </p:sp>
      <p:sp>
        <p:nvSpPr>
          <p:cNvPr id="33" name="矩形 32"/>
          <p:cNvSpPr>
            <a:spLocks noGrp="1"/>
          </p:cNvSpPr>
          <p:nvPr/>
        </p:nvSpPr>
        <p:spPr>
          <a:xfrm>
            <a:off x="828675" y="4467225"/>
            <a:ext cx="1905000"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HD</a:t>
            </a:r>
          </a:p>
        </p:txBody>
      </p:sp>
      <p:sp>
        <p:nvSpPr>
          <p:cNvPr id="34" name="矩形 33"/>
          <p:cNvSpPr>
            <a:spLocks noGrp="1"/>
          </p:cNvSpPr>
          <p:nvPr/>
        </p:nvSpPr>
        <p:spPr>
          <a:xfrm>
            <a:off x="2895600" y="4467225"/>
            <a:ext cx="1476375"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13.81</a:t>
            </a:r>
          </a:p>
        </p:txBody>
      </p:sp>
      <p:sp>
        <p:nvSpPr>
          <p:cNvPr id="35" name="矩形 34"/>
          <p:cNvSpPr>
            <a:spLocks noGrp="1"/>
          </p:cNvSpPr>
          <p:nvPr/>
        </p:nvSpPr>
        <p:spPr>
          <a:xfrm>
            <a:off x="4810125" y="4467225"/>
            <a:ext cx="1381125" cy="352425"/>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56.62</a:t>
            </a:r>
          </a:p>
        </p:txBody>
      </p:sp>
      <p:sp>
        <p:nvSpPr>
          <p:cNvPr id="36" name="矩形 35"/>
          <p:cNvSpPr>
            <a:spLocks noGrp="1"/>
          </p:cNvSpPr>
          <p:nvPr/>
        </p:nvSpPr>
        <p:spPr>
          <a:xfrm>
            <a:off x="714375" y="4848225"/>
            <a:ext cx="5619750" cy="19050"/>
          </a:xfrm>
          <a:prstGeom prst="rect">
            <a:avLst/>
          </a:prstGeom>
          <a:solidFill>
            <a:srgbClr val="CAD4E6"/>
          </a:solidFill>
          <a:ln w="0">
            <a:noFill/>
          </a:ln>
        </p:spPr>
      </p:sp>
      <p:sp>
        <p:nvSpPr>
          <p:cNvPr id="37" name="矩形 36"/>
          <p:cNvSpPr>
            <a:spLocks noGrp="1"/>
          </p:cNvSpPr>
          <p:nvPr/>
        </p:nvSpPr>
        <p:spPr>
          <a:xfrm>
            <a:off x="723900" y="4857750"/>
            <a:ext cx="5600700" cy="400050"/>
          </a:xfrm>
          <a:prstGeom prst="rect">
            <a:avLst/>
          </a:prstGeom>
          <a:solidFill>
            <a:srgbClr val="F2F5FA"/>
          </a:solidFill>
          <a:ln w="0">
            <a:noFill/>
          </a:ln>
        </p:spPr>
      </p:sp>
      <p:sp>
        <p:nvSpPr>
          <p:cNvPr id="38" name="矩形 37"/>
          <p:cNvSpPr>
            <a:spLocks noGrp="1"/>
          </p:cNvSpPr>
          <p:nvPr/>
        </p:nvSpPr>
        <p:spPr>
          <a:xfrm>
            <a:off x="828675" y="4876800"/>
            <a:ext cx="1905000" cy="352425"/>
          </a:xfrm>
          <a:prstGeom prst="rect">
            <a:avLst/>
          </a:prstGeom>
          <a:noFill/>
          <a:ln w="0">
            <a:noFill/>
          </a:ln>
        </p:spPr>
        <p:txBody>
          <a:bodyPr anchor="ctr">
            <a:normAutofit/>
          </a:bodyPr>
          <a:lstStyle/>
          <a:p>
            <a:pPr>
              <a:defRPr sz="1500" b="1">
                <a:solidFill>
                  <a:srgbClr val="082878"/>
                </a:solidFill>
                <a:latin typeface="微软雅黑"/>
                <a:ea typeface="微软雅黑"/>
                <a:cs typeface="微软雅黑"/>
              </a:defRPr>
            </a:pPr>
            <a:r>
              <a:rPr sz="1500" b="1">
                <a:solidFill>
                  <a:srgbClr val="082878"/>
                </a:solidFill>
                <a:latin typeface="微软雅黑"/>
                <a:ea typeface="微软雅黑"/>
                <a:cs typeface="微软雅黑"/>
              </a:rPr>
              <a:t>TTC</a:t>
            </a:r>
          </a:p>
        </p:txBody>
      </p:sp>
      <p:sp>
        <p:nvSpPr>
          <p:cNvPr id="39" name="矩形 38"/>
          <p:cNvSpPr>
            <a:spLocks noGrp="1"/>
          </p:cNvSpPr>
          <p:nvPr/>
        </p:nvSpPr>
        <p:spPr>
          <a:xfrm>
            <a:off x="2895600" y="4876800"/>
            <a:ext cx="1476375" cy="352425"/>
          </a:xfrm>
          <a:prstGeom prst="rect">
            <a:avLst/>
          </a:prstGeom>
          <a:noFill/>
          <a:ln w="0">
            <a:noFill/>
          </a:ln>
        </p:spPr>
        <p:txBody>
          <a:bodyPr anchor="ctr">
            <a:normAutofit/>
          </a:bodyPr>
          <a:lstStyle/>
          <a:p>
            <a:pPr>
              <a:defRPr sz="1500" b="1">
                <a:solidFill>
                  <a:srgbClr val="082878"/>
                </a:solidFill>
                <a:latin typeface="微软雅黑"/>
                <a:ea typeface="微软雅黑"/>
                <a:cs typeface="微软雅黑"/>
              </a:defRPr>
            </a:pPr>
            <a:r>
              <a:rPr sz="1500" b="1">
                <a:solidFill>
                  <a:srgbClr val="082878"/>
                </a:solidFill>
                <a:latin typeface="微软雅黑"/>
                <a:ea typeface="微软雅黑"/>
                <a:cs typeface="微软雅黑"/>
              </a:rPr>
              <a:t>39.17</a:t>
            </a:r>
          </a:p>
        </p:txBody>
      </p:sp>
      <p:sp>
        <p:nvSpPr>
          <p:cNvPr id="40" name="矩形 39"/>
          <p:cNvSpPr>
            <a:spLocks noGrp="1"/>
          </p:cNvSpPr>
          <p:nvPr/>
        </p:nvSpPr>
        <p:spPr>
          <a:xfrm>
            <a:off x="4810125" y="4876800"/>
            <a:ext cx="1381125" cy="352425"/>
          </a:xfrm>
          <a:prstGeom prst="rect">
            <a:avLst/>
          </a:prstGeom>
          <a:noFill/>
          <a:ln w="0">
            <a:noFill/>
          </a:ln>
        </p:spPr>
        <p:txBody>
          <a:bodyPr anchor="ctr">
            <a:normAutofit/>
          </a:bodyPr>
          <a:lstStyle/>
          <a:p>
            <a:pPr>
              <a:defRPr sz="1500" b="1">
                <a:solidFill>
                  <a:srgbClr val="082878"/>
                </a:solidFill>
                <a:latin typeface="微软雅黑"/>
                <a:ea typeface="微软雅黑"/>
                <a:cs typeface="微软雅黑"/>
              </a:defRPr>
            </a:pPr>
            <a:r>
              <a:rPr sz="1500" b="1">
                <a:solidFill>
                  <a:srgbClr val="082878"/>
                </a:solidFill>
                <a:latin typeface="微软雅黑"/>
                <a:ea typeface="微软雅黑"/>
                <a:cs typeface="微软雅黑"/>
              </a:rPr>
              <a:t>59.75</a:t>
            </a:r>
          </a:p>
        </p:txBody>
      </p:sp>
      <p:sp>
        <p:nvSpPr>
          <p:cNvPr id="41" name="矩形 40"/>
          <p:cNvSpPr>
            <a:spLocks noGrp="1"/>
          </p:cNvSpPr>
          <p:nvPr/>
        </p:nvSpPr>
        <p:spPr>
          <a:xfrm>
            <a:off x="714375" y="5257800"/>
            <a:ext cx="5619750" cy="19050"/>
          </a:xfrm>
          <a:prstGeom prst="rect">
            <a:avLst/>
          </a:prstGeom>
          <a:solidFill>
            <a:srgbClr val="CAD4E6"/>
          </a:solidFill>
          <a:ln w="0">
            <a:noFill/>
          </a:ln>
        </p:spPr>
      </p:sp>
      <p:sp>
        <p:nvSpPr>
          <p:cNvPr id="42" name="矩形 41"/>
          <p:cNvSpPr>
            <a:spLocks noGrp="1"/>
          </p:cNvSpPr>
          <p:nvPr/>
        </p:nvSpPr>
        <p:spPr>
          <a:xfrm>
            <a:off x="714375" y="5391150"/>
            <a:ext cx="5715000" cy="342900"/>
          </a:xfrm>
          <a:prstGeom prst="rect">
            <a:avLst/>
          </a:prstGeom>
          <a:noFill/>
          <a:ln w="0">
            <a:noFill/>
          </a:ln>
        </p:spPr>
        <p:txBody>
          <a:bodyPr anchor="ctr">
            <a:normAutofit/>
          </a:bodyPr>
          <a:lstStyle/>
          <a:p>
            <a:pPr>
              <a:defRPr sz="1575" b="1">
                <a:solidFill>
                  <a:srgbClr val="082878"/>
                </a:solidFill>
                <a:latin typeface="微软雅黑"/>
                <a:ea typeface="微软雅黑"/>
                <a:cs typeface="微软雅黑"/>
              </a:defRPr>
            </a:pPr>
            <a:r>
              <a:rPr sz="1575" b="1">
                <a:solidFill>
                  <a:srgbClr val="082878"/>
                </a:solidFill>
                <a:latin typeface="微软雅黑"/>
                <a:ea typeface="微软雅黑"/>
                <a:cs typeface="微软雅黑"/>
              </a:rPr>
              <a:t>Robust: 2.70 → 39.17  (+36.47)</a:t>
            </a:r>
          </a:p>
        </p:txBody>
      </p:sp>
      <p:sp>
        <p:nvSpPr>
          <p:cNvPr id="43" name="矩形 42"/>
          <p:cNvSpPr>
            <a:spLocks noGrp="1"/>
          </p:cNvSpPr>
          <p:nvPr/>
        </p:nvSpPr>
        <p:spPr>
          <a:xfrm>
            <a:off x="714375" y="5734050"/>
            <a:ext cx="5715000" cy="342900"/>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Clean: 61.51 → 59.75  (−1.76)</a:t>
            </a:r>
          </a:p>
        </p:txBody>
      </p:sp>
      <p:sp>
        <p:nvSpPr>
          <p:cNvPr id="44" name="矩形 43"/>
          <p:cNvSpPr>
            <a:spLocks noGrp="1"/>
          </p:cNvSpPr>
          <p:nvPr/>
        </p:nvSpPr>
        <p:spPr>
          <a:xfrm>
            <a:off x="7000875" y="2076450"/>
            <a:ext cx="3381375" cy="295275"/>
          </a:xfrm>
          <a:prstGeom prst="rect">
            <a:avLst/>
          </a:prstGeom>
          <a:solidFill>
            <a:srgbClr val="082878"/>
          </a:solidFill>
          <a:ln w="0">
            <a:noFill/>
          </a:ln>
        </p:spPr>
      </p:sp>
      <p:sp>
        <p:nvSpPr>
          <p:cNvPr id="45" name="矩形 44"/>
          <p:cNvSpPr>
            <a:spLocks noGrp="1"/>
          </p:cNvSpPr>
          <p:nvPr/>
        </p:nvSpPr>
        <p:spPr>
          <a:xfrm>
            <a:off x="7077075" y="2095500"/>
            <a:ext cx="322897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Paper Table 2 · stronger attack</a:t>
            </a:r>
          </a:p>
        </p:txBody>
      </p:sp>
      <p:sp>
        <p:nvSpPr>
          <p:cNvPr id="46" name="矩形 45"/>
          <p:cNvSpPr>
            <a:spLocks noGrp="1"/>
          </p:cNvSpPr>
          <p:nvPr/>
        </p:nvSpPr>
        <p:spPr>
          <a:xfrm>
            <a:off x="7000875" y="2428875"/>
            <a:ext cx="3048000" cy="276225"/>
          </a:xfrm>
          <a:prstGeom prst="rect">
            <a:avLst/>
          </a:prstGeom>
          <a:noFill/>
          <a:ln w="0">
            <a:noFill/>
          </a:ln>
        </p:spPr>
        <p:txBody>
          <a:bodyPr anchor="ctr">
            <a:normAutofit fontScale="95098"/>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PGD, εₐ = 4/255</a:t>
            </a:r>
          </a:p>
        </p:txBody>
      </p:sp>
      <p:sp>
        <p:nvSpPr>
          <p:cNvPr id="47" name="矩形 46"/>
          <p:cNvSpPr>
            <a:spLocks noGrp="1"/>
          </p:cNvSpPr>
          <p:nvPr/>
        </p:nvSpPr>
        <p:spPr>
          <a:xfrm>
            <a:off x="7115175" y="2781300"/>
            <a:ext cx="1381125" cy="295275"/>
          </a:xfrm>
          <a:prstGeom prst="rect">
            <a:avLst/>
          </a:prstGeom>
          <a:noFill/>
          <a:ln w="0">
            <a:noFill/>
          </a:ln>
        </p:spPr>
        <p:txBody>
          <a:bodyPr anchor="ctr">
            <a:normAutofit/>
          </a:bodyPr>
          <a:lstStyle/>
          <a:p>
            <a:pPr>
              <a:defRPr sz="1275" b="1">
                <a:solidFill>
                  <a:srgbClr val="10255A"/>
                </a:solidFill>
                <a:latin typeface="微软雅黑"/>
                <a:ea typeface="微软雅黑"/>
                <a:cs typeface="微软雅黑"/>
              </a:defRPr>
            </a:pPr>
            <a:r>
              <a:rPr sz="1275" b="1">
                <a:solidFill>
                  <a:srgbClr val="10255A"/>
                </a:solidFill>
                <a:latin typeface="微软雅黑"/>
                <a:ea typeface="微软雅黑"/>
                <a:cs typeface="微软雅黑"/>
              </a:rPr>
              <a:t>Method</a:t>
            </a:r>
          </a:p>
        </p:txBody>
      </p:sp>
      <p:sp>
        <p:nvSpPr>
          <p:cNvPr id="48" name="矩形 47"/>
          <p:cNvSpPr>
            <a:spLocks noGrp="1"/>
          </p:cNvSpPr>
          <p:nvPr/>
        </p:nvSpPr>
        <p:spPr>
          <a:xfrm>
            <a:off x="8715375" y="2781300"/>
            <a:ext cx="1000125" cy="295275"/>
          </a:xfrm>
          <a:prstGeom prst="rect">
            <a:avLst/>
          </a:prstGeom>
          <a:noFill/>
          <a:ln w="0">
            <a:noFill/>
          </a:ln>
        </p:spPr>
        <p:txBody>
          <a:bodyPr anchor="ctr">
            <a:normAutofit/>
          </a:bodyPr>
          <a:lstStyle/>
          <a:p>
            <a:pPr>
              <a:defRPr sz="1275" b="1">
                <a:solidFill>
                  <a:srgbClr val="10255A"/>
                </a:solidFill>
                <a:latin typeface="微软雅黑"/>
                <a:ea typeface="微软雅黑"/>
                <a:cs typeface="微软雅黑"/>
              </a:defRPr>
            </a:pPr>
            <a:r>
              <a:rPr sz="1275" b="1">
                <a:solidFill>
                  <a:srgbClr val="10255A"/>
                </a:solidFill>
                <a:latin typeface="微软雅黑"/>
                <a:ea typeface="微软雅黑"/>
                <a:cs typeface="微软雅黑"/>
              </a:rPr>
              <a:t>Robust</a:t>
            </a:r>
          </a:p>
        </p:txBody>
      </p:sp>
      <p:sp>
        <p:nvSpPr>
          <p:cNvPr id="49" name="矩形 48"/>
          <p:cNvSpPr>
            <a:spLocks noGrp="1"/>
          </p:cNvSpPr>
          <p:nvPr/>
        </p:nvSpPr>
        <p:spPr>
          <a:xfrm>
            <a:off x="10048875" y="2781300"/>
            <a:ext cx="1095375" cy="295275"/>
          </a:xfrm>
          <a:prstGeom prst="rect">
            <a:avLst/>
          </a:prstGeom>
          <a:noFill/>
          <a:ln w="0">
            <a:noFill/>
          </a:ln>
        </p:spPr>
        <p:txBody>
          <a:bodyPr anchor="ctr">
            <a:normAutofit/>
          </a:bodyPr>
          <a:lstStyle/>
          <a:p>
            <a:pPr>
              <a:defRPr sz="1275" b="1">
                <a:solidFill>
                  <a:srgbClr val="10255A"/>
                </a:solidFill>
                <a:latin typeface="微软雅黑"/>
                <a:ea typeface="微软雅黑"/>
                <a:cs typeface="微软雅黑"/>
              </a:defRPr>
            </a:pPr>
            <a:r>
              <a:rPr sz="1275" b="1">
                <a:solidFill>
                  <a:srgbClr val="10255A"/>
                </a:solidFill>
                <a:latin typeface="微软雅黑"/>
                <a:ea typeface="微软雅黑"/>
                <a:cs typeface="微软雅黑"/>
              </a:rPr>
              <a:t>Clean</a:t>
            </a:r>
          </a:p>
        </p:txBody>
      </p:sp>
      <p:sp>
        <p:nvSpPr>
          <p:cNvPr id="50" name="矩形 49"/>
          <p:cNvSpPr>
            <a:spLocks noGrp="1"/>
          </p:cNvSpPr>
          <p:nvPr/>
        </p:nvSpPr>
        <p:spPr>
          <a:xfrm>
            <a:off x="7000875" y="3114675"/>
            <a:ext cx="4191000" cy="19050"/>
          </a:xfrm>
          <a:prstGeom prst="rect">
            <a:avLst/>
          </a:prstGeom>
          <a:solidFill>
            <a:srgbClr val="CAD4E6"/>
          </a:solidFill>
          <a:ln w="0">
            <a:noFill/>
          </a:ln>
        </p:spPr>
      </p:sp>
      <p:sp>
        <p:nvSpPr>
          <p:cNvPr id="51" name="矩形 50"/>
          <p:cNvSpPr>
            <a:spLocks noGrp="1"/>
          </p:cNvSpPr>
          <p:nvPr/>
        </p:nvSpPr>
        <p:spPr>
          <a:xfrm>
            <a:off x="7115175" y="3181350"/>
            <a:ext cx="1381125" cy="304800"/>
          </a:xfrm>
          <a:prstGeom prst="rect">
            <a:avLst/>
          </a:prstGeom>
          <a:noFill/>
          <a:ln w="0">
            <a:noFill/>
          </a:ln>
        </p:spPr>
        <p:txBody>
          <a:bodyPr anchor="ctr">
            <a:normAutofit/>
          </a:bodyPr>
          <a:lstStyle/>
          <a:p>
            <a:pPr>
              <a:defRPr sz="1350" b="0">
                <a:solidFill>
                  <a:srgbClr val="1D2737"/>
                </a:solidFill>
                <a:latin typeface="微软雅黑"/>
                <a:ea typeface="微软雅黑"/>
                <a:cs typeface="微软雅黑"/>
              </a:defRPr>
            </a:pPr>
            <a:r>
              <a:rPr sz="1350" b="0">
                <a:solidFill>
                  <a:srgbClr val="1D2737"/>
                </a:solidFill>
                <a:latin typeface="微软雅黑"/>
                <a:ea typeface="微软雅黑"/>
                <a:cs typeface="微软雅黑"/>
              </a:rPr>
              <a:t>CLIP</a:t>
            </a:r>
          </a:p>
        </p:txBody>
      </p:sp>
      <p:sp>
        <p:nvSpPr>
          <p:cNvPr id="52" name="矩形 51"/>
          <p:cNvSpPr>
            <a:spLocks noGrp="1"/>
          </p:cNvSpPr>
          <p:nvPr/>
        </p:nvSpPr>
        <p:spPr>
          <a:xfrm>
            <a:off x="8715375" y="3181350"/>
            <a:ext cx="1000125" cy="304800"/>
          </a:xfrm>
          <a:prstGeom prst="rect">
            <a:avLst/>
          </a:prstGeom>
          <a:noFill/>
          <a:ln w="0">
            <a:noFill/>
          </a:ln>
        </p:spPr>
        <p:txBody>
          <a:bodyPr anchor="ctr">
            <a:normAutofit/>
          </a:bodyPr>
          <a:lstStyle/>
          <a:p>
            <a:pPr>
              <a:defRPr sz="1350" b="0">
                <a:solidFill>
                  <a:srgbClr val="1D2737"/>
                </a:solidFill>
                <a:latin typeface="微软雅黑"/>
                <a:ea typeface="微软雅黑"/>
                <a:cs typeface="微软雅黑"/>
              </a:defRPr>
            </a:pPr>
            <a:r>
              <a:rPr sz="1350" b="0">
                <a:solidFill>
                  <a:srgbClr val="1D2737"/>
                </a:solidFill>
                <a:latin typeface="微软雅黑"/>
                <a:ea typeface="微软雅黑"/>
                <a:cs typeface="微软雅黑"/>
              </a:rPr>
              <a:t>0.09</a:t>
            </a:r>
          </a:p>
        </p:txBody>
      </p:sp>
      <p:sp>
        <p:nvSpPr>
          <p:cNvPr id="53" name="矩形 52"/>
          <p:cNvSpPr>
            <a:spLocks noGrp="1"/>
          </p:cNvSpPr>
          <p:nvPr/>
        </p:nvSpPr>
        <p:spPr>
          <a:xfrm>
            <a:off x="10048875" y="3181350"/>
            <a:ext cx="1095375" cy="304800"/>
          </a:xfrm>
          <a:prstGeom prst="rect">
            <a:avLst/>
          </a:prstGeom>
          <a:noFill/>
          <a:ln w="0">
            <a:noFill/>
          </a:ln>
        </p:spPr>
        <p:txBody>
          <a:bodyPr anchor="ctr">
            <a:normAutofit/>
          </a:bodyPr>
          <a:lstStyle/>
          <a:p>
            <a:pPr>
              <a:defRPr sz="1350" b="0">
                <a:solidFill>
                  <a:srgbClr val="1D2737"/>
                </a:solidFill>
                <a:latin typeface="微软雅黑"/>
                <a:ea typeface="微软雅黑"/>
                <a:cs typeface="微软雅黑"/>
              </a:defRPr>
            </a:pPr>
            <a:r>
              <a:rPr sz="1350" b="0">
                <a:solidFill>
                  <a:srgbClr val="1D2737"/>
                </a:solidFill>
                <a:latin typeface="微软雅黑"/>
                <a:ea typeface="微软雅黑"/>
                <a:cs typeface="微软雅黑"/>
              </a:rPr>
              <a:t>61.51</a:t>
            </a:r>
          </a:p>
        </p:txBody>
      </p:sp>
      <p:sp>
        <p:nvSpPr>
          <p:cNvPr id="54" name="矩形 53"/>
          <p:cNvSpPr>
            <a:spLocks noGrp="1"/>
          </p:cNvSpPr>
          <p:nvPr/>
        </p:nvSpPr>
        <p:spPr>
          <a:xfrm>
            <a:off x="7000875" y="3495675"/>
            <a:ext cx="4191000" cy="19050"/>
          </a:xfrm>
          <a:prstGeom prst="rect">
            <a:avLst/>
          </a:prstGeom>
          <a:solidFill>
            <a:srgbClr val="CAD4E6"/>
          </a:solidFill>
          <a:ln w="0">
            <a:noFill/>
          </a:ln>
        </p:spPr>
      </p:sp>
      <p:sp>
        <p:nvSpPr>
          <p:cNvPr id="55" name="矩形 54"/>
          <p:cNvSpPr>
            <a:spLocks noGrp="1"/>
          </p:cNvSpPr>
          <p:nvPr/>
        </p:nvSpPr>
        <p:spPr>
          <a:xfrm>
            <a:off x="7115175" y="3562350"/>
            <a:ext cx="1381125" cy="304800"/>
          </a:xfrm>
          <a:prstGeom prst="rect">
            <a:avLst/>
          </a:prstGeom>
          <a:noFill/>
          <a:ln w="0">
            <a:noFill/>
          </a:ln>
        </p:spPr>
        <p:txBody>
          <a:bodyPr anchor="ctr">
            <a:normAutofit fontScale="98246"/>
          </a:bodyPr>
          <a:lstStyle/>
          <a:p>
            <a:pPr>
              <a:defRPr sz="1425" b="1">
                <a:solidFill>
                  <a:srgbClr val="082878"/>
                </a:solidFill>
                <a:latin typeface="微软雅黑"/>
                <a:ea typeface="微软雅黑"/>
                <a:cs typeface="微软雅黑"/>
              </a:defRPr>
            </a:pPr>
            <a:r>
              <a:rPr sz="1425" b="1">
                <a:solidFill>
                  <a:srgbClr val="082878"/>
                </a:solidFill>
                <a:latin typeface="微软雅黑"/>
                <a:ea typeface="微软雅黑"/>
                <a:cs typeface="微软雅黑"/>
              </a:rPr>
              <a:t>TTC</a:t>
            </a:r>
          </a:p>
        </p:txBody>
      </p:sp>
      <p:sp>
        <p:nvSpPr>
          <p:cNvPr id="56" name="矩形 55"/>
          <p:cNvSpPr>
            <a:spLocks noGrp="1"/>
          </p:cNvSpPr>
          <p:nvPr/>
        </p:nvSpPr>
        <p:spPr>
          <a:xfrm>
            <a:off x="8715375" y="3562350"/>
            <a:ext cx="1000125" cy="304800"/>
          </a:xfrm>
          <a:prstGeom prst="rect">
            <a:avLst/>
          </a:prstGeom>
          <a:noFill/>
          <a:ln w="0">
            <a:noFill/>
          </a:ln>
        </p:spPr>
        <p:txBody>
          <a:bodyPr anchor="ctr">
            <a:normAutofit fontScale="98246"/>
          </a:bodyPr>
          <a:lstStyle/>
          <a:p>
            <a:pPr>
              <a:defRPr sz="1425" b="1">
                <a:solidFill>
                  <a:srgbClr val="082878"/>
                </a:solidFill>
                <a:latin typeface="微软雅黑"/>
                <a:ea typeface="微软雅黑"/>
                <a:cs typeface="微软雅黑"/>
              </a:defRPr>
            </a:pPr>
            <a:r>
              <a:rPr sz="1425" b="1">
                <a:solidFill>
                  <a:srgbClr val="082878"/>
                </a:solidFill>
                <a:latin typeface="微软雅黑"/>
                <a:ea typeface="微软雅黑"/>
                <a:cs typeface="微软雅黑"/>
              </a:rPr>
              <a:t>20.63</a:t>
            </a:r>
          </a:p>
        </p:txBody>
      </p:sp>
      <p:sp>
        <p:nvSpPr>
          <p:cNvPr id="57" name="矩形 56"/>
          <p:cNvSpPr>
            <a:spLocks noGrp="1"/>
          </p:cNvSpPr>
          <p:nvPr/>
        </p:nvSpPr>
        <p:spPr>
          <a:xfrm>
            <a:off x="10048875" y="3562350"/>
            <a:ext cx="1095375" cy="304800"/>
          </a:xfrm>
          <a:prstGeom prst="rect">
            <a:avLst/>
          </a:prstGeom>
          <a:noFill/>
          <a:ln w="0">
            <a:noFill/>
          </a:ln>
        </p:spPr>
        <p:txBody>
          <a:bodyPr anchor="ctr">
            <a:normAutofit fontScale="98246"/>
          </a:bodyPr>
          <a:lstStyle/>
          <a:p>
            <a:pPr>
              <a:defRPr sz="1425" b="1">
                <a:solidFill>
                  <a:srgbClr val="082878"/>
                </a:solidFill>
                <a:latin typeface="微软雅黑"/>
                <a:ea typeface="微软雅黑"/>
                <a:cs typeface="微软雅黑"/>
              </a:defRPr>
            </a:pPr>
            <a:r>
              <a:rPr sz="1425" b="1">
                <a:solidFill>
                  <a:srgbClr val="082878"/>
                </a:solidFill>
                <a:latin typeface="微软雅黑"/>
                <a:ea typeface="微软雅黑"/>
                <a:cs typeface="微软雅黑"/>
              </a:rPr>
              <a:t>55.99</a:t>
            </a:r>
          </a:p>
        </p:txBody>
      </p:sp>
      <p:sp>
        <p:nvSpPr>
          <p:cNvPr id="58" name="矩形 57"/>
          <p:cNvSpPr>
            <a:spLocks noGrp="1"/>
          </p:cNvSpPr>
          <p:nvPr/>
        </p:nvSpPr>
        <p:spPr>
          <a:xfrm>
            <a:off x="7000875" y="3914775"/>
            <a:ext cx="4191000" cy="276225"/>
          </a:xfrm>
          <a:prstGeom prst="rect">
            <a:avLst/>
          </a:prstGeom>
          <a:noFill/>
          <a:ln w="0">
            <a:noFill/>
          </a:ln>
        </p:spPr>
        <p:txBody>
          <a:bodyPr anchor="ctr">
            <a:normAutofit fontScale="95098"/>
          </a:bodyPr>
          <a:lstStyle/>
          <a:p>
            <a:pPr>
              <a:defRPr sz="1275" b="1">
                <a:solidFill>
                  <a:srgbClr val="082878"/>
                </a:solidFill>
                <a:latin typeface="微软雅黑"/>
                <a:ea typeface="微软雅黑"/>
                <a:cs typeface="微软雅黑"/>
              </a:defRPr>
            </a:pPr>
            <a:r>
              <a:rPr sz="1275" b="1">
                <a:solidFill>
                  <a:srgbClr val="082878"/>
                </a:solidFill>
                <a:latin typeface="微软雅黑"/>
                <a:ea typeface="微软雅黑"/>
                <a:cs typeface="微软雅黑"/>
              </a:rPr>
              <a:t>TTC remains effective at εₐ = 4/255.</a:t>
            </a:r>
          </a:p>
        </p:txBody>
      </p:sp>
      <p:sp>
        <p:nvSpPr>
          <p:cNvPr id="59" name="矩形 58"/>
          <p:cNvSpPr>
            <a:spLocks noGrp="1"/>
          </p:cNvSpPr>
          <p:nvPr/>
        </p:nvSpPr>
        <p:spPr>
          <a:xfrm>
            <a:off x="7000875" y="4191000"/>
            <a:ext cx="4191000" cy="295275"/>
          </a:xfrm>
          <a:prstGeom prst="rect">
            <a:avLst/>
          </a:prstGeom>
          <a:noFill/>
          <a:ln w="0">
            <a:noFill/>
          </a:ln>
        </p:spPr>
        <p:txBody>
          <a:bodyPr anchor="ctr">
            <a:normAutofit fontScale="99074"/>
          </a:bodyPr>
          <a:lstStyle/>
          <a:p>
            <a:pPr>
              <a:defRPr sz="1350" b="1">
                <a:solidFill>
                  <a:srgbClr val="10255A"/>
                </a:solidFill>
                <a:latin typeface="微软雅黑"/>
                <a:ea typeface="微软雅黑"/>
                <a:cs typeface="微软雅黑"/>
              </a:defRPr>
            </a:pPr>
            <a:r>
              <a:rPr sz="1350" b="1">
                <a:solidFill>
                  <a:srgbClr val="10255A"/>
                </a:solidFill>
                <a:latin typeface="微软雅黑"/>
                <a:ea typeface="微软雅黑"/>
                <a:cs typeface="微软雅黑"/>
              </a:rPr>
              <a:t>Figure 5 · effect of counterattack steps N</a:t>
            </a:r>
          </a:p>
        </p:txBody>
      </p:sp>
      <p:pic>
        <p:nvPicPr>
          <p:cNvPr id="127" name="图片 126"/>
          <p:cNvPicPr>
            <a:picLocks noChangeAspect="1"/>
          </p:cNvPicPr>
          <p:nvPr/>
        </p:nvPicPr>
        <p:blipFill>
          <a:blip r:embed="rId3"/>
          <a:stretch>
            <a:fillRect/>
          </a:stretch>
        </p:blipFill>
        <p:spPr>
          <a:xfrm>
            <a:off x="7516663" y="4476750"/>
            <a:ext cx="1159175" cy="1190625"/>
          </a:xfrm>
          <a:prstGeom prst="rect">
            <a:avLst/>
          </a:prstGeom>
        </p:spPr>
      </p:pic>
      <p:pic>
        <p:nvPicPr>
          <p:cNvPr id="128" name="图片 127"/>
          <p:cNvPicPr>
            <a:picLocks noChangeAspect="1"/>
          </p:cNvPicPr>
          <p:nvPr/>
        </p:nvPicPr>
        <p:blipFill>
          <a:blip r:embed="rId4"/>
          <a:stretch>
            <a:fillRect/>
          </a:stretch>
        </p:blipFill>
        <p:spPr>
          <a:xfrm>
            <a:off x="9598684" y="4476750"/>
            <a:ext cx="1186132" cy="1190625"/>
          </a:xfrm>
          <a:prstGeom prst="rect">
            <a:avLst/>
          </a:prstGeom>
        </p:spPr>
      </p:pic>
      <p:sp>
        <p:nvSpPr>
          <p:cNvPr id="62" name="矩形 61"/>
          <p:cNvSpPr>
            <a:spLocks noGrp="1"/>
          </p:cNvSpPr>
          <p:nvPr/>
        </p:nvSpPr>
        <p:spPr>
          <a:xfrm>
            <a:off x="7620000" y="5648325"/>
            <a:ext cx="1238250" cy="228600"/>
          </a:xfrm>
          <a:prstGeom prst="rect">
            <a:avLst/>
          </a:prstGeom>
          <a:noFill/>
          <a:ln w="0">
            <a:noFill/>
          </a:ln>
        </p:spPr>
        <p:txBody>
          <a:bodyPr anchor="ctr">
            <a:normAutofit fontScale="90000" lnSpcReduction="20000"/>
          </a:bodyPr>
          <a:lstStyle/>
          <a:p>
            <a:pPr>
              <a:defRPr sz="1200" b="1">
                <a:solidFill>
                  <a:srgbClr val="647084"/>
                </a:solidFill>
                <a:latin typeface="微软雅黑"/>
                <a:ea typeface="微软雅黑"/>
                <a:cs typeface="微软雅黑"/>
              </a:defRPr>
            </a:pPr>
            <a:r>
              <a:rPr sz="1200" b="1">
                <a:solidFill>
                  <a:srgbClr val="647084"/>
                </a:solidFill>
                <a:latin typeface="微软雅黑"/>
                <a:ea typeface="微软雅黑"/>
                <a:cs typeface="微软雅黑"/>
              </a:rPr>
              <a:t>CIFAR10</a:t>
            </a:r>
          </a:p>
        </p:txBody>
      </p:sp>
      <p:sp>
        <p:nvSpPr>
          <p:cNvPr id="63" name="矩形 62"/>
          <p:cNvSpPr>
            <a:spLocks noGrp="1"/>
          </p:cNvSpPr>
          <p:nvPr/>
        </p:nvSpPr>
        <p:spPr>
          <a:xfrm>
            <a:off x="9763125" y="5648325"/>
            <a:ext cx="1238250" cy="228600"/>
          </a:xfrm>
          <a:prstGeom prst="rect">
            <a:avLst/>
          </a:prstGeom>
          <a:noFill/>
          <a:ln w="0">
            <a:noFill/>
          </a:ln>
        </p:spPr>
        <p:txBody>
          <a:bodyPr anchor="ctr">
            <a:normAutofit fontScale="90000" lnSpcReduction="20000"/>
          </a:bodyPr>
          <a:lstStyle/>
          <a:p>
            <a:pPr>
              <a:defRPr sz="1200" b="1">
                <a:solidFill>
                  <a:srgbClr val="647084"/>
                </a:solidFill>
                <a:latin typeface="微软雅黑"/>
                <a:ea typeface="微软雅黑"/>
                <a:cs typeface="微软雅黑"/>
              </a:defRPr>
            </a:pPr>
            <a:r>
              <a:rPr sz="1200" b="1">
                <a:solidFill>
                  <a:srgbClr val="647084"/>
                </a:solidFill>
                <a:latin typeface="微软雅黑"/>
                <a:ea typeface="微软雅黑"/>
                <a:cs typeface="微软雅黑"/>
              </a:rPr>
              <a:t>ImageNet</a:t>
            </a:r>
          </a:p>
        </p:txBody>
      </p:sp>
      <p:sp>
        <p:nvSpPr>
          <p:cNvPr id="64" name="矩形 63"/>
          <p:cNvSpPr>
            <a:spLocks noGrp="1"/>
          </p:cNvSpPr>
          <p:nvPr/>
        </p:nvSpPr>
        <p:spPr>
          <a:xfrm>
            <a:off x="7000875" y="5905500"/>
            <a:ext cx="4286250" cy="266700"/>
          </a:xfrm>
          <a:prstGeom prst="rect">
            <a:avLst/>
          </a:prstGeom>
          <a:noFill/>
          <a:ln w="0">
            <a:noFill/>
          </a:ln>
        </p:spPr>
        <p:txBody>
          <a:bodyPr anchor="ctr">
            <a:normAutofit fontScale="85870"/>
          </a:bodyPr>
          <a:lstStyle/>
          <a:p>
            <a:pPr>
              <a:defRPr sz="1125" b="0">
                <a:solidFill>
                  <a:srgbClr val="647084"/>
                </a:solidFill>
                <a:latin typeface="微软雅黑"/>
                <a:ea typeface="微软雅黑"/>
                <a:cs typeface="微软雅黑"/>
              </a:defRPr>
            </a:pPr>
            <a:r>
              <a:rPr sz="1125" b="0">
                <a:solidFill>
                  <a:srgbClr val="647084"/>
                </a:solidFill>
                <a:latin typeface="微软雅黑"/>
                <a:ea typeface="微软雅黑"/>
                <a:cs typeface="微软雅黑"/>
              </a:rPr>
              <a:t>Few steps: weak defense · Too many: clean accuracy may decline</a:t>
            </a:r>
          </a:p>
        </p:txBody>
      </p:sp>
      <p:sp>
        <p:nvSpPr>
          <p:cNvPr id="65" name="矩形 64"/>
          <p:cNvSpPr>
            <a:spLocks noGrp="1"/>
          </p:cNvSpPr>
          <p:nvPr/>
        </p:nvSpPr>
        <p:spPr>
          <a:xfrm>
            <a:off x="714375" y="6048375"/>
            <a:ext cx="5715000" cy="238125"/>
          </a:xfrm>
          <a:prstGeom prst="rect">
            <a:avLst/>
          </a:prstGeom>
          <a:noFill/>
          <a:ln w="0">
            <a:noFill/>
          </a:ln>
        </p:spPr>
        <p:txBody>
          <a:bodyPr anchor="ctr">
            <a:normAutofit fontScale="82990" lnSpcReduction="20000"/>
          </a:bodyPr>
          <a:lstStyle/>
          <a:p>
            <a:pPr>
              <a:defRPr sz="1275" b="1">
                <a:solidFill>
                  <a:srgbClr val="082878"/>
                </a:solidFill>
                <a:latin typeface="微软雅黑"/>
                <a:ea typeface="微软雅黑"/>
                <a:cs typeface="微软雅黑"/>
              </a:defRPr>
            </a:pPr>
            <a:r>
              <a:rPr sz="1275" b="1">
                <a:solidFill>
                  <a:srgbClr val="082878"/>
                </a:solidFill>
                <a:latin typeface="微软雅黑"/>
                <a:ea typeface="微软雅黑"/>
                <a:cs typeface="微软雅黑"/>
              </a:rPr>
              <a:t>Large robustness gain with limited clean-accuracy loss.</a:t>
            </a:r>
          </a:p>
        </p:txBody>
      </p:sp>
      <p:sp>
        <p:nvSpPr>
          <p:cNvPr id="66" name="矩形 65"/>
          <p:cNvSpPr>
            <a:spLocks noGrp="1"/>
          </p:cNvSpPr>
          <p:nvPr/>
        </p:nvSpPr>
        <p:spPr>
          <a:xfrm>
            <a:off x="714375" y="6334125"/>
            <a:ext cx="10668000" cy="19050"/>
          </a:xfrm>
          <a:prstGeom prst="rect">
            <a:avLst/>
          </a:prstGeom>
          <a:solidFill>
            <a:srgbClr val="CAD4E6"/>
          </a:solidFill>
          <a:ln w="0">
            <a:noFill/>
          </a:ln>
        </p:spPr>
      </p:sp>
      <p:sp>
        <p:nvSpPr>
          <p:cNvPr id="67" name="矩形 66"/>
          <p:cNvSpPr>
            <a:spLocks noGrp="1"/>
          </p:cNvSpPr>
          <p:nvPr/>
        </p:nvSpPr>
        <p:spPr>
          <a:xfrm>
            <a:off x="809625" y="6381750"/>
            <a:ext cx="10477500" cy="276225"/>
          </a:xfrm>
          <a:prstGeom prst="rect">
            <a:avLst/>
          </a:prstGeom>
          <a:noFill/>
          <a:ln w="0">
            <a:noFill/>
          </a:ln>
        </p:spPr>
        <p:txBody>
          <a:bodyPr anchor="ctr">
            <a:normAutofit fontScale="95098"/>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Additional evidence: CW · τ/β ablations · TeCoA/PMG-AFT/FARE + TTC</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a:spLocks noGrp="1"/>
          </p:cNvSpPr>
          <p:nvPr/>
        </p:nvSpPr>
        <p:spPr>
          <a:xfrm>
            <a:off x="5048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研究背景</a:t>
            </a:r>
          </a:p>
        </p:txBody>
      </p:sp>
      <p:sp>
        <p:nvSpPr>
          <p:cNvPr id="2" name="矩形 1"/>
          <p:cNvSpPr>
            <a:spLocks noGrp="1"/>
          </p:cNvSpPr>
          <p:nvPr/>
        </p:nvSpPr>
        <p:spPr>
          <a:xfrm>
            <a:off x="19145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研究动机</a:t>
            </a:r>
          </a:p>
        </p:txBody>
      </p:sp>
      <p:sp>
        <p:nvSpPr>
          <p:cNvPr id="3" name="矩形 2"/>
          <p:cNvSpPr>
            <a:spLocks noGrp="1"/>
          </p:cNvSpPr>
          <p:nvPr/>
        </p:nvSpPr>
        <p:spPr>
          <a:xfrm>
            <a:off x="33242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关键发现</a:t>
            </a:r>
          </a:p>
        </p:txBody>
      </p:sp>
      <p:sp>
        <p:nvSpPr>
          <p:cNvPr id="4" name="矩形 3"/>
          <p:cNvSpPr>
            <a:spLocks noGrp="1"/>
          </p:cNvSpPr>
          <p:nvPr/>
        </p:nvSpPr>
        <p:spPr>
          <a:xfrm>
            <a:off x="473392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TTC 方法</a:t>
            </a:r>
          </a:p>
        </p:txBody>
      </p:sp>
      <p:sp>
        <p:nvSpPr>
          <p:cNvPr id="5" name="矩形 4"/>
          <p:cNvSpPr>
            <a:spLocks noGrp="1"/>
          </p:cNvSpPr>
          <p:nvPr/>
        </p:nvSpPr>
        <p:spPr>
          <a:xfrm>
            <a:off x="6143625" y="266700"/>
            <a:ext cx="114300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创新点</a:t>
            </a:r>
          </a:p>
        </p:txBody>
      </p:sp>
      <p:sp>
        <p:nvSpPr>
          <p:cNvPr id="6" name="矩形 5"/>
          <p:cNvSpPr>
            <a:spLocks noGrp="1"/>
          </p:cNvSpPr>
          <p:nvPr/>
        </p:nvSpPr>
        <p:spPr>
          <a:xfrm>
            <a:off x="7381875" y="266700"/>
            <a:ext cx="1314450" cy="323850"/>
          </a:xfrm>
          <a:prstGeom prst="rect">
            <a:avLst/>
          </a:prstGeom>
          <a:noFill/>
          <a:ln w="0">
            <a:noFill/>
          </a:ln>
        </p:spPr>
        <p:txBody>
          <a:bodyPr anchor="ctr">
            <a:normAutofit/>
          </a:bodyPr>
          <a:lstStyle/>
          <a:p>
            <a:pPr>
              <a:defRPr sz="1275" b="0">
                <a:solidFill>
                  <a:srgbClr val="647084"/>
                </a:solidFill>
                <a:latin typeface="微软雅黑"/>
                <a:ea typeface="微软雅黑"/>
                <a:cs typeface="微软雅黑"/>
              </a:defRPr>
            </a:pPr>
            <a:r>
              <a:rPr sz="1275" b="0">
                <a:solidFill>
                  <a:srgbClr val="647084"/>
                </a:solidFill>
                <a:latin typeface="微软雅黑"/>
                <a:ea typeface="微软雅黑"/>
                <a:cs typeface="微软雅黑"/>
              </a:rPr>
              <a:t>实验结果</a:t>
            </a:r>
          </a:p>
        </p:txBody>
      </p:sp>
      <p:sp>
        <p:nvSpPr>
          <p:cNvPr id="7" name="矩形 6"/>
          <p:cNvSpPr>
            <a:spLocks noGrp="1"/>
          </p:cNvSpPr>
          <p:nvPr/>
        </p:nvSpPr>
        <p:spPr>
          <a:xfrm>
            <a:off x="8743950" y="228600"/>
            <a:ext cx="1409700" cy="409575"/>
          </a:xfrm>
          <a:prstGeom prst="rect">
            <a:avLst/>
          </a:prstGeom>
          <a:solidFill>
            <a:srgbClr val="082878"/>
          </a:solidFill>
          <a:ln w="0">
            <a:noFill/>
          </a:ln>
        </p:spPr>
      </p:sp>
      <p:sp>
        <p:nvSpPr>
          <p:cNvPr id="8" name="矩形 7"/>
          <p:cNvSpPr>
            <a:spLocks noGrp="1"/>
          </p:cNvSpPr>
          <p:nvPr/>
        </p:nvSpPr>
        <p:spPr>
          <a:xfrm>
            <a:off x="8791575" y="266700"/>
            <a:ext cx="1314450" cy="323850"/>
          </a:xfrm>
          <a:prstGeom prst="rect">
            <a:avLst/>
          </a:prstGeom>
          <a:noFill/>
          <a:ln w="0">
            <a:noFill/>
          </a:ln>
        </p:spPr>
        <p:txBody>
          <a:bodyPr anchor="ctr">
            <a:normAutofit/>
          </a:bodyPr>
          <a:lstStyle/>
          <a:p>
            <a:pPr>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总结讨论</a:t>
            </a:r>
          </a:p>
        </p:txBody>
      </p:sp>
      <p:sp>
        <p:nvSpPr>
          <p:cNvPr id="9" name="矩形 8"/>
          <p:cNvSpPr>
            <a:spLocks noGrp="1"/>
          </p:cNvSpPr>
          <p:nvPr/>
        </p:nvSpPr>
        <p:spPr>
          <a:xfrm>
            <a:off x="457200" y="647700"/>
            <a:ext cx="11277600" cy="28575"/>
          </a:xfrm>
          <a:prstGeom prst="rect">
            <a:avLst/>
          </a:prstGeom>
          <a:solidFill>
            <a:srgbClr val="082878"/>
          </a:solidFill>
          <a:ln w="0">
            <a:noFill/>
          </a:ln>
        </p:spPr>
      </p:sp>
      <p:sp>
        <p:nvSpPr>
          <p:cNvPr id="10" name="矩形 9"/>
          <p:cNvSpPr>
            <a:spLocks noGrp="1"/>
          </p:cNvSpPr>
          <p:nvPr/>
        </p:nvSpPr>
        <p:spPr>
          <a:xfrm>
            <a:off x="495300" y="1095375"/>
            <a:ext cx="85725" cy="285750"/>
          </a:xfrm>
          <a:prstGeom prst="rect">
            <a:avLst/>
          </a:prstGeom>
          <a:solidFill>
            <a:srgbClr val="082878"/>
          </a:solidFill>
          <a:ln w="0">
            <a:noFill/>
          </a:ln>
        </p:spPr>
      </p:sp>
      <p:sp>
        <p:nvSpPr>
          <p:cNvPr id="11" name="矩形 10"/>
          <p:cNvSpPr>
            <a:spLocks noGrp="1"/>
          </p:cNvSpPr>
          <p:nvPr/>
        </p:nvSpPr>
        <p:spPr>
          <a:xfrm>
            <a:off x="695325" y="1000125"/>
            <a:ext cx="10620375" cy="552450"/>
          </a:xfrm>
          <a:prstGeom prst="rect">
            <a:avLst/>
          </a:prstGeom>
          <a:noFill/>
          <a:ln w="0">
            <a:noFill/>
          </a:ln>
        </p:spPr>
        <p:txBody>
          <a:bodyPr anchor="ctr">
            <a:normAutofit/>
          </a:bodyPr>
          <a:lstStyle/>
          <a:p>
            <a:pPr>
              <a:defRPr sz="2550" b="1">
                <a:solidFill>
                  <a:srgbClr val="10255A"/>
                </a:solidFill>
                <a:latin typeface="微软雅黑"/>
                <a:ea typeface="微软雅黑"/>
                <a:cs typeface="微软雅黑"/>
              </a:defRPr>
            </a:pPr>
            <a:r>
              <a:rPr sz="2550" b="1">
                <a:solidFill>
                  <a:srgbClr val="10255A"/>
                </a:solidFill>
                <a:latin typeface="微软雅黑"/>
                <a:ea typeface="微软雅黑"/>
                <a:cs typeface="微软雅黑"/>
              </a:rPr>
              <a:t>总结、局限与部署思考</a:t>
            </a:r>
          </a:p>
        </p:txBody>
      </p:sp>
      <p:sp>
        <p:nvSpPr>
          <p:cNvPr id="12" name="矩形 11"/>
          <p:cNvSpPr>
            <a:spLocks noGrp="1"/>
          </p:cNvSpPr>
          <p:nvPr/>
        </p:nvSpPr>
        <p:spPr>
          <a:xfrm>
            <a:off x="714375" y="1714500"/>
            <a:ext cx="1666875" cy="295275"/>
          </a:xfrm>
          <a:prstGeom prst="rect">
            <a:avLst/>
          </a:prstGeom>
          <a:solidFill>
            <a:srgbClr val="082878"/>
          </a:solidFill>
          <a:ln w="0">
            <a:noFill/>
          </a:ln>
        </p:spPr>
      </p:sp>
      <p:sp>
        <p:nvSpPr>
          <p:cNvPr id="13" name="矩形 12"/>
          <p:cNvSpPr>
            <a:spLocks noGrp="1"/>
          </p:cNvSpPr>
          <p:nvPr/>
        </p:nvSpPr>
        <p:spPr>
          <a:xfrm>
            <a:off x="790575" y="1733550"/>
            <a:ext cx="151447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Research loop</a:t>
            </a:r>
          </a:p>
        </p:txBody>
      </p:sp>
      <p:sp>
        <p:nvSpPr>
          <p:cNvPr id="14" name="矩形 13"/>
          <p:cNvSpPr>
            <a:spLocks noGrp="1"/>
          </p:cNvSpPr>
          <p:nvPr/>
        </p:nvSpPr>
        <p:spPr>
          <a:xfrm>
            <a:off x="2571750" y="1666875"/>
            <a:ext cx="8858250" cy="523875"/>
          </a:xfrm>
          <a:prstGeom prst="rect">
            <a:avLst/>
          </a:prstGeom>
          <a:noFill/>
          <a:ln w="0">
            <a:noFill/>
          </a:ln>
        </p:spPr>
        <p:txBody>
          <a:bodyPr anchor="ctr">
            <a:normAutofit/>
          </a:bodyPr>
          <a:lstStyle/>
          <a:p>
            <a:pPr>
              <a:defRPr sz="1650" b="1">
                <a:solidFill>
                  <a:srgbClr val="10255A"/>
                </a:solidFill>
                <a:latin typeface="微软雅黑"/>
                <a:ea typeface="微软雅黑"/>
                <a:cs typeface="微软雅黑"/>
              </a:defRPr>
            </a:pPr>
            <a:r>
              <a:rPr sz="1650" b="1">
                <a:solidFill>
                  <a:srgbClr val="10255A"/>
                </a:solidFill>
                <a:latin typeface="微软雅黑"/>
                <a:ea typeface="微软雅黑"/>
                <a:cs typeface="微软雅黑"/>
              </a:rPr>
              <a:t>Observation → False Stability → TTC → Robustness Gain → Inference Cost</a:t>
            </a:r>
          </a:p>
        </p:txBody>
      </p:sp>
      <p:sp>
        <p:nvSpPr>
          <p:cNvPr id="15" name="矩形 14"/>
          <p:cNvSpPr>
            <a:spLocks noGrp="1"/>
          </p:cNvSpPr>
          <p:nvPr/>
        </p:nvSpPr>
        <p:spPr>
          <a:xfrm>
            <a:off x="714375" y="2476500"/>
            <a:ext cx="10668000" cy="19050"/>
          </a:xfrm>
          <a:prstGeom prst="rect">
            <a:avLst/>
          </a:prstGeom>
          <a:solidFill>
            <a:srgbClr val="CAD4E6"/>
          </a:solidFill>
          <a:ln w="0">
            <a:noFill/>
          </a:ln>
        </p:spPr>
      </p:sp>
      <p:sp>
        <p:nvSpPr>
          <p:cNvPr id="16" name="矩形 15"/>
          <p:cNvSpPr>
            <a:spLocks noGrp="1"/>
          </p:cNvSpPr>
          <p:nvPr/>
        </p:nvSpPr>
        <p:spPr>
          <a:xfrm>
            <a:off x="714375" y="2857500"/>
            <a:ext cx="1476375" cy="295275"/>
          </a:xfrm>
          <a:prstGeom prst="rect">
            <a:avLst/>
          </a:prstGeom>
          <a:solidFill>
            <a:srgbClr val="082878"/>
          </a:solidFill>
          <a:ln w="0">
            <a:noFill/>
          </a:ln>
        </p:spPr>
      </p:sp>
      <p:sp>
        <p:nvSpPr>
          <p:cNvPr id="17" name="矩形 16"/>
          <p:cNvSpPr>
            <a:spLocks noGrp="1"/>
          </p:cNvSpPr>
          <p:nvPr/>
        </p:nvSpPr>
        <p:spPr>
          <a:xfrm>
            <a:off x="790575" y="2876550"/>
            <a:ext cx="132397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Takeaways</a:t>
            </a:r>
          </a:p>
        </p:txBody>
      </p:sp>
      <p:sp>
        <p:nvSpPr>
          <p:cNvPr id="18" name="矩形 17"/>
          <p:cNvSpPr>
            <a:spLocks noGrp="1"/>
          </p:cNvSpPr>
          <p:nvPr/>
        </p:nvSpPr>
        <p:spPr>
          <a:xfrm>
            <a:off x="2476500" y="2838450"/>
            <a:ext cx="4667250" cy="409575"/>
          </a:xfrm>
          <a:prstGeom prst="rect">
            <a:avLst/>
          </a:prstGeom>
          <a:noFill/>
          <a:ln w="0">
            <a:noFill/>
          </a:ln>
        </p:spPr>
        <p:txBody>
          <a:bodyPr anchor="ctr">
            <a:normAutofit/>
          </a:bodyPr>
          <a:lstStyle/>
          <a:p>
            <a:pPr>
              <a:defRPr sz="1800" b="1">
                <a:solidFill>
                  <a:srgbClr val="10255A"/>
                </a:solidFill>
                <a:latin typeface="微软雅黑"/>
                <a:ea typeface="微软雅黑"/>
                <a:cs typeface="微软雅黑"/>
              </a:defRPr>
            </a:pPr>
            <a:r>
              <a:rPr sz="1800" b="1">
                <a:solidFill>
                  <a:srgbClr val="10255A"/>
                </a:solidFill>
                <a:latin typeface="微软雅黑"/>
                <a:ea typeface="微软雅黑"/>
                <a:cs typeface="微软雅黑"/>
              </a:rPr>
              <a:t>False Stability</a:t>
            </a:r>
          </a:p>
        </p:txBody>
      </p:sp>
      <p:sp>
        <p:nvSpPr>
          <p:cNvPr id="19" name="矩形 18"/>
          <p:cNvSpPr>
            <a:spLocks noGrp="1"/>
          </p:cNvSpPr>
          <p:nvPr/>
        </p:nvSpPr>
        <p:spPr>
          <a:xfrm>
            <a:off x="2476500" y="3343275"/>
            <a:ext cx="4667250" cy="409575"/>
          </a:xfrm>
          <a:prstGeom prst="rect">
            <a:avLst/>
          </a:prstGeom>
          <a:noFill/>
          <a:ln w="0">
            <a:noFill/>
          </a:ln>
        </p:spPr>
        <p:txBody>
          <a:bodyPr anchor="ctr">
            <a:normAutofit/>
          </a:bodyPr>
          <a:lstStyle/>
          <a:p>
            <a:pPr>
              <a:defRPr sz="1800" b="1">
                <a:solidFill>
                  <a:srgbClr val="10255A"/>
                </a:solidFill>
                <a:latin typeface="微软雅黑"/>
                <a:ea typeface="微软雅黑"/>
                <a:cs typeface="微软雅黑"/>
              </a:defRPr>
            </a:pPr>
            <a:r>
              <a:rPr sz="1800" b="1">
                <a:solidFill>
                  <a:srgbClr val="10255A"/>
                </a:solidFill>
                <a:latin typeface="微软雅黑"/>
                <a:ea typeface="微软雅黑"/>
                <a:cs typeface="微软雅黑"/>
              </a:rPr>
              <a:t>Test-time Counterattack</a:t>
            </a:r>
          </a:p>
        </p:txBody>
      </p:sp>
      <p:sp>
        <p:nvSpPr>
          <p:cNvPr id="20" name="矩形 19"/>
          <p:cNvSpPr>
            <a:spLocks noGrp="1"/>
          </p:cNvSpPr>
          <p:nvPr/>
        </p:nvSpPr>
        <p:spPr>
          <a:xfrm>
            <a:off x="2476500" y="3848100"/>
            <a:ext cx="4667250" cy="409575"/>
          </a:xfrm>
          <a:prstGeom prst="rect">
            <a:avLst/>
          </a:prstGeom>
          <a:noFill/>
          <a:ln w="0">
            <a:noFill/>
          </a:ln>
        </p:spPr>
        <p:txBody>
          <a:bodyPr anchor="ctr">
            <a:normAutofit/>
          </a:bodyPr>
          <a:lstStyle/>
          <a:p>
            <a:pPr>
              <a:defRPr sz="1800" b="1">
                <a:solidFill>
                  <a:srgbClr val="10255A"/>
                </a:solidFill>
                <a:latin typeface="微软雅黑"/>
                <a:ea typeface="微软雅黑"/>
                <a:cs typeface="微软雅黑"/>
              </a:defRPr>
            </a:pPr>
            <a:r>
              <a:rPr sz="1800" b="1">
                <a:solidFill>
                  <a:srgbClr val="10255A"/>
                </a:solidFill>
                <a:latin typeface="微软雅黑"/>
                <a:ea typeface="微软雅黑"/>
                <a:cs typeface="微软雅黑"/>
              </a:rPr>
              <a:t>CLIP Self-defense</a:t>
            </a:r>
          </a:p>
        </p:txBody>
      </p:sp>
      <p:sp>
        <p:nvSpPr>
          <p:cNvPr id="21" name="矩形 20"/>
          <p:cNvSpPr>
            <a:spLocks noGrp="1"/>
          </p:cNvSpPr>
          <p:nvPr/>
        </p:nvSpPr>
        <p:spPr>
          <a:xfrm>
            <a:off x="7429500" y="2857500"/>
            <a:ext cx="19050" cy="1666875"/>
          </a:xfrm>
          <a:prstGeom prst="rect">
            <a:avLst/>
          </a:prstGeom>
          <a:solidFill>
            <a:srgbClr val="CAD4E6"/>
          </a:solidFill>
          <a:ln w="0">
            <a:noFill/>
          </a:ln>
        </p:spPr>
      </p:sp>
      <p:sp>
        <p:nvSpPr>
          <p:cNvPr id="22" name="矩形 21"/>
          <p:cNvSpPr>
            <a:spLocks noGrp="1"/>
          </p:cNvSpPr>
          <p:nvPr/>
        </p:nvSpPr>
        <p:spPr>
          <a:xfrm>
            <a:off x="7715250" y="2857500"/>
            <a:ext cx="1476375" cy="295275"/>
          </a:xfrm>
          <a:prstGeom prst="rect">
            <a:avLst/>
          </a:prstGeom>
          <a:solidFill>
            <a:srgbClr val="082878"/>
          </a:solidFill>
          <a:ln w="0">
            <a:noFill/>
          </a:ln>
        </p:spPr>
      </p:sp>
      <p:sp>
        <p:nvSpPr>
          <p:cNvPr id="23" name="矩形 22"/>
          <p:cNvSpPr>
            <a:spLocks noGrp="1"/>
          </p:cNvSpPr>
          <p:nvPr/>
        </p:nvSpPr>
        <p:spPr>
          <a:xfrm>
            <a:off x="7791450" y="2876550"/>
            <a:ext cx="1323975"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Limitations</a:t>
            </a:r>
          </a:p>
        </p:txBody>
      </p:sp>
      <p:sp>
        <p:nvSpPr>
          <p:cNvPr id="24" name="矩形 23"/>
          <p:cNvSpPr>
            <a:spLocks noGrp="1"/>
          </p:cNvSpPr>
          <p:nvPr/>
        </p:nvSpPr>
        <p:spPr>
          <a:xfrm>
            <a:off x="7715250" y="3295650"/>
            <a:ext cx="3714750" cy="361950"/>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Extra inference-time computation</a:t>
            </a:r>
          </a:p>
        </p:txBody>
      </p:sp>
      <p:sp>
        <p:nvSpPr>
          <p:cNvPr id="25" name="矩形 24"/>
          <p:cNvSpPr>
            <a:spLocks noGrp="1"/>
          </p:cNvSpPr>
          <p:nvPr/>
        </p:nvSpPr>
        <p:spPr>
          <a:xfrm>
            <a:off x="7715250" y="3733800"/>
            <a:ext cx="3714750" cy="361950"/>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N / threshold tuning</a:t>
            </a:r>
          </a:p>
        </p:txBody>
      </p:sp>
      <p:sp>
        <p:nvSpPr>
          <p:cNvPr id="26" name="矩形 25"/>
          <p:cNvSpPr>
            <a:spLocks noGrp="1"/>
          </p:cNvSpPr>
          <p:nvPr/>
        </p:nvSpPr>
        <p:spPr>
          <a:xfrm>
            <a:off x="7715250" y="4171950"/>
            <a:ext cx="3714750" cy="361950"/>
          </a:xfrm>
          <a:prstGeom prst="rect">
            <a:avLst/>
          </a:prstGeom>
          <a:noFill/>
          <a:ln w="0">
            <a:noFill/>
          </a:ln>
        </p:spPr>
        <p:txBody>
          <a:bodyPr anchor="ctr">
            <a:normAutofit/>
          </a:bodyPr>
          <a:lstStyle/>
          <a:p>
            <a:pPr>
              <a:defRPr sz="1500" b="0">
                <a:solidFill>
                  <a:srgbClr val="1D2737"/>
                </a:solidFill>
                <a:latin typeface="微软雅黑"/>
                <a:ea typeface="微软雅黑"/>
                <a:cs typeface="微软雅黑"/>
              </a:defRPr>
            </a:pPr>
            <a:r>
              <a:rPr sz="1500" b="0">
                <a:solidFill>
                  <a:srgbClr val="1D2737"/>
                </a:solidFill>
                <a:latin typeface="微软雅黑"/>
                <a:ea typeface="微软雅黑"/>
                <a:cs typeface="微软雅黑"/>
              </a:rPr>
              <a:t>Adaptive attacks may bypass TTC</a:t>
            </a:r>
          </a:p>
        </p:txBody>
      </p:sp>
      <p:sp>
        <p:nvSpPr>
          <p:cNvPr id="27" name="矩形 26"/>
          <p:cNvSpPr>
            <a:spLocks noGrp="1"/>
          </p:cNvSpPr>
          <p:nvPr/>
        </p:nvSpPr>
        <p:spPr>
          <a:xfrm>
            <a:off x="714375" y="4972050"/>
            <a:ext cx="10668000" cy="19050"/>
          </a:xfrm>
          <a:prstGeom prst="rect">
            <a:avLst/>
          </a:prstGeom>
          <a:solidFill>
            <a:srgbClr val="CAD4E6"/>
          </a:solidFill>
          <a:ln w="0">
            <a:noFill/>
          </a:ln>
        </p:spPr>
      </p:sp>
      <p:sp>
        <p:nvSpPr>
          <p:cNvPr id="28" name="矩形 27"/>
          <p:cNvSpPr>
            <a:spLocks noGrp="1"/>
          </p:cNvSpPr>
          <p:nvPr/>
        </p:nvSpPr>
        <p:spPr>
          <a:xfrm>
            <a:off x="714375" y="5238750"/>
            <a:ext cx="2571750" cy="295275"/>
          </a:xfrm>
          <a:prstGeom prst="rect">
            <a:avLst/>
          </a:prstGeom>
          <a:solidFill>
            <a:srgbClr val="082878"/>
          </a:solidFill>
          <a:ln w="0">
            <a:noFill/>
          </a:ln>
        </p:spPr>
      </p:sp>
      <p:sp>
        <p:nvSpPr>
          <p:cNvPr id="29" name="矩形 28"/>
          <p:cNvSpPr>
            <a:spLocks noGrp="1"/>
          </p:cNvSpPr>
          <p:nvPr/>
        </p:nvSpPr>
        <p:spPr>
          <a:xfrm>
            <a:off x="790575" y="5257800"/>
            <a:ext cx="2419350" cy="247650"/>
          </a:xfrm>
          <a:prstGeom prst="rect">
            <a:avLst/>
          </a:prstGeom>
          <a:noFill/>
          <a:ln w="0">
            <a:noFill/>
          </a:ln>
        </p:spPr>
        <p:txBody>
          <a:bodyPr anchor="ctr">
            <a:normAutofit fontScale="92917" lnSpcReduction="10000"/>
          </a:bodyPr>
          <a:lstStyle/>
          <a:p>
            <a:pPr>
              <a:defRPr sz="1200" b="1">
                <a:solidFill>
                  <a:srgbClr val="FFFFFF"/>
                </a:solidFill>
                <a:latin typeface="微软雅黑"/>
                <a:ea typeface="微软雅黑"/>
                <a:cs typeface="微软雅黑"/>
              </a:defRPr>
            </a:pPr>
            <a:r>
              <a:rPr sz="1200" b="1">
                <a:solidFill>
                  <a:srgbClr val="FFFFFF"/>
                </a:solidFill>
                <a:latin typeface="微软雅黑"/>
                <a:ea typeface="微软雅黑"/>
                <a:cs typeface="微软雅黑"/>
              </a:rPr>
              <a:t>Deployment Perspective</a:t>
            </a:r>
          </a:p>
        </p:txBody>
      </p:sp>
      <p:sp>
        <p:nvSpPr>
          <p:cNvPr id="30" name="矩形 29"/>
          <p:cNvSpPr>
            <a:spLocks noGrp="1"/>
          </p:cNvSpPr>
          <p:nvPr/>
        </p:nvSpPr>
        <p:spPr>
          <a:xfrm>
            <a:off x="3476625" y="5200650"/>
            <a:ext cx="7905750" cy="495300"/>
          </a:xfrm>
          <a:prstGeom prst="rect">
            <a:avLst/>
          </a:prstGeom>
          <a:noFill/>
          <a:ln w="0">
            <a:noFill/>
          </a:ln>
        </p:spPr>
        <p:txBody>
          <a:bodyPr anchor="ctr">
            <a:normAutofit/>
          </a:bodyPr>
          <a:lstStyle/>
          <a:p>
            <a:pPr>
              <a:defRPr sz="2100" b="1">
                <a:solidFill>
                  <a:srgbClr val="082878"/>
                </a:solidFill>
                <a:latin typeface="微软雅黑"/>
                <a:ea typeface="微软雅黑"/>
                <a:cs typeface="微软雅黑"/>
              </a:defRPr>
            </a:pPr>
            <a:r>
              <a:rPr sz="2100" b="1">
                <a:solidFill>
                  <a:srgbClr val="082878"/>
                </a:solidFill>
                <a:latin typeface="微软雅黑"/>
                <a:ea typeface="微软雅黑"/>
                <a:cs typeface="微软雅黑"/>
              </a:rPr>
              <a:t>Robustness  ↔  Latency  ↔  Throughput</a:t>
            </a:r>
          </a:p>
        </p:txBody>
      </p:sp>
      <p:sp>
        <p:nvSpPr>
          <p:cNvPr id="31" name="矩形 30"/>
          <p:cNvSpPr>
            <a:spLocks noGrp="1"/>
          </p:cNvSpPr>
          <p:nvPr/>
        </p:nvSpPr>
        <p:spPr>
          <a:xfrm>
            <a:off x="3476625" y="5772150"/>
            <a:ext cx="7905750" cy="400050"/>
          </a:xfrm>
          <a:prstGeom prst="rect">
            <a:avLst/>
          </a:prstGeom>
          <a:noFill/>
          <a:ln w="0">
            <a:noFill/>
          </a:ln>
        </p:spPr>
        <p:txBody>
          <a:bodyPr anchor="ctr">
            <a:normAutofit/>
          </a:bodyPr>
          <a:lstStyle/>
          <a:p>
            <a:pPr>
              <a:defRPr sz="1500" b="0">
                <a:solidFill>
                  <a:srgbClr val="647084"/>
                </a:solidFill>
                <a:latin typeface="微软雅黑"/>
                <a:ea typeface="微软雅黑"/>
                <a:cs typeface="微软雅黑"/>
              </a:defRPr>
            </a:pPr>
            <a:r>
              <a:rPr sz="1500" b="0">
                <a:solidFill>
                  <a:srgbClr val="647084"/>
                </a:solidFill>
                <a:latin typeface="微软雅黑"/>
                <a:ea typeface="微软雅黑"/>
                <a:cs typeface="微软雅黑"/>
              </a:rPr>
              <a:t>TTC shifts part of the robustness cost from training to inference.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CONTENT_GROUP_TYPE" val="contentchip"/>
  <p:tag name="KSO_WM_UNIT_TYPE" val="i"/>
  <p:tag name="KSO_WM_UNIT_INDEX" val="4"/>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CONTENT_GROUP_TYPE" val="contentchip"/>
  <p:tag name="KSO_WM_UNIT_TYPE" val="i"/>
  <p:tag name="KSO_WM_UNIT_INDEX" val="8"/>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CONTENT_GROUP_TYPE" val="contentchip"/>
  <p:tag name="KSO_WM_UNIT_TYPE" val="i"/>
  <p:tag name="KSO_WM_UNIT_INDEX" val="9"/>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0"/>
  <p:tag name="KSO_WM_UNIT_LAYERLEVEL" val="1"/>
  <p:tag name="KSO_WM_TAG_VERSION" val="3.0"/>
  <p:tag name="KSO_WM_UNIT_CONTENT_GROUP_TYPE" val="contentchip"/>
  <p:tag name="KSO_WM_UNIT_TYPE" val="i"/>
  <p:tag name="KSO_WM_UNIT_INDEX" val="10"/>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UNIT_TYPE" val="i"/>
  <p:tag name="KSO_WM_UNIT_INDEX" val="11"/>
</p:tagLst>
</file>

<file path=ppt/tags/tag1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54.05,&quot;left&quot;:49.05,&quot;top&quot;:181.5,&quot;width&quot;:807.4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54.05,&quot;left&quot;:49.05,&quot;top&quot;:181.5,&quot;width&quot;:807.4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54.05,&quot;left&quot;:49.05,&quot;top&quot;:181.5,&quot;width&quot;:807.4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54.05,&quot;left&quot;:49.05,&quot;top&quot;:181.5,&quot;width&quot;:807.4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54.05,&quot;left&quot;:49.05,&quot;top&quot;:181.5,&quot;width&quot;:807.4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4.05,&quot;left&quot;:49.05,&quot;top&quot;:181.5,&quot;width&quot;:807.4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99.5,&quot;left&quot;:69,&quot;top&quot;:176.25,&quot;width&quot;:787.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99.5,&quot;left&quot;:69,&quot;top&quot;:176.25,&quot;width&quot;:787.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199.5,&quot;left&quot;:69,&quot;top&quot;:176.25,&quot;width&quot;:787.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99.5,&quot;left&quot;:69,&quot;top&quot;:176.25,&quot;width&quot;:787.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199.5,&quot;left&quot;:69,&quot;top&quot;:176.25,&quot;width&quot;:787.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199.5,&quot;left&quot;:69,&quot;top&quot;:176.25,&quot;width&quot;:787.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11.5,&quot;left&quot;:69,&quot;top&quot;:165,&quot;width&quot;:81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11.5,&quot;left&quot;:69,&quot;top&quot;:165,&quot;width&quot;:81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11.5,&quot;left&quot;:69,&quot;top&quot;:165,&quot;width&quot;:81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11.5,&quot;left&quot;:69,&quot;top&quot;:165,&quot;width&quot;:81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11.5,&quot;left&quot;:69,&quot;top&quot;:165,&quot;width&quot;:81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11.5,&quot;left&quot;:69,&quot;top&quot;:165,&quot;width&quot;:81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11.5,&quot;left&quot;:69,&quot;top&quot;:165,&quot;width&quot;:81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11.5,&quot;left&quot;:69,&quot;top&quot;:165,&quot;width&quot;:816}"/>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82.75,&quot;left&quot;:69,&quot;top&quot;:127.5,&quot;width&quot;:810}"/>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82.75,&quot;left&quot;:69,&quot;top&quot;:127.5,&quot;width&quot;:810}"/>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82.75,&quot;left&quot;:69,&quot;top&quot;:127.5,&quot;width&quot;:810}"/>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82.75,&quot;left&quot;:69,&quot;top&quot;:127.5,&quot;width&quot;:81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82.75,&quot;left&quot;:69,&quot;top&quot;:127.5,&quot;width&quot;:81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82.75,&quot;left&quot;:69,&quot;top&quot;:127.5,&quot;width&quot;:81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82.75,&quot;left&quot;:69,&quot;top&quot;:127.5,&quot;width&quot;:81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82.75,&quot;left&quot;:69,&quot;top&quot;:127.5,&quot;width&quot;:81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96.25,&quot;left&quot;:66.1,&quot;top&quot;:123,&quot;width&quot;:812.9}"/>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96.25,&quot;left&quot;:66.1,&quot;top&quot;:123,&quot;width&quot;:812.9}"/>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96.25,&quot;left&quot;:66.1,&quot;top&quot;:123,&quot;width&quot;:812.9}"/>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96.25,&quot;left&quot;:66.1,&quot;top&quot;:123,&quot;width&quot;:812.9}"/>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96.25,&quot;left&quot;:66.1,&quot;top&quot;:123,&quot;width&quot;:812.9}"/>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96.25,&quot;left&quot;:66.1,&quot;top&quot;:123,&quot;width&quot;:812.9}"/>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96.25,&quot;left&quot;:66.1,&quot;top&quot;:123,&quot;width&quot;:812.9}"/>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96.25,&quot;left&quot;:66.1,&quot;top&quot;:123,&quot;width&quot;:812.9}"/>
</p:tagLst>
</file>

<file path=ppt/tags/tag5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BEAUTIFY_FLAG" val="#wm#"/>
  <p:tag name="KSO_WM_TAG_VERSION" val="3.0"/>
  <p:tag name="KSO_WM_UNIT_ID" val="custom20236792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6792"/>
  <p:tag name="KSO_WM_TEMPLATE_CATEGORY" val="custom"/>
  <p:tag name="KSO_WM_UNIT_ISCONTENTSTITLE" val="0"/>
</p:tagLst>
</file>

<file path=ppt/tags/tag54.xml><?xml version="1.0" encoding="utf-8"?>
<p:tagLst xmlns:a="http://schemas.openxmlformats.org/drawingml/2006/main" xmlns:r="http://schemas.openxmlformats.org/officeDocument/2006/relationships" xmlns:p="http://schemas.openxmlformats.org/presentationml/2006/main">
  <p:tag name="TIMING" val="|36.1"/>
  <p:tag name="RESOURCE_RECORD_KEY" val="{&quot;13&quot;:[4364957,4364912]}"/>
</p:tagLst>
</file>

<file path=ppt/tags/tag55.xml><?xml version="1.0" encoding="utf-8"?>
<p:tagLst xmlns:a="http://schemas.openxmlformats.org/drawingml/2006/main" xmlns:r="http://schemas.openxmlformats.org/officeDocument/2006/relationships" xmlns:p="http://schemas.openxmlformats.org/presentationml/2006/main">
  <p:tag name="TIMING" val="|36.1"/>
  <p:tag name="RESOURCE_RECORD_KEY" val="{&quot;13&quot;:[4364957,4364912]}"/>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08.3,&quot;left&quot;:51.65,&quot;top&quot;:0,&quot;width&quot;:806.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86.0645669291339,&quot;left&quot;:-3.592755905511808,&quot;top&quot;:175.00149606299212,&quot;width&quot;:942.8616624648188}"/>
</p:tagLst>
</file>

<file path=ppt/tags/tag59.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08.3,&quot;left&quot;:51.65,&quot;top&quot;:0,&quot;width&quot;:806.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74.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08.3,&quot;left&quot;:51.65,&quot;top&quot;:0,&quot;width&quot;:806.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403.1,&quot;left&quot;:488.7,&quot;top&quot;:107.9,&quot;width&quot;:364.4}"/>
</p:tagLst>
</file>

<file path=ppt/tags/tag83.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286.0645669291339,&quot;left&quot;:-3.592755905511808,&quot;top&quot;:175.00149606299212,&quot;width&quot;:942.8616624648188}"/>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408.3,&quot;left&quot;:51.65,&quot;top&quot;:0,&quot;width&quot;:806.4}"/>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95.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3.592755905511808,&quot;top&quot;:89.85,&quot;width&quot;:942.8616624648188}"/>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408.3,&quot;left&quot;:51.65,&quot;top&quot;:0,&quot;width&quot;:806.4}"/>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3.592755905511808,&quot;top&quot;:89.85,&quot;width&quot;:942.8616624648188}"/>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3.592755905511808,&quot;top&quot;:89.85,&quot;width&quot;:942.8616624648188}"/>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3.592755905511808,&quot;top&quot;:89.85,&quot;width&quot;:942.8616624648188}"/>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11.5,&quot;left&quot;:44.55,&quot;top&quot;:200.35,&quot;width&quot;:683}"/>
</p:tagLst>
</file>

<file path=ppt/tags/tag102.xml><?xml version="1.0" encoding="utf-8"?>
<p:tagLst xmlns:a="http://schemas.openxmlformats.org/drawingml/2006/main" xmlns:r="http://schemas.openxmlformats.org/officeDocument/2006/relationships" xmlns:p="http://schemas.openxmlformats.org/presentationml/2006/main">
  <p:tag name="TIMING" val="|36.1"/>
  <p:tag name="RESOURCE_RECORD_KEY" val="{&quot;13&quot;:[4364957,4364912]}"/>
  <p:tag name="KSO_WM_AICARD_INVALID" val="Invalid"/>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38.45,&quot;left&quot;:-3.592755905511808,&quot;top&quot;:161.85,&quot;width&quot;:942.8616624648188}"/>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38.45,&quot;left&quot;:-3.592755905511808,&quot;top&quot;:161.85,&quot;width&quot;:942.8616624648188}"/>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420,&quot;left&quot;:-3.592755905511808,&quot;top&quot;:89.85,&quot;width&quot;:942.8616624648188}"/>
</p:tagLst>
</file>

<file path=ppt/tags/tag106.xml><?xml version="1.0" encoding="utf-8"?>
<p:tagLst xmlns:a="http://schemas.openxmlformats.org/drawingml/2006/main" xmlns:r="http://schemas.openxmlformats.org/officeDocument/2006/relationships" xmlns:p="http://schemas.openxmlformats.org/presentationml/2006/main">
  <p:tag name="TABLE_ENDDRAG_ORIGIN_RECT" val="459*204"/>
  <p:tag name="TABLE_ENDDRAG_RECT" val="458*186*459*204"/>
</p:tagLst>
</file>

<file path=ppt/tags/tag107.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ags/tag108.xml><?xml version="1.0" encoding="utf-8"?>
<p:tagLst xmlns:a="http://schemas.openxmlformats.org/drawingml/2006/main" xmlns:r="http://schemas.openxmlformats.org/officeDocument/2006/relationships" xmlns:p="http://schemas.openxmlformats.org/presentationml/2006/main">
  <p:tag name="TIMING" val="|36.1"/>
  <p:tag name="RESOURCE_RECORD_KEY" val="{&quot;13&quot;:[4364957,4364912]}"/>
  <p:tag name="KSO_WM_AICARD_INVALID" val="Invalid"/>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16.9485039370079,&quot;left&quot;:-3.592755905511808,&quot;top&quot;:175.00149606299212,&quot;width&quot;:942.8616624648188}"/>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16.9485039370079,&quot;left&quot;:-3.592755905511808,&quot;top&quot;:175.00149606299212,&quot;width&quot;:942.8616624648188}"/>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286.0645669291339,&quot;left&quot;:-3.592755905511808,&quot;top&quot;:175.00149606299212,&quot;width&quot;:942.8616624648188}"/>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16.9485039370079,&quot;left&quot;:-3.592755905511808,&quot;top&quot;:175.00149606299212,&quot;width&quot;:942.8616624648188}"/>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16.9485039370079,&quot;left&quot;:-3.592755905511808,&quot;top&quot;:175.00149606299212,&quot;width&quot;:942.8616624648188}"/>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16.9485039370079,&quot;left&quot;:-3.592755905511808,&quot;top&quot;:175.00149606299212,&quot;width&quot;:942.8616624648188}"/>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286.0645669291339,&quot;left&quot;:-3.592755905511808,&quot;top&quot;:175.00149606299212,&quot;width&quot;:942.8616624648188}"/>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16.9485039370079,&quot;left&quot;:-3.592755905511808,&quot;top&quot;:175.00149606299212,&quot;width&quot;:942.8616624648188}"/>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286.0645669291339,&quot;left&quot;:-3.592755905511808,&quot;top&quot;:175.00149606299212,&quot;width&quot;:942.8616624648188}"/>
</p:tagLst>
</file>

<file path=ppt/tags/tag11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3.xml><?xml version="1.0" encoding="utf-8"?>
<p:tagLst xmlns:a="http://schemas.openxmlformats.org/drawingml/2006/main" xmlns:r="http://schemas.openxmlformats.org/officeDocument/2006/relationships" xmlns:p="http://schemas.openxmlformats.org/presentationml/2006/main">
  <p:tag name="KSO_WM_SLIDE_ID" val="custom20230314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314"/>
  <p:tag name="KSO_WM_SLIDE_TYPE" val="endPage"/>
  <p:tag name="KSO_WM_SLIDE_SUBTYPE" val="pureTxt"/>
  <p:tag name="KSO_WM_SLIDE_LAYOUT" val="a_f"/>
  <p:tag name="KSO_WM_SLIDE_LAYOUT_CNT" val="1_1"/>
  <p:tag name="KSO_WM_SPECIAL_SOURCE" val="bdnull"/>
  <p:tag name="KSO_WM_SLIDE_CONTENT_AREA" val="{&quot;left&quot;:&quot;173.7&quot;,&quot;top&quot;:&quot;78.5&quot;,&quot;width&quot;:&quot;702.55&quot;,&quot;height&quot;:&quot;350.15&quot;}"/>
</p:tagLst>
</file>

<file path=ppt/tags/tag13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30314_9*a*1"/>
  <p:tag name="KSO_WM_TEMPLATE_CATEGORY" val="custom"/>
  <p:tag name="KSO_WM_TEMPLATE_INDEX" val="20230314"/>
  <p:tag name="KSO_WM_UNIT_LAYERLEVEL" val="1"/>
  <p:tag name="KSO_WM_TAG_VERSION" val="3.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9*f*1"/>
  <p:tag name="KSO_WM_TEMPLATE_CATEGORY" val="custom"/>
  <p:tag name="KSO_WM_TEMPLATE_INDEX" val="20230314"/>
  <p:tag name="KSO_WM_UNIT_LAYERLEVEL" val="1"/>
  <p:tag name="KSO_WM_TAG_VERSION" val="3.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262.8,&quot;left&quot;:61.2,&quot;top&quot;:147.6,&quot;width&quot;:853.2}"/>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270,&quot;left&quot;:61.2,&quot;top&quot;:144,&quot;width&quot;:853.2}"/>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270,&quot;left&quot;:61.2,&quot;top&quot;:144,&quot;width&quot;:853.2}"/>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270,&quot;left&quot;:61.2,&quot;top&quot;:144,&quot;width&quot;:853.2}"/>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270,&quot;left&quot;:61.2,&quot;top&quot;:144,&quot;width&quot;:853.2}"/>
</p:tagLst>
</file>

<file path=ppt/tags/tag152.xml><?xml version="1.0" encoding="utf-8"?>
<p:tagLst xmlns:p="http://schemas.openxmlformats.org/presentationml/2006/main">
  <p:tag name="KSO_WM_DIAGRAM_VIRTUALLY_FRAME" val="{&quot;height&quot;:270,&quot;left&quot;:61.2,&quot;top&quot;:144,&quot;width&quot;:853.2}"/>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407.1,&quot;left&quot;:17.85,&quot;top&quot;:90.75,&quot;width&quot;:914.75}"/>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407.1,&quot;left&quot;:17.85,&quot;top&quot;:90.75,&quot;width&quot;:914.75}"/>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407.1,&quot;left&quot;:17.85,&quot;top&quot;:90.75,&quot;width&quot;:914.75}"/>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407.1,&quot;left&quot;:17.85,&quot;top&quot;:90.75,&quot;width&quot;:914.75}"/>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407.1,&quot;left&quot;:17.85,&quot;top&quot;:90.75,&quot;width&quot;:914.75}"/>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407.1,&quot;left&quot;:17.85,&quot;top&quot;:90.75,&quot;width&quot;:914.75}"/>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407.1,&quot;left&quot;:17.85,&quot;top&quot;:90.75,&quot;width&quot;:914.75}"/>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407.1,&quot;left&quot;:17.85,&quot;top&quot;:90.75,&quot;width&quot;:914.75}"/>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99.55,&quot;left&quot;:17.85,&quot;top&quot;:90.75,&quot;width&quot;:914.75}"/>
</p:tagLst>
</file>

<file path=ppt/tags/tag890.xml><?xml version="1.0" encoding="utf-8"?>
<p:tagLst xmlns:p="http://schemas.openxmlformats.org/presentationml/2006/main">
  <p:tag name="KSO_WM_DIAGRAM_VIRTUALLY_FRAME" val="{&quot;height&quot;:311.5,&quot;left&quot;:44.55,&quot;top&quot;:200.35,&quot;width&quot;:683}"/>
</p:tagLst>
</file>

<file path=ppt/tags/tag910.xml><?xml version="1.0" encoding="utf-8"?>
<p:tagLst xmlns:p="http://schemas.openxmlformats.org/presentationml/2006/main">
  <p:tag name="KSO_WM_DIAGRAM_VIRTUALLY_FRAME" val="{&quot;height&quot;:311.5,&quot;left&quot;:44.55,&quot;top&quot;:200.35,&quot;width&quot;:683}"/>
</p:tagLst>
</file>

<file path=ppt/tags/tag1060.xml><?xml version="1.0" encoding="utf-8"?>
<p:tagLst xmlns:p="http://schemas.openxmlformats.org/presentationml/2006/main">
  <p:tag name="KSO_WM_DIAGRAM_VIRTUALLY_FRAME" val="{&quot;height&quot;:338.45,&quot;left&quot;:-3.592755905511808,&quot;top&quot;:161.85,&quot;width&quot;:942.861662464818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Noto Serif SC Black"/>
        <a:ea typeface="微软雅黑"/>
        <a:cs typeface=""/>
      </a:majorFont>
      <a:minorFont>
        <a:latin typeface="Cambria"/>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KR1pmZTJOc1pXRnVmU1E9IiwKCSJMYXRleEltZ0Jhc2U2NCIgOiAiaVZCT1J3MEtHZ29BQUFBTlNVaEVVZ0FBQU1NQUFBQkxCQU1BQUFBL3NpNHNBQUFBTUZCTVZFWC8vLzhBQUFBQUFBQUFBQUFBQUFBQUFBQUFBQUFBQUFBQUFBQUFBQUFBQUFBQUFBQUFBQUFBQUFBQUFBQUFBQUF2M2FCN0FBQUFEM1JTVGxNQUVHYTczWGJ2aWFzeVZNMUVtU0k3d3F4UUFBQUFDWEJJV1hNQUFBN0VBQUFPeEFHVkt3NGJBQUFHUGtsRVFWUllDYlZaM1d0alJSU2ZiTnFtYWJ0cEtGMFFSVkxZUHlBVmQyRmxrVnNWaWlDYVJRWHhLUlZGRmxkSXdTY2ZOQkZFMUNxM3NPQ0RMNGt2dnZqUW9yTG9neVNDRDZJUFdVSHdZeWtKQ3V1Q0QrMXVzOUZ0dG52OG5UTXpOM2NpdVpUbDNvSGNPelBuekRrejUzdHVsSExid3FuZTZidzdGZk5va21pVi9vbVpxRXZPb3lXMVVLbTVrN0dPMG5STHFjL29kcXhFWFdJZHFxa00wYi91Ykp5akxGRkR0WW4yNHlUcTBwb2x5aXVQa3RSM25YcEtsU2hKWGZoMHFKUlBVRWhpamVoQXFVWG1rMVNiSTdvRDJqOGs2TjB3MTcya3RtL293cUNXRTJZeFQ3U2VNSXRkOXJ4a1c1R29teXdIMVNGS21JTnEwaUJwRnBTazA4bm1FV2R2Skh5S1k4UUpLZEYyUEZubnpsVEl0cVJVUG1FWjRKMlFxT2JlMk5ueGlSN2UyZGw1UGlFV1RMWk50SmtnZVNaZFRreEd3Y1o5enR6SnRsS1M5Wk5zUFVWMGM5d1o3bjN1MXk5ZkdRYzgrand5OTloQ3N3UmJIc3YvNkN4UWxGOGZoMzBGbmhsRGNKa21XaHZIZ2d1NEdDb0hPSGhFY1ZDSkFvN2ZtUXVaanlvT1lBdm5YUFM3R2RXamlvT1pXRHkvR0ZVY0lORGZ6YlpIMW5TaXFFekVjdWVJTEE0S3NkdzVJb3VEOW5pM0hCRkd4REFYV1J4VTQzQUwyRXlFL3pacE8ySjdSd1JGVi81UlBuTkVCa3FsaVZiR0lpTkV0c1lDand5WSt0OFZiMkdqY3VGMXZSNUhEQkhLUGJQYU94MGEvM1dxOThGd21Dazkzc1VvZTZWeTRiZmhMUGNLb3lIaUl2Vy91a1JQQ2Rac3VObzlWcUxITmtLeC9TSU5OcWlXUGRzUTFGVHBDNjViczE3dlRHbmtYdG9la2NVMTJtOHA5V08veXd2blEyNHhVK20vcWRUOXdXMG5RNGRkOWVkK3dkaGMrcWJhQXF4OG1NZDNDUGN6UkptdjljTTJRLzBHUmluOXlTWGtGaW1QM21JMDN5U1hWRlB1UFUwYjdkczFiT2o2OUtBTG5LYXJRWi82dk5LMk1qM0MzYUxPSWRWaHRycHFEbFEzSmZhaWRzcGRNbWJ0ZGRVVTNlaElYcWk2a2lvNVVTaERJaUg0NHg1emFnYldscXZRWlo1UkJjT2lwQ1dHaENiek9kU3I4OVRYWDFHS3dUSlo0bjc1S0dvL1JMTGRacWhaajk2VXJZUzJkS0tmTm1PVTlRM0d6Q0RGdzNKZTRENHFNOW1nOUdFQlRuRUFQNUE5WWVFU0VPUUxqMGJzYU41S2VXc3lZZmFpc0prdVQwemc0MEJnT1IwdFprRlVDc1JDeFFHU2JGNEEvcVA4d25vOVZPQzlMSURqd2xzaEcyN0xlTnFvc3JDaVZOWEszSFBDRG5JT2dMYVZRMGFLdWJTVmpzTHR2OEZJTXlWZDg4QW5aUXdCYWdPOWVvNDFoNk53cXpqcXhyNXJNaTBQNTBpc3YwTURnNWhoeVIrL1JvT1d6TWlZZTd1aFM1d2xCV05aRWl6OW1BOFBFWFgxOFExQ25RNU1EOTRqN1h4RFR4U3RUSXAyNXlITldmMEVWRUtWUDBJaXpqdHM1VUJQSGczZS9mQ1hwNysxTU05dTNoOXFOdEJjMm5XMVlqalE0VWhkUzRUZlhyQytaQTNLZ1BYbkpReENZZzgwTjVTdllIZkM4V1Ezek05WmIxelJNR0JyM3BOK1dPd0JaV3ZRQnJ0cFQ4empkaml3aW5DWE5CcHNkRVgzOUJNMnJKVUdtKzlhd0s3VjNQRHdBbkpzcUJoWWtNQkM2NjFiR0hLQXJFdjNlRWpzUmFNNTdFY0ROVElPcXJjand5M1hMY1N0NXI1bWtMVkh2WW9kZGttNlVtZGxWcVR2bTVNQ3VLblVzM21aaENzNU5sUVBTNDNqRXR3cWZZdFJtMjcxakdVTm9WRGdGRFcxSjMwYktHZkZZWU4wQ2VlMjNJQVd6a0R2R2JlYWwvWFZvUzd1YVltVzhFUVR6ZGEzdVF1Qk5QaU5hSWkvRUdZNDVsNTcrVEtpVjlpZ0VEQjBOQUIwRm1odHRsU2tHclQ2TUhZMjF6RzI1Q284WHo3SEtKQlBsOStxek42WXZxMDRzQjN5UnRFTldqYUlTYWttd3JMb3I5Tmk4R3pneFBmSjliYWpmUlMrdWdZcDVobkZCa1RWNFJQWDhVUGxnWFEza2p4OGMxYjFFV2VtTm05UjU4U3N0Ylc1aWhRT3UxbzNQb0ZjVmgvZEJrUUUzQnB1VncyRlhNNHNQRXRUU1ZzME9lVWFQWUF4Y3JHa0dnWlZxY1d2bkw4dlc1NlUwLzg5YU9NVUxCTzBBaDNJRzVRdnF3eXpyY3JmRmE2dnFWU3oxd0tka3lRMzRXTXdsNjBWdlM0anh2YUhKOFVEcHZ6K3BqcEJ0V213cWk0THlwWU5hQlB3QTM4YmMyQnhCemxIVEZKVDRlY2s5YzlzRUgydVo4cjBvS1J5SG4ySFFJaDdRa05EZ05qYm9GY1ZCSDkySU9lQ3pKa3NXcTR5OENTSEY2blhoVUtXWkhiNFdIaTc4dEkzbjVoeDd1ZitUd0hvKzlYK0U3OXJhangzNGxMdmZiem0zdW10YTVUcDh4YVlhYjdZNHJsQ2J4TjdDSXhVbzhYN25LR0hVTm90eDB0MGhOcW4xSE5EMGdnOGp1SEowcFBkT09pTW8vRWZmTVZRbVd1b0k2SUFBQUFBU1VWT1JLNUNZSUk9Igp9Cg=="/>
    </extobj>
    <extobj name="334E55B0-647D-440b-865C-3EC943EB4CBC-2">
      <extobjdata type="334E55B0-647D-440b-865C-3EC943EB4CBC" data="ewoJIkltZ1NldHRpbmdKc29uIiA6ICJ7XCJkcGlcIjpcIjYwMFwiLFwiZm9ybWF0XCI6XCJQTkdcIixcInRyYW5zcGFyZW50XCI6dHJ1ZSxcImF1dG9cIjpmYWxzZX0iLAoJIkxhdGV4IiA6ICJKR1pmZTJWa1oyVjlKQT09IiwKCSJMYXRleEltZ0Jhc2U2NCIgOiAiaVZCT1J3MEtHZ29BQUFBTlNVaEVVZ0FBQUtZQUFBQlNCQU1BQUFBc3BiSkxBQUFBTUZCTVZFWC8vLzhBQUFBQUFBQUFBQUFBQUFBQUFBQUFBQUFBQUFBQUFBQUFBQUFBQUFBQUFBQUFBQUFBQUFBQUFBQUFBQUF2M2FCN0FBQUFEM1JTVGxNQUVHYTczWGJ2aWFzeVZNMUVtU0k3d3F4UUFBQUFDWEJJV1hNQUFBN0VBQUFPeEFHVkt3NGJBQUFGbVVsRVFWUllDYTFZVFd4YlJSQWVOMmtUeDZsdHBYQkFxSXFsd2czSkFRVUpCTWhCUlNVU0lPZUtPTGhJL0toY1hpVkE0b0xzUTRVcWd1U2N1RHBJcUJ3NHBGd2dRSkY5UWdnT3pobkoyQktpOUpaQ1RKb1MydUdiMmQzbjk1NWIrVGwrZTNodlozYm1lN096c3p1emp5amNGcGI3VCtiRHJFbXA0OHpuK05ha0tHSDlFaGRvd2F1Rm1aTlJVM3liNkV2K2J6S1VzSGFYYXpURGZCRG1Ua1NsbVRlcHpidzNFVXBZT2NPY3B4SW51a2dON2hPVk9WRi8xdmtPVVozaDFPUWE4NzlFRHdod1ltMmUrUzdBZms1eUh5R0tiaVptb0FYQ3NpOGxqWmxqdnBnMDVxNkVmTUt0eU54TEdKSzZ6RWxEVXBNUEU4ZmtSS05kemNPcDlIZlNkaDVqT1pHVGJTY1Qza1l6SHJ1VzJEcE5PMFM4azVyOS9JZWRUcDM1dVU2bjgycFNtSUxUWnQ1SUVrK3dLc2xOMnpldEx0a280VlpPTksrcmNTbm1mMFphbVg3MGcyZGVpTzkxWktQUk5jMnV4Rng4VEpSMGY0MjA4OVM1c1FKNGx2bjhTRXlpeFhFcUgyeWxwVmlZbzczdXcrVGlaYml0R0Y3M01SdnhNbHgxbkJxZ0dDL0ROZm1xYjhiSVRqZmUxb3puSWZ1MWVCa09VZHdhYVo0dkVDL0RvYWJ5TlVaMnN2RXlYR2FjZkQwWEw4UGx4aW5NWXhhSzdYSENjNHA1WmFTRGlLb3hEZ1VmNXNSUUdmL0hzbmQyelIrbjdMdmwxUmJxbjhDWC8xenVmeklRSUlwbzRHemdBQUFrSCtIK1U4MEJMMTNpN2VZQk1lLzRLTC93NFRvdnBiL2Z0SnlJaG1hNGxpK056aFYrdTBlcHJuK2ZyZkp2bEMwOUc5akFwL2xXbm40L2JMak5HdFhRREpjUFlKN2lBeUZuY1FuVDlyQmNTU2pUbDF1WmFkbXlSbi9KczVoUkRValZlZDhLeXl2cm1USThqWHV5dEpRQlFCRDdlZkJUVTEzaDVGOFJpYWlHOE1xaHMvYTZMUnRURm5QYWhxWGV5a1JjTUFyeXhsRytJKytvaHZEQ3QwelBMdStjM2QxMVN4ZlZCU0tmc1ZrVzFlQ20wRkVOc0ZCOEJqSWNTcndORWFRcDR4QW9HcnJpaDJmWDlyQlh4TU5SRFZHR1ZpRER0WjBqdXFiS1hYUzczTmxMOEd4TjlHQ3ZGb0pSRFJuQ2QxYmtiVnJUVHZGekc1OVZOMlhQSWhHMlhVdGw3UUVRMVpBeFpMaWF5c2dENWNOTm9vZStLUEUxNVJrYVhWaFhVQTd0dWpCcHFNK2lHaXFFREdlbFFTTFZhOXYvMkFEQU1VdmFRNmRuV0JXN1JLamN4R2RSRFJWcXVGVVFDaFBidnR4NS96Rnh2alRRQmUzTU91dkl6UlcvSmE0YWlaQ0dTaVBENlZzZmNNVEdnQ0xDSkhwS24zRFdZYTUyU1UxK2ltcW9kTmRKQ3dVTVpib0hKbUc2dSs2MkE4ZWVWeFppc0lWT1ZFUEhtazVhcU1YQkR0VEJ0Z3Vsb3Y0MEFBK3BycVpEY0tTOG94bzY1czlGcUp3TFR4MGlLcnFFMGJYV0VUTE5SUjJjTXArTGFzZ1k1aUt1dGkwWGRBUjRSVGVKc2xqM0hqaXdzNENYZkY1UHc2aUdET0c3YS9JMkxST3hjOHVHUEZhbWdKME5JZGpRVWxrVG50aE53Lys1c0kzeUtxT1BtWUUvVTVJY3JLSnM0QTFLSDRxTVozOGZsTXpwR2RHNDhkYU9iS1BnUHpvc3BtTGprWkdwNWF5ZHlGa0liNjBWdTJaZVdDTDFXVmdEbnJsRDJHcUJVNGtRMFQwRG1tcXVvSFBTVnZvbENmbU1CdWF1d2FxNHRRcHA0TnNRTEFaUEVKa3NiSmYyWTcrSFo5WjRDOGN2VHZsR0RSejhmUlFqNERMZnJ3R05MY1VzaGYrdUdBMmlHL3k0QUdCVHQ0RGN2Q2FmTDZHTFZnZnJXUGtiNTZXUVJsVi9kN3FnVm5FOHFyTEEyVFA4am1ITThnVktWUTRFYU1ZdThISGVYK2MzYlhoR05JQjVGOGZLYmFQc252TmwzbDVuL3M3UkZWNXQ3cmN3MTczbVY1YjM0TmY3VCtRSDVWTlFvOGh3MlFrYndRNENRWDNKZStPSHozdzY5WnEzdWducUorOUZueWNkRjJYb0JqUVcreHRFM1dBa2haUkdFQldiM01OaWMvdzBuWTUxaXduckdhb2MzTklEZ1N2Y2QwZkVnQm16aDFCZnU2Zm9tZklydlhzTzNKK1ordWhsSFVSODNsOW96SkZwbTBNYVI1N2g4QWZieGo3VU42OFBEeDZSWTdQbTlVamVPaUthVWR2aTU5R0JtUmNtZ2drcEwvSzNxQ3lxcGtZTmpSeWR3QUY1OW5LVDkxcEhoeGpXWExqRS9OS3YrZUVCNGZ3UEUyNHJtV0JqTVlFQUFBQUFTVVZPUks1Q1lJST0iCn0K"/>
    </extobj>
    <extobj name="334E55B0-647D-440b-865C-3EC943EB4CBC-3">
      <extobjdata type="334E55B0-647D-440b-865C-3EC943EB4CBC" data="ewoJIkltZ1NldHRpbmdKc29uIiA6ICJ7XCJkcGlcIjpcIjYwMFwiLFwiZm9ybWF0XCI6XCJQTkdcIixcInRyYW5zcGFyZW50XCI6dHJ1ZSxcImF1dG9cIjpmYWxzZX0iLAoJIkxhdGV4IiA6ICJKR1pmZTJwcFozTmhkMzBrQ2c9PSIsCgkiTGF0ZXhJbWdCYXNlNjQiIDogImlWQk9SdzBLR2dvQUFBQU5TVWhFVWdBQUFPOEFBQUJTQkFNQUFBQk9DcDRoQUFBQU1GQk1WRVgvLy84QUFBQUFBQUFBQUFBQUFBQUFBQUFBQUFBQUFBQUFBQUFBQUFBQUFBQUFBQUFBQUFBQUFBQUFBQUFBQUFBdjNhQjdBQUFBRDNSU1RsTUFFR2E3M1hidmlhc3lWTTFFbVNJN3dxeFFBQUFBQ1hCSVdYTUFBQTdFQUFBT3hBR1ZLdzRiQUFBSHowbEVRVlJvQmVWWlRXaGpWUlMrYVR2OVM1cVc4UmRFR2xGa2NKT0s0emlpOHFxZ2pndE50K0lpbFpIeFo4UlgwYTBrb3JzUlVsQnc0U0lWUkJBWEhRWC9meExRaGJocGRWK1R4VENJSUIxdGpCM2p6UEU3NTk1ejMzdVppdGJwdkN5OGk5eDd6em4zbm52UC83c3hKdG4ySCt6Y09wTUVwVExiUjNRZi9aNEtxeVNUZ0FwbWYxaE5BbE9ZRGROWlk5NmxQMU5nbFdUUm9xb1pJOXBPUWkvOWJJSm94YXdSYlYxNlZra09XYUlaRTFENjFsV25qakVsU2wvSE5UcG5USTJnNkpRYjBSL0dYTTdjMDIwNW92UGcrRzNxa1F1T2RDYmRxenB1TU9xNWdUQ2VKbG9hQ09OTmpoK0RhRVdpOWlENG1oYlJRUGlhQnZVR3c1alNEeDF5VWVTbVh3ZHk0eUhpTW1BQWJXb1FnV3NzSkczcEd0aUlza1dmcXJCekwyeHMxSWp1MnRqWWVEaFZ4c3hzaldnNWRhYk1zSnl5bFAwbGExeHhEYUtWMHErbjVab1pvdDhHY1YrRGlpdjlUeGUrS1Q0VWYrbS84UTJQUjVBM3RtYWl5VjZPeG9rVysvYkRXWm9LeWwreWNodkJxNy9VR3lWOHRicUdTTjZQVnRSRjl0TVhsbm9BdFhYWDRkZ2hGTFkzZmYzQ1VtK0t2eXhjeTEyeUtxRVl1NTV5aTM5VS9OUlc2QjczclVGRnpQOWRxUWMvSFV5cE56bW9VbTlnMzZnSUVQTjc3Q2YvYmp1RXgycUM4b29QajMvbkFWOGQrOENQTWNnL1Z6clNqQU1tVDRUSFg0a0FmZmpjb2Q2U1E3N0RmYTVVZFZOMHMwUUwwWXlUMWRHR2o5U1gwV2YwVUlUTk5lamp4cFo1NDFNRmpWSG44RUY2U3FjVEFmRGI1bFdIendTOVJuZFprR3Z5SWJ3WmY5QmFpMlVpcGdtZXhodWZTOUFabkxBUjFkdVpGajFyOHNFblB1SmtTdWRtalBuWnA3SUsvUUQ4ellxL2ZHc202L1RZb0hYc25ZaFZaWDVjaTFvVzJUZFBYUXNZeG50dVM4NHE4MU55b09HdWJveUhvaFZHVk9iNTE1aHJKTVJuTzRvUDFzMlU5VlZVT1FVUTFPSzhhc3FGbHdJM1p3ekkyaklwemtNQy9wbGlJcFF5R0k2dnhXRk5hcVo4d0c5R1dGYVNxd052aFRRRXNuR2JZdUN6YlZEVTQ5SXRKVjR3Y3gxY0gwdWJJTU5qWDl1WVVJVEVzOU11MHNoekhBTnlWbzVYMGxtZW1SR25RY1dQNER4WjJtWVVranAzcUxLV3VaZVdmTUc4a3ZkdzV6TkRlRlRGSVFxV0VOL3ZWUmtWTldtT1c4Q3FlNnlxT1gwcXZnamh6ZHBDY3NUZHJoS3BGUi9IOFZLdndudTc4NW1SUHd3L0pyZUZIVU1oRGJTSzFtaWpkSkxuZFNzVGZPM2E2NVRKaXI2MFlrelJqaDEvTXgxOW9JRThYdXFGYmV3MDRwUTB1MmpNcU5mRXBwV2F3YzJGbjc5TzdudXM0WmxWTFV3STY2Qnl0bEJIdStxMGtYVWt3T0FlOCtpMDNjU0RXYWVzVXd2OFlZVnJTd3RVTkw1VW1pYjZ3RjZTQ1NwS0dWb041TzhWTXkwd3J1VzBNWDZPWjlKUTZsWGQwSGVyeWdLUW1yNDJRdG1MUWdIbE5HVUF5MEg3d2szZ0NtY0VITE1LTHAxbkdGaHlRaHFPRWlGT1hSRDYySStlRHlCc1Y3VVk3R0ZIdXBrWUlUaDNsNFFBT3B2VFFWc0crTWxhUldFWFN6UnF0YzlvdU5heWttbXY1OE1jMnpVdEdOZGJrZEd3NnBLbHk2M1RaamlTVFlGN3VLNExQeGh2V2crRW16UVpaZGhxWEN0cW1GR0EzSEpCWjFtL3k2d2E5WFFVY0lkQzRmd29VME4wYlZrMXFrYUlXZG1LSDY0aEtGTmN0ejErV3pFeUI4VDV2QkNpc0w2cFI2akhMQ0QzSExPV1A4cnF1cm03cFd6V3NPTFBxcENDcHVQQjloN3Ayd0h4VGVQUkZlZVRiTjRTZy93dEhFbitlbWlaeDJ1NnVYTmRocW1kVFd0dEhtMXNrbTdNMURIWDVZQTVKekJqVmxYQ2dicXhRN3htejFsVWZNdFpQOUFhQXV2TzB5YmQyWUhDbVU2NkRYeTNHWDB2STdpdUdQTldHN2cxRlkxYTZFVGpQVmtDaytXK3FQZ1NuL1Y1UWFsdVZRampad1hNUHpqVGdwKzRRZEdGR1V5dGhYS3VnSUgrS1hqdnhwc3F2NW9rcTFWM0s1d0RPNFpDTytYeW1MTXhNenN2WVA3eEFkaERZakdEWXhoQ3pZUnNQT28yaHR0WTJwb3F2U2JoU0cwT0RyaHNKbnBDTStWenc2TE1Ld1h1Zmp5MnptRTVFcnZnOEJQcEZZcUZjTWJGL0thY0FzcHFSQ1dWYlNnQ25IWUhRdzJIK3NrK2J1eHp0RTd0RXIwNU4rS2tLa0JsaWg1cTk5S3ZzS0ZZcjgvYlRSQzMzTi9NSlplbzk5bUlwZ2NMMk1pek52Rk1XbEZuUXV2TzlnWTRHU2lLTkIvaktVT1JsUU9XMmZTQ2dzd3ExRVRmOG1tMDlZQ0FUYjA3dzRPOEZTdDhFWnFwVnkwdWxLQUNmWXA5Y0lKbTkyREdnWXVEbGs1KzQyNWNoNFh1cy9xQ29XSDFEYjJLWm8yNnZma2tQV2tYbC9sZytjYm5zaTJHM01vaWpkVjc1RkE1ZThLSy9GMnNDck4wOGh0bFlBN0FpNloxdDBPVzZZbEdkOEc3OFJCOURrUXU2TFV0Zmh3bnlKUzNrYythWS9wLzhEaHR0ODFRZDZaRktOVXI5b1JnZkI1cFN3ekQ3V3k3bUJ1YlRLa1g5RVNTd0dVZUNZOWVoNGl6NU1pL3B0N2hPNmhiY0ZOYzcwaWoyNFNqYkRrUEIrSkc2cjBVZnNtNTVtTTlZWkd6eXFqTEtMcVcrNWdid3p3UEhWMkpJNDEzWTBCZnZ5TThmdHV5UitOZ1I1ajRtL0IrRHpNSFBxVDNNWnQ4MmVJd25PMWdTZXRDWjlMS0pWcWJHTUdxRS9QZFR5YnBkbk90ajhTeDllVHIyUmpRRDdVZTg0RGREOTZtanJwa2ZMRlAybkZnTks1SGdUd0M3bkowZmVuQmRtTEpXeXo0WWYrZGtNQmQvVmhUNXJHeUtJRy9tQW51V29EdlcyZnYzNmdFeDBLRGJhbFI5MVA4OXptcXFnVXVDTmQzMkFJQjlneURUNU9OQWp1US9IZVFWRTFqTHFIMGJRTmpyZ0tVRDNkdy9EN1MzVSt6YkRmRm5ReWQ4elovemZHRmwzZS84VCt0R0tObjRHQXU5L1FSWjZnSGpsY1J2ZGlIMkpOcFFMZlFWbnZucmRidzZIQ0M2TTZkc1JjSm5UelkvZWh2K0pyTWdSSjF2bmp6SWpsZytWOVAxaHRwL0dGczN3QUFBQUJKUlU1RXJrSmdnZz09Igp9Cg=="/>
    </extobj>
    <extobj name="334E55B0-647D-440b-865C-3EC943EB4CBC-4">
      <extobjdata type="334E55B0-647D-440b-865C-3EC943EB4CBC" data="ewoJIkltZ1NldHRpbmdKc29uIiA6ICJ7XCJkcGlcIjpcIjYwMFwiLFwiZm9ybWF0XCI6XCJQTkdcIixcInRyYW5zcGFyZW50XCI6dHJ1ZSxcImF1dG9cIjpmYWxzZX0iLAoJIkxhdGV4IiA6ICJKQ1IyWDN0emFHRndaWDBnUFNCbVgzdGxaR2RsZlNBdElHWmZlMk5zWldGdWZTd2dKQ1FnQ2c9PSIsCgkiTGF0ZXhJbWdCYXNlNjQiIDogImlWQk9SdzBLR2dvQUFBQU5TVWhFVWdBQUF6a0FBQUJTQkFNQUFBQ0Y1d2N1QUFBQU1GQk1WRVgvLy84QUFBQUFBQUFBQUFBQUFBQUFBQUFBQUFBQUFBQUFBQUFBQUFBQUFBQUFBQUFBQUFBQUFBQUFBQUFBQUFBdjNhQjdBQUFBRDNSU1RsTUFWTHZ2cTBSMjNZa3l6WmtpWmhDb1grcDhBQUFBQ1hCSVdYTUFBQTdFQUFBT3hBR1ZLdzRiQUFBUnJFbEVRVlI0QWUxZGE0aGtSeFd1ZWI5NnVnY1ZJLzdJakJoZFdTUzllV2gwRTcyakd3bXVraDVpeENkMjQ2OGc2Q3k3VVV3TTNpYUNBUlY3ekI4bElqMW1ONGtTc2RjZ0tteTBHMWNUTVlRWmtraCtDRTZUaE1TczRJemJhOXFkZlpUZk9WVjFYMzF2cC90MmIvZjFVVC91clZ0VjU5Ulg1MVNkT3ZXWUhpSCs4MEw2S2Z2d0Y1SUJPMEZRa2lFUUlWWmwwNUxGUktCSkVKUkV5RU9JVVhsQnBKOCtrd1EwQ1lLU0JIRVFocXhjRXlNVnVaSUFQQW1Da2dCcEVJUTVpV0ZUa25KNStIZ1NCR1g0d2xBSXl2SWZZa0pLdVRSOFFBbUNNbnhoS0FRVmVSRlRqMHlDVzVBZ0tBblJ6b3lVaDhRVXREUDhlU2RCVUJLaUhERXU1WEY2Sk1CblN4Q1VwR2duSStXQ1NOdFEwZEJEZ3FBTVhSWWFRRjdLbWhBVGx5Y0FUNEtnSkVBYURBRys5UCtoSkVVQ0xUZ3E4blJMMnBBU0VnUmxTQkpvcVZiS2Y3V2tEU2toUVZDR0pJRmd0U21KeFdneVFvS2dKRU1nUXN4TGVUNGhXQklFSlNFU3dTNmIzRWtJbGdSQlNZaEV4S3lVNnduQmtpQW9DWkdJd0Fvd0FldFFsa2FDb0NSRk8yVXBOeE9DSlVGUUVpSVJzU1Z4OXBhTU1DZ29yN0d1WGRFdG5qeFNURWJiSTFCVWs3TlZNQ0FvOThtbXMrV2JkV0lSNGhsaTh0ZWtFOWFIQ0lPcUhoeVVDZmtvRElhYWF5ZlIvdHFRV3g1WnZlMG9aK2hlOWVDZ2xMSDR6c2l6TEJSNGliSVFLWjRoWjN6OHhJbWZTM242eElrVHZ4ajIzRE00S05hbXdHR2oybHNrN2FoUk5HUk5SRlNQQ3dXcUcwWGtEekI1TUZEbTZKUXhJeHZjTU94T0pPRTZSYVNRWVhsM0lqTUhtekVZS09XTGFOV0dsSFZ1WEhWZzJubjVvMUhoMDlGaXhtSHhvZWpjZ2VZTUJrcTJpRWJsamFPSzJ5N0xBMmxrMnNJd2pRaUZTQVM0N2pFWWVKRUluSXlCUUpuaFFWUFZsazJrSTY0aVBYbmJJdy9kNFNEclE0U3VwRVdGcFVqKzI1MDRMVCs0N2YzOXhSb0twdzJVOU91L2VmRElRaWhWbDRrODdRakxPWEVzaGU2VTRDeWozL1B4Z1NqZHlPWktaQnZ5SGR5VXVnUll3L0MwZ1VJWHV2cmorbzc5RTFXakk1c3pyWExvVGtsNmo1V0krWGpWekk5aDh0SnBBOExhQnNyY1VXaG5yUTNFanJQS095anFPYXJJUkZ5cWdNbGI3NWpwSlN1WU14YTRiUTNBdXRTMlFEOHkyMExCNk9sSEhXTDFPTmlNdVpQdGxIS3RXM2hIVFVndEJTOXBndTFZNEhiVkFHdWhYWDVmOHRwQ0dlc0k1NnZqdUtXR01ubTZ3cWZDYk1RbFN4aS9GVjFraUsvT0xscU1EQUpyV3lqYjhwWCtTU25uRHNTeEMrRnNwOTBpNFFVR2tZcWJ5MlorYkZkZEhLeS9EMTk5ZmFJZVVWRjdLSXY5M05LUThwd0JrVGx2WXY3M3JOejFKd3pqcThPTEZqR3dzcHVGdWJ3bGtOTVVGdHBEcWZaeFN3T1d3QUdSM3hlR2hmWjZFbkNQek9POWhLTlVxVEd3WmxyVW9oT2lMRlI3S0hZZjNSSnNTamc2V1YwT2IzZmVWV0I0Z1VHa2RualJJZ2JXYVR0Y1BZMmZSTFNyTFpTK3VsRG9PTWNOaU95bWlmbmZwVDZPVlQvbkxyNjhRTnVRRFFKcld5aDlkYUVXUFdzbnZSdmEwdlpzRXBZN0c1M2QrYWdNQUd0YktISGNraGFKbTRTc3U4WWJpYnBESHJIL1psZ001dTN0Um0xcUhBVFd0bEJpdUNYUnpmRzRiT01SRGpVY3lJVm9Cb1BLS1hYazF2ZlZya1ExclMyVUdHNUpWRDNDNjdwbjZMUW5KT0NzcVI2UzNFUFNUUGdDQTZuUjV6dFoyZXlnUnRpVlBtTU5xYlF0bEJodVNVZ1ZLZ21TZDNTeXRlUVVHemxvN2YrQStSb2x1WHpxYU9QQnVrbWg5eC8yTkowU1FremJYMWxENHV2cy9aNWZzVWw5OWtqenJWNGFIVTliTWpJVVFzcHpraFc4TVJUa3pvQm12VHBNM1czZnZ1TGhGNlR3WkhVVmJZR1NmdVpvNDBmVWZnUy9XL0xZSHV0d2dkUDVFVUIwVC9QRGxQejlvNDJITmJWYmxHTGVVejdiYWNtMGJGNnhSMTZsaTJhd1hyMU0zdjltM3c3RnZYTDNvRnllMmJ2QWhkTDIvYlFtZWxvZXM5MVRpSGxiSGo3b0k5SU1ZWDRpdzVJdUUzekJVZlV2UDRMY0ZTRENhc0pFUlI2cm5CYjMvVkFuQkNsTXVXN2ZMVkJtc25ML1FhdFpZMFkrdCtSWkNMTGlidnloNExIS0dYR3ZSdlRTYnBZYzVudmw0WnVDWFU5aGd1dStwR0ppd3RrUVNOdm42a0k4WVRiWDhNTUpjMVJEMWhXOG1KYm5hdUszcDdlMXJ6MzdpbGlVeFJjYW0yTEVFYytJMWZpV0VIOEwrM0dCR09jNzBLaXphaWJBUWU0YVVON2Q3a2xYNWJkRkt2dGpNMThGS1loTHJCQ0Vrc3JKdCtBa3BuSURjNU9lQnI5V3Zxc20wbFgwV3hWS3VLQ1d5bDVwRUdVTEkralRrL0kzTk9LV1RTSFBHenZVMEI2SFVXY2I2eVhsQlpRT3FZeFZlYjV5TTZJWjF3aW1LMXlrWW12dExDNGo5Nno5VTVSYTFEcE1aeVVSaWR4RmV2WWN2Q1lZeklMY1hVQk9kWSt6T2tjYldoWkJpdmlJQWxEUVlyWXl6L01lc3RjdGVVNmVxYU9hY1RNVm51S3VNOXZVaUNaQWdHa3lSNHZlV1gvZjArQXk3b1o3WGlzREFtVWJrc3FlVjRWeWNqOXJmOVMxTFM4cFpuRDgxN2xNZG8xT0loamVsTmJoU1RKMUNPVUlUNUF6TzM5NDl6UkFGZVR1QWpLdG1MSDRFQXlucGNxYkNGSjBYbld3WkFES3BHeldVV1JlTFUwOGJrbktVc05veHZSWG02MFJFQ2tyTlFyNVd2TFB2STZaRGpWdGtPbW1ycjFpSWhQcTdzdnpacS9WMHVOcnpqRmF3bGIxQXVkeG9rNmhPdWg1aWVKelNpdUF4bGxpdXovYXdWWWxzNmNxVUdHUWV3QVFpcHlVcXVLY1F0MUN3WHhpUGZ4UVlKVFlwS0duRWplUFczSlN5eXV0UlR5bCs2dEdKRGJXYWV4WVMwUTI3L1ZtSmg3Ui90YXNvNTBSeDJFZGw4dEVzS2l0bHFQcmNlZFlhVnp6d21idEFoV2R4bURiVmwwSVpwUVpqWm5xRm4zVEJaV09GYUQ4b2tzWTVCNEVoSklWMVFwY1JHYUxIYVJ3ZVhVZDgwT0JETmFJeGFvYUVSNjN4TkkzdkViMEJKN1QzeHFSS0JYb29rMmpUdFN3bHZSU29XVGFpdDVmVkVrbm5ZdVdZOHBjbFhYblIvWEtsczg2bzI5TER5dndyQkgxRk1hbzhmT3g2VjFIVXRXTXZPdytLdEZ6S1B0TzFZTGNQWURxcWlyc0k2dFlTYUVQVXZRQXlBOGxyMGZJbGhxcmNLRTBheUJndFlsUjV6YW4rc1k4emtYc0dsM3FVSjEzenQyeW9VVE5CTEpjVnR3cXh6VlhqQUtlZHlaK3JSS2d3RTJPamVtUlNScGY1NVJ4elhQN2tPdm5xNzZFR3BhNHlKeGpPZmt6OW1QTFNKczRCTGw3QUJrTHNHRzZrdkp3Z3hTeGNZRFFCd1ZHWHZYZDhTWkxhVlYvVW5mVk8yUFZDMXpidHA1dVJFNmRDcVFCRmJQVUVtZU9ta3g4UWVEbXl3eU1jVFZUVVZHTTNBZlhtSVlmamszWTFwYWNlQzdvTEhZRXhNa0NXWkoxVGtQbUNwbGZWV1RFOXE5U3VFaWNSOVZZU2lJT2NtOEJSTzYvdHFqS09BUXA0a0F3TkQ0b01COUZrMEh2ckRaZkpCQTFpaTZUQlM1UU1xUEtVZ01pOVU1dVNJMHp4MHhud2hmbU5XMlRZQzZWK0VydjVWTDBRRXVrZkJnaVZtSER1R3JHZkdCd2FTTzVZZlFGRjllZ2hPWkJ5a1hTMzdsYjdqcDhETDk0YjlzRHY0VjdLeUJNbHZ1NG9obGxFZnVKeHdjbDR4M1RxRkg3U1N5UUhTRmVma05XUHNCQUlDQjhJd0RhSmtmd3lKaFdlU1RKdjBDbk5ZcnJ1V3NvOWtLelppaXdvS1RRS09xRUxXMG16WWlrb2EzSHJKUEZ4bWFGQ2FENUdzMlJLbHk3b0xuMCtwSnVSMmpsM2dvSVhYcVpxMFNramtnLzhmaWdMQm9qeExYUnZxVnVNU3JtMEhpZnlvSEZYK0lZSWpXVmhPV0dHVTltTHFJTUZIQjBuSk92MU1WakZpMGtUU2d4VzZPdnFqazgxU09TUnEreXBLNisySUlxY3RXWnNuTDN4Zy85NnZPZk1TeDdmYVBWWjEwZVFlNnRnSXdsUTBka2t4MmtjSGwxSFF0QzhabHUzUm5BRk4zKzJJMG52djZudXE0QTM1c2NOWk0xZlRpelZOWUltVkt6OExPWEtRSk4yYkp4Ukw1SGZham52TVhxMGJiTzFyM1E3UmJPYjI0NCtpSnpxQ2V1UEhzS3RsZVlYdDR4NCtoUE95NXBrSHNyb0cxamNQU0dmcERDNWRWMXpBL0ZxVnJ4R1hWOEw5aVFOUzl2OU5vYWYzdW5HR2VXY2dZTEZabXNmR2w3bmN2Q0pqMXlwUGttSFRkSmQ1TisxRm9mOXJMQXlmQVFWVGJVcENUbHQ2Q3FPQlpuNTFETUZGRVV2VDlSK2JMTEpjQTlCTkNHa1ZKWmVRY0JDcGRWOXpFZkZJakEwMnZvN3FieWs5aTM4dkV1Ry9GNXB4aWpGR2pjcDBxUldmY1JCejVTVDJIbTRUVE1Rb3JRcVJqZXFhSUZ6NXFoeXhzTGFwTTRvTkpESnFjdmIxaXFUWWRSa0hzSW9MeVIwaXBMTDBqaHNJb1I4VUZ4cXRhTXlzYm93M014enIzS3lodmo0cG1zb2RzRnpuV0huT2F6dmFRakVhL3ZhbDA3UThhUlA1UlNaQ0x2RWtvditzZ2oyWWRNTXdWR01PODZXYzFtaGl6QVBRVFFvaDc1c09IclJCV2dNSXppdkgxUVVQVnhMeE5YOUJuak91bnNMWVBJbWNkNS9xOXo5cmJKTkx6S1BxNG1WWWlaaW5JUTBOMDQwZnhaS1ZiL08xZ3ByVFBQVFRkcitoREhLM3F3WU9sUlFJTFBFSEdCM2g0YnB1Y3htd0IzaU1nQWdsMWhRSG5UaDNWUENsRDBBc1lIQlphbDZHWEdLODFQcmlISmNaWjE5cFpCWkpQdmRnK25tZzBvZU1Id2VTYS9xb3ZpdFZodzQ5N1lCczhiU01tcGthbDNEclRBTjZBTElGcGdDczRhMitHNDZVTmp5aUJXQ0VJZnc2SlpkREhQQUhjUG9Bc3cvUVJvUXk5R01TV3RFRW1BZ3JuRWZQaWdnUCttbDQ5RjB5TjI3TWxOMHNzT25iMm9UVDk2ZlFGNzA1dzZabVROZlR0RHdIV29NbXJ6NWI1enhtTG5hSGFuelZEbHlrSUVvS2dXTWJwMGk1WEd5K3RVQ3ZaM2dkNG96aXZra2p2dnZCQlJFUmZ2OUZHVkZ6MUZBOXhEQUkxcFdjQ1BaYm9BaFlkWDExRS9GTS9ZR1YvVEswMnVFdWZMaG5XYXRweTFlMEtybVRVeG94emNEVmRqUllodXlSQVk3Ym5mSm1hYkVXZ3ByWmh6Y3VXbVczV1VNNXF3eU5hdEZvalMyVXV4bEIwdXU2NU1wVWdGWW9mVWdldEJhM3RkTnJRVUZhdkEzRnNCemVteHRxb3RZcERDa0hmMURvT1NkWUVCQ2pycG1xQlROZTdEaHZrc3ViTVpyUW1jMmNDSXFVV1NtYVd3U3FwaHlMbmRXR3ZQTUhEZnRwN21KblcxeGlaTTBTaWM1L0ZVVlQ0Mit1VSsySXc2MGNLUk9VN3ZhUzJOV1htZVBoRk9PVjFJZlhmN3pCTm4rQm91ZEtyTno3MFZVRXJoUUxPVm94K2s2QllGbHcrRFVuYU14S2xHblFaR1hjeXBIYjRLU1p4Q3VuSUlUOU5mK0FMaHJMSUVlajhVZVJEU2pFZFFjeGVZc3ZWUnZVT2xsVkVaQmFsVUFZbEEzOXNzbFEwMXFlVEliWjdoamtJN3AxemhsbFEreFl5eHFCUFdYY3dtOXNPaVB1QTduS0oreWIwRUJsVnhEd0ZVWW5WV3pRNTlrQ0lXbkRBbzQzcElpQm5yQmpid0dDWG9zd2hsM2MzRlIzalhKYVhtSVd4RFFndmxaUzdDc3hSaWZESTZ4Vk1DcDR2bmQ5Uzc1VmxXblcxRXZwdXplS3hTYkpvc1hxVkEwVW1lY3YrNG00ZmNSbFZId1E0QnFXbmVtUXFWZEVRcWQ3cE9KTEVEcGp1cXhjaEE4d2x3RHdFMFRoaWYzVFYyR1l0a0hueTk0QW1Ga3JaVkw5YU1hZXpnVkkzQ3RIWk1maWV2NU85VlFwQ3FQRUJ1a3pKaWNCQVdPSXV2eXBTV09jNlBhdEdOKzJMenZLYzZrZDJ0Y1RJbUZKV2RRbjk5WEEwVWtXdXNpUmZsTWttZ3RNVFpKWGtXTjBOU1dWbFFwWlV5eFpQWmhxcGZwM2IvUXYwd3NSbTkvalgwM0ZVODNGc0JZUXZyMmtxam9KYzd1bk41S0F5bkx0N2hVRTdKTDRLSGFlaVdMRGlIelB3bjdGaldYNlhxR0VkL1Q2K2V3ZWJreXJSeTU2RHV1c3F6ZDRYbkNFZWtsTVpWbnYvNU1ibDd4VjZKeTA4YytMOEFjV3hSN2pWakZhZlRCK1U3NE1ISnZidDF6cXpJZmMvUlpiYTM4eGM5d09iR2l0enRVVG5RTXMyWXE0R05qaUQzVmtBaS9UbnI2ci9BTGhjMW90N3hSRUJabFZkVFE1VzhKdVhwTEN3Y2h3bGJIanNvcGI2OFJsdWV0MWNhSzVoa1R1c2w1YnllcE9rU3hQMXF0bENVc3pCVFVlRjdlNjM5YjF2VHVlbWpONXZZTDVzZk5DUXZIbTNTeHZqRWdXWlJKVkVIdjhYLzd3eHZQZEs0ODJkMWxSMy9pWG4yTGppWUxYQUQzRnNBcVJvZFh4dWZBWXJ1SVVWQVNUL2piZWdUOXZWMXczcmlKdXU2aHk4M1g5UmZicWZPZXF2MVpaMTJ3TWhXZktPQkszRk9xQzQ1MFg1RU1EdXB2dE1QWmo0ZWFRa3ZaUTY2anhYZ3M4V2lDeVhxRFVvb3kvREUrV2pERms3d0txa1k5TFZYS1JJM2UvSDBXcnJxWDNaM3ptcktzUjJkMDBTWDdBbEtOTnVXblB6WmxxU2VFbWJOaG4xUFhFS0pSeXhwTzVOSGFJazJpV1hmQmxDYmdoMWw5UVNsb3hwVW9UZld1aWpjUVZIUExhNE9TbmRYWkg1UDg5SHVLSEFRZjkwS2sxVGRUWVZ1V1lTVmp3TWxqTStBMDV6VGhRSFhHMVdkVGJzWXZKdFNqQ3J5UDVSdVRuY1MwbVE0S1RzRTVhVHM4L3lha1BaMUNjTjJkcHU2Skx3MHhlR3FMWU56eXBKOW5sOHZEZHhMeXpYOW1KUjMvUDNTMXRFVjl4SFpySU1BUTJldEs3ci95c0kyMXZPMEk1cVlrSmE3VU10ZnBmb0xvc1RBR2c0USs1bzdIN3JHdXhNeEhCaWVXdlA0aTBCc29ualgzNTdjLzBlSEs0SDBNN1pzZWpaUmhvc21WdTMvQmp2ZUVrK1Nna0N2QUFBQUFFbEZUa1N1UW1DQyIKfQo="/>
    </extobj>
    <extobj name="334E55B0-647D-440b-865C-3EC943EB4CBC-5">
      <extobjdata type="334E55B0-647D-440b-865C-3EC943EB4CBC" data="ewoJIkltZ1NldHRpbmdKc29uIiA6ICJ7XCJkcGlcIjpcIjYwMFwiLFwiZm9ybWF0XCI6XCJQTkdcIixcInRyYW5zcGFyZW50XCI6dHJ1ZSxcImF1dG9cIjpmYWxzZX0iLAoJIkxhdGV4IiA6ICJYRnNnWEhGMVlXUWdkbDk3ZEdWNGRIVnlaWDBnUFNCbVgzdHFhV2R6WVhkOUlDMGdabDk3WTJ4bFlXNTlJRnhkIiwKCSJMYXRleEltZ0Jhc2U2NCIgOiAiaVZCT1J3MEtHZ29BQUFBTlNVaEVVZ0FBQTU4QUFBQlRCQU1BQUFEcS9hNGRBQUFBTUZCTVZFWC8vLzhBQUFBQUFBQUFBQUFBQUFBQUFBQUFBQUFBQUFBQUFBQUFBQUFBQUFBQUFBQUFBQUFBQUFBQUFBQUFBQUF2M2FCN0FBQUFEM1JTVGxNQVZMdnZxMFIyM1lreXpaa2laaENvWCtwOEFBQUFDWEJJV1hNQUFBN0VBQUFPeEFHVkt3NGJBQUFVRkVsRVFWUjRBZTFjWFl4a3gxV3UrWitlbjU1UkVpa0lFRDE0clZnRTR0N1lEamdyWjI5akIxa3NVWHF3UVVGQm9rZCtnU0NoSG5ZM1BJRGhqdkpBRkVEcUlRNUN5a042MkYwU0V5QTlJQkNRUmVtV2JTVUlGTTBRaFBMWVRSenRpa1M3czJ3djduV3ZkNHZ2blBxNWRXL2ZIbS9mbnVtWmk3WWU3cTJmVTFWZm5UcDF6cW1xMnkzRS82ZHc3WkhPZTFvcEdsRGE4STZhdGROU25wTzNSOTFyOHY3U2hqZjVTQlBXek10ZGNjMHJKS3c5K21wcHd6dHFEbzNMTjRYNFFmbS9vKzQzYVg5cHc1dDBuSW5yMVdWQnpFcDVLM0VESTY2WU5yd2paby9JU0xrc1NsTGVISFhIQ2Z0TEc5NkV3MHhlYlU3S2xzakwxSGhGYWNPYmZHWVMxcXpLamhDK1RJME5UUnZlaE5PU3ZGcFIzaEdpS0dGSTB4SFNobmZrWEpYeWY0UzRTck9hanBBMnZLUG02cFNVYjZIUG4yK051dU9FL2FVTmI4SmhKcStHRGN1TjVMVkhYek50ZUVmT0lUaU5LeVB2ZElnTzA0WjNpS0VtcTdvazVVYXlta2RUSzIxNFI4NmxIVHBYU0ZGSUc5NlJzN1lwWldQa25RN1JZZHJ3RGpIVVpGWHJVaWFyZUVTMTBvWjM1R3lxeWU3SSt4eW13N1RoSFdhc2llcks5QndwOFBqU2hqZlJwQXhSQ1hjWGQ0ZW9QdktxYWNNN2NnWXRTcnJlVGs4NFZMenY4SjVZMWF5WVByZVJIcWE0U09kVGRsQjBtSGcvTHp2Mm1qOXZZeTYzam5sODFwTW1wTUl4T21TOFUvS2ZSVk51ODZUaE83UjA3ZVlZOVl5WlRyeVB1ZXlOQW04VnQwNUwyZ0RoZ0ZHdXBZRW5JWXhUZjNqNWNsSEtINzk4K2ZJblFnWEhOSEhJZUwxZElXYjBsemcwb1dxdEhsTmU5SVZWa25LemIrRXhMRGc4dlBQMGxkeVNiUE9nNFh1bDY4N0NUbFU1SGRwMkJIaXI5OUFKVG9wYjNGZjk2Q2MwK3llLzJDODBHR1BzbzBoZkZLVW9IQjdlL0FiWUFBV2dtREYrOU4va3ZBNHQwU2U4MFgvRy9KUzU1NGVHTjhOTHM2NVZyc2dlL2ExaXFjOXNJcnYvSjdmQXZjOXM5NWVEb3lvNVBMeHNRb1ZuZVZYQjcwT09Oa3g2ZldmMGszMlI0UXVkMVB3RWdnYXhIOTcvK3JXLys5TDcrNDcwN1FvbWlBOW9IbnNYRHRWME9Zc2F0Y0FHbW55QjFJVDk4UG9RNk9UcXBub0RUSERPb1paU3NUWHZtYmhKS1U5R003LzlwTTNKMUI2MThXTVJpY05yZ0gwVktpcjV1WFI1RysxTUJLN1FqTnEvbU1iVDhzWmgwVW9FS3hiQnFzbmFPVzR1VXd4ZWd4VnZmNGdQR0o5cm9JRlM4RDNPblAzeFZ0YnA0WDZpcmZzaE9peWFwVjVuRGxLNmE3cXJXeC9CNUJ6eE93YXZnOGpya1U2bjhINmlSYk5yd1dJMXQ0clRBeDRabFkvMGsvVnFJSkptd09CWnc4VHpoM3hadXRCbjUvd0ZBeUQ2anNFYmtNQUZYZ3RTU1dMTzdma1NmWDVPb1RxWWw0RUwyeGJYTzVwSDA1azlqV0RlT25xa2dzaXlIRjd3Wlo5Z2xYNms3eGk4QWNYWXNNZVlhTUQ2L0tXVHV1SDZZSG9jZmxXQWFQU3hla3ozenE4aUZuNzRjQ0gxbWM3K0t5ME9yNFU0TkM5ZGw2dGMwTzBPcU1jbmp0WktIZkVuVjUvdU02T25HbmFXd3BGOThacXJrbkNWQVZLd05sWWo1WGRWeFlYKzBoWGI4czRRVzZmWUJnZkxkSXpHWUJXUGlIcGZ2SHZEL21nNTUraHNZd2x4NzdJNXlHQ2JRMnlkQnVrbm5oYmlaNXk1ZUlKamxycy8zbEpnQVpQaHpwdVRYQ0hHekhIcFpKQjNYNDBXZXpmMjkxWHZZSWpnQlNUZmloOE1oSUZhMlI5dlpURDNwYmRuWi8xUEdrR2ZHSEFyN3NsQ2I4TWp5MG5iYi9QMngxdVRXME54RGpzT2M1SXJsc3lKNk01Z09ndzZSQnZmb2FCdzVRVDNvYmoxV3grKzQ5RzFzRC9lM2tPU3daQzVCOFhORlYyM0tjMkc5TDRhZzhsdDNCZmgyeE1sdVE5MXppN2Z2b05qUUxFdlhseVZyQTZGRWJzV0s5NithU3BpRTcvK2lIZDJ6ZlNTZmNFN0Q3cnNIN1JmYnVnODErUys0L0V2Nmx5ei9jdCt1dk5QeUxwMm92M0ZsaTRTWXVHRmM1MzMyRlFRS2ZYWkFpRGJHUGlBV01mMm9qNzVsWXVudm1hb3BrNmNXak54ZXYvTEk1MmZjZFBpWFJmYmw4eTRlOHVmODE3VzFHT2JGUG1ZUFJ6VjJRbGVQWGpGdFRQZXFjK29scUNQblNhamJBcWpuL1hQTjBDYythcDNpamlzZ3ZOYjRpbitydlY1dzFMN1ZjZTNaZWZobWx6VEZjcnlndGRwaU9mYkQvRmVaY296OU90RThCMzVaZm1pb3N4cFQvbHFONC9LMDdKN0psRGtpNzQ4ZXladXI1UGtQclFVRWVwcCtWak4ySUJzdmxzRFdocytUakJXTWw5ZU5qa1ZlZlpwdjIyVG42WHlRdWE5T29PRzgwRW1uV0xMQk9PeVlXb21ma2Z4aXMvSzlxV0xtbTF6N3MrdW9td0tvOHY2RnlTT1hEUDV6c04rNE1SZy9XOXJhT05zVE10bWdzeUV2bE0rMlJEWittMUZOZDdleFlYYlUyUGcyQ1FwQjZoc0hkWkJrUFUvS256OXZiT25aU0MvTm9hcHkzOUlpSEd6R1JyejJuOGt4UGNQZ0RrRUNvaGI5RFloL3dIOFNadysvYnA2Uzh3NVhzYjM1ZTJXZUtWYnRaN2tWWW0xdkZBM1oyV3o4azVEdkhKelQ1ZG4vVWRGVGZGaGpuam5YaldhM2daL1IvRytKbStDa1I5dk42aXBKV2NiR21WVEJOMzRHeUlIRnBidnREQmVxem1XQW4xVm9pa1I0dnIxSzFKKzRmcDFUdENhdTlWQ2RGSXpqZThXL2U3T20wTFU1UW9Lc3RldmwrV2IxNjhUa1JqSHRCZlZqNm5oYlFFbTdzL1JsWlRmNjdhb1pKdHlSRFl2UDBydjRqMTZEaDJLNFUzVzNNMldXREJaK0dqS09kWmQ4QmxUM2pNVG12VlppR2UxOEdacmpMMW1ickRHTVlsMXRkajNXTDNBUUEyUE9ZSjNUTEtDeUhvRjRvU3pEWTJ5S1lxdVZNRDAzNXZzTmxDdHBwaU5HRmJvTGw0VWFpYmkyc1FGVDYyampDS2I1K1ZYa2Q2YXdIWnFpK3Rob2s2cWlHZ2lKNjhxWU9tMktIZnlMU0U4NmEzd1lzWVQ0VlV0aGRXN25CejI0WWZOYTNFRklxUGR0RVhNMUhnZzh5K3BEZXVPOVJzbTVScjEvb3BzMEF0L2RNUkxGZVZibkc2dVd5bk1zWjhJS1RXTG1Ra1NQU0o0eS9MM3FKbW1ZbUlsa0pnb202TG84ZzNNM3QzNkN0V3V5QUs5RUdCRDlUeU9HUjBMTXJ1QXdYeElLVUpXa1pWMDU3Z0poN1FXdUFqenBTUENiOUFGN1RabGordFBLL2UyYUlWUzIraHFBeThCR1dFS3NYY3dFeHIraDcrcFRndGRhUFV3QTJtYTBDUGdqbm1zUUs0QWlCS1BPZXRwVytBcmdMYWNobE5UZzlQWEZhVURPTU1JNDUyVnJHdUIrQVl4cDJaOTFCNDJSZEF0WUczaGsycmxLelp0TllEZm9JYXdicUJGVlhDUFpqMU5PYWJXdEw5TUpHWHlaM0F0c01uMHdMTEdFYkdJMXBIYXBkU1M1bU5samRZTEdJc3BWZ3Rod254Rm14dGUydEZzWk5XOFRzT0E5bWpnSlpvcjlObXhrWnM1TGFqWVp2RXdzUHhZY2tGTnhCQlJKZE9tbklaanJpZDlpYVlFak5VOWVnMFRJbmoxc1NrVTJoYTFhbVVOZ3FoWG1HWlRGTjBzNW1CUHl0T01wV3lNQ0EyOXdGbWl0cTNldFBydDNOcFpHK2V2VS9RcUx0S3dzdmsvVnhXQ2s5OFp6QkQ4N2hibFZ6VWYvUVo5aGtadEw5VCtnZ3BnbFhUeitaT2NIdktCN2wwbVZ3cG96OXhCa2Z4VldKcW9rN29tTkJCaEN5RGxKQkpLQzVseGc3a055cCtCZ1VYckZEZnpLaXpqaUNCUkNPUFZ2S0YrZHRFY1podVFPVVRaMUlNT2k2UmtIUHk2dFhvUUNjV09TUjRiTnhYWVJOUlFTMXJVV2N6MTRXQ2dGNGcrTUxsN21DRnpsVlpXZk14Q3pBSUdFam1Hc0VKdmNKMkdNSFRBNUswN2pYZ05KR1lranlaTFV1anA3a2gzRkpBbTNhL0hhcWJwbHhrSVVsdGNiZ1pFdzlHMGtQdE5McXNwRW80bmU0VHg0dnVpRnJkVC9GMTZRWlpVc29kTnZlZ3c2b3FabnJ5R2ppWllmZUpkT1kySENwWUZwTkxaRFJUdlZscDFjb3NwQXIxQVNUT0ZRbnhqTFZpWmVTVXpDOEE1WjVRSFY0WXBYYWJJbUovOGMwVnVTRC9Ba29LVC9uZUs2enVvaGQ5aStlSHVXT1d2TW1Hd05aQ3krd2xiRjNLbktJMFBRY05SM3ExZDhxSzRiZWtUUnNKNHk0SExSdTBaejRNOURrWmoyTlNEN3RVMW1oNnlaUWhld0FOWXRrM2tmTGZUb0FJS2dVMGtUWE5EaVAvK2dielU2cFVKc01hNEwwNlFrWEpueHVnMXB3dGpUaFU5OUQ1VTJCOS9TblpYZFFQRHZaYXNXeGUwa3d1Y1VUZ0pPbi9IN0dXcXRyU0dQWFQzNzNVNUE2TjRZSFZKM2xtQjZTVVBIMzVYVXlkK2hmRWFCYW1iQzFqRmFCdzJ4YUl6c213Y0YyNmxLTjlvaWE5N1g3RUlvYzQzZFFJYWdFUDdwMjBwSW9GZTRGeWozQldKWHQ1dUYxVzl6QlZCV2JmNWhDc1VxaWpSc3hyQXRmVzFUMHJwUGV1eWwwMU1UeElLYzR6bFNWV3ZhZlNYZTVSZFV3cGJMM2tzaFlZaVR2NE00WVVxMzNLYkNsZ1ZaVk1jT210eE1TTU4yOHlpTDl2bjVJZHNPbEF2cktVdWZmank3LzluS3loRkxOQUxuTzF3ai8xTG5panRUREJCd0VCSzVtWDN3ei8zajcveEsxeDBBSSttWFlKQlkzN0FwcWF6SEpYNUFJSXRUUW85UnVGRlR1YmxYWlh0K0JCR0xzMlNaNnVzS3lkOE5WMjgwSTlyYmpzQnE2SnNpa05uVjlhNFVUN2MxdFRmbnV2OHFOT3E4MVVMOUwxWnJBNUJvQmM0MDFkQ3JBaU1oak9PQmVYbVExNkxiNXhjVldIb1o5MHN2S0FsNCt4UVRzMzRmOGhrN1VsYmd3MUQreDg4b2UwV3BkWG1DaEhIV29CbFZBVHY0d2EvRjVVL3pQR0VqeERlSlhkcG9VSHRlU0FXWlZNY09ydXlJak1TUWJZWDJFVDBGeW1rWktBWEtPVnlqendrZFNoaDNrUVI5cUhZTEZQMkFZV2FXVmhCZTlZblpZZGdReFZnc1oza0dCVFZxcVg5cFJNMHBVU0NiRFZwWmxVU3paeFd3K2JhZVh6NHJYTUk3MDZFd1lFc0dUU0VBaUVXblozSHNOVlROWUpuTGxoQ2V5SC8xSkRvSFlsT090eERqdGwrN2dSc0JwWmxVNVhuZnoxSUhVRE1McnlnTGFNbWtBT2wybEFGY09VS0hET3JUbVdMYitiVlRLTjhpN05jYTJHR1lXUnlTYzI1cnByb0ZjSmJrbDIzRWJCcVY2V3hURUpzNm9QT0dwR1Riak9SdUdNVGw0eWZFQ0lKOUFKbG0wMjhJakdUN1RnV1lGQkxGZkpUdWhyYXlVOFl4WHJhaWxZTk5sTFFHSG9qVFVjb0cwdzRIbWFpeVBpOE5BRlRsYzg3QmltbjlnVldKbk1GYm1LSVJ4aHZVNFowdUNOTEVUYkZvbXRxSTRMWlY5RGpjZm1LNCs5RDZWS3ZmVUt1cHdneXY4bjF0Y2tkVjZKbGppeUt4S1RuVjRuQ25Ga3hOU25nZ280ZHlBdnp0Qlp0eU5sSWxjakRIaU92QnpLdUlOcHQ2T2U3TGE2cGJzdkFNbFhPQTVwZDV5SnRPeTJqaTV1Y1BjUWpqRGNYM29heTV6SEZCMm9STnNXaUsrcFZqRUxnK3RWV0gxaUtRN08zVVd4TVNJZ1NNclpCR2VyK0ZKUE8yOUFLNTFrUGtpZTl1RXAwcmpsRlVtOEVxT1FnQWhSRUs5cU9ZMUxZWTZVemVudGdENnVnRENIR3NjMDFKNWt2NFBReUo5bUhtTGpCOGJwaW1kSFNkTzQxWkFqak5SWktOOHFzR24rVFVoRTJ4YUx6OUFEVXlVMmN1ME10UWIxczRyVkhUSmdOYkdpV3Z0emdQNCtEUFBESWQ5U1lxMnh5czlwVTVkWDZBN1BXc0pSUkpieFBSN0lTR0lmdnJqSkIwc2RyajIvVEtWOXdOV1FhWXZYQUNTZ2owRlRYS2VIcENjdHI1d2VXdHNCRWs4d1hqRnZCWVhHb2JuRlJYU2tqWElsd2N2WXV2eEkrWXZCYWJZRW1mMWF6U3RucENKdmkwSUhKeXd5RmQ4bjJJOXdvT3N3WFpkVTM4RUF6Rktjd1J5dTJRc0tOdlZPRGNwaUNqdkp2SURGUHhRajZFaHUreUtySUtQUGxtRk9pcUdwK0lscmJvSXlrQVRyMER2R2cxL0hVTmdFTlE3QTNBV3FYK3FpVGpQR3h5QmE5SVFwYXgwNm92WmxoajBjQXkydE1VMVlHMnBoVk90MU5IT0x3amdmaVNBd3UwZUlvRmFpTEtKdGkwR0dtR2tTSzR5eXN2cjRPdUFJL3BaUkxUVmNSMmRvNmFrcmlubmExTlFYNFJLTXNVVEdDdm1tdFVsL3p5Z2RqcmFkSzZUbEh2WFA0M25BS2JFTFN1bWtHQzE0MzY1NWQ4dExTcHdFN2FuTEt4b09ZSVhtZ1VGWnJYRTg0NUJVRHFyVzRLS2RhZjEwTHRwSU1MaG44RVljM1kxVmd0bmFhQm5NUGdyZEtiVWZaRklQTzd2WFpNQ2cxRkFNTG4zTWhkMGZKZlZWcmFmRjhwOEZtQ0IzbVBaNWxUUUh4MktJU1JrRXlCbTZJckVlV2JZS2lvWDA2SmMxbGxaanlYcVIwNHBEakNjMXJ0ZU0wbzN3RXp1REJqQ3RGcVQ0MGdnM1RXT2M3bTB5VDBYZUtPMHE5RmlVbU1hUDErSVNTdnJxcVF4ZWt5VU1zWHYzQmpoQXZ0UnZFdlJ0Q0tPMGVaVk1NT3V1YzhDcnlsL3RBWTZISmVMdGNiTDYyZWswK2lqUXMwcktZN3U2UTdzcDRlRkNva2hDL1pJekxEQ2tOOFkzYk5PbmxEU3BISmRVV0pTaFVGRU1YaWpkYm5FNzZxRWpTVjVFOUNEWG1iRU16dEdzcGI2a3VpdWg0MFgvWm1KR00zT0Q4WEh1VDM5T3N2UCsxU3pKcDlOYzBxOFN4VHBNbnUzUmFOWlRzR1l2M3FwWW14ZUFsckZDNnVLWVFZVk1NdWoxelJwN0RzcHZ0ZFNWVU85VFNwaWliQ3hUK3A1dUZiOG4zYzJrUlNyVCsxQ0tOdkdJb1pqR0YwelRGSEJZa2xqS1NPYmt4cFVRTlpxeWhDOVZyVnRMc2Z6TWZmRHdaS3I3dkJCajBGcm9pQVFxSFlPOEpkZElXODUyV0twK1c3VFB5SjROdGFMTzdpb0xuNUYvcDZrWE03QlZabU1Ud0tpc21UMzRFbXZEMHZMelRFck42NW5YUm9LOVl2TmxhQnlBTWd4ZXhZOGl0cTRhamJPcEZseU1GVFdFR1NySzR4ZEc0eDZTOGRhSk5RNlV3NWN0TFo2VDhNNVg2amp4L290UENKY1g1UE9GUW9TaWY5ajVnRXVKUFpmZHBmTXU2S0cvbVA4aVppOVpNR0pxUDRYZ2V2NUZjTnVtRTd5Ykp6a1JrK1ZOYnpqWVUzMzFka1BZaTZjckY5dnRhZ1dPSnNWMTR1aGJjUzB6THpobUprZFRsZTdzdERXclJrNWRPZEJ1d2JoaVdtWGxkTnVBckhpK2s3R0V3K0s5VlkyWDVVTHVoMjQyd3FSZGRVemtGa0Fldm05L1BHbnpPUHhzd2UrcFo3NmYrOGtjTTlzLzVqNkVvKyt2ZStZQWk4MnpvYlArSExuTHkzL3duTkxKbmZzTFVOdTlmT05mKzdiOXBtVlRTOXg3WndIcU1wbkcyb1VLODhMaDc4WUMrekRZVTBjeW5Mcll2ZkNiby84ckZEdDBUVGozVDJiQ1ppMmU4N2k1Uzd6ckhaVFovOEVnZnZOZGNCaS84US90cnR1VUltM3JRVFQ3UjByU3p0Y2RXYmJYVVJzYmtqK0ZqN1pWZS9CRzNPa0pRRHJaTmtaSkRUdmJGZThqOXBxZjVkK0x2MWZYMk53U2FEeE5DT1c3Q040ckt6UnhKdkIvZWtYU2VpazYrNWY5T294Y292TEI5OUEvT1N0WjY2NHdtSng3dmFQcE9aeS92Sm90cXIzMURZOGcrODBsT1l4OGF5bitRT01ZY3dOcUUvK0o0UFE3V0dYMGNXNDNWMGc3aGcrang0UUMrRUYyamp6ZTJZeUNWMU1wYzhQUk9Qb2JrUWRaeDQ4QVNuV0hNMml2dEVEejl6ZCtyc1Y5SmhTZ2ZKSTROQitib2FsYWQwdlZneXZHUHZMQkExWEZIVC9tRGpHUElnVm41RkhhbWNUc1orajRYSHdKa0svSlc2eGdDZndDcER3Znk4aUY1c3hGYmlOdklzemh3cEI5TFB3aXA0Y0RZSThGZmVVUkJYM3RXeWdNNGNJdzJlNXpTL3dkOURqYkZPb2o0aWdBQUFBQkpSVTVFcmtKZ2dnPT0iCn0K"/>
    </extobj>
    <extobj name="334E55B0-647D-440b-865C-3EC943EB4CBC-6">
      <extobjdata type="334E55B0-647D-440b-865C-3EC943EB4CBC" data="ewoJIkltZ1NldHRpbmdKc29uIiA6ICJ7XCJkcGlcIjpcIjYwMFwiLFwiZm9ybWF0XCI6XCJQTkdcIixcInRyYW5zcGFyZW50XCI6dHJ1ZSxcImF1dG9cIjpmYWxzZX0iLAoJIkxhdGV4IiA6ICJYRnNnWEVSbGJIUmhJR1pmWXlBOUlHWmZZeUF0SUdaZmUyTnNaV0Z1ZlNCY1hRPT0iLAoJIkxhdGV4SW1nQmFzZTY0IiA6ICJpVkJPUncwS0dnb0FBQUFOU1VoRVVnQUFBbklBQUFCTkJBTUFBQURRczVUM0FBQUFNRkJNVkVYLy8vOEFBQUFBQUFBQUFBQUFBQUFBQUFBQUFBQUFBQUFBQUFBQUFBQUFBQUFBQUFBQUFBQUFBQUFBQUFBQUFBQXYzYUI3QUFBQUQzUlNUbE1BWnBsMjc3dEV6ZDFVaVJDck1pTDM2SWRVQUFBQUNYQklXWE1BQUE3RUFBQU94QUdWS3c0YkFBQU1jRWxFUVZSNEFlMWNXNGhrUnhtdXVWOTZabm9KcnZnUTZHRjhFaVU5Yno2STlCS1ZlRUhQb0xBc0pOTDlJQVpGbVRHc2dlamlHV1ZYUVZkN3dJQmlIbnFJaW5tUm1aWEk3b3ZNUEFRM1lyUUhjWDN0Vm9OUEN6UFJIcmZqVHJiODZuYXF6cTNPNlQ2blVKWVVUSis2ZnZWWG5hcXYvdnFyemhBU2RvK2NDNGZmRHVYc2dTbjZSczZjYjJjTDk4QTBIWVFqRWtJM0xnMC9zNThRWDBaVTVYejcyZ2ZLQUlwZ3VNTFYxVFFvWGRlaFJOOFVwVmZwZnhLVGlrYzI2TkNqdThWeG9naXVjSFU5SHFVWGRDalIxNlRueUEzdk1ER3RhT1FNeUtMeWpyT2lNTEh5cm5CMVJSaFA5Rjg2bU9TYm9XOFI4aVA2NzZTMHduRk5la1FXZk5vcURCUUJjSVdycTVsR3oyVVFYWjBla2tWS3l4OFhrR0tTd2U1UjFGQ3VjNFZyU0FtYXl5QzZaVXAzeUNhbHAwYXAwcnc5K2lhWmhRUWJwU0VLSUZlNGhwaWd1UXlpbTZOMG56U3BteVhDcC9mSkRDVFlOVVFxdytzS1Y4czJSYzlEYnF0RzE2TkRRdHJVQ2M5aFBHK1RlVWpRMGlLVjRYT0ZhOGcyUFdCenhVcDBYZnBQUXJybFV4R1RZb25TVmZaVE5vZTZ3alY2cnZFRzhkRjF0ZzBZQlJXUlc2ejd5bmRWeHFHVk5ycXZYT2NLMTVEU3U4REkzNmJSWVV3K1FJRXZPTmxEb080K0liTXZHQktWNG5XRnE0V2J3djRCSzRDTjZLQ1BuT2dDSmZ2MktDMFpVY0M1d3RYQ1RvUGhNb2dPSFZ1MnlxRHI5OTNvT21BZ0p6cVVGcHcwMlBiQlRuVFY4bFVHTFlBalhZZTR3dFdTZytaSUJ0RWRNeEozNUZiNDZsTSt1Q3RjTFNtak9aSkJkRFZPNHJwTW1iNEpzZnFVQ2NteFhPRnFRUm5OWlJGZDNSR0pzNW9uSGEwK3JuQ1p6TUxWaEpYRVNuUSt2YWV5bC83RTZyTlZPaWdBWGVGcVdUbk5aUkFkZGFNRGN5R3crcXhxYWNyenVjSU5KSnlRMW1DYlJvY2RvSFZYRzRDTjQrblpkeS9qUVBJeXJuQURnUVROQ2FMRHJqN1JnV3hoMTNUa3NQb2N1WUIyaFJ2SUttbk9xdEU1SlZ0WHE0OHIzS0RuSk0wUjBxSE0yaE56aXg3aWhTdC9sZmlaZ2k1NWxYQ0ZhL2FPb2puQ0xXUUpiTVlNWjhxWkJVdnh0eFZ5eVpxSksxeXowWXJtQ0ZsQUt4S0lidmJGdGJVdXBaOWVXMXY3b0Ztd0ZQOFgxOWJlQnhNOXNOOWRLdGU1d2pVYkhkQWNOL21tN0xFMkhaRTRFd1MyQmllcmp5dmNvUE1DbWtzbE9tUnRPTnhDNE1UeUpKQ21SSThyWENXaXBqbEJkTEQ4SnJodTBqU081NnY4NWZOcHJoL1BMV05nODk1T1RTeVE0QXBYaVRSdm5ENmtFQjJ5dHZPZEVieXMrVDdxU3o4SHh3cDBxS1FwOCtrS1Y4bG8wRnc2MFZVeWJ3QUlPTkJobWt1M01SNWtuUFFxU1VkOXVzSlZjclF2S0IrZUhiUjcyd2dyTDhnMjE2MklKUThBeWU3YkNpdjJSSGUzWXBFbFJGaHdLejk4OGZiVm5XSjFtRFNYVG5RZzIvdkY2ckdVYnJBemNBZk9nc3RWMVBWaWRjNkh6azdTaUE1a2U2RllQWmJTWGZ0QnI2V2tQY21DTzNrWkUrUElYandydFJPK0VOY0dZc0lveGp2YXlFSWFPNzN0Nkp6Rmlvc1dqUzJ3S05nT3o4SWFlbTQ3RGxsOTZNNXZwb3Urcm9YSUpSaEdBQWthWFM5eEpNWjdlSndZbVA0U2Fvd2ovU05aVS96eWZqd3JqN0hqSHRCME5Ta0ZNQnc5SHlGbjJPR1NkTjdhLy83OGhwTTZwSXU1dEVYZmZuN1RLYnJqaTlCY21rWlhMOHdLNFJkbWhuS2Eva0FZeVM1dDdOaHg2MFYzZkJHYUk2UUc4YmJOaG5ILy84SDV6U0pidkJMYzRCc3hhVVdFL2Z5bVhYREppOUljSWRNUUxrNDdEOTM1RFRaRnV5azluaTg2U25PRU1LS0xXWDV4V0o1ZzhjeFhSV2F1WTBmbk4xWmNiSXBhbVpMWk1zUm9qaEFQWFJjRmhZTHN4SUxHUmVzVTFrbVRXMmpGeGRXczVGSjVZMk0wSjRodUsxTCs0YnNDTmhlZldKRTIyNE54bWhORUYxM29jZmw1MjQ2a1VzZXd6eldUMUNDRlYrQnB4YTNTOE41cDFIcmlOSmRNZEZnMkRuTmhqMk9mOC9LWi9uTFZiMmF5NG03bXMvMlllQ0YvQXMwbEV0MUJ6SUoyNDdiM3hDOURXRHl3Q1pKTWNXbjJ1Ympwci9MbzVjSFhqdUxnbzhYWWNmZEM2dHpmTDNuWDFqWDh5cy9iMTFzNitOTHdqeXp3cDh1RFp3S3BFbWd1a2VqUUlRWVNVTzdRd1pYTDlBY01NT1RHc00vRlRIL0xUZnJFYlcvWUR3R1BIckRqK3VZZG9IZlI0Vk8rL21BUUFsenh6OGlkNTBTbHQrNDEyYldYTy9UYXE4SHNTS0s1UktKclJDeG9kK2xwaTVDbkIzMkJYZWczYXZwYjZkS0xPQS96UDFVSWxSQTdycW5PUFU4LzNpZVZla0I4ZS9ReHN0SjhVcTIremZVRmtPSVVmUy83dnVwUVNEVVgyYlNLV0ZRWlhYZ2lscTRGT3RoQjNrb3AzeDFHVFg4ZCtqRW14OHRuUXBxeGY2MjRwanIzYTNxMmoxcVdWR2ZjNUR1QnVhSHN1VmtJZ29IVFpWdVZPY1dPbTBFM2grU0xhM1FSUzFlRGZvOFZxSlZpN2NST2ZzT29mb29PV1RzbUNsczdyYmhRczFndHpLM0l6MnFYNWRjZytDeWp4YUxWOEpsNXdLai9FVTdUaTJxNittSGJITU5oRG5QVFpBSEVoRzhxTDFJK1RZRjl3dk1YKzZtYUU0ZE5DRDVOajlWY0dSdmNpanVuTmFIWDVjWEFpdXk1ZVV4TjV2ZzNSM2dlYjdIMmV4c3Nia0lXbTZVWEUwMWVIZlJjU0tPRHBjc00xOFNHQXJNYW9JVmRMN1Q2WVBOM3hDQWJVY0lZdVI0cmJsWGZvL1NrcXJvZ0Y4R3VETmZrOW4xdm5XQ1pIdXd6QWRCa0xnZTdhWmptUWx0WE5NY1luZUNJVlZZZXNlYzRUckdmbXA0NEFOcVVUYW9WM2loYmNYdUJWUU8yS1A2cXlJdzRkMWF2RHU4TzB4U3UzV2ZYTjhUSW1aUWNzcG5XYlN5K3hZdUpINkJ2NnlBSWhMOEEwdjJtamh6ZlY5Y1RCeUJ0K1k2V2hrWGZpaFczRVF5RlRXVlZyd3VieG9FYTdGM0I0aFZjVVFJcmJ2QUd6c2hFMzlaelcwWmZvSzhPZGJBaGlVREhGUEtGYmc5Z091d1dRdE9GcmJqTllDajRjdlQ5V09wemUybzBlcUxOS3gvaU43WDdISGhhckJBWWd4Wm5FaHZJMWhnQm9hbXJKUjNYRnpKZ29hYjljWUVpNWF5NHdaVnVVTmdKSWIvNVNaTSt5OHVMTUx4WS80STJWOVdTZWl3NHhFWno0WS9PZTRvTEdEZ3NUbHU4a25KK3NQb1lCcXlPbWl1RndhMjRTTndSTlREbGxibkI3MFFZTkxmQmZmRDBSUlFoQVN0SzdtUFczM1JuM05PQjRtWVlzMkEzV1ZlUUpUd2g0WW1HYVJZOWtRcWdyTGpvcjMyUkU2MjU4dHJhVDk4cGcreVQrSE04WmNsUUtBTldiSTZxd2RiVmFHV1ltRkI5amwzT0QxYWZRNDFVM21kTVZ0eVpvRnRBNFVlNmVxTjFrdEo0V3NDS3dTUTNpOWo4dnFraUhKc0QwRllxWHhvNFE3eGtscjBrNVpwQldYRjF0MkFjc055QjY2bXdwRFNlb0RvTTR6alV6VUdwVkU5b1RkZ3NqWXA0ZmFFMUFZdldWcW9Vb3lWWWNYdkJVRGdJNlVSTW41U2FiRTJxYzZnVjczT0hWNjZIYWs1WlVOSm9UMDJyM3puTFc3TWRLMUZaTHJ6VVZXdnUvSWxXWE4wdFZhWE9TZVNhVXJucW10SWcxVDVQUGxDSmVjWEFhcnF1ODNaR0xhNkxKdms2NXBxQW1uYVRNbzBSWjhYbFd1N1RSNEFORkE1WlJVMk5SbjRlK3hLUFhWTGprbTg3cDdpMUk1OUVJRnZSNXp5N0h1bjVTbWZrcWdmYVBESkNXemlYa1Q5dnNoV1hhN2xOMW5OemtUSFhrWW93OUxwMTJFaDRiZE5xbHZsTWY2NmU1QkxoN29kWDJYVkVtS2dDWjU1OS9DR0lIY096OHNyaktOVTJsMVlZSlhZVjBoSnIyRGd1RzFkb3VYeHBXRlRqQ2ViRzM2SzJudHloOHNWZ1dYRGVzZTdOWFZ4cjNjZ2pGQmdiLzUva09HUXBtZEg5T0Nmc01YbVFFdkpzTWxKREkxcEdXbFAzbzc5cnhJL2l6Y1pGczQ0SXMxanlVYTZ3ZVd1cXNwZWc3TUkwSXE2c0tGYUVGdGducE5sU0JXeFBsSWRHWEFzMmVTenZjdkNXS3Y0bmJJV3owandLRWxZV0w1bTVGMVIxVTloMXNrQVMwck54T2VWUGl2MmxyN1RUaXI4TnNFbEp1MDNXOExuN0hGN3UvWkUyUlBQeGw4TjFlTTgxMVZaRmxPaXE0SjhMblVOZ05VRFB6Y2gzTElWWlVzRmxiOXh6aUJ5NEdIUGdxd3U4enA1YXpUODM3Q05pUmZBZVRQSG9vZDRoenlMMy9qQ1pZSmpPdjhuanNuNzIrTDlLTXZVR2xMaEZ4VkM3UzUvTUttOUxoK2tHVTdOcUtqemdtcllZYWl2ZDAzMWJZVXRhSGx5MjVNRml5ZHlpcENMVm1nWmpqeFgvV1RibXhNVEVZckhEc3k0dzZ0bzc1UDZzSC9UY0F4aEMzd3JscS9qREZzRFBpNU9XVU5Jb0FkYkNQbWxFdFBLYmxOMysvMnVUSHhHTkFoZmt6WU5ibytzTGF0YnRzZVZjdDJhSmZwSlVHbWN3cHJjV3hSRXhCckY4aSsxN1pDbGs4ZzBxalhscUZFTjRPcW9wVE5IQlU3Y3AvVW9zKzBnUklCdWMxM3JSTzFJTitwSFhmSG9QclJuVDVjR2RvcWROeFFhemJYb0ZyWGxPVmRlZzEvMUJDNlIyNm4rZHgwMEVjKzUxK2xWcFNWR1pVNThId3lOQzZwamRZWGZqVmUrano3d1FqaHM1VktIZlo0UjhHQ2xZZWZUcTREdnZrUzg1a3BZcm1BdjNiKzNIZ3lwbXc2MnB2Tis3dm9PYXZ1UjlWOWIzeXU5VnhiOFlYRlRlak9jQy9TejVWZDV1enNDS0pYZE9qeXIxdERzVHNkejVJMXpoNXBlQTVYeWVEc3ZkYkJuVkwzaTByUlZmSTZHZzF4WHVpR0tkYjMrclAyS1IzTmtuTGcwZnk1MTVoSXl1Y0pVSS93VnRDdFpMYnF0KzRRQUFBQUJKUlU1RXJrSmdnZz09Igp9Cg=="/>
    </extobj>
    <extobj name="334E55B0-647D-440b-865C-3EC943EB4CBC-7">
      <extobjdata type="334E55B0-647D-440b-865C-3EC943EB4CBC" data="ewoJIkltZ1NldHRpbmdKc29uIiA6ICJ7XCJkcGlcIjpcIjYwMFwiLFwiZm9ybWF0XCI6XCJQTkdcIixcInRyYW5zcGFyZW50XCI6dHJ1ZSxcImF1dG9cIjpmYWxzZX0iLAoJIkxhdGV4IiA6ICJKQ1I0WDJNZ1BTQmNSR1ZzZEdFZ1psOWpYbHgwYjNBZ2RWOTdjMmhoY0dWOUxDQmNjWFZoWkNCNVgyTWdQU0JjUkdWc2RHRWdabDlqWGx4MGIzQWdkVjk3ZEdWNGRIVnlaWDBrSkFvPSIsCgkiTGF0ZXhJbWdCYXNlNjQiIDogImlWQk9SdzBLR2dvQUFBQU5TVWhFVWdBQUJUZ0FBQUJqQkFNQUFBQk50bkpiQUFBQU1GQk1WRVgvLy84QUFBQUFBQUFBQUFBQUFBQUFBQUFBQUFBQUFBQUFBQUFBQUFBQUFBQUFBQUFBQUFBQUFBQUFBQUFBQUFBdjNhQjdBQUFBRDNSU1RsTUFJb203M1dhclZETHZkaENaUk0zNzVuWDlBQUFBQ1hCSVdYTUFBQTdFQUFBT3hBR1ZLdzRiQUFBWllFbEVRVlI0QWUxZGZZd2t4MVh2MmUvYjNpODVUcVNMRUx2SStTTkJvTG1JSStnY3dTellzWElKeWF4MHlKSkJNSXZPQ2tRaE53dUpJa1ZCekVxMkJCYkN1NDdQSmtCd3IwUkFJQkN6WUR2Q0g3cmRnSUFJRG1ZVm8wUVdoRmtUY1hBSnlWeDhZeWR6dm16eGUvWFYxZDNWczkzenRUdDNYWDkwVjcxNjlmWHJWNjlldmE2ZWNaeGpISEpGRmcwSDI4ZTR4OFBWdFR1ajZETDJqZUVhdzVIMWR0b0dIdHM3c3Y3Y2FnMVhiZmgrNzFZYlpaL0c0NTYrVjRhejdLS0tYdWxUWTdkaHRVOHJUTy8xV2lyNndkWGJFSWp1aGp6TjFycXJJQ3ZkRm9IcWQ5cG1aNW50RU1pRXN4MDYzZWRsd3RrRmhwbHdkZ0ZlZ3FLWmNDWUFLWTRsRTg0NFpIcER6NFN6Q3h3ejRld0N2QVJGTStGTUFGSWNTeWFjY2NqMGhwNEpaeGM0WnNMWkJYZ0ppbWJDbVFDa09KWk1PT09RNlEwOUU4NHVjTXlFc3d2d0VoVE5oRE1CU0hFc21YREdJZE1iZWlhY1hlQ1lDV2NYNENVb21nbG5BcERpV0RMaGpFT21OL1JNT0x2QU1SUE9Mc0JMVURRVFRnSnAvTzhUUUJWbHlZUXppb21WMGlHK21YQVNtbFcyWWdYMUVHSW1uSWNBcExJN3hEY1RUZ0xRWTVzS3g3aTdlNjU0ejUrSE1qUGhEQUVTbCt3UTMwdzRBU2pPdHQrSXcxWFJxNnpwc1NXVkV2ZE1PSU40eEtVNnhUY1RUaUI2Z3JGV0hMQ1NQc3BlYzl3SFhnOXlaY0laeENNdTFTbSttWEFDVWZwcVpTc09XVUV2c0hWbnNoSDZVaWdUenZhZ3FkeE84YzJFRXdoNkVNNzJSdWNNZzlMTU03YXE4T2IzVERnRGNNUW1Pc1UzRTA1dWNoNW1kRzZ3N3ppekVPRlRnUWVRQ1djQWpyZ0UvMXkxdlZGdnh6Y1RUbTV5SG1aME50Z2J6aWlFY3lud0FETGhETUFSbDRESjJSbSttWERDNUh5dEFQVGFlVHFuR0Z0MnhzQzBGM2dBbVhBRzRJaExkSXh2SnB3d09UZnJrTHQyUnVjRVk3c09MdGx1UFU0QTI5RTd4amNUVG5nNVYrWWduSysxd1hlZTRRdDF0d2dKRFlSTWN3YmdpRWwwam04bW5NNkpGdC9ydFBOMFFyTXVPTTdzcDBMd1o4SVpBc1NhN0J6ZlREaWRLamFTRGFqT05rWW5uRWcyM0RQaHRLRVNwbldPYnlhY01Ea2RCNnF4bmRIWllOZkRrRk02RTA0YkttRmE1L2htd2psTkw0Y09NVG9aZXpVTU9hVXo0YlNoRXFKMWdXOG1uRENKWUU1Q2M4WWJuVGtHSDd3bFpNSnBBU1ZNNmdMZlREakpKRHJFNkJ4bjdOdGh6Q21kQ2FjTmxSQ3RDM3d6NFNTVDZCQ2pjNGF4YXlISWVUSVRUaHNxSVZvWCtONzJ3amxPSnVjaFJpY3MwbjFpQ29kTU9NT0lSTlBkNEh2YkN5YzNpUTR4T3VHRDM0M0NuaTNyTmt6Q3RHN3d2ZTJGczhSTnp2Wkc1MGFNRXpUVG5HRlJqS2E3d2ZlMkYwNWhFZ21qY3ptS0xhZVVHSTRhVzBJbW5CWlFRcVJ1OEQzV3dubkg2ZWFQOHJIZVVXeitVbWpRUFVwS2s2aTkwVm16dnlCeXhtMHlPMzZtOWRFZWRhN3YxWnp6bnR6cmJ5TmQ0VnY2cnFWenh3VGZoeGp6K0pkbkk2d2xJcGErZGttU0pwSGpUTUxUMmJSVTlnN1FaZGdQWitjdWhpbU9NOVZBWDFjVmZkdzd6bitnOHlpN2FCeTAralByV3pBMWtnN3ZYZUY3Y2puYTZqSEJkNXk5WjhHdDBlSHp3aFBiemt2MlBVbTA5K2tveWlSeW5DSkVjQ1ZhbU1neVdOMUo0UkwxbXd2ajdLYWlWdnlvSWgyZit5ejdnbFBTc0k0dzRiZm9iZjl1Vlh4cmRJaHRHbE43NGdDUlgyQTJIZDgxa3Nva2Nwd0tSSEE1V3QrWExsLytCOGF1WDc1OCtaL1dvN2tSeWhUOSs0dHZvallNelJUaFBXckNCbDU3eld0WWNWNTl0L2M5dWtYeEhXa3RFRlllVzh2dk93Nzg0TmJYMjEzQ3FVMGloeDkwdDc2a3BIZWJpU2ZHY3pTaml1cGJJN2Y5TWRFdU85OWxjZGZEUEJyVFIxb1dyUXRIbDIzY3F2aVdIdVBBMU5oNzZTd2w5RnJvR0hxWHNJbmkyaVNLTnpwSmU5dGZFTmw2VUQ0RnFqN2hCRU0yc1ZqYmF1c3JiWUtNajNsOXBLRGs2L3ZlTlh1TDRwdVQzK3RVV1l0QUxDVFFuTzd2ZkRVdWNDVnN3ZHczaVlUUkNWMFNEZmcrWXpsS3RWS21hQ0xobk1nYklqZnV2YWUxN0tDSkc5Uko2TXR0MFhBNXhpWGhkeXZEVjJFeEoxZHhUR2c2ZE9FeGR1aC9jejdIWW9QMHRLdks5YjI0cWFOeFJpZGY4RmQ5dHJheFVlbzE5T1Uxd1lWdjR2YmI4aDlsWm1FSnJkZTFTSHA2Z1kvclZJYXZRcVlreGFZcVBoWXZoSC9RUVBFWmR3QWRGMks4SklaSjFNYm8zRW0raitYYUNQcFNkaDRsbDR3T210SGN6LzdRVDl5N2JsSUdIT2RLM3FtcFpSM3FQbTRHcTQ3VjQ5REZobEh4Qk85SGlHK3dJejFPZVN1aXdwcjRIdmZPQkQ2WkNTOFd2US9ZZXpmV011aHhuazdTTG5zR1g3dG83UlJ5c2UrbEcwSWx2dVFpOVhXZGN4M05aWVlMbE5hWE9CWjRtSGs4VlBqMkU5UkpKVFlGdWU1OFphRVB6WmttWjd6UkNlVzluYkJ4L2pmQ2RmcFdrNGU4WGpRajVaOCtDK0dNVUFkSW1DZlhCQndSMGtNQncvcGF6MXMvUW54N1BoYWpRbTY4VVpveDhuTDJLUlFEejZNQ2NWbTJ0RlJXUzU4bEwwaWE0dUpXMWxMWGFOZjVuWGFad1hyN2tkcWdzZnM3TmwvZDk3Q3hJOFczaCtNSVZUVXZqNTRuTUlWQ0pWTWtKNE1XSWJZdlNvOEVLaW5HbVZRQkxrcU04RmREVEpzZ2JWME1PMzN4M0ViNkZFZkk3eUlISXJrcUdCYVRHOWFpUUlMcm9QSGRUdEFuZ3lVbHUxOXlaa25FWVFnZXVrdjNTNldNalFXWGE1aGQxdGZyYlVVczBPVHNPNUgwdTR4RnMwM242KzB5QTlYMkpmSFNBcXF0YTZPNDFBY0xlTUQ0VnJscVNBeFdTblpMdmY2Nlk4bnNsbFFKdlhRcVFqclhJcFhpaDVMc2I0NGluSUlBNjIxVHhQQzZXam84YmF6NVBoaDV0bmJhMFh5THhiZEYydkdueXhzc3ZuaE9hWFJoU25iYnlQdnFLU3lHUkFmYXcySjBRcUZLRzhQV3dTaHRYcitranZ1OFE1UnBIQU1mcUw4bzZHMTdkRUFkVXdhTEwvUlltcDZtWkxkVnZSUHZLYlN4cDZLRlRLSTRUMmRhNVYzUlN5WEVkQ20rUjIwejQ0djFNZ2NXaVBRZjljTzJIekMrSnhKdkRUaUVLZGx0c1B0UDJwYmJIUzFrRXVIdmlLQTVvMmM2Mit1L2FCY0tlbk5mMTJJYTVTSXZ6cDZGUEZDUy8ySVdRei9NelptNlp3UEdkL0hRdHdpQkVhUmtENVNWaVZvNlhXMnJJcFlXTm9uNFM5S28wZWt2MDdFMW1SazRpYVFNODN5N3pzTWdOWXNkU2R4WDdmMXdjdzRZMzFLNjZaV1MzZlo4aW4xMEJvWk5Jc2NwUVhYdWg3dXhtTzRzbWFHRDJybzVSL3M0c3ZBUTR0SVZ2VVh2aDV0endQaVcxVDQwYnJSQmVrcjJZR0dlZ2hvSzdhZ3RUQjJTSWlhUitBSHVpUFBIZjRLSkdzS3ZjOHZOT2w0Z3RPbjhmTHZNUkMxMXorUmJJSmlCVzkzWEY2aGgwUGg2eW1VYjZFVnNJaVc3cFI3Zloyako3SklVTVltRTBSbDVJZFYyY1k3MndiY0MycnM1NlRmNmp6cjRGa2pLR1ppazR3UEdGMXU2bFNUZGtqd3AyVzAxWTZjY2N2Zll1QlF0M1huT3FFa2tqTTd3TnFWZzJTU3BGaTMzRGUwcmhWVjV6Y0lnU2RVMEk0dXZwcHNjdzROYlMySUJIMnQ4WVU0dHBBQWpKYnV0WnJnNWw2UDBaeTk0VDcwOVNrNTUzakJxRXRtTlRpL2RHZnlxOWdWSHR2bWZ1TnE2b2tXL2dKSE4vcXYzVk9BUE5YTjNGZS9USEk3enR1WVhNY3pKQjF0ZjMvYUgrOWJUM2oxYmZyS0xHSTc0cTZrZmVFVTdsUGhPYUNjSlJ5VDNSMmViZDJ0c25qL1RwTysxLzdyeDFBOUltc24rc2QvN3VxVG1mbFZFWElIOHMyZE01TVBBNzJpSDl2aXFMTzg0RDdIV2xhdnNKM1ZhUmVvc05sak9HMXBNSXF2UkNiUDNzSU9PcWdQODdpdGFMUEJMSVAyRnlzNnplODRYVzJzeWlaRk5GZzkreEROdHZha0N1OUo0M1hub2Z3VFBNd2NGMUREdUhUeG8vR0w5ejdEbXV4cG1JVlY5K3J2L0xpc3d5T0hEZDlaVFQzNVpvakJlWlBkYzBBOXVtaDJjZ2NETWVvOFhDTGtRKzlQc1cwcWFLbXlkVjBESWIrSDduSU1MUHZJUjRDdDZqZHk1SnB0MTNzS3VRN244cC9qK1RSSHBQcUc3cUxxcTc1YnpuQmFUeUdwMHRyY2N6ZlpGdktnVmJaMTdNbDExK084WjlzLzRoS01tTjF4WVV0ZHFOeHlIL2xSVGh6dysxczBWM3EyVzJNYldKSHZWTFQ5QkIwTjNKZE1uMmFjWEhMZldacWVsYXpzMGduVnBWVEQ1M25obkdQSGxmOFBGSC9heUhJL1hnb3A4VWIwREtRRENXbXVoQXFqTHdEL0k3aFkvNGhUbFRrT3BpZ0tRdjRGUDB1bjVySXNxbzhEREZKSUxXblZmOE9CY0JWYytycmNxQ1IzZWJDYW56ZWcwMXI1RUxYbDZGeTRXK0VtcHRkMGkzd0NOU0M4L3F2MysxMmxzZW9TT2M0bnZrZWFhVWpnbjhVa2ZZdzhmZ0d0U2lmRFRqQmVhVUxBazZsSWNFL3hIV3lMUGVBczJsUGk2TDd4UVpkOTk0UVVwTEc2QmZZUUdWaFpXeTl4MTBNZllLNUN6R2Y0YUtjQk9welBMd3IwTmpiRkg1V1k1OHBjSStiSlVDeWJ3N2xlSkNSL1pxamMyeFMxT29IOVJmVC9GU3RwaEkrbHBidzNSOFZBeENGVEkwK212ZlNIV21LVC9OYkJZNEdlZ0hpbE1DRUY0a3pUYllmTTBsb2hPNjRjSStDOFpnZ2I3U0RHUFIvSE94cFBLclNpa01lY0paVENWYW1jcTY0L2NZSGVzQ0NKMDZDbVpQYXo0bW43TGsxSkJiRUJWSXRUMmNjSFB4dUJKVkNTMkVMcE55a0lvN2RORFdLSW9OTVkyM1Nkd21NSmpIaUFCaFFNVEFEN1BQZ01tU0xMVU83TXRYb3Ezc1lBY1BNRnJWRTNIWVZaMEoxd2V5aVIwa3MxNGJtRm1hOW8vd3lTK1poNkRpRkdvODJubWVuS1pRRVBpUlZKTnI5aGpFdEt5ekZuY0o4MHBBS2lKN3A2VVdhNlNLbWYyNzhqUzd5eEFPTmRFeVIydFEvRU1oeE5mVDVrb0VBNVBZcnJEaFhPMnVZMVJZbnUrU1lwUWZtSHVzeGN4WHZrWFU2TlNGKzdzRS9MMHdMQ3BYY0xOTVlHSEYrWUFKS3cyNGdrNmMxTC9RR1B5aHcySjNxZENIWWM1KzhLSWV0WGNrbFhqQ1M2bGFjVlR3ZzA3ampxOUNFZ29sRGtxSUlya29ocEFXZXVzTXZidkZFclNBNXJmY3JCUjRlc0UxZ3VlNTBtV1NiSDhnRG1mc252VWdBcVlJSHNpWG1WeXpnd3R2dEJXVy82NDVIcGIrUjZSeHJnOWhTY0xocG9RSDFKdVNGRVl4K3hIYW9YaTgxTGNCUEowRmcydlZDQzdwRWVYNlFiN2FzL0JvNk9IQ1BUbytTS1Vsdm1Oamt2c1VnenpnRmNucUIxYzY5ZXQzN2gvQlEyckp5WnEzUWlsRDJ1cm9aenJVTG1FU241VmxQQm90bUV0a0xPdHBHek5ocHJ4R05JNlo2M0tJM3FZMGhpdUVKOEtJeXNFazFXd2pMWTRKLzhJU0xVbktTbHVVQXRybkIzNlhNNlpvY1ZYbzRjQktRbDBDcHMwdk1veVhXR2ViVHZPMHdjQ1Q1OTlEQUlNWFlnOHg5bVFwcjFBZmhlVVhPTi9LU01BUEI0ZENYL1ZrODlTL2NRQ3pGcXA4Y3J2b1VLZGh3YUVNQzdzbTlXV1ZJdWE2TjUvdGZWZjZ6b1ppdVRWZkNxTGd6NmVRQU02Y0lzNC8yTkY4SmZWRnNkVGlubUhjZkdscFdlVGVGd2dBTlFFdTFndzZzcks0YjhqUlRtQVhCVVRqR211cUgyTDgwTS9TUE5wYVBFMS9KYVlZS2Y0c0dhRUFpdHp5T2Zra2kwQTh0bDNBTFk2UGlmVmdrUitXN0RTTlFCOGphdk1ITHRmZ3ZhTWNwMVU5VjdZTDlsSkRBT0lENWhMZnFnRkJnWDZWSUU5ZGNGckx2Z3NnZGlHN1BKNDB5TnRONnQwSElUb1R3MUd0VTVBYURsMnRFREw5NW1lMEtXNTN5ZVRSd3BzbmxHbmxGYit1QlFxY1FRMTFac1Jvd3RrMHAvaTZieGVvWVlXWHlWZkdJOWFFQ2FMTi9qb0x2Q3JXcko1UW91ajQ5eTU1V3ZNZ2xBTE9TaStvQ3dIZ0s5eTJFWmZoekZBOHVzV1YwV2RNRk5wZWVzK1lBRHhRUXFFYU1YM1c0cDByc3grSERMWGVDeW1FOUJDMUdXbjlHMCtEN1d4M0VCN0IvK2lDbW1iUjY4dmtOSnJQRmNaUUpUWVVYT3hUTUlwV1A3bTF3cnNtNm9ldEtiVW55S2x1QmNFbW1Sb2MwdWV0Z0ZEaXUraVdyQUlOQ3czN20vZXhlUVNMZ0NwcTduUGt3WTcwalU1YXFrV2lDTWd5MEhnRjluN3dGQmV4a1pnRlpHWDVhSURlN1RMZlJBcTQ2R081eEVmOWhRYjdyNXJTQkFyN0hjcDhwemM5UW1pY1lWc3JTSTUwMXJmb1pXN3VpenpLcnk1VDhzVVpIS0JSL1g2QXNvcFR0RlpTT21QNElwa2g1SVFVV2o1UC9NTVptbUZ5NHBUM1U3eXZhdGJ2cWdteHZEaUt6ZktOSHhvTmg2ZVhEUEJDSjVsTU5qQjVBbm9UYld3WWNweUVQaHBoamQ0SDRjTFlBUk9aL2RqeWl5anpkT1cyV0xIY2RKajhVRklDYThjUzU5VUtxS3RhU1lkRTJxNWpuVGhFZmI2Z3ZPODl4aDJNODN0YWJtRDRlWWpOU2pmdXM0d1dmNkU4bTFnYUN1OExpMnVTT21QNExoR0E4dVZEMTMrd1ovZk50b3M0T2VmVjQxMHF1aVV4MzdSeWIyamVWSk5qT0hGdHliWEhZeS93QTQrOUN0Lys4Zi9Ib1Npd0pZTmdzSE92NWZsY215cWhZQXNoNEQvSkdzVnVaZi9BUWJiVGE5aTgwcmhHTzEwRlBWSVVHTERwbDhuT256TlQ1RzQ4UFY4VWUxVXpEd1JkL0ZKWTVFdk1pK3pKamNWQmYwQjNwejAxNDRwbWRRelZBOU5peXVLcVkvZ1lDS2pUOWl0ckl1Ni9PdDA0MzA3KzM0eVplenpETCs4emJZd21pMWVVbmNpWlQwUmRvOFBOdTdTQjN6MWI2S1MwektnVG1UZmdndU13YzUzbFp6SlZBc0JXUTRELzRtci9FU080NXp6SHYraUhqdFExUEhCUk9CRVdEVmFncXl1VTdLcWRpcEdub3JtL3VScTYrNXRTcDByL2pTL2k1d3ZuYUdIdGNRVE8xeDZFZFZUZUVNTmJWSHQ0NUdyMkxHdjNpVTd5RHI2K1gxd2RoanVPTVB1K1RtbnBLUithUEdGVmJpbElBaXBFMEhHQ3JpbUdMajFydGxwc3k1c05IVW52b0FzeHdEdjE4ZGo5VFl5RVdMdFVSSTdweFdqcWpxN3lWTWxRNEtNN0VPaWJ5NXdEUWl1aXByZDJnYlhReXY1WHlKRFlRcEVNWFgzeU5LWHp1VmdNenVuZ3VuMEtYMGlYbmNpZlIwZGx1Z1J2akNXMTJVUElLZkwwYzdBYkZ6d3FRWTdpTXE5YWFpRm9DekhBTy9YeDJNbEtSc2hjaCtUbURUYlJ2VkY5Z1pQVFRSWERHcmk2RlJSR2dsS1lXcnhnL2FTN3JLYThHZFFuVkNZb3ZGRmJxTE9LMjlrc0wyTjNXQTZmVXAvVHpLMCtHS0IwOE5XQnJRbVVHU1VJNmhJSmpzdGc5aHRJaGhxQVN1azhkaGpnRmUxeVh0RlBjRVF2WC9KeFlDdXh2eGI2cWl0UncvRVdIZWtjQ3FiUjZCRW5qaXRpM25XMjNncjJ0a21QUHZ6eWxBTmRxR3lGVXluVGtHUFNDdHRhUEdWdjIwL1Npb2phSWhKTkpRZjlPRTFJcGpzWkZwdGNxNHlQWnlYOXlnK0VWaWtZb0RuaGZ5TFVzQStwZCt4aWpJT2VVTWhQWnE0Y1RncGRqbnpoRmh5dEluRWg1MmoxYm9pZlJjaXkrUGMydG5tY2ZqbTdKcXp4dUhrQlZKZDNOK1M3TmlNbmhMUlljVVg1dmdOR2tGK0NaZUdHZzFSVkZpVWFxMndSaFNUbmJiMys1eU5lNVRLSEUzVC9DU1B2UEpsY3I2WWkvbko0aS9IOFBTV3JQeXpvdFpLUUk4bWJ3bHZHVmM1OTRRUVVtM3pWR2c3UDBNTCtvYmMyR05CV1hlbXhIc0E1VGdHTzJFNjRrOW45Nk84T240Umd1eW5rOFpxN0J1Q2RVTWJiTU9LTDlBajNlOXl1ekx2MjV5ZkowbjdIRG1YUzJMdTU4VHFiN0tUY0s2Q1F4NEdFV2dhNWlkeVlvQ25Ra1lZOVJjMjlhUHhSbTV2bzdrUGZ4WVZGcVZVaWJvTEFUMmF2RDFzYUZZNDl3bGh0OE9ZRklYNWUvUVRaTWZPUzgySnd5NXd0M005b045b25oQ21OcXgwMWFReGVpbklLaWZ4SFJQbXBtQXVhOFV3clBoQzlxNWhMSHlXUTFBcHpnTWRtUVhXRU5HQ3NDc0ZSNENkRGpQc0VqZG5uQkk2MGpBL2tXTUhuc3FZWVVyckRyZnhCMlpHSCtKMVdvcXhIbU5rT2pCL0o2MXBTU0pqU2c2cXdtbWgxd2wra0xDMGl6cG1wTnp6bmZNY2lTc3RVRUo4OG5MZGFhZ2RwOXRZNWd4MG1SRW5hblU2YWFUQzVESUE2QldXdzRxdk5CdnJ5elQ0T2YyUUxwRzlCRk5zajU0amwxakJFV0FuMy9VcWxjTUNzdURNaUFNTzh2QU5rU2xZZ1JkWnhsV2VwM2VjUjFvTEJya2ZVWS9jUHVONk5sQVRhb2lwbTV0cHJ2TXlVMUlNcE0xRG85NlNpMUZPcUMvb015QzZzY3JabWRnempqTzVuZG9RVXh4V3UzSHU1RG1PT3VkUGRTbXJvMGpxb0FTVkhsSjhzZUhlcDhlelIyUFF4eEpuUFhvZnQwZ2dqcmE0eEtyVGJTYTc0OVM1UmUvaWdXODdKemFwQ3NjTExKaVEyMTFPRGdBdktNYjFHZmwwMzhMZWJWRDdFWVdkaHo2UG1xOVk2WGpsZmtkdFRjbE5mcVcxenN2WDFmWTRqK1ZlbmcycEVyUzV4amZKNTFIZ0tLTTVieFg4SldYaGowaTdOREQ2MmhLdk12V2x3ZVRZcWtxdG80b2h4UmZTc3d5RkpkZVF2QkRTWEptK0hYSjJhSmpWVi9qQzlJZ3dsNExzMkx1VHdYcm5xeDQwWjNVSlVUcGlzMEozRmF6QXEweDlkeHROZW9UbnhPa0xUZTVEQkJZSVpzOThRQnJIMWFZN2RYdWxBeEszbDlncm9tUmVtVVdMYkRjbmoxeE40TXNVRjh0K21lMk5DTU1IWFhnVTM3Tzl5VGQwU1paRG84KzF0bFAzaGhjb3lzRmdWVi9WTlF3cnZpT1FyMm1zUWp5TThEY2tieTYwMWlnNWdjM2tUR3VoQklrZDhUa01kbWhjTEVRb1hXRkw4b1FqTk5PQ3FFdGVMY0FIOGtWaW1yWGVkWUd4LzdaazlaWkV3b21KeE5hTmF0SG5KU09aSWpwYlpGODczMkJQeUNJMUpRK1Q3SHJqcGlSVzJYMk4xaDZNeitzTnNZMmVZeTIzZ0kvV3IydWdVTTBWakY1KzE4N0x6WFZvY21JUzBNa3YranpHUEdBMXBQaGlOT2U5UCtUandlWGZjUFFEdjZMR1pkTnhDODN6M3Z0eG9LMTVubjFBY1FUWW5ZZlp3WG1vaG5GMnZmQVp6aEcwNWtDeUFLK3FNdS9QUHVoZC9MOVBtWlQreEtFbFliRjRnVWNQSmJQU1lXdFRkMTF0ZmUzdHF2Q2xKN2RsOU1YaWZlc3k2djZsZHgvaCtXWHZwd1NGbktDenA1dDNLMTVRWnlPajUzOTlKR3RJZGF0c2N2WlpMempoaGhYZkI1cy81Zy8veTJkYkgveEhCZHZVZ3kzS2V2NXEwejlxT0JWZ2QzNzlLaS85ZmNVbkYwUWxIMzZuWHhtUFJZRVBNUXcwNmJMMzBoWjZOZENvb1RrbjFnTTUvVWpVRTd6QUgrOTBWWGY0MTl5MFZkVUtweDlqaUszekdPQWIyN2ZqbjFHNXZ1N1dRbThHQ3I2d2tndXR6eUd2ZlNMeERkWEpsdThvdU1VYkM4NVVudDFVR3Fhaldqb3ZkUFQ0ZHQ3M0l5ODU2YkZpY01ValY5aXk3TmVsampWVzhvRTF1SXVqUGY5dnlIV29QWmMxOTBYV09zdllaNDlJTnAyang5ZUt5cEFReDA4M3Z4RHE2Z1M1SlNoTTRhUjczMFBIdm9HRVBYc3JEblArY0VMZVByQWRPYjU5R05OUlZ1a1doY0tVTHJUK2RzVS9UdGZmZG81UjdRUEY5eGlOdXpkZHVjUzlFY3FGMXBzNjQycUJNK3VvbHR5NEx2V2RQa2g4K3o2WWdUZFFaWStUQzIxbEFBMlBCVjZkRHFEQjQ5REVBUEU5RHNQdGJSL2MrMDBYV20vckR0YjJWMVhXL08zYlRuVU9EdDhnMmxrcURRSTRaWWRnL1dnb1RUVVpiNFpBN3hFWWExMzgxbGt2NUdmdGZUTlpqV2tSK0g4SHhtekxSYVNxS3dBQUFBQkpSVTVFcmtKZ2dnPT0iCn0K"/>
    </extobj>
    <extobj name="334E55B0-647D-440b-865C-3EC943EB4CBC-8">
      <extobjdata type="334E55B0-647D-440b-865C-3EC943EB4CBC" data="ewoJIkltZ1NldHRpbmdKc29uIiA6ICJ7XCJkcGlcIjpcIjYwMFwiLFwiZm9ybWF0XCI6XCJQTkdcIixcInRyYW5zcGFyZW50XCI6dHJ1ZSxcImF1dG9cIjpmYWxzZX0iLAoJIkxhdGV4IiA6ICJKRnhoYkhCb1lWOXpJRDBnWEZabGNuUjdmVXhmYnlBdElFeGZjMXhXWlhKMGUzMHNJRnhoYkhCb1lWOTBJRDBnWEZabGNuUjdmVXhmYnlBdElFeGZkRnhXWlhKMGUzMWJZMmwwWlRvZ01WMGsiLAoJIkxhdGV4SW1nQmFzZTY0IiA6ICJpVkJPUncwS0dnb0FBQUFOU1VoRVVnQUFCYUlBQUFCVUJBTUFBQUNDUUYxdUFBQUFNRkJNVkVYLy8vOEFBQUFBQUFBQUFBQUFBQUFBQUFBQUFBQUFBQUFBQUFBQUFBQUFBQUFBQUFBQUFBQUFBQUFBQUFBQUFBQXYzYUI3QUFBQUQzUlNUbE1BRUhhcjNlOW1WTHNpelptSk1rUmxxWFlSQUFBQUNYQklXWE1BQUE3RUFBQU94QUdWS3c0YkFBQVd3a2xFUVZSNEFlMWRiNHdreDFYdjJmdXp0OTdkbVQxenRsQUk3Q0lUb1NDaXRSSVNCVnZKTE9KT2lveklPTEdQUDBHa2x3K1JMSU9ZKzRLRStMSXJ6c2tIQnpRckpQUEJTTXdDQm9JUnpDRXJrWkt6dEN1K1FPeUxkbEVTS1VvaVpvUmpCSXJ3SHR4T2NEWTR4YXVxcnE1WDFhKzZxM3Q2eHJYTzlZZnRxdXFxOStyOTNtK3FYbGRYOTBiUjNlTXVBblVnOEdPdjhhTU9TVlZsaUE2TXFyWXUyKzc4WTdMRi9LK1ViVG5EK3A5NFVDcjduZTBaS3MycUNoOHJDcWdoNDhkTzFweFpsU3lJRG54M1Z1ck9zUldoNmdJYnpVcGxlVDN4ZjhzMnZlK1hiMXRqaS9DeG9vQWFDa0w5NERDNnhRNkZ6OCt5YXpYNnZtWlI3QTBwc1BPL05Rc3VKeTU4ckNpZ2ZsQVpmWTV0bG5QdkxHc3JSOFhmbWFYV2pDN0Y2SEN4b29BYUpyTnd4cHhaRml5d21VVWQ0WHNKZ0tjY05VdC9KTHJDeDRvQzZpNmpwZnZ1WWVPcmw1OS8vdm5uTGwrTjJmWTA2RE5nVng5L0JEUmN2bktWdlo2dmdISlVmb3VwWEhVeE9oeXNLS0R1TWxxU1FVWmY0cWFDc1kwcEVHUTVrUzFPeC9rS0tFZmx0NWpLVlJlanc4R0tBdW91b3lVWjVsNSsvMENRN2VUNncvOG9ieDVyWnNsUHYvQzBKUFZuM3ZQaXUvSmxVNDdLYnpHVnF5NUdoNE1WQlZReG81ODhHZFdPMS9KVlkzVWxrRGk2QjR6N1FPMjJJb0VYUU1FZGo1OEw1U2drWmxaSkY2TzUvakN3b29BcVpQUVpOb1hidGlOejdTd1FScmRaVVlBN0laY0FTNjhZblhMVWhLcXJOTTlqZEJoWVVVQVZNcnJMMlA5VWdTT3Z6WSt3SUJuZFlXeTZDOEJuZ2RFK3krQ1VvL0x3bk5LMVBFYUhnUlVGVkNHakI0eWhWZEZHKzhPVHczZHZiRGsyakRHNkFYeTdQYmwxT1JKV1FVUE81ZlFTNWFqMDR1d1NPWXdPQkNzS3FFSkdneFBRWWpHTU1wTWl1dkFFaURTSHFqQVlQUS9kMnAzVXV0ejJXNHlkNUZaSUxsS084bWxYYzUwY1JnZUNGUVZVSWFON2pPMXJwTUFuS3pwWFBqVi84eW5nRFJ6RzVCc0dveGVoVzhqVThzWVZ0dGhqN1A4S0swRUZ5bEUrN1dxdWs4UG9RTENpZ0NwazlET0dFM3FzWUNtMUFGU094UGlMRU1rRXlHZ2U1WTRLK2ovWlpRZyt2ZlllVVk2YVRIT2wxam1NRGdRckNxaENSa2V2NFVHWnNlOVZBa2MxV256OGtjOGRSbUV5ZWhVWXJmbzVsYk4zOEVrNWFpbzl5aGVhdytoQXNLS0FLbVkwdGhvZWZOV3hHaEFtbzdjOG8xd01TS20wZC9CSk9hcVVwbm9xNXpBNkVLd29vTW94ZW82eFpPdnVSSmlGeWVnOXp5aTNzdW5ld1NmbHFNcGFxemZNWVhRZ1dGRkFsV00wUFBUYXFJNVEyakpNUm5jOG85elVqTElKNytDVGNsUlpaVFhVejJGMElGaFJRSlZqZEl1eEd6VkFGU1NqdmFQY3lnQ3NNczlBblhKVVphM1ZHN29aSFFwV0ZGRGxHRDIwRmlrcW9oVWtvNXZBdDkyS0J2azFPL0lOMUNsSCthbW90WmFiMGFGZ1JRRlZqdEhyYkxMbDZBVHdJQm05Qkl6ZXI1VVJ0ckFEMzBDZGNwUXRiQVo1TjZORHdZb0NxaHlqSjEyT1R0d1FKS1B2QVVhUHBzb1RNTnRyT1RyOEp5eWhZRFU1bytNSmw2TkRadlFxTUhxcWhQWVBQaWxIVGJWcnRIRDNHQjBLVmhSUXBjYm9tcGFqdzN6Q2N1UWI1ZEx1THk3MUR6NHBSeFhMcjcyR205R2hZRVVCVllyUk5TMUg1eks2OGNDVjhjLy9SdTNlVVFMZFhqcndqWEtWcUxKbi8rQ1RjcFJEMnpUaENoOHJDcWdNbysvOW1mangzOTlKOFB2ZCtMRVJncEpZamw1NDRDL0h2NERyb09yT0pBU1VybjBkOHozR3JqRDJzODYyRTE1d2V3azY1UmZsVnUyQmYvQkpPWXJXT2xXNHdzZUtBc3BtTkd6MVBJN1o2NUxTWDJlUHN6c1N5ak14aEpuSk1UNU00WDE3aDdFT094NmxCV25peVpPMU5HMG4zSXllajlsSGQ2SjcyZFMrcHVIMkVoaDMyKzVvcmZrV2FQQVRTRG1LYkRsZHVNTEhpZ0xLWXZRbjJESE0rTitNeFdqVlpKK1B1c2tqRmU2TzlCZ3BlT0ZsbEUvdFJIK0Uzd2xJTHNFTFNPNVgrSjJNWHVpeFgrWUNubFUvSktXb3RyUFRTLzVSYnRXK0hIa0g2cFNqS0sxVGhpdDhyQ2lnVEVaL25ZMDNPWFNMNGx0YVE5aVYxRW9hblgvNTVzMmJ3RVQ0ZS9PZkZMb1FHZjRkVDE5S1ByMmx5dUc4QmZUZlJIa2o2V1IwbDcyK3dtczI0dVNIZE0rRFJzUEpNMDR2K1VlNVZUdHg0QjJvVTQ2aXRFNFpydkN4b29BeUdBMTNmZ21EOW5ZQndmaGFGSjNGUTYyMUhOMFlKSzhnTG1jZnR2V0EwZHVVRjNpWmk5SEFxa1QvVnJMSGI3anJrbEd4M09rbC95aTNvbVp1dFdlZ1RqbUswRHB0dU1MSGlnTEtZUFJlc3R5ODhGNytKdFlpM3dyZFltT05wYlU3K3RYMEJxOE4xYzJqQTR6ZU1JdDB6c1hvdlRUWWdFMDlLN3ord2I1dTVVajlxUGhjTC9YblA0a1dUaSsxb01ORS9ScUxRTUZ0UDNHVW80aVc1ZUY2cTJGRkFZVVpEVXNaK3dLNFo4UTI2Q0hmT0xxYVVJdVhXOHZSRUhtcXpkTHJLaUdhOHo5dDhOOTJtck1TRGtaRDdMMmIxSVRaWW8wbk95UCtOKytBQU1WNXJHVWJPaGw5NUIzbFpvVjZsWlFJMUNsSFpYV1VoK3N0aHhVRkZHYjBRRVVZd0RpZ2FHOGZVQVJIcDFnQ3pmRHU2S0g2QVVEVW5HRTB0SE0vVXdiNUVORG9JM25QOEVCL3lCcStLdjBvWEY5R0U0U3VicVE0VVZ6SHRsRlRaSnlNQnVWZTd3Qm1SWHFXbEFqVUtVZGx0WlNINnkySEZRVVVZalJzU1ArSXdJMS9wUHk3TUNMdlFLNk5vZzV6T1hvaDFpODJyMmNDUkdDL215QTBvd0Z2L1IyRldJei9Tenp3S1RqZTYrSXp1YWpvWkRUMEtXTkVnZVp5bDBzRTZwU2pNc3Fxd1BWV3c0b0NDakc2cTBaTy9sUGVpQmJGNmh0ZWhHc1p1NlBQTVNVUGh2TnNnUGlOVDQ4eVRsQUZOS1A3Y2x5V2xYb2lwRDlYTzhtY2pBYWI4UVNrdWxyZkdkRHozYmlvZ0kzMUx6emJqK25ERlQ1V0ZGQ2EwUkFsbjBqYytKYWF3K2djanlUZzFUZ2RVQXdWNVVXMWczUmhJbHBRU3hSWjNNa1NtdEZRdXBsV1B4Qnp3eEVQUFdvOVhGN2l2K0xkV2pYWndvNVNmTzBybVR6bHFFeWw2Y01WUGxZVVVKclJzTHlneU50bEg0K2lJUjkzSWREUXcrODZIbVI0YUxLVHdIeFBkajA2NHdCY0FNNjRodk1pamdaT29hZ1pkSUgwM2hxdVZrZmE1YVVTVVc3RmJoemt4V0dtVE1wUlpvMG9Lb0NyWWRldmtBOFNLOE13Q2lqTjZLNmU5QnQ4M1d2OUJ2eFp4WUdHc1J3TlhFK0c5S2pSOHdoM01hSWtvK0VYaFQ2d3Q4VnZMQmQ4cDJrc1BEL3Q4bEtKS0RkZmdmTXFHTzBiUTFHT3N1WG13elZYeDl0eklXSmxHa1lCcFJrZEp3dG1DcnIvNENQd09vOC8xR0hzamg1cUFyN3FYcWRUVGMwenllaXU4VG15SXo2TWl4VnhzK21rT1plWFdneFBRSDVhL3BSYUJIL3R0ZjlhSVp1REF0OUFuWEtVTFRNZnJxRzNMbHN1eW9lSWxXa1lCVlRLYUZpY0lFWkUySVdVbW1ndVI3ZVZneG8va2JPcWtUWTJFZ01xNnVndy9Fam1pQWZWL2N5REcwTk1sWXpMUzZCUFRUbFNiR096U0R5TWt2UkJEc1haUVAxK3B3TEtVWGJsZkxqMlVMQm90L1RPaDRpVmFSZ0ZWTXBvV0xvd1hjb05oMkJaUndMbWNqUTRjemVLTHY3cmIzYlk2M29ZOTBOclFEQ2F4K1g3dXZtUXp4anRHN3FncHBUTFN3ZDJsSHZoalNLTkxaclBHRElrSWh1bzk1eXdVWTVDb25peUFLNjQ3TFJwaVJmWkVMRXlEYU9BU2hrTkZOTGtWZmFCRy9Rd2FTeEg4eUVuT2RMZDFLcFY0WmxpTko4amtJdUh3Rys1SWw0b3JWUUZsNWVnUytiUUttNk1jMFV2ZFJRQzVubjhOMVN6VEtDK3JCOWQyZlVwUjFsMTh1RUN2cTlaRFNwa0E4VEtNb3dDS21YMEFTYXZNaDhHN2wyVmppQ2p4MHorZmFETGx4KzVmdk1uZDlJSzNnbUswVENIbzZXT2lEUDZndnNaamJjcXU2TExTMkNPR2VYdVBXZzNuU3pmQWcwcldNUmlzdk1jbHlWcHlsRld0WHk0emh1amc5WFVPeHNnVnBaaEZGQXBvMkhBZVRSajZ4RmVJdTdqV0lFUE9abnF2Z1VVbzFmeHM1d29BbVg3M1ExZmdmNzFIRjdpVTQ2cHpmME0zMThacmdsUTZsc1NmcUZsemdtNEx1VW9mQjNTK1hDZE1VWUhxNmwzTmtDc0xNTW9vQlNqZVZ5V0haWGFtTFpkUE1pUVliY3ZWaFNqaDJiVTAyZnNpM1dUaW5mUDRTVWU1ZDdBM1QrUEp3eDhvV3I2d05xNEdIV3pBNGlTVFRsS1hVdk8rWENkU3pjeFdzMUtaUVBFeWpLTUFrb3htZzlTbXhsNzRWODc2YkkySG1SYXRvTjB2ZUlVeGVndE01RHRNL1lTMGwwczA3T0d3MHQ4eXJtR1JaeXRPK0lCbTlVRExLbW5zNC8xR1duS1VVWUYyQnVXQzFjZjdaQ3hHcGJJQm9pVlpSZ0ZsR0kwUE83R04yYlNib2hhME5Sb0xFZXY0bTFGSlZBU1ZTbEdyK09uazJKV2pUZTg1QzdUcThKUXlwOFQyWWZEU3kwd2Z3WFhIUll1ZGVEYUhtbFFZQVRxeTFtNFV5bVVvOUtMTXBFUFZ4ZmQwT09HcHg0cnl6QUtLTVZvZnUrTWJSZHBHTG4wMUFoeENScGsrbWlmVXFaZFVRSEY2RDFtQkxLcjBKOURMR2Yrb2Zoakg4UUZTYm9SUTAzSHNaYXQ3MkQwMEk1eWV4dTY3ZjJnK2tzNld5a0ZpL21HZmRFRkZGWGJ0bEdPc3JUdW1lSldRVHlDcTQzOGhocWVmcXdzd3lpZ0ZLTmg3UUpCbktEUWg5dXpGQkFZc1BWS0hyOXp1NTFlS3B1Z0dIMkFsMVhFR0czTSswdnMrUHBUOHJWYVV4dGFSZ1N2bXNlMldaWG5ISXlHSWM5NGt0OUVxMTlmWStQUGROZ2ZabVdWS2VFanhnM2M0RWl2bFdac294eUYyMExhRGRlckNvT3NQMDgzVm9SaEZGQ0swWEJySkhhUEdzQ0JuM2VnNEpVVlhncXZURHdxcnM1eHo2eXFuQ2dxK1dkZ0JhMThweExvZWhDSmFabGpVS1B6UGVqRW4xRDNpclhzK2UwWkV4Qi92UkxVeWVPSCtMK0poYmV1TjFWQnBUTXM1cHVCZWllTlFiSzJVWTZ5dExyaGdpdnl5REk2T3RWWUVZWlJRQ2xHd3hpU3ZSRkxub0YzRGptY3NMb2hLVGQ4RkhJdGszRVczZ1haZ2VWZHp1aXVPWWFCL0J0SXlpVkpoNE1OVkZZcDZSaWpnUU1wdzdqYzlmVG5QYy9HSXloWXdpRVhyMUh5QUh2MGp3VGF6dW1IZWxuYktFZForbkxndW5nUnZuZnlMeGN2V2kzS1owUERLbXNZQlpSaU5Od1pHdE11dHg5aVB6NDFKcTlHOWRWaVNHOGZDbUdGZnhkTzFZNEJ3V2dRanlrTUROaEh3dHRpamw3b29iZ0hYUzJScEwxa1I3bE56ZDkxOW1kQ2ZDZmRPMXRDbTY0NnRLSTY5SCtrczdaUmp0S2lSQ29YTG12VjFtcnFuUTBQSzlzd0NpakZhTGp2dzR4ZTVtOVBRR3pOQjY0bE9YaHZKZnVoRjRScjRkb0dndWJaRWNvVUppbEd3eFN3alJxYWpHNUtaZmNwQzFERmtrbmFTM2FVZTE5Nms3REV4aXRDUmRmb1hrbXRZaE1qeGhmdTBaUUl3alpsSm42SDVkdlhSNm9GUCtmQ1phM2E0blpsMHVGaFpSdEdBYVVZSGNWR0hQME1aM1NDV3ZKcTFGN3lIT3FNOEF6Y0o5N1c2RFE2YXpvalU5LzQ5S0ZkbE9ZcFJwcy9FZmdVQ0I2eXo4aUFad3ZyVEtXVlN0QmVzcUxjaFRpTjZkUGxvajYrTHk2bFVsVHVtWUg2TXpyR0kyd2pIQVgzT2NhZGNpNWNmVEczbHUrazFTSThyR3pEQ0tCZy80UWNncUk5dk5iUmlIZkJPcGpaTnVHVXZCclZTNXd3RkFGbnd3ZzhMMlh1UW1EVU16d0FjdlJCTVJvbUNmUVQrU3BUVWJ0b2RVNkdPRVBNY2kydVRJcjJVZ3ZVSlRod1lhQjlKSVZDT0xJbVU2M0pIbHFBQWhTb0w4ZDZvWit3alhEVUVRaTRKbnNpL3ViQzFWVUNVSU1LeWZDd3NnMVRkdUxKTEdWMEg2OUhYenJtL2dVVStXbXdLZEFZSkJRZHJJbnNudlpKMUJqOHFpaERmN2dIUmlodkpBZnlwNUtXaWJleWVramdITHNsNC9UM3lUcXJjdEJwZmk1dFVqVkJld2w2aTM2VGI5ZWJwczZtR3lSYWVsU3RvTnZjTjlJNFFDdEZoRzJFbzlxQTV5NVduQWVYdFdxTG01VkpoNGVWYlJnQmxCNmpZWEZ1cE14dHhqL0hrMXZDbmZQSkRvZTJaTlhTaWF6VlJ4Nyt5bmhITlZWbjdvRnRsYkhQblhUa2sxY0VvKy9UWWMveTRPTXdCMnhFMGZsa3lhSEYySjhmMmxJcTVXa3ZRVzkxbERzWDYvbWxtODdmTGQyOUNvb0JYVFMvdkFOeSswb0tZUnZoS0lETURIdnk0SXJkMEN1dFB1ZndzTElOSTREU2pJWjdsVzFsWnJKMk5SUk9QSnM4S1Z5WHp0MUtobU1JSy9nQXpvL3p5WEtBek1tLzNBTWJ1QUNuRGZmQ0JjRm9XRzI1SmlzdHRPRmV0TWNkS041SGgwSys3WUw5N1VoZW51Z3Y2U1ZZN1VxWnUvQUUxL1ZHb2lST1k0VStTMzdLVmRRMzFrSG1XdEx5ajN0Y1Evb0RKV3hUNnRGa3l0dm9aeklnS1FjdWlFaVVya1JsdFZOd1dHVU1JNERTaklZWVF6M2svbFl5Z01pSmRtOWI0dEVYVVVjekhja0g2dTZwT2REald3b2Q5MERTTUMxVGlhL0J0ZStvbndNdkZJeUdLZUg3b2themR6TGlRVHpjbkxhM1JRbDNIeHpqZlptYjVHL0dTNDNmZXVFaElmemhGMi9kdXZYQ2MwS1QrakdDM3QxRTIxYmxNZnIrbDk4ejRGSWZ1d2tLWG42b0l6VG9JSWV3alhCVUYxcVpNTHZoc2pZUlY0WXJPS3d5aGhGQUlVWURzaU5oL0pNc2VRbGppVHR4U1lUVWNPR01HS1QwRis3ZWxzVFY4NzNqZEx6UjRIRVBiT3FzU2pWdTNYei9KNlZMcnovOG9xb2dHZDJNMlFlQTNVOHdUbWdZK0k5WG5rMVd6c1JEWDJoMXZLUGtWRDVudk1UamdleXhKaFhBR2tpU2dzZk9KcUg4ZTlET2lqZkcyd054SGR0R09BcDZNallmZ2JuaGduVVEvOTdsMUF3T3E0eGhCRkNJMGRHci9IRnY5Rzg5OXRmS1NuaXFzTndUSVRXVU5EcnNXdVAzMFBmOWUrenY0ZkhMQS9IeHBxcVB6a0NVSkFaR2hTREU4TzUyY2sweUdwN0xzZU1yalAyYS9JRjAyYkdPWnM3SG91RkhER0ZWTWhrdkxVckpSci9ZeVlxVTNkTGZKT21aazM0SjNaODFaY3VjZkd3anBHUnRveHoxVThjL2JvVTlUcmlNTHlTWDZLaGROVGlzTW9aUlFLVnJIV0RPT3J4b0ZiUHhCMVBMM2dha3VwTTRONHArbUkxajlnL3B4V2krdzhaQXdEc2pYWVJTOUgrdGFMQ3JsNStYeDNOWDR1Mmtmc0xvcVBtRnp2RmZ2RE1wYkx4MDlhKzB2T1kvYythNUZ3UjF6ZnhVeGt1NTFmdDZ0TE51ekhLYmxieVlzWTF5Rk1pMEdPMkVhN1h5ajgvc2VIQllaUXlqZ01LTWpyNzlISHZrM1hLRWxMWTlZZnhub1ZmaTQ4OWptNWRmQWdLK0M1ZFVUQ3RHNXpibnQyeVR2MWhTemt0SDZlMGdMTC90NW5adm9vdVdiWlNqWUg2akpqMUs3WlpxVDEwc1VSWWNWaG5EbEtIb0ZocEhIU1ZzcmJtcUY2T2o2Q3Q2eEt6Y2dYSmU2cWJCTTRSd2E1V1ZlalEwYktNY0JRR2VieUMvaDU5VmVlaDJWUWtPcTR4aEZGREdHTzB5YmRybEJZeGVIc2lvRTRMd2lYdFN6a3RiYVp5eldzUDhRSFdldEkxeUZLelhHYXQzbExDa3JNTzJlZXBUU2JieUtUU3Nvb3hoRkZDbmdkRjlOVksyOVpwWFZUZVY4OUtRTHlHSzR5QmQyNnlxbVc1SDJrWTVDamFPeWNWTldnNHVsZFBKMHNRM0hhRmhGV1VNbzRBNkRZeHVxOGVUYmQ5NUYvdlhUSmZ6VWl1OXgySnkzRE9GMVpBamJhTWNCWStiYnZ2cGc3MG8vRjVvRlo1UVRYYUVobFhXTUFxbzA4RG9qaG9wNHpjbWN4RzBMdWVsQzJwMk9JUDNmVXpjQ1NTQXRJMXlGSHorZUJlMXkwbkNjd2grZFc4L3A0N1hwZEN3eWhwR0FYVTZHSDFEZUdCT1BhWDA4Z2RkcVp5WG1vckk2OGsvOUtDRlRsRGFTYlo3R0xaUmpnS0tidnJwV1JRaGYzUFdFZHIwc2NvYVJnRjFHaGk5OTR2U2xjUDBFYUtmYTZsYTVSZ051MHRHWEFvOHdOeWhwRTFlUnRwR09TcHF4SjdhNXNTU1k5ODM2blpMRFEycnJHRVVVS2VCMFVONWp6UFBmdDJOdnUrVmtsNjZKTWZtdlNsRjBSQktVTFpSam9vV2ZlLzBsdm5Fc2h4ditrTGlyQmNhVmxuREtLQk9BNlBQODhmdEVXeGdxbUdjTE9tbHhtQjhMWXJld1g3SjZmWUpMNUMyVVk2Syt0NWJBQTdnem5EZGQ2a3ZwLytoWVFWN2F5ekRLS0JPQTZPamI3R1Q2MCt6OFdZTytyNlhTbm9KOXBxTXIzZllSMzNGbDY5SDJVWTVTcjE0NGFIaERMdnp5ZkhJbzJKQmxlQ3d5aGhHQVhVcUdCMTk4K240WTM5d1dPQUFyOHRsdlJUZC94VDcwSmU4UkZlc1JOaEdPVXIrTXo0L0hWL3VmQWhtbG9tUDhMQ3lEYU9BT2gyTW50ZzVxWURTWGtwYnpqQkJPYXJySFhUVTF0SHdzYUtBdXN2bzJnaFFueURDVVUzOTBrdDllZ29rM1dWMEFVRHV5d1g3T3R3TnkxOEozMHRnRThIbytlUXRqUElXVjI4UlBsWUVVS2RxNzExMTMraVc0WHNKK2tvNVNwc3dzMVQ0V0ZGQTNZMDZaa1lRZjBXVW8veGIxMWJ6dERMNnQrSGI0YldCVUVFUXFQOTM4OFg5Q2tLOG03U1N6OWVkVlMrZWU3ZWNZVVVGUjBlOXl6eEQzVWhWK0ZoUlFBM2hYU2Y5TWgweVoxWkplR01kam9uM2lmbDJWMzFHOThLYmNLZmwyOGRJZlltM04vbk9MRytkUk1Yd3NhS0FHZ3BDMWZBd2prREVxMmpHakc2K1QvWnErZDFldlh0ektyMnlLZlYrZVUyZTM2Uy80V1AxeXFhRUJnTVZDcVAvSC9POFRwdEc3L1AxQUFBQUFFbEZUa1N1UW1DQyIKfQo="/>
    </extobj>
    <extobj name="334E55B0-647D-440b-865C-3EC943EB4CBC-9">
      <extobjdata type="334E55B0-647D-440b-865C-3EC943EB4CBC" data="ewoJIkltZ1NldHRpbmdKc29uIiA6ICJ7XCJkcGlcIjpcIjYwMFwiLFwiZm9ybWF0XCI6XCJQTkdcIixcInRyYW5zcGFyZW50XCI6dHJ1ZSxcImF1dG9cIjpmYWxzZX0iLAoJIkxhdGV4IiA6ICJKRnhoYkhCb1lWOXpJRDBnTVN3Z1hHRnNjR2hoWDNRZ1BTQXhKQT09IiwKCSJMYXRleEltZ0Jhc2U2NCIgOiAiaVZCT1J3MEtHZ29BQUFBTlNVaEVVZ0FBQWZjQUFBQkhCQU1BQUFEbzVoUFZBQUFBTUZCTVZFWC8vLzhBQUFBQUFBQUFBQUFBQUFBQUFBQUFBQUFBQUFBQUFBQUFBQUFBQUFBQUFBQUFBQUFBQUFBQUFBQUFBQUF2M2FCN0FBQUFEM1JTVGxNQUVIYXIzZTltVkxzaXpabUpNa1JscVhZUkFBQUFDWEJJV1hNQUFBN0VBQUFPeEFHVkt3NGJBQUFIQkVsRVFWUjRBZTJiVFd3YlJSU0ExMG1UTkQ5MmtvcWNFTElsVHB5U0M0Z2ZnU01nRWtJQ0F5SkNLb0kxTjI3dW1Zc3RwZVZRSVRubmNuRDRFUWVRU0U0Vm9rajJrVmFWSEFSSUhCRDJBUTVjNmtEdFVocmF4OXVkdFdmRysyWTk2NTMxNXBBOXhMTnYzcnozdmQzWm1YbXpHOHVhNEpIZTNwMmdON1dyUkRnNmNFRk5OTUdhSkRnZWhwTVJmQkljNSt5VEVYd0NIUFB2QXg3SmQvdkpjOHhkdStpRW5uandpWEFzWXR5OTYvdUpCNThJeCtLYkwxODl0RTVBOE1seEpCODhtMDRUNFVqRUtiRjhTSVFqRWFlbndjdFhJSkdia0loVE9XNzNMQkdPUkp5ZUJpOWZnVVJ1UWlKTzViaFB1MzBpTnlFUnAxcDNQdlhvVnUrRjl3aFZjeUxkNE9ORzhYSE1WUUcyQUo0eUY2cmZrcytwWDhXUnhJNHl6REZud3h1NzFqbUFJZzFrUkRyc2xEWWFQOG9ReDN3VjNuSlFyc0J0bXNpSWRNZ3BiWE1DS0VNY0piaTc0ckNrYkRod21SWTJhTFJJMGlHbnRLMEpvTWdjU3dCZXNHWDR4MlZxN2RGb2thU3lVOXJVSkZCa2p2cWd0NThCY0x0QXMwR3pDZEpIYnFtT1B3VXRzU2c3Rld0NE9UUks2amNWeHExZGJsWXFTUnpUQUh0ZTdSUkF6aWtXMnM3Zm9BT2ZFT1dSb3h0S1RtbVY4Q2hyU2dyNG0vWWg3eWcxQWZvWGFSN2dOV3lTN2luYWNYRkc3UlFxWEUwc2FRUWZIcVdqNXJnck9oZktJZ2VHY1dkUVpic1AvZEx4UUtBc1BLNzAybTNUalVTbnRNWVlLTk8ya3VOVjJvbDA1MnZzYmpQTktqaHh6enhRdElza0hoMzhaRkJFRGl3WEIwRTF3ZW54SGFmdkd6OUVwN1R4eWFBSUhOalZoQ2Q4M1gzK3F6a2FMcHBVY0VvYkdvR1NvbHVGbGdvY09Mc0p3Mklab0czTnMva3V0TlVSRFFTbnRHWXd5cFMzQUtQYmhwQUtIQ1dBZjNuTGp2TldaVkZqdk9OTnRFdUNVN3BOTUVvTC9xS2JoWlVLSEFXQVRkNjg0d3dBTmVGcThLcklKY0VwYlNzWXBRNUhkTE93VXM2Qk16czBlUE9XczhySkgzQ0J3UkozU2hzZGdXS3IxZyswTmJXVWMrQ2FEZzY1SWdiZlNBL1dQRnh1b3NTZDB0YUNVZkRTNU9oMllhV2NBd2NaWWJDM25PRFAvaGZXbko0K2QwcnJCNlBNU2plSnRxQW41UnhaQUhFWldNUGdTNXQ2UnNKcWNhZDB5MkNVYWVrbTBSYjBwSndEYjdVdzAxa1kvSFdjN0dJNXVGUGFmRERLekNEMXBGdnJTemxIR1VCY3kyTHdOK0xhemVGT2FkQmdsSnFRZ2REdGRhV2NZeDJrR1NRTFlHOXFXVWtyOCtoeDgvbGdsQkxRRTNDVWZMNHVUZk1XQmk4Ty9yaVgrclI5L2puaWFxUnMxRlFjT1VJZlJmeUswL1gxUUpTOG0yejdXa2JLNTV0OEo4TXhuQVdReHZvbDZPNWNaTHVic2w5Y2h5dVBpcXphUHhzVnZCcmxqNzZyYnQvVzRMZlRyL0wvaWdQNVFCOExuR045c0gvbjFpL0xWejlWT0Y2eHJJK3BJZEI4UHE5R3dScDIrSU9QbE0rWFFNb1hNSGh4ZWZjUSszS3V1U2xldVhITCt5Tyt4Z3BBV1YzRmR3by9ySzZPNjFwcXh6bHFjclFZZkVQUXpMdlQ0SHlWSG1zRVJaMGlkMHByQjZLWW0rYUZiajhEMHBKWkRqN0RjcDQxdUUvamhwTU9CNS81Umg1SkExSE1UZk5DOFBoZDNpYVBJWVdBUXJlZlp2djVaV2syNU5vaFM4UEJOK1ZlWmdXaTFLUzFXRWpQc2pybndIemhpTmY5ak9QS0JqK2RZWHZhTGZHQzhOcXdKWFJhRk5vNDh3VjdSZUlKQTFGS1pucWY0MHJncUFvcnZDbTR5V2ErSnhoUGxsM3V6RlVQTDlwUFFjN0xjSThlN2trV2cxQVUwN3pVWHZORTRGamppVTE2LzkyVSt4VE1lbFBrTXNDbmg1b21SNnRoc01JalpXRVN4MThZdUsyRFVJeGw4NVlsY013TkpxRDVQSzdxcTg0cWNzYnJqZ3NPMzFmdDBYSHBhUHlDdHU2c2NNMnpqdkVjUDhmVnBCckZYRFp2U1J4bHI5OW5xdmZhRnFaMStBWWpYMkZNU0lOSHI4SE94ditidW5udHlVdXVyZTdPTTk4Vm1TRk0wT1d1WUZscUZEUFp2SjhqWThPemxvVWY0VHV4VzdQUVhiblM2OStnSmlQZVpiaGovOFdIU1RncW5wMHFKbEVia2swMUNzNEVrdVo0SndRSHZoYnViZ0c4ZmVoYUxFRVhQdW5ibnJWZDZOZjc1MlArcG1EN3hTL1o4Zm1XWGZHc1RPMC9uOTJUTFNwUnp2Q1JTVzRSNm96aXlIeGI2SDcybUdjbWRXUDdDMjR4ODcwVHZwVHI4TXJvcGVXOUlSc3FGRy9lR2RLTy9kVDVweFJ4bDgrb3cyeEYwMXpaM0RTdjZkRlQrOG5JODBiNmJCMlFZci9RMkthOTN6UXRTZSt6WngrSENWb2h1clNjMDdSUllCbkloNXJxMGRWcTd1dHF0SlAzcDlIUnJic1c2bTFOUTJ4RnNCVGI0T1BEeVBmM1MvUEh2anBEQWx2VFRwcHRybVdOcE5aYVBndjkvVkw3dnBaK2VLVzB2TFpYRzhBMWpsTlpiNmhWRE5jVXZLWDRsSmpvR2ZXeHlMK0hDYmE3NkU0NG1kZ2VQNy8zK2l0TTFob3MrUHc2MFNSclI1cnRwOXo4ci9aQVU5MkFXb3NOTDNQd2pnRmpwQW50YnB3R3ZPbHB1MGhhaVVVNEMxK2pYY3gzZG1NeGovbUVmcGRxNHR1RWRmRzlXa3hJM096dmNHL25NdlNLWEdLMnRLRDd5RnZXTk55KzFHdWJkVC9DMnErWDdmTWZzWHhuaE9aWTFmV0tmck1mQ3k5ZDBOYysrWnF6K3IzKzVBY1RsckFUMS9JaExFZ1MraC9FTlpEcUJ2TS9DZjgyNjF6MjJ6c0FBQUFBU1VWT1JLNUNZSUk9Igp9Cg=="/>
    </extobj>
    <extobj name="334E55B0-647D-440b-865C-3EC943EB4CBC-10">
      <extobjdata type="334E55B0-647D-440b-865C-3EC943EB4CBC" data="ewoJIkltZ1NldHRpbmdKc29uIiA6ICJ7XCJkcGlcIjpcIjYwMFwiLFwiZm9ybWF0XCI6XCJQTkdcIixcInRyYW5zcGFyZW50XCI6dHJ1ZSxcImF1dG9cIjpmYWxzZX0iLAoJIkxhdGV4IiA6ICJKRnhoYkhCb1lWOXpJRDBnWEdaeVlXTjdSVjl2Zlh0RlgzTjlMQ0JjWVd4d2FHRmZkQ0E5SUZ4bWNtRmplMFZmYjMxN1JWOTBmVnRqYVhSbE9pQXhYU1E9IiwKCSJMYXRleEltZ0Jhc2U2NCIgOiAiaVZCT1J3MEtHZ29BQUFBTlNVaEVVZ0FBQTVBQUFBQnZCQU1BQUFCb1RqSkdBQUFBTUZCTVZFWC8vLzhBQUFBQUFBQUFBQUFBQUFBQUFBQUFBQUFBQUFBQUFBQUFBQUFBQUFBQUFBQUFBQUFBQUFBQUFBQUFBQUF2M2FCN0FBQUFEM1JTVGxNQUVIYXIzZTltVkxzaXpabUpNa1JscVhZUkFBQUFDWEJJV1hNQUFBN0VBQUFPeEFHVkt3NGJBQUFUZjBsRVFWUjRBZTFkWDR3a1JSbnYyYnVkM2RtOW1kM0Z1eWdZMkUzd1FVUXpLd2xHSVRJajNCR0MwVG1FMDREQlhpOHhvc0hNUmcwcVBPd2tnSWtFTTZ0R0gxQ2NVOEVZL0RNYkFuamhrRm1OSm9Ba3N3cEdIa2htaklMUkIrZVVYVHp2NU1xdnFycis5WFIxVjg5MFQvZXcxc04wVmRlL1gzMi9xdXI2dnFydXNheFJ1c0psRDduYzBpaXJONnhyUEZBYU5pYWVaTFBJN2NyeFZEUlVxZU9CY3FnbURwczU4OWVqVFlTdS9nSjJ0NzM5T0xCNmJOZ2lZOGcvSGloamFIaW9JdGNRNnJJTUV3Z3RNMys2cnVPQk1sR1pGUkVTOVhmUWhnaWt5VGNlS0JPVldCMmRFdlhQb2lVUlNKTnZQRkFtS2pHRS9pWHFMNkJWRVVpVGJ6eFFKaW14UEVLdmlmb3phRXNFVXVRYkQ1U0pDZ3pXTnljbEFHaGRDcVRIT3g0b0U1WFhORUkxQ1lDMDhKSHVKdTRkRDVTSmlta095ZXViekU2aVlMU1Zqd2RLTGZ4UlJIU1E4MWljN1VKMXVlMVIxQm0rRG5PVW1YOWdoOXVTbUVzR1FSRTVnM0J0QTFxZWZ5V3g1dnRXYkk0U2xrWGcvdU5iV3J5UnVXUVFjQVd0dm9yYjk1bDRHemxvNmVZb2R5MlJDTDFLcEp0RDg0TktlUVQ1ekZIdVZpS2gzWFFhbWszcE1vZjBraEFvOCtpZkkraFlRVlhrUmo2NWc0SjJtS0JhUytuVGtZQUxnWEszRWdrSzJqTEk2dHhQT3pOc1VGZExKajRFeXQxS0pDaG9qa3R5b1JmVVBVS2czSzFFZGhpUHpnd2JKTkprNGtPZ0RDWXkyL3haOUszSUgxbVhDeDM5TXhJVXRJV0ZoWFAvMkVycmpqSVJUd2lVd1VTV1VBd0c1WjY2YlRSNkl1dUlMbkwyb1JXNVI2WE1Id0psSUpGWm1JT1dvbTdmbTFIU1JMSjl2bndNdlRRNmFZVkFHVWprREJDNUlxQzlZYnNyQW9QNnpyR1RKaElVTkxvYldVaTVHbW1NTXBCSXZIQ1NubWNWWlJkdklDWnp0MENSQ1k5SXZzODNRV2ZZNzh3UDFKU1lNNFZCR1Vna3FETC9GWGluMEpBR2hLa1RkMkVha3lZU1dsVWpyWnFsaHJyNmxtaGplbnhoVUFZU21iUFJwbWdhRkYwV29RRjgrTXp0enRQTnBJbWNaQS8rMmV0d0kvTHBuR0REb0F3azBpcjhTZUlMSnRvTktSamVPM3ZEdFk5dFdZa1QyV0c3a2JRRjA5STVyUEJ0aWkxSEdKVEJSQ293b2VoVjVjWmdnY1NKTE1xSFdpMnJsd2FEYzc4b3c2QU1TU1FVSGNXeUlIRWlTL0toVnN0cURqZk45Rk1Relowd0tFTVNXVWVSbklsSW5FaGJQdFJxRmZpNlBQTzVCM2Qrc2hVTkRjT1hFZ1psU0NJUk9qTThQaGdCcmhsNjFKWWRPSlVnSFdxMVp0aVo4MHdMM1h0eDVWUVVrMDRFWWdxRk1oeVJvRWYvT3dLRWlSTUo1cXFUVWp1S1o1MUFFUnV4cHRETlVseUMzbEFvd3hFSkdtb2t5NEtrUitRZTVUVzZBbE9wcHRIN01HL1ZsQ2dqb1ZDR0kzSm9OZExwMzBrVENRcmFwZ01GTGoxbVRLNXZrMGwxVW80VXlVYnVDNFV5SEpGUTlFWVU3VW1hU05DaXVyd2RNSVBSaCtJZTU4RTVuWkk5eWxBb3d4RVprUnFaK0RPeXpiZ0ROcWVhYkFHMzV2VFM2V2llSDd5bkRPb0poVElja1VWSkFJUEN3L244Um1UbXdrTTdWMzE4bU5LRDhwNzdJa0xvYTdDdmpIZVdMd1MvYzlxajRwdzluMlEzL0F1S0dXaElsSDFFWW5qWFhPUTBZZXJ1blN2azFuaW9rVisvekw3aFNUbU5pZCtIeUtrNlFvY1FlbzlKTVlPbGdjcGRya1lLeWpNZGVVNVowdW9xaVJsb1dKUnVJck5VamwraFRXdnVWTmhSaUV1bHhvdmxlZWJYQ0cwajlFR1AxbWFiMy9lNFMyOEJ5bFU1VXVpUlV6YjYwTHAxanJJSEtxZU13Tjhub3AxMVV1b0UyK2JwbVh3WkltNmdZVkc2aU16YTZPcDVLLzhidWhib25WblBzZ2VJeENNNnk4U1phYUZUbjdKeVJYbnJtY1dWMkU0UnV5RmR0VVRtNnVnak9OMTl6a2tNS1UvczNsbW1JNWZVWHVaWmNXSkFkU2hWSXZOTjlHR0N1NFVOSDNuY0lMWk5jT3VKRXljZUI4TU9YSjdnbzZtTlRtOUJ3a3dGSjFjZDdGenFqNHhxaWF3aWFsYkoyTTdDWTJaWkxUYkcwRDVuMFpwaFU2eGZYWWtCMWFGVWlTeXlnVEI3R2xveGlhMDRGZWw5VUxjYWVSN2IxZXZnNUtxRHRLcGhXbzdXRWJtUGZ5Wmx6UmtlbldOeXZsajlXYTU5OUhkTGQ4WEpBZFdoVklpRVhkOE5BdmtiTmpZanQzQ0FIYTNIOStkWVBFbGtGV3cyR2UzaFZtY2FBNzk3Z1VpdGdWMUhaSXQxSkp4OUhwZlYzc1MvdnU1ODhsNmUxOC9mZlBPNUl6UE9ERkkxbUZuREE0MGJwVUprM1huY3c2a0FhRXdlaXpJakcrVTY2aHFseDRNVC9XMEgrMUxvRVFsNWpqbmlCV1BnRXZaV3V2alh6OEVzckhWTGZobjc0b3FrNDJWWjcreUxGemZDQTQwZHBVd2tISmlyRWJENDVOeXFOWTNQNmhSazgzSlJVU1BCZ3M1TzgwejFFd2taeGFKSWlJRDZOQ095TGM1NWdlWC9NS1ExT0lPQks5SzVtcnRpMy9Bc2VpZTh1MXcvdmU2YkNrZUdCeG83U3BuSUZ0b2gwNW5WQU1Hc1d4MnNKMFBmd3dLbFRsVWp2eW1Qbnk1THc2L0EraVlQdUR6ZVJFSmo2VkVvbkpwTzIvc01kczFreFVobE5PelJ6U3E2NU5ibTlxb0xiSDl3RUtCeG81U0lCSnVqczBmVkk0KzNWZzJhTU1kR0tXNk91aHRwc3dXdFpVMTdmQlFqZjF4dkovQW1FdnFQM0drd2g1TmMwOEgxeCs1dXNiZE50cFVUQnVxSlVpS3l3MGZZSXRsM3RYSFhYT1BQUWF5T01LYXhSR0hoUnMrRWdyL0JmVGdtMkhrVENYZFhlTjQyZWNlL0o1amxNY2w3MGdoVUlyTENPY3VpblM3UWhpVldsMDRwcWJ1UjBDMGRHeVhZVG9NWDdJcjRRUkxLQkVZc096QmhTUnVCUmZLOHJDOHArZElSQ0FDYVNRU2xJQkptVmk3SEM5WXRhd0pQYmJCb0ZVOHBWWTBFaW84NWtOL2thQzNHTGZBa0VqUU82VlFpVEFWZEs1MHYrUHNEblFnckRHT3ArU1lVUk1KZW95UkhXSzlpZXlzTVFqSFlsTjFJbUdlcGdnQXBiWGJteGJjcUtkS1R5S28weFBGdUx3emFXZEdMcE54RGVRRzJtVHVwcmNZZmFDZUtUVEF6aUpDS294UkVGbVdOa1RVQ09sK1orYTJPUENIQ2N0YlpqejJub2wrZThyeXFweW1YQkZGa2FxM0lkV0VpVjZ3R243elYvRU9Fd291b3J6Si9vQzBoM0w2Y3hqZkNveFJFMm1LcUZQVTErTENEZTBWR0hZNmZRd2pzY3BuelgzNEVvYStLREdhK3BnZVIrSHM3bXlKN0I5ZGMyaEEzSXZKQkxXYU85M1YzeFFGQWJWUno1d2dmTm9NSXFUaEtUcVEwVlVyMXRvV0tqaGMra3MydHgrczZkWkdVd2N6clJTVE00dkszTmp0QWF4d3ZMM0xZUVI0dUluZVQvSUVDelV2dUhPSERRZUI0UEVmSmlRUnRvdDlnQ21vNUREdm1iR25oWTdWQTF6eDQ4RWVYUC93bEZoM2k2a1Vrek9KOHNRVkZkWUJJWWxzS1VleG9rdm9EaFRYajFtaHdxTFZ3SWwzd2FDckZoQUY5VFRyVUNsenczcUFXYVJEeUluSlJ0YzAyZ01ocTJhQ3NrU2Z4QjdwSDZZNmpBOGVKQk1IMWEvV3dvaEZzUVYrVERyWGFYbzlVVTl4ZVJIYlVWVFBnZVZvNjZtWmE4Z2pTK1FPZDlCRGpDRUNCMnUrUTA1TU5uYXptT2I0L0NIZUExVEtMd09hNklmUWxMeUxYVkNNN0VQbE1mODhTOVNmbjh3ZmFrT3pGbzhUSWlRUjRRbU5rQ0twWUsyZE9VU1BCVWlEWjAxZ1MwNnNYa1VWNTlGdldJa0oyMmFpOHZOZFdKTGtYYmovU3FESkk1QSswaXJ4VnByaFJjaUpkOEdpcm12S0UzNUIxQnJ3R0gveWg3a1ZrU3hud21FaTFncW5MN0p1dThCQjJ4b2FVR3Jma2tYN29XeTFmb0NYSjhDOVZGVHRLVHFRTEhzRUFiTEVkUndoWDVXVXRKbExDR2RMclJXUmJmZWd1S25WakcvMzJuWGZSazFscVpiQWcwN3FhbWpTYWtCN29Td3lJcEtZNWRjYU9raE1KOFBxYURSb1RuaWNLc044S3JzU0c1OFVRZ0tsVlZoWklBdk1mTHlLTDh2T1lHQnpLVW9HWnlwbDV5L3EyTk5QenlPaDIrbmlSdmg0OVVJaWhycDlJSzI2VW5FZ1hQTklVVUVuSzRObExINTYyc3g2anUvWStKM0o4eFVBaW0vSXNEWGV3aWE2cXJwN20xT0IrdWwzU0xnY1hicFRpejY1L0hYeElmd2pYWFo0UDBJVUZPSkg3dTRVRmQ1YUJ3K1l3T1pGcnF1QkkxUjFxcGVnY3hpR1lUT24rUFZYVEs3S3BJQ3hRTHlJYktnQWdjbE1xdGtRTStybTY5MHBDU21qb2JTR1g4eGhFbXFKOGdVYXNScHJENUVTNjRIVldvQmxRRE14blZuc1pOd2tPcWxJcE5zaWxKZHZyckZ5NER3OTZFUW1MNGhxdXgzRXFrYzRyakFjOFZ0WXNRN2pyQmJlOURlYVVUNUwvSFR6NjJ6b3hIR3RLS0J4WDExaStRQ05XSTgxaGNpSlZlRGw3QlpwbDAzTndkaGMzRWM1S2twSHBXTEtyeW1KbnY3SURocE5iK2VPL0lGZXZIeThpb2Z5eVNKdUJKQnNpdUllK3ViQW0yU2RFNUdBKzZKaG5lVTUrb0pmZkVaNjJPamRnUVpSRnJBdG9ROTBMRk9rRzlabkM1RVNxOEE1Z0U2c3ptVHFmYTROdFpUSXl5U2xKb3VmTmMzQ1pTcG43bWFmb2FqKzdqNjllUkVKdEowV2FQeUJsN1ROSk43RTdNcmtpOFVBK1dNbUordkt5R1ZrdERxODNKZE1rRVl2SWFMbUFWaU9iTXh3VXBqQTVrWW9jTXhYOERqWTBBWnQ5WnVpakVjNUlidUxDWitqZ0ErSzdPRWpjZWM1N01Dd01WOXgrMGVPbENPd0ZJbGZrVzJRL3NpNmxuMERQVW0za1hUVFpJdTNvaGNma1hNUDVvV1BXUkFtdC9pbkZpY1FicjlMT0FkejFBNnBSSTBWRllYMm1NRG1Sb0YwSXViOUUzc0dHVVgwWTZsM0RQOFJDdDRTdjdXUDRGdy9YWmVLQm4zemxSdWJsVjl6K1V6ems4bFFRV3BKdkVTSVBpUFQ1NXNkQXZ5bGJWdFlwWWc2aDcyL0pPWWIzUTVGTG9wU2VNdWpFZlhwa1h0MFg4Z05xeTcxRExtWlF2eWxNUWFRRWI0S2lnUzNLR3RSZldTVWdZSXd2Z1dlS0RiNGlzOUtDcWVEMFBFa2kvNERxb2l5SDVMZytReTBoRXZvTnJjbktsY0RLV2tld3FDS3ZuMEJXZkdRYS9iaXJGREprb0tOWWpoWmYweFVIUTBLaG5DejdkRUNoZXkvcENocnN2aWxNUVNUTWhRNjhRc1d4NTVCQk4rc01Dc0M0Q1ZoNlp4MUFNOXpNLzNldkp4ZHV2MjVFdmdCeHI4cmNFeUt0TlVUTEx0UlBkK0dJSmRaMlNqVmFHNUFNYm1lVGhpTDVMU3FydFRub05kNE9ObjJVZFJlazBnT0Z4RnZleFF4NjF4U21JSkxEeXpiWm9mazJIcEZ0OHNrU3dGSENDdzd4bGdjczF6YmhybVY5RVgyQVhOVWYzSDc2Y0ZYdVo1NDk4ZTY3c1dqQTRuYjVFeXRPSENXeVlLUDN3cHg5QzhJOFdsbTBQWCtmYy9TZEhOTEhlZGFkREJGYytMOFZrYkxtVG1xTHJJUDVmbG1KMVFPRmxZT1NjdmlBS1V5SlNBcXY4RlowZXRXcGZ5L01iaS9RVDViQW5mMndlSHRqODJhT2Jab0kvUGVYb3F2NUxkbFRVaFlUTEFidm1naFhjMjVUSXZHWjUrMURDSDEwaTl5dXdydlEzMlA1c2piSmRSMExEMzlWdHo4WEQydExuR2hldVhoTWpkVUMzYXVkaGRRQ3pFT21NQ1VpOGRsSExNZnJ1NndhR0hRVi9HSUxkWms2T29Ld3haTzV6eU4wQThqM0NoWldyOTZ2bm1mUWtZT09kZXlCUTNiTnllSVFhUlVlcjJ6L2dCMEJ5anh6NUllaXlNSlRtRXBuemhlM0IvYkJBdUExbXZsSmZHbVVhY0Q3ZCs2WTY3NE9xTE82ZHFVZUltZ01VeWFTeXZFZFVyVlo1V01RaFV2Uis5ZWxXT3ZGQjlDMWw5RGhJOThPNzJkRSt1YkVuOUFld2xEdktodDZMUjJFVTJkd1RHZlpGYThFRjJ0S1VCOVlZNzFEbnlSY2pERk1oY2h3ZFVTWTJvaEl5M28rd2ljUTE4K21pZUtSOWUyUG5RM0R4cllrSTROaEZ2OWt4akRIZ3NoOGt6NHI0UUhyMyt3UXNhQ2ZyWkRrRFd6MENIQnJTd0VKV0xUem92NlhXWGpvcXpITXNTQ3lnY2owQnd0bjh6MktJQkYyMkRaNWk4Nnd2dWxiWGQ5b0VVblZ5SDNSUGNxTllZNEZrU1dtc3BZY1FvWGtCdmJCdnhXUnZGUENRS1V2eTlaSEtUR3dOTUZUOUtKV0tWVlNtd1NNWVk0RmtSV21rZHJPUXRORUJBRnA2TDhWWmI3VmRHWll2K1I1MWRhcVR3cktNNDVzYmVxVGhJd3hoamttUk5MRnhvVEo2REdVRk9neWpsc1B6T0g4T1VoZ090amh3c084RU4wREFCc3p6V0NPQlpFdHgzVFU0WWFlWUprR3BJQkowSEVHR3MyQmt3R2xzZWdKc2svU29KWkdkbk9ZcXpuTXNTQ3lReGNQVVg2akd2U3o2K0Rya1BmZndSNi9mdUkybmlySmR3bno5b3BmWWFIaXpHR09CWkZaaEUrU2dDMDllQlkwRlJQb1o4c2tiZHZESU93cUpHYytFYlJoc1ZQVWJtMjZ5alVJbXNNY0N5S3R2NkRUZDk2RGRsWU1tbTZZQlBTekpaSzBFN3pDZEhiV1RVcmVnMTY1ZTZkcmt0SXNqUTdtb3h2dS9PTkJwUFhpUGZaTjkyNjV3UThSN3JEOUpvUHZoclJxNWhVOVY3bG0xVHgxWUVvTnpJbCtBOUtZRUJuWTRyQUppc3hJVkNRemJPNlgrZ0t5NWpPcnZwQUJZelF3WjFEWlhlQnVKWkp2ODdWV3NFaW1mUlRVbmsrY1c1eFJoelV3NS9xMzhuY3JrVFk3dHZqb1BCWis1N0NlZ3R2WDlYRnh4MmhndXY2aUdxUFlwVVNLYlQ1S1JTby96SVRaVWJmRkdNeTI4MEVWcVIvdFVpSkJQenNwU2FIUUx4Z3BOam12RG1hejMzYVVSNi9DTzZIZDVMQmFGdFQvTXB3cEdhbUR3NW8xcWNLWjZJenhVcW5EZTNVdzJXNlFWQU8xQVkxWWpGTDk1SUFzR010R2pHQ1NxWkVVU285WGZ3Zjg2Y2lLZ2kvSmdCZE1lcURRTmVlU1dYajBZbFJrQThjc1I0K2d3ZFJJQ3FWWmN5QTl2LzN3MFdlMnR4U0FDUWE4WUU0ZFBGakJYOGJoNTlJb3ZsMDZJcXRNalNSU21FQmRLbzBDc2NvVXl6U1UvSzhHcG9jYW1UeldaQkNVbE5jNWVtenRzQmRQc1ZQS09pZ1pmRTZ0R3BnZWFtU2lNQk9zM0pZUFZoYVlUbW10MVFEVGJML1pKQ21rR3BnZWFtUlNDQk91Rng0bzBwNWhsYi9GMHNZSG9Bc0gwL0tNMU1KTXFiWTBlbGJocExnNE8zZTdlTFdqdXZQekJNMDRmWExRd1d5YUhqM3BLL0gxZFNOemZ4djBIZGhXeGp2TG55M0JtcG14Qjl0L0ViL3pOWVRrOUREbDU4SVFGWXg3VnZLS0hqQW1uSGhyN0MzNDVtWXFXcWlIV1pDZkM2bkFtZ3lJZmduZEtJQjg5OEtLeWVFUGtTRTJueDdtdnZRc3EyTnJmUVFGWno3Qlo5b0lTb3VqaUwzNC9jYi9PNzBFY2c5dTRzZ2NNdy9vVXlZYnM0Z24vNHowcGxxeWNOSlhPMzRkRkR1YnJYM1NCNUVnNnVHZXRpZkI3ZTZVeW9YRGF0Qm5UNVRuaTNuWlVYcUsrRGg3YnpuS0lsOWZaVFhvUnhUMlM3YUNWRFlRRTVsblZzVlVJa3dZMUF3NUJ6MFY0Zm5pZUJyVWdjT3pWV21sSFU4dFkxeHFwbm45cjQ0K2hYNmE5aVpNb0NzZk9UV2ZkcFJKNG9QdkZPeGNJNzk2bnlRWW43cWZxMXpWOVlsT051cC92RWZXT2pqaWN5Z0FBQUFBU1VWT1JLNUNZSUk9Igp9Cg=="/>
    </extobj>
    <extobj name="334E55B0-647D-440b-865C-3EC943EB4CBC-11">
      <extobjdata type="334E55B0-647D-440b-865C-3EC943EB4CBC" data="ewoJIkltZ1NldHRpbmdKc29uIiA6ICJ7XCJkcGlcIjpcIjYwMFwiLFwiZm9ybWF0XCI6XCJQTkdcIixcInRyYW5zcGFyZW50XCI6dHJ1ZSxcImF1dG9cIjpmYWxzZX0iLAoJIkxhdGV4IiA6ICJKRmhmWmlRPSIsCgkiTGF0ZXhJbWdCYXNlNjQiIDogImlWQk9SdzBLR2dvQUFBQU5TVWhFVWdBQUFHY0FBQUJSQkFNQUFBQTlUS1Y2QUFBQU1GQk1WRVgvLy84QUFBQUFBQUFBQUFBQUFBQUFBQUFBQUFBQUFBQUFBQUFBQUFBQUFBQUFBQUFBQUFBQUFBQUFBQUFBQUFBdjNhQjdBQUFBRDNSU1RsTUFxKy9kelRKVVJIWm1pWm03RUNLU0lxbmRBQUFBQ1hCSVdYTUFBQTdFQUFBT3hBR1ZLdzRiQUFBRHEwbEVRVlJZQ1oxWHYyOFRNUlQyOVhmU1hsSUpFQU5JcVZKWWFVWFpFTHBLWkM5QzdFVDhBKzNBbnY0REtBenM2YzVRSkZoQVFva3FNYWRTRjVhU0NER3hCQzZGQWcyWXo3N3pqN1BQZDlmZWtIdCs3L3Rzbi8zZVo0ZVE2UEZvdUhxbjBkaTRYYWMzdVVjNDZyUVpRK3hYbGNybmxFZVZZOWRHeDU3U3krdHJFZTF1azd0Sy9haDU0NjJUd3dMem5QVk1ZcnBnVFpxeTZUQzJnZnFuWWxWS3p3NVYwMkZOZy9STnhhYnBlS2hhTG1zQnBOOHFPS0t2Vk1OcCtTQ05WWFRyVE5rWlZoZXNIUkgzQ2cxRXlBaWtaVUhxZmhkVzluc0dwTDh4WklIMnNzRWlPZ2ZTbjdqUm1RaHYzaHZiRzBhWU9icVpCeGJ4ZlF6VjVJM1dpZkRsdmdjZ2JUTFVMTDJYQ3hZQUQ2UWZyUEY1ZkNoOHVlOVprTmlXVnRadTVXSVZJQUFMWXh5RlErWEx0VG9nN1JJLzRIUE1SY2VBS1pEV3lZeEtwaUxFTWtpbnBQK3pDRlppS2lCTlBQcGNPZ29aZmJCcXZ3cEJGYWdGRXQxVDdVSVdLL2xpeGFkMVo1UzhGc2t3alpMUFFPcWhMdWEzb3p1SzJOc2dMVHVCY3dmakszYXdnanFVSlcrRks4SDRVb3JlSElGRG5mdjBFTHZSRm9JZ3UvU0RVNURpa3BkZWFRUVRVcktqU05VdVdFMEpTeGhsNU9XSTBvUVBEYVFxdkM3MUd1QnIyN29JYzdxSFltTGlwNTBkZXJkdHVrSTZ1dHp6WUJjZnljVFBrVWhibUlJM05rcWd6SmVUTGJyZXY3U1JMWHV5SVkwMlY5VTJTRVp2RVdJK0xWZGlWUjJBdEM0NzBnd2s4NkhXak14WVZhWDRtUURjRWt5WFZGVW1mcW5IekRTMUQ0WEhZVHg0QUpZOUQwS3E4a2lSQXlwVjdZQzBLLzNLYUZGTHBaU3FNdkZiVVZocHRhMU4xMVExRWorSmpZdytlbUtQK0FidTFWU1ZpNS9CSVd6TDJaTWc2YXJLZWgwYUxQLzRFNlh2ajQvMUZmTDBjbWlCdEdlUTJFR25ZeEQydC9ScVplSzNZcEZLNXZCSENURkpGNzlGSTQ4clFTSkJtUGpaQi9XU1VYNVBqTHlwZ2ZYQW5OOVVFdlRGN0pndFg4OGtEWFNWOGw4QWtsaVlwOHhoVlc4THNoSS9IOTlFMnhaZUZaNnZCNHlEd2ErOTB6Y0ZraUx1VGFUR0FmaVJONzFBZUl5MHJhbHQyQTlYTnhyM2NSMlhHOVduZGJnYUczVWFKaFlqc0Q5VFRNNzlUc3NTTnpxS1dGbVVSMkJ4SzR1S2tNd3NLc0tCWE51WmxVdXNKck1vRjg4Qkk3VXB4UWdNdFIxZEg0c1RHSEpmL3g5U2xOb3ZmbjlXWGE2bEhPc3FtbTVCMTVycGtRd3ZEc2hFb1dSQVZhaDhrYjFkdXNnMlRWbnFyMmFSYWowNkdaTEJPVXNRQzlkRFF1eWtkdWh5NHVqWkpEV3BJUzVZMHI4RWhmR1ZmaVdEcmxZWlJiR1ljb3k0OE53L3l6NHA5YnpQb25YQ3krY2RDSCtuWG9jZjlFNy9BeUhoSDZnYnpxdVZBQUFBQUVsRlRrU3VRbUNDIgp9Cg=="/>
    </extobj>
    <extobj name="334E55B0-647D-440b-865C-3EC943EB4CBC-12">
      <extobjdata type="334E55B0-647D-440b-865C-3EC943EB4CBC" data="ewoJIkltZ1NldHRpbmdKc29uIiA6ICJ7XCJkcGlcIjpcIjYwMFwiLFwiZm9ybWF0XCI6XCJQTkdcIixcInRyYW5zcGFyZW50XCI6dHJ1ZSxcImF1dG9cIjpmYWxzZX0iLAoJIkxhdGV4IiA6ICJKQ2hjWVd4d2FHRmZjeXdnWEdGc2NHaGhYM1FwSUQwZ1psOWNZV3h3YUdFb1dGOW1LVnRqYVhSbE9pQXhYU1E9IiwKCSJMYXRleEltZ0Jhc2U2NCIgOiAiaVZCT1J3MEtHZ29BQUFBTlNVaEVVZ0FBQTVrQUFBQlhCQU1BQUFCOGNweE1BQUFBTUZCTVZFWC8vLzhBQUFBQUFBQUFBQUFBQUFBQUFBQUFBQUFBQUFBQUFBQUFBQUFBQUFBQUFBQUFBQUFBQUFBQUFBQUFBQUF2M2FCN0FBQUFEM1JTVGxNQVZOMUVtZThpcXpLN3pXYUpFSGFtUTRSWUFBQUFDWEJJV1hNQUFBN0VBQUFPeEFHVkt3NGJBQUFZamtsRVFWUjRBZTFkZjRoczExMi8rM3YyN2M3dVF4U0pJTE04aldtaVlSYWJXQUxCV2ZIWjZCODZqOVMweGhydVVQb1FXM0FmbGFwUmNBYmIvaE9FMlVwTEZiR3p4cjdFQnNzc2FHZ1RMTE5DQmF2SUxORWd4angzRlcxRktQUGNka3plNWlYSHp6bjNubk8rMzNQUC9iVXorN0ovNU1MTy9aNXp2dC92K1o3elBkOGY1OXc3czBId3pqWHhEUHpqdStVMU1ac0pHTXc1RXN6OHdBVE1TcE5lM1N0Tk1rV0M3OXFjZ05uaUJ4UEVYU0d2VnFMK3psVnNPeEkwMzMvbitnNkMyVnQzc2plbnIvbHh5NmtwVmF6dnVPam5UcHRMb3VQS2VKYmxhdjFMWjhrK20zZjc5ZXoybk5hWFRnNGNqSE9uemQ2M0hRblB1SGoxMkoyU00rN1FzbDhXa3pqYUlGZ003N2ZNRk5RVmI5dGdpQ1RieHRkZkVIdWsvZzZBRmVGT3lSUTZyYjVRdi9kYnVYejZiK1NpWkNOMDNaVjQzclRadnAwOWdPbTMxazZtejNNa2prT3huOE4zaVdPMHhXT1hubnZ1NlV1UGhlT09vb3dyN2c3L040M1JqTmpsVGVkTW02dGloOHQzOXFWVmNXM2FuU3lMTjRMcTg2L2xzQjN5QkV3bGc5SEhwcUkwRlcrbE1obzZmWnd6YlRiZUJzZGZUNSt0MUduTWJ1Z2hrNXZwNTBURk9mRW00L0pYajN3MjB0L3hUMFQxTDBURjhSZlNZOCtzT0dJODhyWDU0a20wVkJqWnBJVlA4VzJJanB2VmNOSlFjZ3JCdHFlZFJjOExtTXhRNU5qOHk4a000VUdwdjdjTzlCam1aZkhUdXVTN0x3cWVGZWRxYzBtSS8vTXhtcWh1VHZCWW9MVjV3UTBFRS9WU2tIaE5iQlRFTElqV3hlam1vSWlkVFB4K01sN1BTUFcxTEJWS1AydExQbWgwekdwenRUbkFhbUVVVXloVW15bmFITkN4VEtHallpekNLV2RlZmZqUVpXaGlQNnY3RlorUjFFRkZpT3JpaDBqSkJ5N3dUbksxMlJjSTZlYXF0cWR3N2xiOUwrSFhabFY4eC9SMEI0SEJkRjF0UmNEWVo2R1h6QWgxS0xhU1F4eUJhczlVTCtaUHh3cDN0Ym5hQkgvaWFTR2s2ZXkwd0VkNzRPbjF0RXRPWW5EYUhrclN6VTdYdnlNMmJRWDRjUEpOUjZpMkw5ODd4TXhzR01RTFBvV2IxZ2lvTTMrZHEwMU0vYjdsVUJNK0lXeDdMdlRkUHlPOVNZbzJ1d1hFeisyaFBNS01zN2JLYzJBVTYwSmNES3IxN0xGVXZIWW44eDU3RnRZdTRLbHE2TXRldWRxOEttaFU2UWtlZGkyamdsQVQ4djdTUjFLMDJadHdxUlNVSVlGV0h5ZXFKcWhvcUV4bTd2c3pXU3g3M2RBaVpzZVk5SHhPVXF6NHo0b3JwSjljYlFidlBpRG93cnVrQ0VJZStGT1h2dkNWNElKZm0vNzFtc2R4Q3Uwalo5czJHY3Roa1dpVTRvYjZVS2VlN3hFL1hmQUx0Y1p5MUh4dFVpNEk4RHpnMGNiaWNJbzJsM2xJTDg1dlVzeER0c0FuNWRZWEJkUWdEeGc4VnczYTNJL3FWM0oyT0JGV1ZWQy9VazZiYThMcklEeGlaVmFsYVBPUVpBQ1o5Tk51WEpyS0d0VlNDUmFiZEMyL1YxTWkxZ0swR2J2T2d1ZkhiUm80eTJrVHU2Z05MdGFwU2luYUhPbGxlU3FtRXhETkNaWVpUc0FKcEloOStmNXJMVVhqcTlCbVJEMVhNTkZ1VUx4eTJrUzZ0alhaV0JWMWlqYnJiOHZaZ1pSSTVTMVRHSmhrc2NLMmRDbE1aK20yaitCVW9jMW9aU1dlZGhFc0NxNVRUdVcwMlpYSjkrU1hYNXVWYVZwSU9TRjdVL1FLMkdYY3pPMjlTeTJLWXJlaHpnNHFraytpS1JhQmw2bVZsOVBteUdaY2hHRnAwSy9OZVNwWGFaNFRFUXltRWtBaUVUQzQzVnhobW1uTEIvYWkzTi9Wb3E4TXJkQUlYRTZiRTI4M3pZQjVhRkduN3V0azQ1dzdIZE5GMko1aU5sMG9HcVVlKzhrVHdUY0RIRDd3aDB6cHcwV1k3cGpXY3RvTUo5MXVSdjM2YmJOUndFTVp1YWNMekxKZDIyUzhZVjE3ZVJ6d2hDVUZCVkZYeXZJU1VWRUtwcTZ1azgxeUtXMU9hYnVaY25vd0xPQ2g5QkNtZkY4cXNrVXMyT2VBR2tzS3pXcDZpaEFLNlRyNzlud3ZoWVdwYnBOOWFTbHRUbW03bWFMTnZpK1cvTnZId2tkLys4Q0lYaFlvU0E2TEtNczVGYjlaZ05lRjlCUmhDT1BjWEM2UmJBNklTMHRvVTQ3Lzg2MVkxcnZDRDJ3U3NUM2J6Y1Z2WGgvL0lNVWg2S21nMzlQNjh1VzdzRkpEOFZvcmxWVjJRMUZ5T0oxT05xZGlyWDhEVmNUWGJoYkZldnFXZEJ2ME8rMDNzcWg1VzVmRWZGZWJlQmtGMDNlcnBTaWVFby9xUStDbFVJc3B4TGhqK0wxYUY2SXVqbjNxZlBIa3lLQTVnRmViaUNVZEJ5LzRIakgrUmxBZGlSS0RveXlLa3hlSWRaUnhHb3paME5mTk5CeFozeUFhY1BEa1krN1hTQ2gwbXBQRmRUSTdqamFmRjhkZkRZTGZDNVhibmhQdkRRWmlTekZZMTFMS3UxSGVQd254UjYzZ1Z3ay8weHNlOE4weUJRZndhaFBISUE1YThDdGlmQkYxaS8waVR4TmM0cUFNZWYxMFBiaDlQbno1OGlNWTkrWExsMyt1NDdiUjhwQjRSMW9QV0w2Q2t1NkhIV1Jabk5VR0I1aHI4eWt4M3BNWTg4cE11dGhHck1lcmFPVnJFTEV2QkQ0di83VkVrUmNVOEdmeTdzdkFhaEJLOFpJSXp1WFY1akxkT0NrQ1JMTS9Wc0RMT3BWKzFtR1VXU3hEM3Rhbm81a2NpelJDRzYvbjR2VXk5cmZTdnJkeU9WaUVKWEx1enJTSkxPZGFoTmJjeFQyRVljeFNDM08ybTlWK25OaFhQTmxvRDBMdDJENFo1TlhtQXUxSm9RLzFxc1BiVHhBbENDb25qRTFPb1F4NU05MVljbnB4bXpHSE45MjZSRGxNblpvZ0dHV1lRWUlSS25EMlpLcVpOcHV4RFN4K1hCNyt6Y3RIMyt0RTh6ak9aRS9EOGNLZ211UWdhSk9YVFdMV2NvbHRtRzQ0NE5YbU9tZXV4THhtbUwwcG9WWDY0Snl6VEpZd3l1TGtJM3JhcVhsVlA2RytqT2o3YUdtY3hCMFJaaU5SNlZaa1dkOWh4c1M1ZkdRWnk2ZWw2NmsyRVlEM1ZmMVZkWkRmbFRNSTNnY2ExOWx1d3Fmb0U1MlJCalFxRkF5aGRteVJRVjV0YnNlR2JqRGJkbE0yaXRwbWkrL0NwQURHa3ZQSmE3NXpxSmN4aEpRTEcveVVDNGM1ZWhHbFlLakhMRWVwalZpRlBtRlM4ZUc0Tm5VajFhWjV6SXI0Q1BYMDlvSFVJSGJzYkRlN1d2bEJVRXRxRTRTMkY5MWJmUGRxcytIa1Vnakt4dUszSXcvUnZlSXd5aWlXSSs4Nm5TdkdjZ2dwVjJxQ0o1Zi9VWVpZcWdsMnNKZUtBKzNvQ09QRHVTdThwOFBxWVdPR0dkRW1Gc1VUQ2c5SGY1aklpakxnTnZHMGZMdTVHSkxGbnpRYXFEN1ZMM3ExT1hCV1pJTklpWWU0RnlIYWNJdU5JN05Ram56Ykp5emRsV0ZLNkpYK0htb2pmUkViZVpHZmJacUNDOEF4RW4vb3RuNUkzRk5uNFU0K1Q5M1hXRVNiQXgwR3NYVGcrK2ZWK3FQN2pIWG03akhESm5ucjNkVDg3UDJUbjBtVjJLdk5vV1VubVVCSSs0NEUxdEVXNnNKVWpwS0NYU1hKMTdQTWdUSE9LNHd5VktGcDRUYzZHbmJ2ZU5rUDE1RmJIWmNyNFcwRXluM1dTbHk3MVNZc05nNDA4cEZwSjFpUTNoTm1iNTBvWE90RnkyZG91U3ptaHdwTEI4aXJ6YVoxckJJWk9QYk1BTU8vZ3EyWVZTOWo1eXVVSkYvWFkvZnhLbFZIblZrYUlieGdLNjN0SmRIQTlHTzAzbXNXdWNqQWFSVjJSMkcxaWZDdEZUY1E3OE5POUNiNHdTamtMYnJZc3BQdXVCVTNYRWhmYWpFR3YzbTEyUllxYjlXWUdKTWRFdHcyWXVoeWV1NmhxY3c5aC96QUlFYkE5TFJaVDJ5MG5LNVFSTjdyQ21DUSt0K1dhWkRXaEttT2dhSFl4TVJibGNocXJ6WUhkdnFxUHdhazBSWStEcWx6WmR0TjZGbm5qTlVlOStTZ3k3NkthQk1PNThod2dZdEFaTjVtNmphTlhpQ2JmT1FLdko0NHV2QnlMVkNaa1M0WTZneHQ0cnhkMmtsS2xnV3ZlWUNWdldFNFNZQ1VyVzJHZFBxQTlGQUxIekRIRG03UnhaNXVkdTIzalI1TTNZcG9TdWZ1MVdhUDJTWVNCV1A2NnJnTHE3VzU1ZkJKTDJhVEk2ZzR0ckZBZ25RNjF3SXR6aTdPVHdGTGNQbzNlRzM0bno0YnUya0NzQVl4TWJROVdoZUUxb2taYlVMbG5pNXdvbTRvdWFCdC9USm05VDlFYXZKcWFEbmcxV2FmT1JENGZkdXpQTHg4QTNsUmk3UEpLR1dUdzVjNXRGUFRKdWJhN0t1Y1Btd1I0N2NGQnMzTERLY0dWV3l4YWwyNElJMjIvY082R04xOTJrU0txajJuUlliUjIxZ0ZmUk5YaHg1M2crREdKLzRTZ2FKaktRcEJCYlM1elR3V0Z0SmJ3WkxySGpQNnlpWlBIaUpDK3huY1NqUmhvZkNvNXFOTjErWlFqaEdxU0dGeTZET2N1a1UydGtrOHB4V0Fic0ZsUnJSaG11UXVKcjQrM3pLMUJZRUMyaHlSL1E4T2FLVnV1L21MM3ZTZlRaNDRkc0lFbHNpWFRTOGVBRVBiOVZUenFsUnRycW1ZSmQya3plY3BhY1BaazZzMm4yME9mUzRDcTJUWGNFTmh5eFJrNG5YcDBuMmZ1L3p2TFZOWEdQQnFrOGZOdXMzSndGWnBzN2RmdUlNZ20zekF0N1pndTBEOWV2RnVrcGpyZEpLU3pWRk5hdHlzS2Zjb2Q0Z2t6QkF1SStvZGRYMW9qY3pZSmg5L2pObWdFWGViYmplaGtOUDdKcTgyMjFSU09hQWRMYTQ2U3JpOTRoK2dSU0pRRG5uYjVnMHgwZFMwaVVuaU9RcVJ5b0JwT2ExK3Y3Mk4wWGNNTmdHU2dxUFJvMDJaRmw4amRCRUl0clp1UU5Na0dLcGFSN2E1QkpTdlRSZ2oyYURJZzZIYjI4blR3OVF1YzhqRHhGQ250dCtzcGVpQmlacW1UZjErZXhlalR5b0RMT3AwaVd1V3hIOXEyNVJ4TUxtbzJQbHZtNXIvdXZOMFRMTXVkUGRxazUwRnlhUG5UY3RMYXJQdkhaL0ZvVkEyT2JpNVExMVAyK0ZScmtYZ0lWMy9hUVFJVXkxUFd5VStKMWRmc3ljSnAwVVZNdVYxTCtMRnREYmwrRHN1SHRKdFloQnN1M21ZRnFoZEhyNnlWNXREMnBkTUJBZ2xQT2U0aEtPVnovd3l5REdzRm1FdXdVUHZPZTBwbm0reUV4YW5FMU5FY2ttV3FxazI3N2REUU9Ud3lRc21kekZSaTdreDYxeHIweGwvUklOWnYyS29zYUxKZVJQaWd6bHpOeWhGQWE4MmE1UTlWaS9Wbm95RHZMdnZ2VDUrMWpjamtRalo1UFRkaTFoazd6T1UwenpmRE4xbFVmM3k5ZkdmZC9qTXdIU1NXcUh2dDRmMGtZT2xoWkphdGhSRDBNdStydFRhZE1ZZk5VTmxCdEg1N2hPYWJtb2VwZTllYmJKSGpGaTlOQ3hMYlZwSjBOOVEzUHRrWGIwQzV1MDhuWHdPRXhWZEc1U3k0ZHNTTkRScThuNkxFaE1ZZ25LanF2VEU0NzhsVGpvRVI2WG9lNnhDRmNqYlZmRFhDZXRGSWh4ZFQzQlNHS3hocHJXSjhTY2xIRVZyNFQwSGtoNmgrNHJpczdhRjI2RXVxYXFTSDE1dHNwMHhWcUg1L3I5a3prMFZyNVhoVjVFV215UU1jQW5TeWFVUGlxNE5TbEtqYmw0M0xJVWFOM0ZQZTc2SnFXVkNMYmJGYjhxWEJ5TVZxM2tFZCtoOFgzZGk3K1Q5ZHRoS0l0OUIzaGxkampaaDZKdWFpZGFtTzM3VkhwL3IxVHV5Qkc3WFZLMTZBMkJkaUExVk9zMkhWNXZzdlNCRURuYnl3NHZWdXZMNXE5UVpNemt5eUtzM2JvekU2emR1NkptTjZMenZCVEdXeFFxWVJwYSsxSVRTZTFzbDZFdm0rTU8zS2FYdnQwczdOTWk2NXhzM3RzVjNidHk0b2N2eEhWMjJkSlhXSmpUTXBrKzJJOCtYYTZvU0haTmd2ZXdwcXQ0K2JqZ0syMVdsMDN4NHRUbExmU3VDQVJOSG5nWFphMGxORHBaOHk5WXhLSnZjczJ1YjFqdDd4b0ZGNHF5SjZCZGtGNVRGcnQvVVF0WTlrOWNtV1luY1lkQUJ4M1R5Sjk4U0YyS2txZFBhZE1aZmtTZEx3Sk1MYlRYeWViVjREVVNIMzJqYk1FeUM0Q09icEpBTGVyVzV6QTdYUXU3NCtlQWF5aWlyb2MzQ0gvZ2NGeUNUUExuZERIcHNOTGtEU0VYQUl0OGhqY1A0cDR4WDFkaHF1N3FwUjdMTHVPNlZhSVhHcGJvM0RSb2tEVlkrZ3JZdVNtc1RKd28wYmw2VjJvUnZsYUl0UkpHZ0djOTJkUGdOWDNZejdobTNhdjNJRm1Mb2s1L3BKT3JpQ3E4MjRURU9MRUdUeUJnRXIzQlRiYXYxQlhlaThSSDErVkxPSXNmQ1BkS0UraDZLTFExT2RFY0EycmNNTUVrdFZVS2czTVBERC94RlYvS0VybHBuZWNJSXhtbXdOVlhnOVNBTHhJc1piYkx4VjhOZHNJaDlhK09LWXRlTDh4TDFZcVlNNUNSQXZHU1hoKzRheXVFVHJCdHc5Mm9UZnIxamNkQzNMVlJDbmhTRko3S04vTHhRQTRPL2FQR1Y2TGJva0dPT083WlJRUmdOSTNlYWl4ZTdKQ1dSWHlUUTRhSXZYYXRkcmZTYlFCSHpEM0ZyUGNTQVFPRmNYZzl5U055djBTYWJ2cGVVdThjY0hZQmZmMDh4N2NmYTZSK3BZcE1rYjlYKysxVWQvUUN4emJWb0EyQm9VOXErdmRSM3E5bHFSQjZ3YWRwSHQ0Y3FxQzVGa21EdWoyVGJBMUVSVUJ1ZDdjb3FmV1dSZTdhYldFa3RUVHJSZmNBY1ROMnMrQ2FnTld0OTlKdEFxcjhaeC9zai9qb2JiSW5tSUVXU2RvbjdOZG9FdlptK3VlakgvR3ZLdDg3RXo0cmFLaVVLVnBWZHlOVnZoZnZkY1N2aVREN2xCTytRTWdVUlhXUjZaUytselo0OTA0RHZEaTMxVStQTlErVjRCekZEYkViLzJ4SURxcU16bGdObWtTZWZibUl2UGFVSFlzekR3VDBkeFdJT3NQWVhYamN5TDVQSms1WDQzbFJpTmJMSXB5ajFLalpzRkRBZ1ZtMjBTY2NmL3laWVZ6R2NqZk9vK0lYeFdteUdKTXl0aUMveERtUkpUdkJHc2xyVnJQTXdLSmRHUzU0SVhDSDQ5bWpvbDZGbDJCb3d3b3NSQXNZdVRuNlNJUGRRd2RkSEJubnk2U2IyMG5acEVyYmx3VHBsaEx6aklHWWhUeWYwV2tSVmxCVVo5djhxQjBUVDFUbFprUWpseUhRM0RZMEIyc1FJakRhRGh1SDNvM0VrajE0eWJlNUVoTkhoMTV4aGFMNkdOOWZYMGNIMEFLQUhjV0pLV2kzaGltejdLcTFWMm13dzh6S2I0b2ZFbjZwSFludkJrczdUYXFESGp5OWFEZ01VdVJBWjVNbW5tOGozdU9lM25FdENMSVRVVkhoUUhMcFliR0hMTUlOZVRLSDZuOWZsYUlRd1gzeGUvSHFvS3NTemwvL0JrQUFnQmtTcVE1SXVXVzJhOGI4b25vbVFWNlZ0cnVyL3ViR2taTFBmT0hrbGpxTXp2ZU1PWWE3QkFRVGEwd1Y3Zi9WcmoveGhKT3U5djNINTczVzkwcWJ6aGVNSHhXdWRJUGhvVHlvekNBYmkvc1grRXpFK1VsaDUyUjlXaHVtT0hldEtKL2RraGwwVDRPSWVUbm1yc0dqWHMvNEMvaURlNkVXY1NkWWxRMlIwYmNTOUloRHBpemtjVDhCWGh3SUhSbHFyelNBYS80LzN4Si9vMXJwb1ZYcjN4eVc4aEgyeCtuM2pqbTZFOVdHZUs5OE1qejFLVXdlQjJwUU1CWUJETGFlOEd3U2xUZGZkRGZGMlF5akdQNjNJa1lqV1Q0ell6eXN1WTFNTy91ZjRXM0U4TjUybGtuc2VFbzU0MURJOHlnS1E4cWFsSWJIOFVOeG1MOElROTdpSy80TnkzM1A0TnlnbXlHTG5MYXVldmpzVXYyQzVPZCsrMUExcjFnSHdiK09Pb3VuN05ZMkliZDZ4ZU0xTTJiK0ljVWgvTlg2bUxzWjNZK3V3YWZBWjRQK20vT0g0MGZ1ZWk2NUxqM0Z0enJtcHlBTlBpL3QrcHhVemZmWDZMKzVaL2c5L1Z1cHozMVlFZ2F2TklJWGNsMHYwZkc2RU1pOEk0MHpsbWtIRnZ2YW1MaUJvc1MxNWcrVUlHaXZudmg1N1E0WW0vL2VLdVlodEl1V1gwOWN4YlVId0F2c1ZpL2VFeCs4bGpVSGw3K3JIei9Ma2tqYVhnSlZ0SWdGUFdSZytUbkRCYkVhcVptbjRzRWtkSWtxSEZDVUlCUjg0VmFjcll1dTFaeWdSSEhkMVlaMC9FMEtnWm9mekdpMzc3ajNZTzZSQmdta3ptOWtadGtiYUhKS0ZuZDlaaGJ4NUNPd0t6NExTNldFL2J1T2FrMEs1N1lYTFVKcGRGbkM3VzVvUzZhME8rcXBxbGVhK0dpbnY3ajNZRzlsT3VLZk40M1oyN1pFMkQ2MW55dXJxcVRoK2N2UVpsakJrME1mZi9WKzJSb1JIQ0hZcm1FR1ozN1JOZ3hpY3dMNG1nVFk3R3BaM2VBTmFMQVo3MGplNUUreFk2dk5rbThWKzlCZmhhRXZKdjhUMnMvTkZYZGQ2bEdrTzkrMGtiRnVYYUN0UEE5VnNGcXV5VGJOaTJBTWl5Ymw5aXFORWRUem9pTFZJMTQvem15UU82aDByUnJiSkpVdnJIQm45TmRXMlJIMU1zSEF6amNDcGo4NUlxM2JEaHkrNGxBbllEanRXbEFkNDlpSzJlY0hOOEU2emdQVEFiUS95T1JkZHhlZkpOakdySFNxcEg4WnVMRnJ5Q3d5N3UrdEhUOVFPbEQrZnYyMGJxbmFyWkN0TFFvc2YvM2xROEo4ZDZ0azhZT0I2MXZueXp0MzM3QWM3dmgwaTZiblNKaGVOU0VuQldaMnlqTmg1UVROU01jWDB3MDJWQ2pjMmJPdHErWm0xeERIVWtQNGY4NzFKV3JvbUZNZ1RBdElBOEJRcnlKT015K1BRRG1GOHJyUlphRnJuNDZNbjgvYXBHazAxSklQS0JOVkp3U0tkOWtOclE1bVVXWTJoM0MreFgvNlZCeWh2UkNRejRSL0lvN3o1WGNLQnE0RTBwSUk0QVV1MFZYbHVmSzYwR2ZCSHRnblpWVVVsemhScjVGZ0s4WU40VGorZHJsVVc4Nmw0bmxYbGtHd3JORmJKTyt3RzJsdzJSOTBSZVQwNnJWckJmL2hzSWp3MHJoQ3VzNldYMERKTGVDSldxeXhRbjZzc0tBZ2ExR1RJMEJrNE9KSHU3Q0Y5bWh5MWJUL0JjRElLMGdHc21WTTBJQzVxRThvZ3ltdVNKOGZYOEZOWnV3enhGZldPMThQaDdRTThKZHBaREdrd21HUHBDeU5MS2RDWEREVEtkcHhEeE9YelpadnpLcVpwVVZQdWMzWHh4U2Y3NG9Pc09YNmt6dXBTQ20zeFpQZyswamFOZi9vcHRkbkNOOUU3aEMvQW9YZ2NrdjdJQWJZcjRhMGUzeEUzeXo1UzNYWXNYM2JWUDJFZG5pOXRCczV2NFRCUlRhSHk5ZXZqTC82dEtVb2cramtjVnBWYXFIenMrTk8wY1VCTzcybDlHUmpuUG5paUUxTC9MY21yWDc3NytObHZLRWF2MXUvcEtFQi96TElObHE3TnVOZTRWNVdZSy95RTZaeDVXamlrVHNaNDBwc0doUjF0Z2tlMXRNdExzSkFwNnJ2azN1K2FweW10eXYwdnhXbDRwbjdvK0hFMEhEcVI2WnpaNWt6OHlxSVpRakZnN3BTTFFISmZwakcwV0hjZXJOcXRUclZaOU9BL29xL3BKOGNlZHI2cVhsSlF4M21mTjlzTVJqd1ErRWJscVp0NXhsTlpzS3BaOUxnK2t4OWUwNnJiWTlsTVZOMjRsclExM2VTOWg0ak0vSnAzbmZVNXMwMjhNVlBHVy9IQm5hb1UvZFRBcVVnWjBjcnY4OGVGck5GZkdMTGpEejlPVkZ2cFArTTdiNGpmMzdLVTUwMmJ3YkR3eHRFT1loS29WbmhLSituRlM3dGEySmkzY2ZZNGs0anZNNG1WM3hWL2dWL1Q5WFoyaHlybjBQL0FPcEUxdm9NNmF5RXFyck02Nnc0cC81R2JBOU5HQ3N2WGlma2pJOW5hVGNTSUxqWktjcXYwOWwzYmpnUzFLVDFyTERhaVE3NEpMRVkwTGF5Wm9zbWJmRi9NelYvaGVvOWNRYzZmTmhmWjJ5cXV2Tk11LzNOcjJoekw4UHR3d2Q3bFd4bE5Od1JWZnozUjFmblRaa0xFZHlxQ3JneWJkemc5ZkdmYXoyb0dWc1FIK3E1cG5sVmY3L0E5OHhuNGNQM3h6cGwzTXNVTy9oL3JzUlM1eHV0VkVRQUFBQUJKUlU1RXJrSmdnZz09Igp9Cg=="/>
    </extobj>
  </extobjs>
</s:customData>
</file>

<file path=customXml/itemProps1.xml><?xml version="1.0" encoding="utf-8"?>
<ds:datastoreItem xmlns:ds="http://schemas.openxmlformats.org/officeDocument/2006/customXml" ds:itemID="{E9FE5923-7716-4E03-B964-6DA2AE26C4DB}">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14</TotalTime>
  <Words>20193</Words>
  <Application>Microsoft Office PowerPoint</Application>
  <PresentationFormat>宽屏</PresentationFormat>
  <Paragraphs>2567</Paragraphs>
  <Slides>129</Slides>
  <Notes>106</Notes>
  <HiddenSlides>0</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1</vt:i4>
      </vt:variant>
      <vt:variant>
        <vt:lpstr>幻灯片标题</vt:lpstr>
      </vt:variant>
      <vt:variant>
        <vt:i4>129</vt:i4>
      </vt:variant>
    </vt:vector>
  </HeadingPairs>
  <TitlesOfParts>
    <vt:vector size="152" baseType="lpstr">
      <vt:lpstr>Google Sans Text</vt:lpstr>
      <vt:lpstr>MiSans Normal</vt:lpstr>
      <vt:lpstr>Noto Sans CJK SC</vt:lpstr>
      <vt:lpstr>Noto Sans SC Light</vt:lpstr>
      <vt:lpstr>Noto Serif CJK SC</vt:lpstr>
      <vt:lpstr>Noto Serif SC Black</vt:lpstr>
      <vt:lpstr>Times New Roman Regular</vt:lpstr>
      <vt:lpstr>等线</vt:lpstr>
      <vt:lpstr>等线 Light</vt:lpstr>
      <vt:lpstr>仿宋_GB2312</vt:lpstr>
      <vt:lpstr>宋体</vt:lpstr>
      <vt:lpstr>微软雅黑</vt:lpstr>
      <vt:lpstr>Arial</vt:lpstr>
      <vt:lpstr>Calibri</vt:lpstr>
      <vt:lpstr>Calibri Light</vt:lpstr>
      <vt:lpstr>Cambria</vt:lpstr>
      <vt:lpstr>Cambria Math</vt:lpstr>
      <vt:lpstr>Times New Roman</vt:lpstr>
      <vt:lpstr>Times New Roman Bold</vt:lpstr>
      <vt:lpstr>Wingdings</vt:lpstr>
      <vt:lpstr>Office 主题​​</vt:lpstr>
      <vt:lpstr>Office Theme</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Revisiting Visual Corruptions in LVLMs: A Shape–Texture Perspective on Model Failures</vt:lpstr>
      <vt:lpstr>PowerPoint 演示文稿</vt:lpstr>
      <vt:lpstr>Related Works</vt:lpstr>
      <vt:lpstr>Related Works</vt:lpstr>
      <vt:lpstr>形状-纹理子空间中由破坏引起的特征偏移 Corruption-induced feature shifts in shape-texture subspace</vt:lpstr>
      <vt:lpstr>Failure Modes under  Visual Corruptions</vt:lpstr>
      <vt:lpstr>4. Methods</vt:lpstr>
      <vt:lpstr>5.Experimental Results</vt:lpstr>
      <vt:lpstr>5.Experimental Results</vt:lpstr>
      <vt:lpstr>消融实验</vt:lpstr>
      <vt:lpstr>消融实验</vt:lpstr>
      <vt:lpstr>论文的核心贡献</vt:lpstr>
      <vt:lpstr>不足与局限性</vt:lpstr>
      <vt:lpstr>THANK  YOU</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敬霄 韩</dc:creator>
  <cp:lastModifiedBy>敬霄 韩</cp:lastModifiedBy>
  <cp:revision>5</cp:revision>
  <dcterms:created xsi:type="dcterms:W3CDTF">2026-09-30T09:44:21Z</dcterms:created>
  <dcterms:modified xsi:type="dcterms:W3CDTF">2026-09-30T10:48:04Z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23AC29DC641D0E13B8D9BC6A1AD9E38B_43</vt:lpwstr>
  </property>
  <property fmtid="{D5CDD505-2E9C-101B-9397-08002B2CF9AE}" pid="3" name="KSOProductBuildVer">
    <vt:lpwstr>2052-7.4.1.8983</vt:lpwstr>
  </property>
</Properties>
</file>